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3.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3"/>
    <p:sldId id="258" r:id="rId10"/>
  </p:sldIdLst>
  <p:sldSz cx="12344400" cy="73152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41"/>
    <p:restoredTop sz="94630"/>
  </p:normalViewPr>
  <p:slideViewPr>
    <p:cSldViewPr snapToGrid="0">
      <p:cViewPr varScale="1">
        <p:scale>
          <a:sx n="130" d="100"/>
          <a:sy n="130" d="100"/>
        </p:scale>
        <p:origin x="9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F6586C-20BB-0145-BBB0-5205A2D85F37}"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273F65-57BB-3342-98F4-D52BB15090D3}" type="slidenum">
              <a:rPr lang="en-US" smtClean="0"/>
              <a:t>‹#›</a:t>
            </a:fld>
            <a:endParaRPr lang="en-US"/>
          </a:p>
        </p:txBody>
      </p:sp>
    </p:spTree>
    <p:extLst>
      <p:ext uri="{BB962C8B-B14F-4D97-AF65-F5344CB8AC3E}">
        <p14:creationId xmlns:p14="http://schemas.microsoft.com/office/powerpoint/2010/main" val="818598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542AB-4E5D-E3E5-DA43-46F3AD282BA3}"/>
              </a:ext>
            </a:extLst>
          </p:cNvPr>
          <p:cNvSpPr>
            <a:spLocks noGrp="1"/>
          </p:cNvSpPr>
          <p:nvPr>
            <p:ph type="ctrTitle"/>
          </p:nvPr>
        </p:nvSpPr>
        <p:spPr>
          <a:xfrm>
            <a:off x="1543050" y="1197187"/>
            <a:ext cx="9258300" cy="2546773"/>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ADC5D1-2E43-2D4F-10CF-6B9C4932443F}"/>
              </a:ext>
            </a:extLst>
          </p:cNvPr>
          <p:cNvSpPr>
            <a:spLocks noGrp="1"/>
          </p:cNvSpPr>
          <p:nvPr>
            <p:ph type="subTitle" idx="1"/>
          </p:nvPr>
        </p:nvSpPr>
        <p:spPr>
          <a:xfrm>
            <a:off x="1543050" y="3842174"/>
            <a:ext cx="9258300" cy="176614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291BCE-1E26-2FF6-8CD5-66BFE639D14A}"/>
              </a:ext>
            </a:extLst>
          </p:cNvPr>
          <p:cNvSpPr>
            <a:spLocks noGrp="1"/>
          </p:cNvSpPr>
          <p:nvPr>
            <p:ph type="dt" sz="half" idx="10"/>
          </p:nvPr>
        </p:nvSpPr>
        <p:spPr/>
        <p:txBody>
          <a:bodyPr/>
          <a:lstStyle/>
          <a:p>
            <a:fld id="{4AF3E59C-6757-304D-81DC-AFC89DC42387}" type="datetime1">
              <a:rPr lang="en-US" smtClean="0"/>
              <a:t>7/6/26</a:t>
            </a:fld>
            <a:endParaRPr lang="en-US"/>
          </a:p>
        </p:txBody>
      </p:sp>
      <p:sp>
        <p:nvSpPr>
          <p:cNvPr id="5" name="Footer Placeholder 4">
            <a:extLst>
              <a:ext uri="{FF2B5EF4-FFF2-40B4-BE49-F238E27FC236}">
                <a16:creationId xmlns:a16="http://schemas.microsoft.com/office/drawing/2014/main" id="{342DBBA0-D6C7-FC07-5C56-7191AB2C846F}"/>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A6C5ABB2-FC67-66A2-B676-98C8F4708307}"/>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8646702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8AB43-7245-25CD-9429-3739721B0D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EB2ECB-D6B4-1B28-8A6F-4A72D3E7E2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5FF69-2AD4-71DC-BCAE-6BCC61AA0542}"/>
              </a:ext>
            </a:extLst>
          </p:cNvPr>
          <p:cNvSpPr>
            <a:spLocks noGrp="1"/>
          </p:cNvSpPr>
          <p:nvPr>
            <p:ph type="dt" sz="half" idx="10"/>
          </p:nvPr>
        </p:nvSpPr>
        <p:spPr/>
        <p:txBody>
          <a:bodyPr/>
          <a:lstStyle/>
          <a:p>
            <a:fld id="{F5717DB9-6A5E-D34E-8F49-668C4E023DB8}" type="datetime1">
              <a:rPr lang="en-US" smtClean="0"/>
              <a:t>7/6/26</a:t>
            </a:fld>
            <a:endParaRPr lang="en-US"/>
          </a:p>
        </p:txBody>
      </p:sp>
      <p:sp>
        <p:nvSpPr>
          <p:cNvPr id="5" name="Footer Placeholder 4">
            <a:extLst>
              <a:ext uri="{FF2B5EF4-FFF2-40B4-BE49-F238E27FC236}">
                <a16:creationId xmlns:a16="http://schemas.microsoft.com/office/drawing/2014/main" id="{0A44906B-2BF5-D735-8C03-383888D485AC}"/>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538854DA-D980-9804-D429-EE5849AB2C7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581239677"/>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38A7F-439E-24E3-D0F9-D2B05E7C8108}"/>
              </a:ext>
            </a:extLst>
          </p:cNvPr>
          <p:cNvSpPr>
            <a:spLocks noGrp="1"/>
          </p:cNvSpPr>
          <p:nvPr>
            <p:ph type="title"/>
          </p:nvPr>
        </p:nvSpPr>
        <p:spPr>
          <a:xfrm>
            <a:off x="842248" y="1823721"/>
            <a:ext cx="10647045" cy="3042919"/>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43069C-437B-5A7C-D4D2-2F5EA044BEBC}"/>
              </a:ext>
            </a:extLst>
          </p:cNvPr>
          <p:cNvSpPr>
            <a:spLocks noGrp="1"/>
          </p:cNvSpPr>
          <p:nvPr>
            <p:ph type="body" idx="1"/>
          </p:nvPr>
        </p:nvSpPr>
        <p:spPr>
          <a:xfrm>
            <a:off x="842248" y="4895428"/>
            <a:ext cx="10647045" cy="160019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1F402-A6B4-06C9-471A-ADA7A5B20421}"/>
              </a:ext>
            </a:extLst>
          </p:cNvPr>
          <p:cNvSpPr>
            <a:spLocks noGrp="1"/>
          </p:cNvSpPr>
          <p:nvPr>
            <p:ph type="dt" sz="half" idx="10"/>
          </p:nvPr>
        </p:nvSpPr>
        <p:spPr/>
        <p:txBody>
          <a:bodyPr/>
          <a:lstStyle/>
          <a:p>
            <a:fld id="{9D8F7AC0-3832-FD45-8B44-A4D6390FE77E}" type="datetime1">
              <a:rPr lang="en-US" smtClean="0"/>
              <a:t>7/6/26</a:t>
            </a:fld>
            <a:endParaRPr lang="en-US"/>
          </a:p>
        </p:txBody>
      </p:sp>
      <p:sp>
        <p:nvSpPr>
          <p:cNvPr id="5" name="Footer Placeholder 4">
            <a:extLst>
              <a:ext uri="{FF2B5EF4-FFF2-40B4-BE49-F238E27FC236}">
                <a16:creationId xmlns:a16="http://schemas.microsoft.com/office/drawing/2014/main" id="{93CF1C27-1515-AE48-2681-B9E0DCA4CFC2}"/>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7591AB8D-4166-DA76-F40F-CB996B4F4D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122743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33359-1342-9126-C00F-43885A33B2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8346A5D-AA75-B6A7-2A97-8175D78EB429}"/>
              </a:ext>
            </a:extLst>
          </p:cNvPr>
          <p:cNvSpPr>
            <a:spLocks noGrp="1"/>
          </p:cNvSpPr>
          <p:nvPr>
            <p:ph sz="half" idx="1"/>
          </p:nvPr>
        </p:nvSpPr>
        <p:spPr>
          <a:xfrm>
            <a:off x="848678"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5D2B62-3F5B-CA87-894D-E35F3A7A73FA}"/>
              </a:ext>
            </a:extLst>
          </p:cNvPr>
          <p:cNvSpPr>
            <a:spLocks noGrp="1"/>
          </p:cNvSpPr>
          <p:nvPr>
            <p:ph sz="half" idx="2"/>
          </p:nvPr>
        </p:nvSpPr>
        <p:spPr>
          <a:xfrm>
            <a:off x="6249353"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AB9ACC-74B2-0D1E-9729-94C5BDE608E7}"/>
              </a:ext>
            </a:extLst>
          </p:cNvPr>
          <p:cNvSpPr>
            <a:spLocks noGrp="1"/>
          </p:cNvSpPr>
          <p:nvPr>
            <p:ph type="dt" sz="half" idx="10"/>
          </p:nvPr>
        </p:nvSpPr>
        <p:spPr/>
        <p:txBody>
          <a:bodyPr/>
          <a:lstStyle/>
          <a:p>
            <a:fld id="{07846480-99BB-4344-B97D-DCA362A5FDF8}" type="datetime1">
              <a:rPr lang="en-US" smtClean="0"/>
              <a:t>7/6/26</a:t>
            </a:fld>
            <a:endParaRPr lang="en-US"/>
          </a:p>
        </p:txBody>
      </p:sp>
      <p:sp>
        <p:nvSpPr>
          <p:cNvPr id="6" name="Footer Placeholder 5">
            <a:extLst>
              <a:ext uri="{FF2B5EF4-FFF2-40B4-BE49-F238E27FC236}">
                <a16:creationId xmlns:a16="http://schemas.microsoft.com/office/drawing/2014/main" id="{0EB8D0D1-614A-F39F-2359-171D4F29F76E}"/>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41124FE4-5372-56CC-9C0A-792C0649DD9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11728568"/>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741B6-C81C-44D7-8314-B9E48D54DCC6}"/>
              </a:ext>
            </a:extLst>
          </p:cNvPr>
          <p:cNvSpPr>
            <a:spLocks noGrp="1"/>
          </p:cNvSpPr>
          <p:nvPr>
            <p:ph type="title"/>
          </p:nvPr>
        </p:nvSpPr>
        <p:spPr>
          <a:xfrm>
            <a:off x="850285" y="389467"/>
            <a:ext cx="10647045" cy="1413934"/>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5B6461-6F52-D709-1AA9-7693FA24E633}"/>
              </a:ext>
            </a:extLst>
          </p:cNvPr>
          <p:cNvSpPr>
            <a:spLocks noGrp="1"/>
          </p:cNvSpPr>
          <p:nvPr>
            <p:ph type="body" idx="1"/>
          </p:nvPr>
        </p:nvSpPr>
        <p:spPr>
          <a:xfrm>
            <a:off x="850286" y="1793241"/>
            <a:ext cx="5222259"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705DFE-74DC-8B97-1F5D-76C626F585D2}"/>
              </a:ext>
            </a:extLst>
          </p:cNvPr>
          <p:cNvSpPr>
            <a:spLocks noGrp="1"/>
          </p:cNvSpPr>
          <p:nvPr>
            <p:ph sz="half" idx="2"/>
          </p:nvPr>
        </p:nvSpPr>
        <p:spPr>
          <a:xfrm>
            <a:off x="850286" y="2672080"/>
            <a:ext cx="5222259"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9030914-B7F9-314F-3471-1EB0342CE915}"/>
              </a:ext>
            </a:extLst>
          </p:cNvPr>
          <p:cNvSpPr>
            <a:spLocks noGrp="1"/>
          </p:cNvSpPr>
          <p:nvPr>
            <p:ph type="body" sz="quarter" idx="3"/>
          </p:nvPr>
        </p:nvSpPr>
        <p:spPr>
          <a:xfrm>
            <a:off x="6249352" y="1793241"/>
            <a:ext cx="5247978"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342F94-E36A-FBCB-AD5A-A7A2F73400BD}"/>
              </a:ext>
            </a:extLst>
          </p:cNvPr>
          <p:cNvSpPr>
            <a:spLocks noGrp="1"/>
          </p:cNvSpPr>
          <p:nvPr>
            <p:ph sz="quarter" idx="4"/>
          </p:nvPr>
        </p:nvSpPr>
        <p:spPr>
          <a:xfrm>
            <a:off x="6249352" y="2672080"/>
            <a:ext cx="5247978"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BDDA9A0-9B83-1061-522A-D57667671334}"/>
              </a:ext>
            </a:extLst>
          </p:cNvPr>
          <p:cNvSpPr>
            <a:spLocks noGrp="1"/>
          </p:cNvSpPr>
          <p:nvPr>
            <p:ph type="dt" sz="half" idx="10"/>
          </p:nvPr>
        </p:nvSpPr>
        <p:spPr/>
        <p:txBody>
          <a:bodyPr/>
          <a:lstStyle/>
          <a:p>
            <a:fld id="{31F8A984-FDA0-474C-92E2-0FCD6F165F9D}" type="datetime1">
              <a:rPr lang="en-US" smtClean="0"/>
              <a:t>7/6/26</a:t>
            </a:fld>
            <a:endParaRPr lang="en-US"/>
          </a:p>
        </p:txBody>
      </p:sp>
      <p:sp>
        <p:nvSpPr>
          <p:cNvPr id="8" name="Footer Placeholder 7">
            <a:extLst>
              <a:ext uri="{FF2B5EF4-FFF2-40B4-BE49-F238E27FC236}">
                <a16:creationId xmlns:a16="http://schemas.microsoft.com/office/drawing/2014/main" id="{66A1BFC6-DD30-8582-9BB5-A4C2FCA69217}"/>
              </a:ext>
            </a:extLst>
          </p:cNvPr>
          <p:cNvSpPr>
            <a:spLocks noGrp="1"/>
          </p:cNvSpPr>
          <p:nvPr>
            <p:ph type="ftr" sz="quarter" idx="11"/>
          </p:nvPr>
        </p:nvSpPr>
        <p:spPr/>
        <p:txBody>
          <a:bodyPr/>
          <a:lstStyle/>
          <a:p>
            <a:r>
              <a:rPr lang="en-US"/>
              <a:t>Tennis Channel 2025 - CONFIDENTIAL</a:t>
            </a:r>
          </a:p>
        </p:txBody>
      </p:sp>
      <p:sp>
        <p:nvSpPr>
          <p:cNvPr id="9" name="Slide Number Placeholder 8">
            <a:extLst>
              <a:ext uri="{FF2B5EF4-FFF2-40B4-BE49-F238E27FC236}">
                <a16:creationId xmlns:a16="http://schemas.microsoft.com/office/drawing/2014/main" id="{50B897CB-2FF9-D746-CA12-5F53E4C9EF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96087253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689EC-C4E0-F720-B4BB-9C30633058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242ECA-686B-F2FE-244F-519EADC8FBC1}"/>
              </a:ext>
            </a:extLst>
          </p:cNvPr>
          <p:cNvSpPr>
            <a:spLocks noGrp="1"/>
          </p:cNvSpPr>
          <p:nvPr>
            <p:ph type="dt" sz="half" idx="10"/>
          </p:nvPr>
        </p:nvSpPr>
        <p:spPr/>
        <p:txBody>
          <a:bodyPr/>
          <a:lstStyle/>
          <a:p>
            <a:fld id="{DF7D6774-7599-9340-9771-ADFFFF50DA4A}" type="datetime1">
              <a:rPr lang="en-US" smtClean="0"/>
              <a:t>7/6/26</a:t>
            </a:fld>
            <a:endParaRPr lang="en-US"/>
          </a:p>
        </p:txBody>
      </p:sp>
      <p:sp>
        <p:nvSpPr>
          <p:cNvPr id="4" name="Footer Placeholder 3">
            <a:extLst>
              <a:ext uri="{FF2B5EF4-FFF2-40B4-BE49-F238E27FC236}">
                <a16:creationId xmlns:a16="http://schemas.microsoft.com/office/drawing/2014/main" id="{994311D5-E61B-E713-F072-7FC70EFC6106}"/>
              </a:ext>
            </a:extLst>
          </p:cNvPr>
          <p:cNvSpPr>
            <a:spLocks noGrp="1"/>
          </p:cNvSpPr>
          <p:nvPr>
            <p:ph type="ftr" sz="quarter" idx="11"/>
          </p:nvPr>
        </p:nvSpPr>
        <p:spPr/>
        <p:txBody>
          <a:bodyPr/>
          <a:lstStyle/>
          <a:p>
            <a:r>
              <a:rPr lang="en-US"/>
              <a:t>Tennis Channel 2025 - CONFIDENTIAL</a:t>
            </a:r>
          </a:p>
        </p:txBody>
      </p:sp>
      <p:sp>
        <p:nvSpPr>
          <p:cNvPr id="5" name="Slide Number Placeholder 4">
            <a:extLst>
              <a:ext uri="{FF2B5EF4-FFF2-40B4-BE49-F238E27FC236}">
                <a16:creationId xmlns:a16="http://schemas.microsoft.com/office/drawing/2014/main" id="{D8B1AD28-E6B8-41E5-013F-EA3705C5052B}"/>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461587223"/>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044EE4-4846-6C32-288C-E05F40C3111D}"/>
              </a:ext>
            </a:extLst>
          </p:cNvPr>
          <p:cNvSpPr>
            <a:spLocks noGrp="1"/>
          </p:cNvSpPr>
          <p:nvPr>
            <p:ph type="dt" sz="half" idx="10"/>
          </p:nvPr>
        </p:nvSpPr>
        <p:spPr/>
        <p:txBody>
          <a:bodyPr/>
          <a:lstStyle/>
          <a:p>
            <a:fld id="{9CBD47B3-23AB-F54B-9A7B-8C00C8081A30}" type="datetime1">
              <a:rPr lang="en-US" smtClean="0"/>
              <a:t>7/6/26</a:t>
            </a:fld>
            <a:endParaRPr lang="en-US"/>
          </a:p>
        </p:txBody>
      </p:sp>
      <p:sp>
        <p:nvSpPr>
          <p:cNvPr id="3" name="Footer Placeholder 2">
            <a:extLst>
              <a:ext uri="{FF2B5EF4-FFF2-40B4-BE49-F238E27FC236}">
                <a16:creationId xmlns:a16="http://schemas.microsoft.com/office/drawing/2014/main" id="{6261C964-1C2C-8775-5756-EB8BCF7C5D8E}"/>
              </a:ext>
            </a:extLst>
          </p:cNvPr>
          <p:cNvSpPr>
            <a:spLocks noGrp="1"/>
          </p:cNvSpPr>
          <p:nvPr>
            <p:ph type="ftr" sz="quarter" idx="11"/>
          </p:nvPr>
        </p:nvSpPr>
        <p:spPr/>
        <p:txBody>
          <a:bodyPr/>
          <a:lstStyle/>
          <a:p>
            <a:r>
              <a:rPr lang="en-US"/>
              <a:t>Tennis Channel 2025 - CONFIDENTIAL</a:t>
            </a:r>
          </a:p>
        </p:txBody>
      </p:sp>
      <p:sp>
        <p:nvSpPr>
          <p:cNvPr id="4" name="Slide Number Placeholder 3">
            <a:extLst>
              <a:ext uri="{FF2B5EF4-FFF2-40B4-BE49-F238E27FC236}">
                <a16:creationId xmlns:a16="http://schemas.microsoft.com/office/drawing/2014/main" id="{FACE2306-71B3-FBB9-6236-9950E5EAF3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78362405"/>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843BF-2A0F-47ED-D433-DF8E9551A7AC}"/>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73D69E-2B52-800B-E2F9-FE835D84C945}"/>
              </a:ext>
            </a:extLst>
          </p:cNvPr>
          <p:cNvSpPr>
            <a:spLocks noGrp="1"/>
          </p:cNvSpPr>
          <p:nvPr>
            <p:ph idx="1"/>
          </p:nvPr>
        </p:nvSpPr>
        <p:spPr>
          <a:xfrm>
            <a:off x="5247978" y="1053254"/>
            <a:ext cx="6249353" cy="519853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998016-679C-7679-BDA6-B776B0D0B0C9}"/>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8CC95-EAA5-1963-009D-F7BA26301BCD}"/>
              </a:ext>
            </a:extLst>
          </p:cNvPr>
          <p:cNvSpPr>
            <a:spLocks noGrp="1"/>
          </p:cNvSpPr>
          <p:nvPr>
            <p:ph type="dt" sz="half" idx="10"/>
          </p:nvPr>
        </p:nvSpPr>
        <p:spPr/>
        <p:txBody>
          <a:bodyPr/>
          <a:lstStyle/>
          <a:p>
            <a:fld id="{14F30ED9-FCB1-5447-9794-AFD5F779FA3B}" type="datetime1">
              <a:rPr lang="en-US" smtClean="0"/>
              <a:t>7/6/26</a:t>
            </a:fld>
            <a:endParaRPr lang="en-US"/>
          </a:p>
        </p:txBody>
      </p:sp>
      <p:sp>
        <p:nvSpPr>
          <p:cNvPr id="6" name="Footer Placeholder 5">
            <a:extLst>
              <a:ext uri="{FF2B5EF4-FFF2-40B4-BE49-F238E27FC236}">
                <a16:creationId xmlns:a16="http://schemas.microsoft.com/office/drawing/2014/main" id="{D2646692-B664-9A1B-69AE-7EAA55E6C808}"/>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BEAE579E-2EBD-DCFD-488E-7D4D8A6274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64665216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89F60-72BE-0112-F6AB-FDF9D5265274}"/>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087395E-5F3E-85C5-01AF-8B5A395FF006}"/>
              </a:ext>
            </a:extLst>
          </p:cNvPr>
          <p:cNvSpPr>
            <a:spLocks noGrp="1"/>
          </p:cNvSpPr>
          <p:nvPr>
            <p:ph type="pic" idx="1"/>
          </p:nvPr>
        </p:nvSpPr>
        <p:spPr>
          <a:xfrm>
            <a:off x="5247978" y="1053254"/>
            <a:ext cx="6249353" cy="519853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17A5B-9716-D4C8-864D-84AB8F3DF7AA}"/>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BA2244-8C79-D9DA-DEDF-531C692C6327}"/>
              </a:ext>
            </a:extLst>
          </p:cNvPr>
          <p:cNvSpPr>
            <a:spLocks noGrp="1"/>
          </p:cNvSpPr>
          <p:nvPr>
            <p:ph type="dt" sz="half" idx="10"/>
          </p:nvPr>
        </p:nvSpPr>
        <p:spPr/>
        <p:txBody>
          <a:bodyPr/>
          <a:lstStyle/>
          <a:p>
            <a:fld id="{DA073474-B78A-B243-B4FD-D7121F5357F7}" type="datetime1">
              <a:rPr lang="en-US" smtClean="0"/>
              <a:t>7/6/26</a:t>
            </a:fld>
            <a:endParaRPr lang="en-US"/>
          </a:p>
        </p:txBody>
      </p:sp>
      <p:sp>
        <p:nvSpPr>
          <p:cNvPr id="6" name="Footer Placeholder 5">
            <a:extLst>
              <a:ext uri="{FF2B5EF4-FFF2-40B4-BE49-F238E27FC236}">
                <a16:creationId xmlns:a16="http://schemas.microsoft.com/office/drawing/2014/main" id="{F48925A5-5811-EC41-095C-E6482D873996}"/>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9823A3D9-596F-C217-ADA1-150F7A06495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6003655"/>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1DCD6-4900-D307-8B3E-845F0B83D14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DDC619-0D5E-261F-3E8E-3F35DAACD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CCCD90-30E8-04DC-218F-7B7549CB26CB}"/>
              </a:ext>
            </a:extLst>
          </p:cNvPr>
          <p:cNvSpPr>
            <a:spLocks noGrp="1"/>
          </p:cNvSpPr>
          <p:nvPr>
            <p:ph type="dt" sz="half" idx="10"/>
          </p:nvPr>
        </p:nvSpPr>
        <p:spPr/>
        <p:txBody>
          <a:bodyPr/>
          <a:lstStyle/>
          <a:p>
            <a:fld id="{5DD0E256-82DC-B742-83EE-95D668E2CF2A}" type="datetime1">
              <a:rPr lang="en-US" smtClean="0"/>
              <a:t>7/6/26</a:t>
            </a:fld>
            <a:endParaRPr lang="en-US"/>
          </a:p>
        </p:txBody>
      </p:sp>
      <p:sp>
        <p:nvSpPr>
          <p:cNvPr id="5" name="Footer Placeholder 4">
            <a:extLst>
              <a:ext uri="{FF2B5EF4-FFF2-40B4-BE49-F238E27FC236}">
                <a16:creationId xmlns:a16="http://schemas.microsoft.com/office/drawing/2014/main" id="{1D3EFA0D-D055-1B13-E297-61A43DE8F2B3}"/>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95AF7691-A6DA-9434-C090-1F588D69FC12}"/>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073727667"/>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87BDF5-EF24-0029-DCE1-7AC24EC7CFEF}"/>
              </a:ext>
            </a:extLst>
          </p:cNvPr>
          <p:cNvSpPr>
            <a:spLocks noGrp="1"/>
          </p:cNvSpPr>
          <p:nvPr>
            <p:ph type="title" orient="vert"/>
          </p:nvPr>
        </p:nvSpPr>
        <p:spPr>
          <a:xfrm>
            <a:off x="8833961" y="389467"/>
            <a:ext cx="2661761" cy="619929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3943A6-7D60-FE02-0DAD-FE1401B4EE15}"/>
              </a:ext>
            </a:extLst>
          </p:cNvPr>
          <p:cNvSpPr>
            <a:spLocks noGrp="1"/>
          </p:cNvSpPr>
          <p:nvPr>
            <p:ph type="body" orient="vert" idx="1"/>
          </p:nvPr>
        </p:nvSpPr>
        <p:spPr>
          <a:xfrm>
            <a:off x="848677" y="389467"/>
            <a:ext cx="7830979" cy="619929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F4A4EF-C246-3BC0-F8A4-2D40BC9CAA57}"/>
              </a:ext>
            </a:extLst>
          </p:cNvPr>
          <p:cNvSpPr>
            <a:spLocks noGrp="1"/>
          </p:cNvSpPr>
          <p:nvPr>
            <p:ph type="dt" sz="half" idx="10"/>
          </p:nvPr>
        </p:nvSpPr>
        <p:spPr/>
        <p:txBody>
          <a:bodyPr/>
          <a:lstStyle/>
          <a:p>
            <a:fld id="{6E08F2DA-B790-C342-8CF1-3B2B97F389FB}" type="datetime1">
              <a:rPr lang="en-US" smtClean="0"/>
              <a:t>7/6/26</a:t>
            </a:fld>
            <a:endParaRPr lang="en-US"/>
          </a:p>
        </p:txBody>
      </p:sp>
      <p:sp>
        <p:nvSpPr>
          <p:cNvPr id="5" name="Footer Placeholder 4">
            <a:extLst>
              <a:ext uri="{FF2B5EF4-FFF2-40B4-BE49-F238E27FC236}">
                <a16:creationId xmlns:a16="http://schemas.microsoft.com/office/drawing/2014/main" id="{21A78659-C8AF-161E-4E7D-5D3EEF219ED6}"/>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C46C2202-F3E0-D5DC-F7E2-566FC445139A}"/>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35359364"/>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75072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0832AE-95EA-F660-E35B-9F761BA36B82}"/>
              </a:ext>
            </a:extLst>
          </p:cNvPr>
          <p:cNvSpPr>
            <a:spLocks noGrp="1"/>
          </p:cNvSpPr>
          <p:nvPr>
            <p:ph type="title"/>
          </p:nvPr>
        </p:nvSpPr>
        <p:spPr>
          <a:xfrm>
            <a:off x="848678" y="389467"/>
            <a:ext cx="10647045" cy="14139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A31F6F-E4B0-5C59-F323-FC6476B0321D}"/>
              </a:ext>
            </a:extLst>
          </p:cNvPr>
          <p:cNvSpPr>
            <a:spLocks noGrp="1"/>
          </p:cNvSpPr>
          <p:nvPr>
            <p:ph type="body" idx="1"/>
          </p:nvPr>
        </p:nvSpPr>
        <p:spPr>
          <a:xfrm>
            <a:off x="848678" y="1947333"/>
            <a:ext cx="10647045" cy="46414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A68926-F5FE-4122-DF92-7B0B254C8718}"/>
              </a:ext>
            </a:extLst>
          </p:cNvPr>
          <p:cNvSpPr>
            <a:spLocks noGrp="1"/>
          </p:cNvSpPr>
          <p:nvPr>
            <p:ph type="dt" sz="half" idx="2"/>
          </p:nvPr>
        </p:nvSpPr>
        <p:spPr>
          <a:xfrm>
            <a:off x="848678" y="6780107"/>
            <a:ext cx="2777490" cy="389467"/>
          </a:xfrm>
          <a:prstGeom prst="rect">
            <a:avLst/>
          </a:prstGeom>
        </p:spPr>
        <p:txBody>
          <a:bodyPr vert="horz" lIns="91440" tIns="45720" rIns="91440" bIns="45720" rtlCol="0" anchor="ctr"/>
          <a:lstStyle>
            <a:lvl1pPr algn="l">
              <a:defRPr sz="1200">
                <a:solidFill>
                  <a:schemeClr val="tx1">
                    <a:tint val="82000"/>
                  </a:schemeClr>
                </a:solidFill>
              </a:defRPr>
            </a:lvl1pPr>
          </a:lstStyle>
          <a:p>
            <a:fld id="{905F453D-07D2-4A45-8FB4-9BC139C4CB3A}" type="datetime1">
              <a:rPr lang="en-US" smtClean="0"/>
              <a:t>7/6/26</a:t>
            </a:fld>
            <a:endParaRPr lang="en-US"/>
          </a:p>
        </p:txBody>
      </p:sp>
      <p:sp>
        <p:nvSpPr>
          <p:cNvPr id="5" name="Footer Placeholder 4">
            <a:extLst>
              <a:ext uri="{FF2B5EF4-FFF2-40B4-BE49-F238E27FC236}">
                <a16:creationId xmlns:a16="http://schemas.microsoft.com/office/drawing/2014/main" id="{6485CEA4-3B6B-7E59-4DDA-7365730F344D}"/>
              </a:ext>
            </a:extLst>
          </p:cNvPr>
          <p:cNvSpPr>
            <a:spLocks noGrp="1"/>
          </p:cNvSpPr>
          <p:nvPr>
            <p:ph type="ftr" sz="quarter" idx="3"/>
          </p:nvPr>
        </p:nvSpPr>
        <p:spPr>
          <a:xfrm>
            <a:off x="4089083" y="6780107"/>
            <a:ext cx="4166235" cy="389467"/>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Tennis Channel 2025 - CONFIDENTIAL</a:t>
            </a:r>
          </a:p>
        </p:txBody>
      </p:sp>
      <p:sp>
        <p:nvSpPr>
          <p:cNvPr id="6" name="Slide Number Placeholder 5">
            <a:extLst>
              <a:ext uri="{FF2B5EF4-FFF2-40B4-BE49-F238E27FC236}">
                <a16:creationId xmlns:a16="http://schemas.microsoft.com/office/drawing/2014/main" id="{3162949E-0088-40B8-643A-0F725CFA305F}"/>
              </a:ext>
            </a:extLst>
          </p:cNvPr>
          <p:cNvSpPr>
            <a:spLocks noGrp="1"/>
          </p:cNvSpPr>
          <p:nvPr>
            <p:ph type="sldNum" sz="quarter" idx="4"/>
          </p:nvPr>
        </p:nvSpPr>
        <p:spPr>
          <a:xfrm>
            <a:off x="8718233" y="6780107"/>
            <a:ext cx="2777490" cy="389467"/>
          </a:xfrm>
          <a:prstGeom prst="rect">
            <a:avLst/>
          </a:prstGeom>
        </p:spPr>
        <p:txBody>
          <a:bodyPr vert="horz" lIns="91440" tIns="45720" rIns="91440" bIns="45720" rtlCol="0" anchor="ctr"/>
          <a:lstStyle>
            <a:lvl1pPr algn="r">
              <a:defRPr sz="1200">
                <a:solidFill>
                  <a:schemeClr val="tx1">
                    <a:tint val="82000"/>
                  </a:schemeClr>
                </a:solidFill>
              </a:defRPr>
            </a:lvl1pPr>
          </a:lstStyle>
          <a:p>
            <a:fld id="{F6DAA944-EC5F-9D44-9E3D-812366C7D5CA}" type="slidenum">
              <a:rPr lang="en-US" smtClean="0"/>
              <a:t>‹#›</a:t>
            </a:fld>
            <a:endParaRPr lang="en-US"/>
          </a:p>
        </p:txBody>
      </p:sp>
    </p:spTree>
    <p:extLst>
      <p:ext uri="{BB962C8B-B14F-4D97-AF65-F5344CB8AC3E}">
        <p14:creationId xmlns:p14="http://schemas.microsoft.com/office/powerpoint/2010/main" val="41250136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27691"/>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38980"/>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0" y="427829"/>
            <a:ext cx="12251509" cy="1017037"/>
          </a:xfrm>
          <a:prstGeom prst="rect">
            <a:avLst/>
          </a:prstGeom>
          <a:solidFill>
            <a:schemeClr val="bg1"/>
          </a:solidFill>
          <a:ln w="9525">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Shape 3"/>
          <p:cNvSpPr/>
          <p:nvPr/>
        </p:nvSpPr>
        <p:spPr>
          <a:xfrm>
            <a:off x="92584" y="861593"/>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 name="Shape 4"/>
          <p:cNvSpPr/>
          <p:nvPr/>
        </p:nvSpPr>
        <p:spPr>
          <a:xfrm>
            <a:off x="92584" y="1213409"/>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925830" y="611619"/>
            <a:ext cx="0" cy="833247"/>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48133" y="611619"/>
            <a:ext cx="759181" cy="249974"/>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OWNERS</a:t>
            </a:r>
            <a:endParaRPr lang="en-US" sz="810" dirty="0">
              <a:latin typeface="Arial" panose="020B0604020202020204" pitchFamily="34" charset="0"/>
              <a:cs typeface="Arial" panose="020B0604020202020204" pitchFamily="34" charset="0"/>
            </a:endParaRPr>
          </a:p>
        </p:txBody>
      </p:sp>
      <p:sp>
        <p:nvSpPr>
          <p:cNvPr id="9" name="Text 7"/>
          <p:cNvSpPr/>
          <p:nvPr/>
        </p:nvSpPr>
        <p:spPr>
          <a:xfrm>
            <a:off x="981380"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Keff Ratcliffe</a:t>
            </a:r>
            <a:endParaRPr lang="en-US" sz="911" dirty="0">
              <a:latin typeface="Arial" panose="020B0604020202020204" pitchFamily="34" charset="0"/>
              <a:cs typeface="Arial" panose="020B0604020202020204" pitchFamily="34" charset="0"/>
            </a:endParaRPr>
          </a:p>
        </p:txBody>
      </p:sp>
      <p:sp>
        <p:nvSpPr>
          <p:cNvPr id="10" name="Text 8"/>
          <p:cNvSpPr/>
          <p:nvPr/>
        </p:nvSpPr>
        <p:spPr>
          <a:xfrm>
            <a:off x="3246516"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Aditya Pande</a:t>
            </a:r>
            <a:endParaRPr lang="en-US" sz="911" dirty="0">
              <a:latin typeface="Arial" panose="020B0604020202020204" pitchFamily="34" charset="0"/>
              <a:cs typeface="Arial" panose="020B0604020202020204" pitchFamily="34" charset="0"/>
            </a:endParaRPr>
          </a:p>
        </p:txBody>
      </p:sp>
      <p:sp>
        <p:nvSpPr>
          <p:cNvPr id="11" name="Text 9"/>
          <p:cNvSpPr/>
          <p:nvPr/>
        </p:nvSpPr>
        <p:spPr>
          <a:xfrm>
            <a:off x="5511652"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Cristina Thompson</a:t>
            </a:r>
            <a:endParaRPr lang="en-US" sz="911" dirty="0">
              <a:latin typeface="Arial" panose="020B0604020202020204" pitchFamily="34" charset="0"/>
              <a:cs typeface="Arial" panose="020B0604020202020204" pitchFamily="34" charset="0"/>
            </a:endParaRPr>
          </a:p>
        </p:txBody>
      </p:sp>
      <p:sp>
        <p:nvSpPr>
          <p:cNvPr id="12" name="Text 10"/>
          <p:cNvSpPr/>
          <p:nvPr/>
        </p:nvSpPr>
        <p:spPr>
          <a:xfrm>
            <a:off x="7776787"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Juan Valdes</a:t>
            </a:r>
            <a:endParaRPr lang="en-US" sz="911" dirty="0">
              <a:latin typeface="Arial" panose="020B0604020202020204" pitchFamily="34" charset="0"/>
              <a:cs typeface="Arial" panose="020B0604020202020204" pitchFamily="34" charset="0"/>
            </a:endParaRPr>
          </a:p>
        </p:txBody>
      </p:sp>
      <p:sp>
        <p:nvSpPr>
          <p:cNvPr id="13" name="Text 11"/>
          <p:cNvSpPr/>
          <p:nvPr/>
        </p:nvSpPr>
        <p:spPr>
          <a:xfrm>
            <a:off x="10041923"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Chris Krueger</a:t>
            </a:r>
            <a:endParaRPr lang="en-US" sz="911" dirty="0">
              <a:latin typeface="Arial" panose="020B0604020202020204" pitchFamily="34" charset="0"/>
              <a:cs typeface="Arial" panose="020B0604020202020204" pitchFamily="34" charset="0"/>
            </a:endParaRPr>
          </a:p>
        </p:txBody>
      </p:sp>
      <p:sp>
        <p:nvSpPr>
          <p:cNvPr id="14" name="Text 12"/>
          <p:cNvSpPr/>
          <p:nvPr/>
        </p:nvSpPr>
        <p:spPr>
          <a:xfrm>
            <a:off x="148133" y="861594"/>
            <a:ext cx="759181" cy="351815"/>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GOAL</a:t>
            </a:r>
            <a:endParaRPr lang="en-US" sz="810" dirty="0">
              <a:latin typeface="Arial" panose="020B0604020202020204" pitchFamily="34" charset="0"/>
              <a:cs typeface="Arial" panose="020B0604020202020204" pitchFamily="34" charset="0"/>
            </a:endParaRPr>
          </a:p>
        </p:txBody>
      </p:sp>
      <p:sp>
        <p:nvSpPr>
          <p:cNvPr id="15" name="Text 13"/>
          <p:cNvSpPr/>
          <p:nvPr/>
        </p:nvSpPr>
        <p:spPr>
          <a:xfrm>
            <a:off x="981380" y="861594"/>
            <a:ext cx="11233095" cy="351815"/>
          </a:xfrm>
          <a:prstGeom prst="rect">
            <a:avLst/>
          </a:prstGeom>
          <a:noFill/>
          <a:ln/>
        </p:spPr>
        <p:txBody>
          <a:bodyPr wrap="square" lIns="0" tIns="0" rIns="0" bIns="0" rtlCol="0" anchor="ctr"/>
          <a:lstStyle/>
          <a:p>
            <a:r>
              <a:rPr lang="en-US" sz="861" dirty="0">
                <a:solidFill>
                  <a:srgbClr val="1A1A1A"/>
                </a:solidFill>
                <a:latin typeface="Arial" panose="020B0604020202020204" pitchFamily="34" charset="0"/>
                <a:ea typeface="Calibri" pitchFamily="34" charset="-122"/>
                <a:cs typeface="Arial" panose="020B0604020202020204" pitchFamily="34" charset="0"/>
              </a:rPr>
              <a:t>Rebuilding Tennis Channel OTT (web, iOS, Android, CTV) on its own platform, powered by Match Central replacing Sport Radar stack.</a:t>
            </a:r>
            <a:endParaRPr lang="en-US" sz="861" dirty="0">
              <a:latin typeface="Arial" panose="020B0604020202020204" pitchFamily="34" charset="0"/>
              <a:cs typeface="Arial" panose="020B0604020202020204" pitchFamily="34" charset="0"/>
            </a:endParaRPr>
          </a:p>
        </p:txBody>
      </p:sp>
      <p:sp>
        <p:nvSpPr>
          <p:cNvPr id="16" name="Text 14"/>
          <p:cNvSpPr/>
          <p:nvPr/>
        </p:nvSpPr>
        <p:spPr>
          <a:xfrm>
            <a:off x="148133" y="1213409"/>
            <a:ext cx="759181" cy="231458"/>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LAUNCH</a:t>
            </a:r>
            <a:endParaRPr lang="en-US" sz="810" dirty="0">
              <a:latin typeface="Arial" panose="020B0604020202020204" pitchFamily="34" charset="0"/>
              <a:cs typeface="Arial" panose="020B0604020202020204" pitchFamily="34" charset="0"/>
            </a:endParaRPr>
          </a:p>
        </p:txBody>
      </p:sp>
      <p:sp>
        <p:nvSpPr>
          <p:cNvPr id="17" name="Text 15"/>
          <p:cNvSpPr/>
          <p:nvPr/>
        </p:nvSpPr>
        <p:spPr>
          <a:xfrm>
            <a:off x="981380" y="1213409"/>
            <a:ext cx="11233095" cy="231458"/>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September 30, 2026</a:t>
            </a:r>
            <a:endParaRPr lang="en-US" sz="911" dirty="0">
              <a:latin typeface="Arial" panose="020B0604020202020204" pitchFamily="34" charset="0"/>
              <a:cs typeface="Arial" panose="020B0604020202020204" pitchFamily="34" charset="0"/>
            </a:endParaRPr>
          </a:p>
        </p:txBody>
      </p:sp>
      <p:sp>
        <p:nvSpPr>
          <p:cNvPr id="18" name="Shape 16"/>
          <p:cNvSpPr/>
          <p:nvPr/>
        </p:nvSpPr>
        <p:spPr>
          <a:xfrm>
            <a:off x="0" y="1463382"/>
            <a:ext cx="12251509" cy="312747"/>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9" name="Text 17"/>
          <p:cNvSpPr/>
          <p:nvPr/>
        </p:nvSpPr>
        <p:spPr>
          <a:xfrm>
            <a:off x="92584" y="1463383"/>
            <a:ext cx="12158925" cy="249974"/>
          </a:xfrm>
          <a:prstGeom prst="rect">
            <a:avLst/>
          </a:prstGeom>
          <a:noFill/>
          <a:ln/>
        </p:spPr>
        <p:txBody>
          <a:bodyPr wrap="square" lIns="0" tIns="102870" rIns="0" bIns="0" rtlCol="0" anchor="ctr"/>
          <a:lstStyle/>
          <a:p>
            <a:r>
              <a:rPr lang="en-US" sz="1114" b="1" dirty="0">
                <a:solidFill>
                  <a:srgbClr val="000000"/>
                </a:solidFill>
                <a:latin typeface="Arial" panose="020B0604020202020204" pitchFamily="34" charset="0"/>
                <a:ea typeface="Calibri" pitchFamily="34" charset="-122"/>
                <a:cs typeface="Arial" panose="020B0604020202020204" pitchFamily="34" charset="0"/>
              </a:rPr>
              <a:t>This Week</a:t>
            </a:r>
            <a:endParaRPr lang="en-US" sz="1114" b="1" dirty="0">
              <a:latin typeface="Arial" panose="020B0604020202020204" pitchFamily="34" charset="0"/>
              <a:cs typeface="Arial" panose="020B0604020202020204" pitchFamily="34" charset="0"/>
            </a:endParaRPr>
          </a:p>
        </p:txBody>
      </p:sp>
      <p:sp>
        <p:nvSpPr>
          <p:cNvPr id="20" name="Shape 18"/>
          <p:cNvSpPr/>
          <p:nvPr/>
        </p:nvSpPr>
        <p:spPr>
          <a:xfrm>
            <a:off x="0" y="1787423"/>
            <a:ext cx="12344400" cy="5488784"/>
          </a:xfrm>
          <a:prstGeom prst="rect">
            <a:avLst/>
          </a:prstGeom>
          <a:solidFill>
            <a:schemeClr val="bg1"/>
          </a:solidFill>
          <a:ln w="9525">
            <a:solidFill>
              <a:srgbClr val="D1D5DB"/>
            </a:solidFill>
            <a:prstDash val="solid"/>
          </a:ln>
        </p:spPr>
        <p:txBody>
          <a:bodyPr/>
          <a:lstStyle/>
          <a:p>
            <a:pPr lvl="0">
              <a:buClr>
                <a:srgbClr val="000000"/>
              </a:buClr>
              <a:defRPr/>
            </a:pPr>
            <a:r>
              <a:rPr lang="en-US" sz="1200" b="1" dirty="0">
                <a:solidFill>
                  <a:srgbClr val="0A0A0A"/>
                </a:solidFill>
                <a:highlight>
                  <a:srgbClr val="FFFFFF"/>
                </a:highlight>
                <a:latin typeface="Arial" panose="020B0604020202020204" pitchFamily="34" charset="0"/>
                <a:cs typeface="Arial" panose="020B0604020202020204" pitchFamily="34" charset="0"/>
              </a:rPr>
              <a:t>7/7 Update</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Amagi (Streaming Orchestration) - Several long-standing design questions were resolved this week: the Prime/Ward acknowledgment schema, day-boundary event grouping, and the manual start/stop orchestration model. The remaining open question is how to cut off viewers of a finished match on a shared stream without disrupting others; Amagi is researching a CDN-edge/token approach and owes an estimate by the July 8 call. DRM credentials are due Friday, message-level testing with dummy data starts the week of July 6, and Amagi's full orchestration readiness is targeted for July 15.</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Adobe Pass / MVPD - The Adobe Pass integration is transitioning from setup into implementation. The registered application and API documentation are in hand, and Tennis Channel is reviewing the implementation package while configuring domain whitelisting and platform settings. On the app side, a basic prototype of the provider authentication flow is built and currently hardcoded to DirecTV for testing. Recurring working sessions are being scheduled, with a possible dedicated Slack channel to speed up onboarding.</a:t>
            </a:r>
          </a:p>
          <a:p>
            <a:endParaRPr lang="en-US" sz="1215" dirty="0">
              <a:latin typeface="Arial" panose="020B0604020202020204" pitchFamily="34" charset="0"/>
              <a:cs typeface="Arial" panose="020B0604020202020204" pitchFamily="34" charset="0"/>
            </a:endParaRPr>
          </a:p>
          <a:p>
            <a:r>
              <a:rPr lang="en-US" sz="1215" dirty="0" err="1">
                <a:latin typeface="Arial" panose="020B0604020202020204" pitchFamily="34" charset="0"/>
                <a:cs typeface="Arial" panose="020B0604020202020204" pitchFamily="34" charset="0"/>
              </a:rPr>
              <a:t>Foxxum</a:t>
            </a:r>
            <a:r>
              <a:rPr lang="en-US" sz="1215" dirty="0">
                <a:latin typeface="Arial" panose="020B0604020202020204" pitchFamily="34" charset="0"/>
                <a:cs typeface="Arial" panose="020B0604020202020204" pitchFamily="34" charset="0"/>
              </a:rPr>
              <a:t> - Technical discovery is progressing well, with both teams aligned on the target architecture for authentication, subscription, playback, and platform integration. Focus is now shifting from architecture to execution: documentation, provisioning </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finalizing API definitions, and validating implementation across platforms. No major blockers were identified, though documentation and third-party environment delays remain a watch item.</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Platform Engineering (Website &amp; Mobile) On the new website, the front-end foundation shipped and CMS, carousel,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and Adobe Pass work are all progressing, alongside an early proof-of-concept test of the video player. On mobile, the app moved off mock data onto the live backend across Home, Live, Schedule, and Tournaments, entitlement and login groundwork is in place ahead of the real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backend, and DRM stubs were handed to Amagi for integration testing.</a:t>
            </a:r>
          </a:p>
        </p:txBody>
      </p:sp>
      <p:sp>
        <p:nvSpPr>
          <p:cNvPr id="21" name="Text 19"/>
          <p:cNvSpPr/>
          <p:nvPr/>
        </p:nvSpPr>
        <p:spPr>
          <a:xfrm>
            <a:off x="231458" y="1787423"/>
            <a:ext cx="12020051" cy="4832833"/>
          </a:xfrm>
          <a:prstGeom prst="rect">
            <a:avLst/>
          </a:prstGeom>
          <a:noFill/>
          <a:ln/>
        </p:spPr>
        <p:txBody>
          <a:bodyPr wrap="square" rtlCol="0" anchor="t"/>
          <a:lstStyle/>
          <a:p>
            <a:pPr>
              <a:spcAft>
                <a:spcPts val="608"/>
              </a:spcAft>
            </a:pPr>
            <a:endParaRPr lang="en-US" sz="1164"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15838"/>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4303"/>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r>
              <a:rPr lang="en-US" sz="1600" b="1" dirty="0">
                <a:solidFill>
                  <a:srgbClr val="1A1A1A"/>
                </a:solidFill>
                <a:latin typeface="Arial" panose="020B0604020202020204" pitchFamily="34" charset="0"/>
                <a:ea typeface="Arial" pitchFamily="34" charset="-122"/>
                <a:cs typeface="Arial" panose="020B0604020202020204" pitchFamily="34" charset="0"/>
              </a:rPr>
              <a:t>  ·  Critical Gates</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92583" y="648653"/>
            <a:ext cx="5740146" cy="277749"/>
          </a:xfrm>
          <a:prstGeom prst="rect">
            <a:avLst/>
          </a:prstGeom>
          <a:solidFill>
            <a:schemeClr val="accent6">
              <a:lumMod val="60000"/>
              <a:lumOff val="40000"/>
            </a:schemeClr>
          </a:solidFill>
          <a:ln w="12700">
            <a:solidFill>
              <a:srgbClr val="0F6E56"/>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Text 3"/>
          <p:cNvSpPr/>
          <p:nvPr/>
        </p:nvSpPr>
        <p:spPr>
          <a:xfrm>
            <a:off x="138874" y="648653"/>
            <a:ext cx="5693855" cy="277749"/>
          </a:xfrm>
          <a:prstGeom prst="rect">
            <a:avLst/>
          </a:prstGeom>
          <a:noFill/>
          <a:ln/>
        </p:spPr>
        <p:txBody>
          <a:bodyPr wrap="square" lIns="0" tIns="0" rIns="0" bIns="0" rtlCol="0" anchor="ctr"/>
          <a:lstStyle/>
          <a:p>
            <a:r>
              <a:rPr lang="en-US" sz="1013" dirty="0">
                <a:latin typeface="Arial" panose="020B0604020202020204" pitchFamily="34" charset="0"/>
                <a:ea typeface="Calibri" pitchFamily="34" charset="-122"/>
                <a:cs typeface="Arial" panose="020B0604020202020204" pitchFamily="34" charset="0"/>
              </a:rPr>
              <a:t>Vendor / Contract</a:t>
            </a:r>
            <a:endParaRPr lang="en-US" sz="1013" dirty="0">
              <a:latin typeface="Arial" panose="020B0604020202020204" pitchFamily="34" charset="0"/>
              <a:cs typeface="Arial" panose="020B0604020202020204" pitchFamily="34" charset="0"/>
            </a:endParaRPr>
          </a:p>
        </p:txBody>
      </p:sp>
      <p:sp>
        <p:nvSpPr>
          <p:cNvPr id="6" name="Shape 4"/>
          <p:cNvSpPr/>
          <p:nvPr/>
        </p:nvSpPr>
        <p:spPr>
          <a:xfrm>
            <a:off x="92583" y="926401"/>
            <a:ext cx="5740146" cy="2740457"/>
          </a:xfrm>
          <a:prstGeom prst="rect">
            <a:avLst/>
          </a:prstGeom>
          <a:solidFill>
            <a:srgbClr val="F8FFFE"/>
          </a:solidFill>
          <a:ln w="9525">
            <a:solidFill>
              <a:srgbClr val="D1FAE5"/>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101842" y="926402"/>
            <a:ext cx="5721629" cy="548092"/>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38874" y="926402"/>
            <a:ext cx="601790" cy="548092"/>
          </a:xfrm>
          <a:prstGeom prst="rect">
            <a:avLst/>
          </a:prstGeom>
          <a:noFill/>
          <a:ln/>
        </p:spPr>
        <p:txBody>
          <a:bodyPr wrap="square" lIns="0" tIns="0" rIns="0" bIns="0" rtlCol="0" anchor="ctr"/>
          <a:lstStyle/>
          <a:p>
            <a:r>
              <a:rPr lang="en-US" sz="861" dirty="0" err="1">
                <a:solidFill>
                  <a:srgbClr val="374151"/>
                </a:solidFill>
                <a:latin typeface="Arial" panose="020B0604020202020204" pitchFamily="34" charset="0"/>
                <a:ea typeface="Calibri" pitchFamily="34" charset="-122"/>
                <a:cs typeface="Arial" panose="020B0604020202020204" pitchFamily="34" charset="0"/>
              </a:rPr>
              <a:t>Bitmovin</a:t>
            </a:r>
            <a:endParaRPr lang="en-US" sz="861" dirty="0">
              <a:latin typeface="Arial" panose="020B0604020202020204" pitchFamily="34" charset="0"/>
              <a:cs typeface="Arial" panose="020B0604020202020204" pitchFamily="34" charset="0"/>
            </a:endParaRPr>
          </a:p>
        </p:txBody>
      </p:sp>
      <p:sp>
        <p:nvSpPr>
          <p:cNvPr id="9" name="Text 7"/>
          <p:cNvSpPr/>
          <p:nvPr/>
        </p:nvSpPr>
        <p:spPr>
          <a:xfrm>
            <a:off x="759180" y="926402"/>
            <a:ext cx="4462501" cy="548092"/>
          </a:xfrm>
          <a:prstGeom prst="rect">
            <a:avLst/>
          </a:prstGeom>
          <a:noFill/>
          <a:ln/>
        </p:spPr>
        <p:txBody>
          <a:bodyPr wrap="square" lIns="0" tIns="0" rIns="0" bIns="0" rtlCol="0" anchor="ctr"/>
          <a:lstStyle/>
          <a:p>
            <a:r>
              <a:rPr lang="en-US" sz="810" dirty="0">
                <a:latin typeface="Arial" panose="020B0604020202020204" pitchFamily="34" charset="0"/>
                <a:cs typeface="Arial" panose="020B0604020202020204" pitchFamily="34" charset="0"/>
              </a:rPr>
              <a:t>Redlined from TC legal, </a:t>
            </a:r>
            <a:r>
              <a:rPr lang="en-US" sz="810" dirty="0" err="1">
                <a:latin typeface="Arial" panose="020B0604020202020204" pitchFamily="34" charset="0"/>
                <a:cs typeface="Arial" panose="020B0604020202020204" pitchFamily="34" charset="0"/>
              </a:rPr>
              <a:t>Bitmovin</a:t>
            </a:r>
            <a:r>
              <a:rPr lang="en-US" sz="810" dirty="0">
                <a:latin typeface="Arial" panose="020B0604020202020204" pitchFamily="34" charset="0"/>
                <a:cs typeface="Arial" panose="020B0604020202020204" pitchFamily="34" charset="0"/>
              </a:rPr>
              <a:t> reviewing </a:t>
            </a:r>
          </a:p>
        </p:txBody>
      </p:sp>
      <p:sp>
        <p:nvSpPr>
          <p:cNvPr id="10" name="Shape 8"/>
          <p:cNvSpPr/>
          <p:nvPr/>
        </p:nvSpPr>
        <p:spPr>
          <a:xfrm>
            <a:off x="5258714" y="1098605"/>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1" name="Text 9"/>
          <p:cNvSpPr/>
          <p:nvPr/>
        </p:nvSpPr>
        <p:spPr>
          <a:xfrm>
            <a:off x="5258714" y="1098605"/>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12" name="Text 10"/>
          <p:cNvSpPr/>
          <p:nvPr/>
        </p:nvSpPr>
        <p:spPr>
          <a:xfrm>
            <a:off x="138874" y="1474493"/>
            <a:ext cx="601790"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Adobe</a:t>
            </a:r>
            <a:endParaRPr lang="en-US" sz="861" dirty="0">
              <a:latin typeface="Arial" panose="020B0604020202020204" pitchFamily="34" charset="0"/>
              <a:cs typeface="Arial" panose="020B0604020202020204" pitchFamily="34" charset="0"/>
            </a:endParaRPr>
          </a:p>
        </p:txBody>
      </p:sp>
      <p:sp>
        <p:nvSpPr>
          <p:cNvPr id="13" name="Text 11"/>
          <p:cNvSpPr/>
          <p:nvPr/>
        </p:nvSpPr>
        <p:spPr>
          <a:xfrm>
            <a:off x="759180" y="1474493"/>
            <a:ext cx="4462501"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We are good. Just need to find out who owns the original contract and review renewal dates. Keff owns.</a:t>
            </a:r>
            <a:endParaRPr lang="en-US" sz="861" dirty="0">
              <a:latin typeface="Arial" panose="020B0604020202020204" pitchFamily="34" charset="0"/>
              <a:cs typeface="Arial" panose="020B0604020202020204" pitchFamily="34" charset="0"/>
            </a:endParaRPr>
          </a:p>
        </p:txBody>
      </p:sp>
      <p:sp>
        <p:nvSpPr>
          <p:cNvPr id="16" name="Shape 14"/>
          <p:cNvSpPr/>
          <p:nvPr/>
        </p:nvSpPr>
        <p:spPr>
          <a:xfrm>
            <a:off x="101842" y="2022585"/>
            <a:ext cx="5721629" cy="548092"/>
          </a:xfrm>
          <a:prstGeom prst="rect">
            <a:avLst/>
          </a:prstGeom>
          <a:solidFill>
            <a:srgbClr val="FFFFFF"/>
          </a:solidFill>
          <a:ln w="12700">
            <a:solidFill>
              <a:srgbClr val="FFFFFF"/>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17" name="Text 15"/>
          <p:cNvSpPr/>
          <p:nvPr/>
        </p:nvSpPr>
        <p:spPr>
          <a:xfrm>
            <a:off x="138874" y="2022585"/>
            <a:ext cx="601790"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Amagi </a:t>
            </a:r>
          </a:p>
          <a:p>
            <a:r>
              <a:rPr lang="en-US" sz="861" dirty="0">
                <a:solidFill>
                  <a:srgbClr val="374151"/>
                </a:solidFill>
                <a:latin typeface="Arial" panose="020B0604020202020204" pitchFamily="34" charset="0"/>
                <a:cs typeface="Arial" panose="020B0604020202020204" pitchFamily="34" charset="0"/>
              </a:rPr>
              <a:t>SOW</a:t>
            </a:r>
            <a:endParaRPr lang="en-US" sz="861" dirty="0">
              <a:latin typeface="Arial" panose="020B0604020202020204" pitchFamily="34" charset="0"/>
              <a:cs typeface="Arial" panose="020B0604020202020204" pitchFamily="34" charset="0"/>
            </a:endParaRPr>
          </a:p>
        </p:txBody>
      </p:sp>
      <p:sp>
        <p:nvSpPr>
          <p:cNvPr id="18" name="Text 16"/>
          <p:cNvSpPr/>
          <p:nvPr/>
        </p:nvSpPr>
        <p:spPr>
          <a:xfrm>
            <a:off x="759180" y="2022585"/>
            <a:ext cx="4462501" cy="548092"/>
          </a:xfrm>
          <a:prstGeom prst="rect">
            <a:avLst/>
          </a:prstGeom>
          <a:noFill/>
          <a:ln/>
        </p:spPr>
        <p:txBody>
          <a:bodyPr wrap="square" lIns="0" tIns="0" rIns="0" bIns="0" rtlCol="0" anchor="ctr"/>
          <a:lstStyle/>
          <a:p>
            <a:r>
              <a:rPr lang="en-US" sz="810" dirty="0">
                <a:latin typeface="Arial" panose="020B0604020202020204" pitchFamily="34" charset="0"/>
                <a:cs typeface="Arial" panose="020B0604020202020204" pitchFamily="34" charset="0"/>
              </a:rPr>
              <a:t>Amagi Contract Cost Review: Provide Sinclair with details on cost savings for Amagi by following up with Mike Kralik and Kevin </a:t>
            </a:r>
            <a:r>
              <a:rPr lang="en-US" sz="810" dirty="0" err="1">
                <a:latin typeface="Arial" panose="020B0604020202020204" pitchFamily="34" charset="0"/>
                <a:cs typeface="Arial" panose="020B0604020202020204" pitchFamily="34" charset="0"/>
              </a:rPr>
              <a:t>Kotlove</a:t>
            </a:r>
            <a:r>
              <a:rPr lang="en-US" sz="810" dirty="0">
                <a:latin typeface="Arial" panose="020B0604020202020204" pitchFamily="34" charset="0"/>
                <a:cs typeface="Arial" panose="020B0604020202020204" pitchFamily="34" charset="0"/>
              </a:rPr>
              <a:t>. (Ari)</a:t>
            </a:r>
          </a:p>
        </p:txBody>
      </p:sp>
      <p:sp>
        <p:nvSpPr>
          <p:cNvPr id="19" name="Shape 17"/>
          <p:cNvSpPr/>
          <p:nvPr/>
        </p:nvSpPr>
        <p:spPr>
          <a:xfrm>
            <a:off x="5258714" y="2194788"/>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20" name="Text 18"/>
          <p:cNvSpPr/>
          <p:nvPr/>
        </p:nvSpPr>
        <p:spPr>
          <a:xfrm>
            <a:off x="5258714" y="2194788"/>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21" name="Text 19"/>
          <p:cNvSpPr/>
          <p:nvPr/>
        </p:nvSpPr>
        <p:spPr>
          <a:xfrm>
            <a:off x="138874" y="2570675"/>
            <a:ext cx="601790"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FOXXUM</a:t>
            </a:r>
            <a:endParaRPr lang="en-US" sz="861" dirty="0">
              <a:latin typeface="Arial" panose="020B0604020202020204" pitchFamily="34" charset="0"/>
              <a:cs typeface="Arial" panose="020B0604020202020204" pitchFamily="34" charset="0"/>
            </a:endParaRPr>
          </a:p>
        </p:txBody>
      </p:sp>
      <p:sp>
        <p:nvSpPr>
          <p:cNvPr id="22" name="Text 20"/>
          <p:cNvSpPr/>
          <p:nvPr/>
        </p:nvSpPr>
        <p:spPr>
          <a:xfrm>
            <a:off x="759180" y="2570675"/>
            <a:ext cx="4462501"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Redlined, contract sent out to FOXXUM for review on 7/2.</a:t>
            </a:r>
            <a:endParaRPr lang="en-US" sz="861" dirty="0">
              <a:latin typeface="Arial" panose="020B0604020202020204" pitchFamily="34" charset="0"/>
              <a:cs typeface="Arial" panose="020B0604020202020204" pitchFamily="34" charset="0"/>
            </a:endParaRPr>
          </a:p>
        </p:txBody>
      </p:sp>
      <p:sp>
        <p:nvSpPr>
          <p:cNvPr id="23" name="Shape 21"/>
          <p:cNvSpPr/>
          <p:nvPr/>
        </p:nvSpPr>
        <p:spPr>
          <a:xfrm>
            <a:off x="5258714" y="2742880"/>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24" name="Text 22"/>
          <p:cNvSpPr/>
          <p:nvPr/>
        </p:nvSpPr>
        <p:spPr>
          <a:xfrm>
            <a:off x="5258714" y="2742880"/>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25" name="Shape 23"/>
          <p:cNvSpPr/>
          <p:nvPr/>
        </p:nvSpPr>
        <p:spPr>
          <a:xfrm>
            <a:off x="101842" y="3118767"/>
            <a:ext cx="5721629" cy="548092"/>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26" name="Text 24"/>
          <p:cNvSpPr/>
          <p:nvPr/>
        </p:nvSpPr>
        <p:spPr>
          <a:xfrm>
            <a:off x="138874" y="3118767"/>
            <a:ext cx="601790"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SR Data</a:t>
            </a:r>
            <a:endParaRPr lang="en-US" sz="861" dirty="0">
              <a:latin typeface="Arial" panose="020B0604020202020204" pitchFamily="34" charset="0"/>
              <a:cs typeface="Arial" panose="020B0604020202020204" pitchFamily="34" charset="0"/>
            </a:endParaRPr>
          </a:p>
        </p:txBody>
      </p:sp>
      <p:sp>
        <p:nvSpPr>
          <p:cNvPr id="27" name="Text 25"/>
          <p:cNvSpPr/>
          <p:nvPr/>
        </p:nvSpPr>
        <p:spPr>
          <a:xfrm>
            <a:off x="759180" y="3118767"/>
            <a:ext cx="4462501" cy="548092"/>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Discussions will begin end of week or first week of July. Due by end of July.</a:t>
            </a:r>
          </a:p>
          <a:p>
            <a:endParaRPr lang="en-US" sz="911" dirty="0">
              <a:latin typeface="Arial" panose="020B0604020202020204" pitchFamily="34" charset="0"/>
              <a:cs typeface="Arial" panose="020B0604020202020204" pitchFamily="34" charset="0"/>
            </a:endParaRPr>
          </a:p>
        </p:txBody>
      </p:sp>
      <p:sp>
        <p:nvSpPr>
          <p:cNvPr id="28" name="Shape 26"/>
          <p:cNvSpPr/>
          <p:nvPr/>
        </p:nvSpPr>
        <p:spPr>
          <a:xfrm>
            <a:off x="5258714" y="3290972"/>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29" name="Text 27"/>
          <p:cNvSpPr>
            <a:spLocks/>
          </p:cNvSpPr>
          <p:nvPr/>
        </p:nvSpPr>
        <p:spPr>
          <a:xfrm>
            <a:off x="5258714" y="3290972"/>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30" name="Shape 28"/>
          <p:cNvSpPr/>
          <p:nvPr/>
        </p:nvSpPr>
        <p:spPr>
          <a:xfrm>
            <a:off x="5943829" y="648653"/>
            <a:ext cx="5740146" cy="277749"/>
          </a:xfrm>
          <a:prstGeom prst="rect">
            <a:avLst/>
          </a:prstGeom>
          <a:solidFill>
            <a:schemeClr val="accent6">
              <a:lumMod val="60000"/>
              <a:lumOff val="40000"/>
            </a:schemeClr>
          </a:solidFill>
          <a:ln w="12700">
            <a:solidFill>
              <a:srgbClr val="0F6E56"/>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1" name="Text 29"/>
          <p:cNvSpPr/>
          <p:nvPr/>
        </p:nvSpPr>
        <p:spPr>
          <a:xfrm>
            <a:off x="5999378" y="648653"/>
            <a:ext cx="5693855" cy="277749"/>
          </a:xfrm>
          <a:prstGeom prst="rect">
            <a:avLst/>
          </a:prstGeom>
          <a:noFill/>
          <a:ln/>
        </p:spPr>
        <p:txBody>
          <a:bodyPr wrap="square" lIns="0" tIns="0" rIns="0" bIns="0" rtlCol="0" anchor="ctr"/>
          <a:lstStyle/>
          <a:p>
            <a:r>
              <a:rPr lang="en-US" sz="1013" dirty="0">
                <a:latin typeface="Arial" panose="020B0604020202020204" pitchFamily="34" charset="0"/>
                <a:cs typeface="Arial" panose="020B0604020202020204" pitchFamily="34" charset="0"/>
              </a:rPr>
              <a:t>Shared Infrastructure &amp; Dev Tooling</a:t>
            </a:r>
          </a:p>
        </p:txBody>
      </p:sp>
      <p:sp>
        <p:nvSpPr>
          <p:cNvPr id="32" name="Shape 30"/>
          <p:cNvSpPr/>
          <p:nvPr/>
        </p:nvSpPr>
        <p:spPr>
          <a:xfrm>
            <a:off x="5953087" y="926401"/>
            <a:ext cx="5740146" cy="2740457"/>
          </a:xfrm>
          <a:prstGeom prst="rect">
            <a:avLst/>
          </a:prstGeom>
          <a:solidFill>
            <a:srgbClr val="F8FFFE"/>
          </a:solidFill>
          <a:ln w="9525">
            <a:solidFill>
              <a:srgbClr val="D1FAE5"/>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33" name="Shape 31"/>
          <p:cNvSpPr/>
          <p:nvPr/>
        </p:nvSpPr>
        <p:spPr>
          <a:xfrm>
            <a:off x="5962345" y="926402"/>
            <a:ext cx="5721629" cy="685114"/>
          </a:xfrm>
          <a:prstGeom prst="rect">
            <a:avLst/>
          </a:prstGeom>
          <a:solidFill>
            <a:srgbClr val="FFFFFF"/>
          </a:solidFill>
          <a:ln w="12700">
            <a:solidFill>
              <a:srgbClr val="FFFFFF"/>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34" name="Text 32"/>
          <p:cNvSpPr/>
          <p:nvPr/>
        </p:nvSpPr>
        <p:spPr>
          <a:xfrm>
            <a:off x="5999378" y="926402"/>
            <a:ext cx="601790" cy="685114"/>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Monitoring &amp; Error Tracking</a:t>
            </a:r>
          </a:p>
        </p:txBody>
      </p:sp>
      <p:sp>
        <p:nvSpPr>
          <p:cNvPr id="35" name="Text 33"/>
          <p:cNvSpPr/>
          <p:nvPr/>
        </p:nvSpPr>
        <p:spPr>
          <a:xfrm>
            <a:off x="6619684" y="926402"/>
            <a:ext cx="4462501" cy="685114"/>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Added automatic tracking of what users do in the app (screens viewed, buttons tapped) and instant alerts when something breaks, so issues get caught and fixed faster instead of relying on user reports.</a:t>
            </a:r>
            <a:endParaRPr lang="en-US" sz="861" dirty="0">
              <a:latin typeface="Arial" panose="020B0604020202020204" pitchFamily="34" charset="0"/>
              <a:cs typeface="Arial" panose="020B0604020202020204" pitchFamily="34" charset="0"/>
            </a:endParaRPr>
          </a:p>
        </p:txBody>
      </p:sp>
      <p:sp>
        <p:nvSpPr>
          <p:cNvPr id="38" name="Text 36"/>
          <p:cNvSpPr/>
          <p:nvPr/>
        </p:nvSpPr>
        <p:spPr>
          <a:xfrm>
            <a:off x="5999378" y="1611516"/>
            <a:ext cx="601790" cy="685114"/>
          </a:xfrm>
          <a:prstGeom prst="rect">
            <a:avLst/>
          </a:prstGeom>
          <a:noFill/>
          <a:ln/>
        </p:spPr>
        <p:txBody>
          <a:bodyPr wrap="square" lIns="0" tIns="0" rIns="0" bIns="0" rtlCol="0" anchor="ctr"/>
          <a:lstStyle/>
          <a:p>
            <a:endParaRPr lang="en-US" sz="861" dirty="0">
              <a:latin typeface="Arial" panose="020B0604020202020204" pitchFamily="34" charset="0"/>
              <a:cs typeface="Arial" panose="020B0604020202020204" pitchFamily="34" charset="0"/>
            </a:endParaRPr>
          </a:p>
        </p:txBody>
      </p:sp>
      <p:sp>
        <p:nvSpPr>
          <p:cNvPr id="39" name="Text 37"/>
          <p:cNvSpPr/>
          <p:nvPr/>
        </p:nvSpPr>
        <p:spPr>
          <a:xfrm>
            <a:off x="6619684" y="1611516"/>
            <a:ext cx="4462501" cy="685114"/>
          </a:xfrm>
          <a:prstGeom prst="rect">
            <a:avLst/>
          </a:prstGeom>
          <a:noFill/>
          <a:ln/>
        </p:spPr>
        <p:txBody>
          <a:bodyPr wrap="square" lIns="0" tIns="0" rIns="0" bIns="0" rtlCol="0" anchor="ctr"/>
          <a:lstStyle/>
          <a:p>
            <a:pPr marL="173593" indent="-173593">
              <a:buFont typeface="Arial" panose="020B0604020202020204" pitchFamily="34" charset="0"/>
              <a:buChar char="•"/>
            </a:pPr>
            <a:r>
              <a:rPr lang="en-US" sz="911" dirty="0"/>
              <a:t>Migrated the app off mock data onto the live backend, so Home, Live, Schedule, and Tournaments now show real content and real playback. </a:t>
            </a:r>
          </a:p>
          <a:p>
            <a:pPr marL="173593" indent="-173593">
              <a:buFont typeface="Arial" panose="020B0604020202020204" pitchFamily="34" charset="0"/>
              <a:buChar char="•"/>
            </a:pPr>
            <a:r>
              <a:rPr lang="en-US" sz="911" dirty="0"/>
              <a:t>Shipped supporting shared tools (event tracking, design polish, dev tooling) alongside about 35 merged updates this period.</a:t>
            </a:r>
            <a:endParaRPr lang="en-US" sz="861" dirty="0">
              <a:latin typeface="Arial" panose="020B0604020202020204" pitchFamily="34" charset="0"/>
              <a:cs typeface="Arial" panose="020B0604020202020204" pitchFamily="34" charset="0"/>
            </a:endParaRPr>
          </a:p>
        </p:txBody>
      </p:sp>
      <p:sp>
        <p:nvSpPr>
          <p:cNvPr id="42" name="Shape 40"/>
          <p:cNvSpPr/>
          <p:nvPr/>
        </p:nvSpPr>
        <p:spPr>
          <a:xfrm>
            <a:off x="5962345" y="2296630"/>
            <a:ext cx="5721629" cy="685114"/>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43" name="Text 41"/>
          <p:cNvSpPr/>
          <p:nvPr/>
        </p:nvSpPr>
        <p:spPr>
          <a:xfrm>
            <a:off x="5999378" y="2296630"/>
            <a:ext cx="601790" cy="685114"/>
          </a:xfrm>
          <a:prstGeom prst="rect">
            <a:avLst/>
          </a:prstGeom>
          <a:noFill/>
          <a:ln/>
        </p:spPr>
        <p:txBody>
          <a:bodyPr wrap="square" lIns="0" tIns="0" rIns="0" bIns="0" rtlCol="0" anchor="ctr"/>
          <a:lstStyle/>
          <a:p>
            <a:r>
              <a:rPr lang="en-US" sz="911" dirty="0"/>
              <a:t>New Website</a:t>
            </a:r>
            <a:endParaRPr lang="en-US" sz="861" dirty="0">
              <a:latin typeface="Arial" panose="020B0604020202020204" pitchFamily="34" charset="0"/>
              <a:cs typeface="Arial" panose="020B0604020202020204" pitchFamily="34" charset="0"/>
            </a:endParaRPr>
          </a:p>
        </p:txBody>
      </p:sp>
      <p:sp>
        <p:nvSpPr>
          <p:cNvPr id="44" name="Text 42"/>
          <p:cNvSpPr/>
          <p:nvPr/>
        </p:nvSpPr>
        <p:spPr>
          <a:xfrm>
            <a:off x="6619684" y="2296630"/>
            <a:ext cx="4462501" cy="685114"/>
          </a:xfrm>
          <a:prstGeom prst="rect">
            <a:avLst/>
          </a:prstGeom>
          <a:noFill/>
          <a:ln/>
        </p:spPr>
        <p:txBody>
          <a:bodyPr wrap="square" lIns="0" tIns="0" rIns="0" bIns="0" rtlCol="0" anchor="ctr"/>
          <a:lstStyle/>
          <a:p>
            <a:pPr marL="173593" indent="-173593">
              <a:buFont typeface="Arial" panose="020B0604020202020204" pitchFamily="34" charset="0"/>
              <a:buChar char="•"/>
            </a:pPr>
            <a:r>
              <a:rPr lang="en-US" sz="911" dirty="0"/>
              <a:t>Prototyping Auth0/</a:t>
            </a:r>
            <a:r>
              <a:rPr lang="en-US" sz="911" dirty="0" err="1"/>
              <a:t>Cleeng</a:t>
            </a:r>
            <a:r>
              <a:rPr lang="en-US" sz="911" dirty="0"/>
              <a:t> login, building out CMS widget support, and standing up Adobe Pass provider management, alongside a shipped front-end foundation (design system, navigation, footer, page shell). </a:t>
            </a:r>
          </a:p>
          <a:p>
            <a:pPr marL="173593" indent="-173593">
              <a:buFont typeface="Arial" panose="020B0604020202020204" pitchFamily="34" charset="0"/>
              <a:buChar char="•"/>
            </a:pPr>
            <a:r>
              <a:rPr lang="en-US" sz="911" dirty="0"/>
              <a:t>Carousel page engine and its backend refresh API delivered, plus an early proof-of-concept test of the </a:t>
            </a:r>
            <a:r>
              <a:rPr lang="en-US" sz="911" dirty="0" err="1"/>
              <a:t>Bitmovin</a:t>
            </a:r>
            <a:r>
              <a:rPr lang="en-US" sz="911" dirty="0"/>
              <a:t> video player.</a:t>
            </a:r>
            <a:endParaRPr lang="en-US" sz="861" dirty="0">
              <a:latin typeface="Arial" panose="020B0604020202020204" pitchFamily="34" charset="0"/>
              <a:cs typeface="Arial" panose="020B0604020202020204" pitchFamily="34" charset="0"/>
            </a:endParaRPr>
          </a:p>
        </p:txBody>
      </p:sp>
      <p:sp>
        <p:nvSpPr>
          <p:cNvPr id="47" name="Text 45"/>
          <p:cNvSpPr/>
          <p:nvPr/>
        </p:nvSpPr>
        <p:spPr>
          <a:xfrm>
            <a:off x="5999378" y="2981744"/>
            <a:ext cx="601790" cy="685114"/>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Hosting</a:t>
            </a:r>
            <a:endParaRPr lang="en-US" sz="861" dirty="0">
              <a:latin typeface="Arial" panose="020B0604020202020204" pitchFamily="34" charset="0"/>
              <a:cs typeface="Arial" panose="020B0604020202020204" pitchFamily="34" charset="0"/>
            </a:endParaRPr>
          </a:p>
        </p:txBody>
      </p:sp>
      <p:sp>
        <p:nvSpPr>
          <p:cNvPr id="48" name="Text 46"/>
          <p:cNvSpPr/>
          <p:nvPr/>
        </p:nvSpPr>
        <p:spPr>
          <a:xfrm>
            <a:off x="6619684" y="2981744"/>
            <a:ext cx="4462501" cy="685114"/>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Moving control of Tennis Channel's website hosting setup in-house, the same approach already used successfully for </a:t>
            </a:r>
            <a:r>
              <a:rPr lang="en-US" sz="911" dirty="0" err="1">
                <a:latin typeface="Arial" panose="020B0604020202020204" pitchFamily="34" charset="0"/>
                <a:cs typeface="Arial" panose="020B0604020202020204" pitchFamily="34" charset="0"/>
              </a:rPr>
              <a:t>Tennis.com</a:t>
            </a:r>
            <a:r>
              <a:rPr lang="en-US" sz="911" dirty="0">
                <a:latin typeface="Arial" panose="020B0604020202020204" pitchFamily="34" charset="0"/>
                <a:cs typeface="Arial" panose="020B0604020202020204" pitchFamily="34" charset="0"/>
              </a:rPr>
              <a:t>, giving us more control ahead of launch.</a:t>
            </a:r>
            <a:endParaRPr lang="en-US" sz="861" dirty="0">
              <a:latin typeface="Arial" panose="020B0604020202020204" pitchFamily="34" charset="0"/>
              <a:cs typeface="Arial" panose="020B0604020202020204" pitchFamily="34" charset="0"/>
            </a:endParaRPr>
          </a:p>
        </p:txBody>
      </p:sp>
      <p:sp>
        <p:nvSpPr>
          <p:cNvPr id="50" name="Text 48"/>
          <p:cNvSpPr/>
          <p:nvPr/>
        </p:nvSpPr>
        <p:spPr>
          <a:xfrm>
            <a:off x="11119218" y="3222460"/>
            <a:ext cx="546240" cy="203683"/>
          </a:xfrm>
          <a:prstGeom prst="rect">
            <a:avLst/>
          </a:prstGeom>
          <a:noFill/>
          <a:ln/>
        </p:spPr>
        <p:txBody>
          <a:bodyPr wrap="square" lIns="0" tIns="0" rIns="0" bIns="0" rtlCol="0" anchor="ctr"/>
          <a:lstStyle/>
          <a:p>
            <a:pPr algn="ctr"/>
            <a:endParaRPr lang="en-US" sz="709" dirty="0">
              <a:latin typeface="Arial" panose="020B0604020202020204" pitchFamily="34" charset="0"/>
              <a:cs typeface="Arial" panose="020B0604020202020204" pitchFamily="34" charset="0"/>
            </a:endParaRPr>
          </a:p>
        </p:txBody>
      </p:sp>
      <p:sp>
        <p:nvSpPr>
          <p:cNvPr id="51" name="Shape 49"/>
          <p:cNvSpPr/>
          <p:nvPr/>
        </p:nvSpPr>
        <p:spPr>
          <a:xfrm>
            <a:off x="92583" y="3740925"/>
            <a:ext cx="5740146" cy="277749"/>
          </a:xfrm>
          <a:prstGeom prst="rect">
            <a:avLst/>
          </a:prstGeom>
          <a:solidFill>
            <a:schemeClr val="accent6">
              <a:lumMod val="60000"/>
              <a:lumOff val="40000"/>
            </a:schemeClr>
          </a:solidFill>
          <a:ln w="12700">
            <a:solidFill>
              <a:srgbClr val="0F6E56"/>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2" name="Text 50"/>
          <p:cNvSpPr/>
          <p:nvPr/>
        </p:nvSpPr>
        <p:spPr>
          <a:xfrm>
            <a:off x="138874" y="3740925"/>
            <a:ext cx="5693855" cy="277749"/>
          </a:xfrm>
          <a:prstGeom prst="rect">
            <a:avLst/>
          </a:prstGeom>
          <a:noFill/>
          <a:ln/>
        </p:spPr>
        <p:txBody>
          <a:bodyPr wrap="square" lIns="0" tIns="0" rIns="0" bIns="0" rtlCol="0" anchor="ctr"/>
          <a:lstStyle/>
          <a:p>
            <a:r>
              <a:rPr lang="en-US" sz="1013" dirty="0">
                <a:latin typeface="Arial" panose="020B0604020202020204" pitchFamily="34" charset="0"/>
                <a:ea typeface="Calibri" pitchFamily="34" charset="-122"/>
                <a:cs typeface="Arial" panose="020B0604020202020204" pitchFamily="34" charset="0"/>
              </a:rPr>
              <a:t>Partner / Platform Integrations</a:t>
            </a:r>
            <a:endParaRPr lang="en-US" sz="1013" dirty="0">
              <a:latin typeface="Arial" panose="020B0604020202020204" pitchFamily="34" charset="0"/>
              <a:cs typeface="Arial" panose="020B0604020202020204" pitchFamily="34" charset="0"/>
            </a:endParaRPr>
          </a:p>
        </p:txBody>
      </p:sp>
      <p:sp>
        <p:nvSpPr>
          <p:cNvPr id="53" name="Shape 51"/>
          <p:cNvSpPr/>
          <p:nvPr/>
        </p:nvSpPr>
        <p:spPr>
          <a:xfrm>
            <a:off x="92583" y="4018674"/>
            <a:ext cx="5740146" cy="3296526"/>
          </a:xfrm>
          <a:prstGeom prst="rect">
            <a:avLst/>
          </a:prstGeom>
          <a:solidFill>
            <a:srgbClr val="F8FFFE"/>
          </a:solidFill>
          <a:ln w="9525">
            <a:solidFill>
              <a:srgbClr val="D1FAE5"/>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54" name="Shape 52"/>
          <p:cNvSpPr/>
          <p:nvPr/>
        </p:nvSpPr>
        <p:spPr>
          <a:xfrm>
            <a:off x="101842" y="4018674"/>
            <a:ext cx="5721629" cy="1098842"/>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5" name="Text 53"/>
          <p:cNvSpPr/>
          <p:nvPr/>
        </p:nvSpPr>
        <p:spPr>
          <a:xfrm>
            <a:off x="138874" y="4018674"/>
            <a:ext cx="601790" cy="109884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MVPD</a:t>
            </a:r>
            <a:endParaRPr lang="en-US" sz="861" dirty="0">
              <a:latin typeface="Arial" panose="020B0604020202020204" pitchFamily="34" charset="0"/>
              <a:cs typeface="Arial" panose="020B0604020202020204" pitchFamily="34" charset="0"/>
            </a:endParaRPr>
          </a:p>
        </p:txBody>
      </p:sp>
      <p:sp>
        <p:nvSpPr>
          <p:cNvPr id="56" name="Text 54"/>
          <p:cNvSpPr/>
          <p:nvPr/>
        </p:nvSpPr>
        <p:spPr>
          <a:xfrm>
            <a:off x="759180" y="4018674"/>
            <a:ext cx="4462501" cy="1098842"/>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Adobe Pass integration underway for MVPD access; CMS-based provider management is being brought into the web app, with basic prototypes built and currently hardcoded to DirecTV for testing.</a:t>
            </a:r>
          </a:p>
        </p:txBody>
      </p:sp>
      <p:sp>
        <p:nvSpPr>
          <p:cNvPr id="57" name="Shape 55"/>
          <p:cNvSpPr/>
          <p:nvPr/>
        </p:nvSpPr>
        <p:spPr>
          <a:xfrm>
            <a:off x="5258714" y="4373575"/>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8" name="Text 56"/>
          <p:cNvSpPr/>
          <p:nvPr/>
        </p:nvSpPr>
        <p:spPr>
          <a:xfrm>
            <a:off x="5258714" y="4373575"/>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59" name="Text 57"/>
          <p:cNvSpPr/>
          <p:nvPr/>
        </p:nvSpPr>
        <p:spPr>
          <a:xfrm>
            <a:off x="138874" y="5117516"/>
            <a:ext cx="601790" cy="1098842"/>
          </a:xfrm>
          <a:prstGeom prst="rect">
            <a:avLst/>
          </a:prstGeom>
          <a:noFill/>
          <a:ln/>
        </p:spPr>
        <p:txBody>
          <a:bodyPr wrap="square" lIns="0" tIns="0" rIns="0" bIns="0" rtlCol="0" anchor="ctr"/>
          <a:lstStyle/>
          <a:p>
            <a:endParaRPr lang="en-US" sz="861" dirty="0">
              <a:latin typeface="Arial" panose="020B0604020202020204" pitchFamily="34" charset="0"/>
              <a:cs typeface="Arial" panose="020B0604020202020204" pitchFamily="34" charset="0"/>
            </a:endParaRPr>
          </a:p>
        </p:txBody>
      </p:sp>
      <p:sp>
        <p:nvSpPr>
          <p:cNvPr id="60" name="Text 58"/>
          <p:cNvSpPr/>
          <p:nvPr/>
        </p:nvSpPr>
        <p:spPr>
          <a:xfrm>
            <a:off x="759180" y="5117516"/>
            <a:ext cx="4462501" cy="1098842"/>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Dedicated DRM auth service  launched, with license flows stubbed for </a:t>
            </a:r>
            <a:r>
              <a:rPr lang="en-US" sz="911" dirty="0" err="1">
                <a:latin typeface="Arial" panose="020B0604020202020204" pitchFamily="34" charset="0"/>
                <a:cs typeface="Arial" panose="020B0604020202020204" pitchFamily="34" charset="0"/>
              </a:rPr>
              <a:t>FairPlay</a:t>
            </a:r>
            <a:r>
              <a:rPr lang="en-US" sz="911" dirty="0">
                <a:latin typeface="Arial" panose="020B0604020202020204" pitchFamily="34" charset="0"/>
                <a:cs typeface="Arial" panose="020B0604020202020204" pitchFamily="34" charset="0"/>
              </a:rPr>
              <a:t>, </a:t>
            </a:r>
            <a:r>
              <a:rPr lang="en-US" sz="911" dirty="0" err="1">
                <a:latin typeface="Arial" panose="020B0604020202020204" pitchFamily="34" charset="0"/>
                <a:cs typeface="Arial" panose="020B0604020202020204" pitchFamily="34" charset="0"/>
              </a:rPr>
              <a:t>Widevine</a:t>
            </a:r>
            <a:r>
              <a:rPr lang="en-US" sz="911" dirty="0">
                <a:latin typeface="Arial" panose="020B0604020202020204" pitchFamily="34" charset="0"/>
                <a:cs typeface="Arial" panose="020B0604020202020204" pitchFamily="34" charset="0"/>
              </a:rPr>
              <a:t>, and PlayReady, and handed off to Amagi for EZDRM integration testing.</a:t>
            </a:r>
          </a:p>
        </p:txBody>
      </p:sp>
      <p:sp>
        <p:nvSpPr>
          <p:cNvPr id="61" name="Shape 59"/>
          <p:cNvSpPr/>
          <p:nvPr/>
        </p:nvSpPr>
        <p:spPr>
          <a:xfrm>
            <a:off x="5258714" y="5472418"/>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2" name="Text 60"/>
          <p:cNvSpPr/>
          <p:nvPr/>
        </p:nvSpPr>
        <p:spPr>
          <a:xfrm>
            <a:off x="5258714" y="5472418"/>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63" name="Shape 61"/>
          <p:cNvSpPr/>
          <p:nvPr/>
        </p:nvSpPr>
        <p:spPr>
          <a:xfrm>
            <a:off x="101842" y="6216358"/>
            <a:ext cx="5721629" cy="1098842"/>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4" name="Text 62"/>
          <p:cNvSpPr/>
          <p:nvPr/>
        </p:nvSpPr>
        <p:spPr>
          <a:xfrm>
            <a:off x="138874" y="6216358"/>
            <a:ext cx="601790" cy="1098842"/>
          </a:xfrm>
          <a:prstGeom prst="rect">
            <a:avLst/>
          </a:prstGeom>
          <a:noFill/>
          <a:ln/>
        </p:spPr>
        <p:txBody>
          <a:bodyPr wrap="square" lIns="0" tIns="0" rIns="0" bIns="0" rtlCol="0" anchor="ctr"/>
          <a:lstStyle/>
          <a:p>
            <a:r>
              <a:rPr lang="en-US" sz="861" dirty="0">
                <a:latin typeface="Arial" panose="020B0604020202020204" pitchFamily="34" charset="0"/>
                <a:cs typeface="Arial" panose="020B0604020202020204" pitchFamily="34" charset="0"/>
              </a:rPr>
              <a:t>FOXXUM</a:t>
            </a:r>
          </a:p>
        </p:txBody>
      </p:sp>
      <p:sp>
        <p:nvSpPr>
          <p:cNvPr id="65" name="Text 63"/>
          <p:cNvSpPr/>
          <p:nvPr/>
        </p:nvSpPr>
        <p:spPr>
          <a:xfrm>
            <a:off x="759180" y="6216358"/>
            <a:ext cx="4462501" cy="1098842"/>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Integration packet produced and workshop collaboration ongoing with </a:t>
            </a:r>
            <a:r>
              <a:rPr lang="en-US" sz="911" dirty="0" err="1">
                <a:latin typeface="Arial" panose="020B0604020202020204" pitchFamily="34" charset="0"/>
                <a:cs typeface="Arial" panose="020B0604020202020204" pitchFamily="34" charset="0"/>
              </a:rPr>
              <a:t>Foxxum</a:t>
            </a:r>
            <a:r>
              <a:rPr lang="en-US" sz="911" dirty="0">
                <a:latin typeface="Arial" panose="020B0604020202020204" pitchFamily="34" charset="0"/>
                <a:cs typeface="Arial" panose="020B0604020202020204" pitchFamily="34" charset="0"/>
              </a:rPr>
              <a:t>; no schema-stability specifics were called out in this update.</a:t>
            </a:r>
            <a:endParaRPr lang="en-US" sz="861" dirty="0">
              <a:latin typeface="Arial" panose="020B0604020202020204" pitchFamily="34" charset="0"/>
              <a:cs typeface="Arial" panose="020B0604020202020204" pitchFamily="34" charset="0"/>
            </a:endParaRPr>
          </a:p>
        </p:txBody>
      </p:sp>
      <p:sp>
        <p:nvSpPr>
          <p:cNvPr id="68" name="Shape 66"/>
          <p:cNvSpPr/>
          <p:nvPr/>
        </p:nvSpPr>
        <p:spPr>
          <a:xfrm>
            <a:off x="5953087" y="3740925"/>
            <a:ext cx="5740146" cy="277749"/>
          </a:xfrm>
          <a:prstGeom prst="rect">
            <a:avLst/>
          </a:prstGeom>
          <a:solidFill>
            <a:schemeClr val="accent6">
              <a:lumMod val="60000"/>
              <a:lumOff val="40000"/>
            </a:schemeClr>
          </a:solidFill>
          <a:ln w="12700">
            <a:solidFill>
              <a:srgbClr val="0F6E56"/>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9" name="Text 67"/>
          <p:cNvSpPr/>
          <p:nvPr/>
        </p:nvSpPr>
        <p:spPr>
          <a:xfrm>
            <a:off x="5999378" y="3740925"/>
            <a:ext cx="5693855" cy="277749"/>
          </a:xfrm>
          <a:prstGeom prst="rect">
            <a:avLst/>
          </a:prstGeom>
          <a:noFill/>
          <a:ln/>
        </p:spPr>
        <p:txBody>
          <a:bodyPr wrap="square" lIns="0" tIns="0" rIns="0" bIns="0" rtlCol="0" anchor="ctr"/>
          <a:lstStyle/>
          <a:p>
            <a:r>
              <a:rPr lang="en-US" sz="1013" dirty="0">
                <a:latin typeface="Arial" panose="020B0604020202020204" pitchFamily="34" charset="0"/>
                <a:ea typeface="Calibri" pitchFamily="34" charset="-122"/>
                <a:cs typeface="Arial" panose="020B0604020202020204" pitchFamily="34" charset="0"/>
              </a:rPr>
              <a:t>Platform Capabilities</a:t>
            </a:r>
            <a:endParaRPr lang="en-US" sz="1013" dirty="0">
              <a:latin typeface="Arial" panose="020B0604020202020204" pitchFamily="34" charset="0"/>
              <a:cs typeface="Arial" panose="020B0604020202020204" pitchFamily="34" charset="0"/>
            </a:endParaRPr>
          </a:p>
        </p:txBody>
      </p:sp>
      <p:sp>
        <p:nvSpPr>
          <p:cNvPr id="70" name="Shape 68"/>
          <p:cNvSpPr/>
          <p:nvPr/>
        </p:nvSpPr>
        <p:spPr>
          <a:xfrm>
            <a:off x="5953087" y="4018674"/>
            <a:ext cx="5740146" cy="3296526"/>
          </a:xfrm>
          <a:prstGeom prst="rect">
            <a:avLst/>
          </a:prstGeom>
          <a:solidFill>
            <a:srgbClr val="F8FFFE"/>
          </a:solidFill>
          <a:ln w="9525">
            <a:solidFill>
              <a:srgbClr val="D1FAE5"/>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71" name="Shape 69"/>
          <p:cNvSpPr/>
          <p:nvPr/>
        </p:nvSpPr>
        <p:spPr>
          <a:xfrm>
            <a:off x="5927906" y="4031018"/>
            <a:ext cx="5721629" cy="824132"/>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2" name="Text 70"/>
          <p:cNvSpPr/>
          <p:nvPr/>
        </p:nvSpPr>
        <p:spPr>
          <a:xfrm>
            <a:off x="5999378" y="4018674"/>
            <a:ext cx="601790" cy="82413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Platform POC</a:t>
            </a:r>
            <a:endParaRPr lang="en-US" sz="861" dirty="0">
              <a:latin typeface="Arial" panose="020B0604020202020204" pitchFamily="34" charset="0"/>
              <a:cs typeface="Arial" panose="020B0604020202020204" pitchFamily="34" charset="0"/>
            </a:endParaRPr>
          </a:p>
        </p:txBody>
      </p:sp>
      <p:sp>
        <p:nvSpPr>
          <p:cNvPr id="73" name="Text 71"/>
          <p:cNvSpPr/>
          <p:nvPr/>
        </p:nvSpPr>
        <p:spPr>
          <a:xfrm>
            <a:off x="6619684" y="4018674"/>
            <a:ext cx="4462501" cy="824132"/>
          </a:xfrm>
          <a:prstGeom prst="rect">
            <a:avLst/>
          </a:prstGeom>
          <a:noFill/>
          <a:ln/>
        </p:spPr>
        <p:txBody>
          <a:bodyPr wrap="square" lIns="0" tIns="0" rIns="0" bIns="0" rtlCol="0" anchor="ctr"/>
          <a:lstStyle/>
          <a:p>
            <a:pPr marL="173593" indent="-173593">
              <a:buFont typeface="Arial" panose="020B0604020202020204" pitchFamily="34" charset="0"/>
              <a:buChar char="•"/>
            </a:pPr>
            <a:r>
              <a:rPr lang="en-US" sz="911" dirty="0"/>
              <a:t>Mobile login gate placeholder: the first login gate for anonymous viewers, built with placeholder UI ahead of the real Auth0 flow. </a:t>
            </a:r>
          </a:p>
          <a:p>
            <a:pPr marL="173593" indent="-173593">
              <a:buFont typeface="Arial" panose="020B0604020202020204" pitchFamily="34" charset="0"/>
              <a:buChar char="•"/>
            </a:pPr>
            <a:r>
              <a:rPr lang="en-US" sz="911" dirty="0"/>
              <a:t>Entitlement simulator: the mobile tool simulating any account state to test flows before the real backend exists, more a testing harness than a shipped feature.</a:t>
            </a:r>
            <a:endParaRPr lang="en-US" sz="861" dirty="0">
              <a:latin typeface="Arial" panose="020B0604020202020204" pitchFamily="34" charset="0"/>
              <a:cs typeface="Arial" panose="020B0604020202020204" pitchFamily="34" charset="0"/>
            </a:endParaRPr>
          </a:p>
        </p:txBody>
      </p:sp>
      <p:sp>
        <p:nvSpPr>
          <p:cNvPr id="76" name="Text 74"/>
          <p:cNvSpPr/>
          <p:nvPr/>
        </p:nvSpPr>
        <p:spPr>
          <a:xfrm>
            <a:off x="5999378" y="4842806"/>
            <a:ext cx="601790" cy="82413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UI/UX</a:t>
            </a:r>
            <a:endParaRPr lang="en-US" sz="861" dirty="0">
              <a:latin typeface="Arial" panose="020B0604020202020204" pitchFamily="34" charset="0"/>
              <a:cs typeface="Arial" panose="020B0604020202020204" pitchFamily="34" charset="0"/>
            </a:endParaRPr>
          </a:p>
        </p:txBody>
      </p:sp>
      <p:sp>
        <p:nvSpPr>
          <p:cNvPr id="77" name="Text 75"/>
          <p:cNvSpPr/>
          <p:nvPr/>
        </p:nvSpPr>
        <p:spPr>
          <a:xfrm>
            <a:off x="6619684" y="4892852"/>
            <a:ext cx="4462501" cy="824132"/>
          </a:xfrm>
          <a:prstGeom prst="rect">
            <a:avLst/>
          </a:prstGeom>
          <a:noFill/>
          <a:ln/>
        </p:spPr>
        <p:txBody>
          <a:bodyPr wrap="square" lIns="0" tIns="0" rIns="0" bIns="0" rtlCol="0" anchor="ctr"/>
          <a:lstStyle/>
          <a:p>
            <a:pPr marL="173593" indent="-173593">
              <a:buFont typeface="Arial" panose="020B0604020202020204" pitchFamily="34" charset="0"/>
              <a:buChar char="•"/>
            </a:pPr>
            <a:r>
              <a:rPr lang="en-US" sz="861" dirty="0">
                <a:solidFill>
                  <a:srgbClr val="374151"/>
                </a:solidFill>
                <a:latin typeface="Arial" panose="020B0604020202020204" pitchFamily="34" charset="0"/>
                <a:ea typeface="Calibri" pitchFamily="34" charset="-122"/>
                <a:cs typeface="Arial" panose="020B0604020202020204" pitchFamily="34" charset="0"/>
              </a:rPr>
              <a:t>Built the front-end foundation (design system, left sidebar navigation, footer, and page shell)</a:t>
            </a:r>
          </a:p>
          <a:p>
            <a:pPr marL="173593" indent="-173593">
              <a:buFont typeface="Arial" panose="020B0604020202020204" pitchFamily="34" charset="0"/>
              <a:buChar char="•"/>
            </a:pPr>
            <a:r>
              <a:rPr lang="en-US" sz="861" dirty="0">
                <a:solidFill>
                  <a:srgbClr val="374151"/>
                </a:solidFill>
                <a:latin typeface="Arial" panose="020B0604020202020204" pitchFamily="34" charset="0"/>
                <a:ea typeface="Calibri" pitchFamily="34" charset="-122"/>
                <a:cs typeface="Arial" panose="020B0604020202020204" pitchFamily="34" charset="0"/>
              </a:rPr>
              <a:t>Built the page engine and styled the merchandising carousels (other engineers wired the carousels to data; my part was the full-bleed styling)</a:t>
            </a:r>
          </a:p>
          <a:p>
            <a:endParaRPr lang="en-US" sz="861" dirty="0">
              <a:solidFill>
                <a:srgbClr val="374151"/>
              </a:solidFill>
              <a:latin typeface="Arial" panose="020B0604020202020204" pitchFamily="34" charset="0"/>
              <a:ea typeface="Calibri" pitchFamily="34" charset="-122"/>
              <a:cs typeface="Arial" panose="020B0604020202020204" pitchFamily="34" charset="0"/>
            </a:endParaRPr>
          </a:p>
        </p:txBody>
      </p:sp>
      <p:sp>
        <p:nvSpPr>
          <p:cNvPr id="80" name="Shape 78"/>
          <p:cNvSpPr/>
          <p:nvPr/>
        </p:nvSpPr>
        <p:spPr>
          <a:xfrm>
            <a:off x="5962345" y="5666938"/>
            <a:ext cx="5721629" cy="824131"/>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1" name="Text 79"/>
          <p:cNvSpPr/>
          <p:nvPr/>
        </p:nvSpPr>
        <p:spPr>
          <a:xfrm>
            <a:off x="5999378" y="5666938"/>
            <a:ext cx="601790" cy="824131"/>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Video player</a:t>
            </a:r>
            <a:endParaRPr lang="en-US" sz="861" dirty="0">
              <a:latin typeface="Arial" panose="020B0604020202020204" pitchFamily="34" charset="0"/>
              <a:cs typeface="Arial" panose="020B0604020202020204" pitchFamily="34" charset="0"/>
            </a:endParaRPr>
          </a:p>
        </p:txBody>
      </p:sp>
      <p:sp>
        <p:nvSpPr>
          <p:cNvPr id="82" name="Text 80"/>
          <p:cNvSpPr/>
          <p:nvPr/>
        </p:nvSpPr>
        <p:spPr>
          <a:xfrm>
            <a:off x="6619684" y="5666938"/>
            <a:ext cx="4462501" cy="824131"/>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Prototyped the video experience (exploratory test of the </a:t>
            </a:r>
            <a:r>
              <a:rPr lang="en-US" sz="861" dirty="0" err="1">
                <a:solidFill>
                  <a:srgbClr val="374151"/>
                </a:solidFill>
                <a:latin typeface="Arial" panose="020B0604020202020204" pitchFamily="34" charset="0"/>
                <a:ea typeface="Calibri" pitchFamily="34" charset="-122"/>
                <a:cs typeface="Arial" panose="020B0604020202020204" pitchFamily="34" charset="0"/>
              </a:rPr>
              <a:t>BitMovin</a:t>
            </a:r>
            <a:r>
              <a:rPr lang="en-US" sz="861" dirty="0">
                <a:solidFill>
                  <a:srgbClr val="374151"/>
                </a:solidFill>
                <a:latin typeface="Arial" panose="020B0604020202020204" pitchFamily="34" charset="0"/>
                <a:ea typeface="Calibri" pitchFamily="34" charset="-122"/>
                <a:cs typeface="Arial" panose="020B0604020202020204" pitchFamily="34" charset="0"/>
              </a:rPr>
              <a:t> player APIs; a proof-of-concept, not the final player)</a:t>
            </a:r>
            <a:endParaRPr lang="en-US" sz="861" dirty="0">
              <a:latin typeface="Arial" panose="020B0604020202020204" pitchFamily="34" charset="0"/>
              <a:cs typeface="Arial" panose="020B0604020202020204" pitchFamily="34" charset="0"/>
            </a:endParaRPr>
          </a:p>
        </p:txBody>
      </p:sp>
      <p:sp>
        <p:nvSpPr>
          <p:cNvPr id="85" name="Text 83"/>
          <p:cNvSpPr/>
          <p:nvPr/>
        </p:nvSpPr>
        <p:spPr>
          <a:xfrm>
            <a:off x="5999378" y="6491069"/>
            <a:ext cx="601790" cy="824131"/>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Testing</a:t>
            </a:r>
            <a:endParaRPr lang="en-US" sz="861" dirty="0">
              <a:latin typeface="Arial" panose="020B0604020202020204" pitchFamily="34" charset="0"/>
              <a:cs typeface="Arial" panose="020B0604020202020204" pitchFamily="34" charset="0"/>
            </a:endParaRPr>
          </a:p>
        </p:txBody>
      </p:sp>
      <p:sp>
        <p:nvSpPr>
          <p:cNvPr id="86" name="Text 84"/>
          <p:cNvSpPr/>
          <p:nvPr/>
        </p:nvSpPr>
        <p:spPr>
          <a:xfrm>
            <a:off x="6619684" y="6491069"/>
            <a:ext cx="4462501" cy="824131"/>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Testing E2E experience; Merchandising, sign in flow, MVPD, </a:t>
            </a:r>
            <a:r>
              <a:rPr lang="en-US" sz="861" dirty="0" err="1">
                <a:solidFill>
                  <a:srgbClr val="374151"/>
                </a:solidFill>
                <a:latin typeface="Arial" panose="020B0604020202020204" pitchFamily="34" charset="0"/>
                <a:ea typeface="Calibri" pitchFamily="34" charset="-122"/>
                <a:cs typeface="Arial" panose="020B0604020202020204" pitchFamily="34" charset="0"/>
              </a:rPr>
              <a:t>Cleeng</a:t>
            </a:r>
            <a:r>
              <a:rPr lang="en-US" sz="861" dirty="0">
                <a:solidFill>
                  <a:srgbClr val="374151"/>
                </a:solidFill>
                <a:latin typeface="Arial" panose="020B0604020202020204" pitchFamily="34" charset="0"/>
                <a:ea typeface="Calibri" pitchFamily="34" charset="-122"/>
                <a:cs typeface="Arial" panose="020B0604020202020204" pitchFamily="34" charset="0"/>
              </a:rPr>
              <a:t>, replays. </a:t>
            </a:r>
            <a:endParaRPr lang="en-US" sz="861" dirty="0">
              <a:latin typeface="Arial" panose="020B0604020202020204" pitchFamily="34" charset="0"/>
              <a:cs typeface="Arial" panose="020B0604020202020204" pitchFamily="34" charset="0"/>
            </a:endParaRPr>
          </a:p>
        </p:txBody>
      </p:sp>
      <p:sp>
        <p:nvSpPr>
          <p:cNvPr id="90" name="Text 53">
            <a:extLst>
              <a:ext uri="{FF2B5EF4-FFF2-40B4-BE49-F238E27FC236}">
                <a16:creationId xmlns:a16="http://schemas.microsoft.com/office/drawing/2014/main" id="{790CEA9C-CC79-9491-0B6C-884834BD2739}"/>
              </a:ext>
            </a:extLst>
          </p:cNvPr>
          <p:cNvSpPr/>
          <p:nvPr/>
        </p:nvSpPr>
        <p:spPr>
          <a:xfrm>
            <a:off x="116493" y="5117516"/>
            <a:ext cx="601790" cy="109884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DRM</a:t>
            </a:r>
            <a:endParaRPr lang="en-US" sz="861" dirty="0">
              <a:latin typeface="Arial" panose="020B0604020202020204" pitchFamily="34" charset="0"/>
              <a:cs typeface="Arial" panose="020B0604020202020204" pitchFamily="34" charset="0"/>
            </a:endParaRPr>
          </a:p>
        </p:txBody>
      </p:sp>
      <p:grpSp>
        <p:nvGrpSpPr>
          <p:cNvPr id="103" name="Group 102">
            <a:extLst>
              <a:ext uri="{FF2B5EF4-FFF2-40B4-BE49-F238E27FC236}">
                <a16:creationId xmlns:a16="http://schemas.microsoft.com/office/drawing/2014/main" id="{2415E7D3-0580-835D-6028-C1F6742970F7}"/>
              </a:ext>
            </a:extLst>
          </p:cNvPr>
          <p:cNvGrpSpPr/>
          <p:nvPr/>
        </p:nvGrpSpPr>
        <p:grpSpPr>
          <a:xfrm>
            <a:off x="10991739" y="3129877"/>
            <a:ext cx="801198" cy="203683"/>
            <a:chOff x="10856038" y="2322576"/>
            <a:chExt cx="791307" cy="201168"/>
          </a:xfrm>
        </p:grpSpPr>
        <p:sp>
          <p:nvSpPr>
            <p:cNvPr id="104" name="Shape 43">
              <a:extLst>
                <a:ext uri="{FF2B5EF4-FFF2-40B4-BE49-F238E27FC236}">
                  <a16:creationId xmlns:a16="http://schemas.microsoft.com/office/drawing/2014/main" id="{24A10409-FE5B-B5A8-C61F-BF55086DD3BF}"/>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05" name="TextBox 104">
              <a:extLst>
                <a:ext uri="{FF2B5EF4-FFF2-40B4-BE49-F238E27FC236}">
                  <a16:creationId xmlns:a16="http://schemas.microsoft.com/office/drawing/2014/main" id="{7AD4F438-C9F8-C1D4-D14F-C4D357F173D6}"/>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06" name="Group 105">
            <a:extLst>
              <a:ext uri="{FF2B5EF4-FFF2-40B4-BE49-F238E27FC236}">
                <a16:creationId xmlns:a16="http://schemas.microsoft.com/office/drawing/2014/main" id="{36009C5C-8271-24AC-8B52-287CA50FACA5}"/>
              </a:ext>
            </a:extLst>
          </p:cNvPr>
          <p:cNvGrpSpPr/>
          <p:nvPr/>
        </p:nvGrpSpPr>
        <p:grpSpPr>
          <a:xfrm>
            <a:off x="10997183" y="2525001"/>
            <a:ext cx="801198" cy="203683"/>
            <a:chOff x="10856038" y="2322576"/>
            <a:chExt cx="791307" cy="201168"/>
          </a:xfrm>
        </p:grpSpPr>
        <p:sp>
          <p:nvSpPr>
            <p:cNvPr id="107" name="Shape 43">
              <a:extLst>
                <a:ext uri="{FF2B5EF4-FFF2-40B4-BE49-F238E27FC236}">
                  <a16:creationId xmlns:a16="http://schemas.microsoft.com/office/drawing/2014/main" id="{67E66F2B-A5DA-8169-369C-4F1A236B1E59}"/>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08" name="TextBox 107">
              <a:extLst>
                <a:ext uri="{FF2B5EF4-FFF2-40B4-BE49-F238E27FC236}">
                  <a16:creationId xmlns:a16="http://schemas.microsoft.com/office/drawing/2014/main" id="{F6E5DA9D-E0D9-A4B8-BED0-3E023A8680CD}"/>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09" name="Group 108">
            <a:extLst>
              <a:ext uri="{FF2B5EF4-FFF2-40B4-BE49-F238E27FC236}">
                <a16:creationId xmlns:a16="http://schemas.microsoft.com/office/drawing/2014/main" id="{D74ED233-04E7-261A-61A3-871D17D81F5C}"/>
              </a:ext>
            </a:extLst>
          </p:cNvPr>
          <p:cNvGrpSpPr/>
          <p:nvPr/>
        </p:nvGrpSpPr>
        <p:grpSpPr>
          <a:xfrm>
            <a:off x="5121978" y="6610870"/>
            <a:ext cx="801198" cy="203683"/>
            <a:chOff x="10856038" y="2322576"/>
            <a:chExt cx="791307" cy="201168"/>
          </a:xfrm>
        </p:grpSpPr>
        <p:sp>
          <p:nvSpPr>
            <p:cNvPr id="110" name="Shape 43">
              <a:extLst>
                <a:ext uri="{FF2B5EF4-FFF2-40B4-BE49-F238E27FC236}">
                  <a16:creationId xmlns:a16="http://schemas.microsoft.com/office/drawing/2014/main" id="{0999F11F-435B-0279-627B-E591C22F22D5}"/>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11" name="TextBox 110">
              <a:extLst>
                <a:ext uri="{FF2B5EF4-FFF2-40B4-BE49-F238E27FC236}">
                  <a16:creationId xmlns:a16="http://schemas.microsoft.com/office/drawing/2014/main" id="{6C0B2977-A2F4-4D7C-25F0-D06DA87C4CF1}"/>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12" name="Group 111">
            <a:extLst>
              <a:ext uri="{FF2B5EF4-FFF2-40B4-BE49-F238E27FC236}">
                <a16:creationId xmlns:a16="http://schemas.microsoft.com/office/drawing/2014/main" id="{4D8D8501-B0D2-1527-AF68-B176BFE6C528}"/>
              </a:ext>
            </a:extLst>
          </p:cNvPr>
          <p:cNvGrpSpPr/>
          <p:nvPr/>
        </p:nvGrpSpPr>
        <p:grpSpPr>
          <a:xfrm>
            <a:off x="10991739" y="4228528"/>
            <a:ext cx="801198" cy="203683"/>
            <a:chOff x="10856038" y="2322576"/>
            <a:chExt cx="791307" cy="201168"/>
          </a:xfrm>
        </p:grpSpPr>
        <p:sp>
          <p:nvSpPr>
            <p:cNvPr id="113" name="Shape 43">
              <a:extLst>
                <a:ext uri="{FF2B5EF4-FFF2-40B4-BE49-F238E27FC236}">
                  <a16:creationId xmlns:a16="http://schemas.microsoft.com/office/drawing/2014/main" id="{624E48F5-FF69-2B3E-BEEC-FF36EA483DFA}"/>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14" name="TextBox 113">
              <a:extLst>
                <a:ext uri="{FF2B5EF4-FFF2-40B4-BE49-F238E27FC236}">
                  <a16:creationId xmlns:a16="http://schemas.microsoft.com/office/drawing/2014/main" id="{D0567EE0-57FA-72C2-4C71-71403553B2BB}"/>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15" name="Group 114">
            <a:extLst>
              <a:ext uri="{FF2B5EF4-FFF2-40B4-BE49-F238E27FC236}">
                <a16:creationId xmlns:a16="http://schemas.microsoft.com/office/drawing/2014/main" id="{AC725CFB-E2BB-1987-98C5-AA17217EBC60}"/>
              </a:ext>
            </a:extLst>
          </p:cNvPr>
          <p:cNvGrpSpPr/>
          <p:nvPr/>
        </p:nvGrpSpPr>
        <p:grpSpPr>
          <a:xfrm>
            <a:off x="10982482" y="5068837"/>
            <a:ext cx="801198" cy="203683"/>
            <a:chOff x="10856038" y="2322576"/>
            <a:chExt cx="791307" cy="201168"/>
          </a:xfrm>
        </p:grpSpPr>
        <p:sp>
          <p:nvSpPr>
            <p:cNvPr id="116" name="Shape 43">
              <a:extLst>
                <a:ext uri="{FF2B5EF4-FFF2-40B4-BE49-F238E27FC236}">
                  <a16:creationId xmlns:a16="http://schemas.microsoft.com/office/drawing/2014/main" id="{A27F82EA-0C5F-BD0B-BBC9-D8FA56463754}"/>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17" name="TextBox 116">
              <a:extLst>
                <a:ext uri="{FF2B5EF4-FFF2-40B4-BE49-F238E27FC236}">
                  <a16:creationId xmlns:a16="http://schemas.microsoft.com/office/drawing/2014/main" id="{E7FEE61F-775B-4599-FB15-E01019918FC6}"/>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18" name="Group 117">
            <a:extLst>
              <a:ext uri="{FF2B5EF4-FFF2-40B4-BE49-F238E27FC236}">
                <a16:creationId xmlns:a16="http://schemas.microsoft.com/office/drawing/2014/main" id="{A0092163-86E7-960A-C9A0-8778F154B24D}"/>
              </a:ext>
            </a:extLst>
          </p:cNvPr>
          <p:cNvGrpSpPr/>
          <p:nvPr/>
        </p:nvGrpSpPr>
        <p:grpSpPr>
          <a:xfrm>
            <a:off x="10982482" y="5886458"/>
            <a:ext cx="801198" cy="203683"/>
            <a:chOff x="10856038" y="2322576"/>
            <a:chExt cx="791307" cy="201168"/>
          </a:xfrm>
        </p:grpSpPr>
        <p:sp>
          <p:nvSpPr>
            <p:cNvPr id="119" name="Shape 43">
              <a:extLst>
                <a:ext uri="{FF2B5EF4-FFF2-40B4-BE49-F238E27FC236}">
                  <a16:creationId xmlns:a16="http://schemas.microsoft.com/office/drawing/2014/main" id="{3E931F12-F74C-56A4-D2C5-EB39C66423EE}"/>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20" name="TextBox 119">
              <a:extLst>
                <a:ext uri="{FF2B5EF4-FFF2-40B4-BE49-F238E27FC236}">
                  <a16:creationId xmlns:a16="http://schemas.microsoft.com/office/drawing/2014/main" id="{A9B8DA65-C185-45B6-8927-7535FF712057}"/>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sp>
        <p:nvSpPr>
          <p:cNvPr id="125" name="Shape 43">
            <a:extLst>
              <a:ext uri="{FF2B5EF4-FFF2-40B4-BE49-F238E27FC236}">
                <a16:creationId xmlns:a16="http://schemas.microsoft.com/office/drawing/2014/main" id="{70B9B545-80CC-0E6D-F585-2F36A41678ED}"/>
              </a:ext>
            </a:extLst>
          </p:cNvPr>
          <p:cNvSpPr>
            <a:spLocks/>
          </p:cNvSpPr>
          <p:nvPr/>
        </p:nvSpPr>
        <p:spPr>
          <a:xfrm>
            <a:off x="11019514" y="6651546"/>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26" name="TextBox 125">
            <a:extLst>
              <a:ext uri="{FF2B5EF4-FFF2-40B4-BE49-F238E27FC236}">
                <a16:creationId xmlns:a16="http://schemas.microsoft.com/office/drawing/2014/main" id="{208AB665-5043-8C17-8A24-D0F9AA78D960}"/>
              </a:ext>
            </a:extLst>
          </p:cNvPr>
          <p:cNvSpPr txBox="1">
            <a:spLocks/>
          </p:cNvSpPr>
          <p:nvPr/>
        </p:nvSpPr>
        <p:spPr>
          <a:xfrm>
            <a:off x="11019515" y="6652674"/>
            <a:ext cx="673719" cy="202556"/>
          </a:xfrm>
          <a:prstGeom prst="rect">
            <a:avLst/>
          </a:prstGeom>
          <a:solidFill>
            <a:schemeClr val="bg2"/>
          </a:solidFill>
        </p:spPr>
        <p:txBody>
          <a:bodyPr wrap="square">
            <a:spAutoFit/>
          </a:bodyPr>
          <a:lstStyle/>
          <a:p>
            <a:pPr algn="ctr"/>
            <a:r>
              <a:rPr lang="en-US" sz="709" dirty="0">
                <a:latin typeface="Arial" panose="020B0604020202020204" pitchFamily="34" charset="0"/>
                <a:ea typeface="Calibri" pitchFamily="34" charset="-122"/>
                <a:cs typeface="Arial" panose="020B0604020202020204" pitchFamily="34" charset="0"/>
              </a:rPr>
              <a:t>Not Started</a:t>
            </a:r>
            <a:endParaRPr lang="en-US" sz="709" dirty="0">
              <a:latin typeface="Arial" panose="020B0604020202020204" pitchFamily="34" charset="0"/>
              <a:cs typeface="Arial" panose="020B0604020202020204" pitchFamily="34" charset="0"/>
            </a:endParaRPr>
          </a:p>
        </p:txBody>
      </p:sp>
      <p:sp>
        <p:nvSpPr>
          <p:cNvPr id="127" name="Text 32">
            <a:extLst>
              <a:ext uri="{FF2B5EF4-FFF2-40B4-BE49-F238E27FC236}">
                <a16:creationId xmlns:a16="http://schemas.microsoft.com/office/drawing/2014/main" id="{D21BB0C2-6D45-5F5A-614E-271EE8B66909}"/>
              </a:ext>
            </a:extLst>
          </p:cNvPr>
          <p:cNvSpPr/>
          <p:nvPr/>
        </p:nvSpPr>
        <p:spPr>
          <a:xfrm>
            <a:off x="5996875" y="1559052"/>
            <a:ext cx="601790" cy="685114"/>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New Mobile </a:t>
            </a:r>
          </a:p>
          <a:p>
            <a:r>
              <a:rPr lang="en-US" sz="911" dirty="0">
                <a:latin typeface="Arial" panose="020B0604020202020204" pitchFamily="34" charset="0"/>
                <a:cs typeface="Arial" panose="020B0604020202020204" pitchFamily="34" charset="0"/>
              </a:rPr>
              <a:t>App</a:t>
            </a:r>
          </a:p>
        </p:txBody>
      </p:sp>
      <p:sp>
        <p:nvSpPr>
          <p:cNvPr id="129" name="Shape 50">
            <a:extLst>
              <a:ext uri="{FF2B5EF4-FFF2-40B4-BE49-F238E27FC236}">
                <a16:creationId xmlns:a16="http://schemas.microsoft.com/office/drawing/2014/main" id="{5C9D865E-DD60-768F-2585-A56B029EF495}"/>
              </a:ext>
            </a:extLst>
          </p:cNvPr>
          <p:cNvSpPr/>
          <p:nvPr/>
        </p:nvSpPr>
        <p:spPr>
          <a:xfrm>
            <a:off x="5117088" y="1685782"/>
            <a:ext cx="687866" cy="262736"/>
          </a:xfrm>
          <a:prstGeom prst="roundRect">
            <a:avLst>
              <a:gd name="adj" fmla="val 18182"/>
            </a:avLst>
          </a:prstGeom>
          <a:solidFill>
            <a:srgbClr val="D1FAE5"/>
          </a:solidFill>
          <a:ln w="12700">
            <a:solidFill>
              <a:srgbClr val="D1FAE5"/>
            </a:solidFill>
            <a:prstDash val="solid"/>
          </a:ln>
        </p:spPr>
        <p:txBody>
          <a:bodyPr/>
          <a:lstStyle/>
          <a:p>
            <a:r>
              <a:rPr lang="en-US" sz="700" dirty="0"/>
              <a:t>Contracted</a:t>
            </a:r>
          </a:p>
        </p:txBody>
      </p:sp>
      <p:grpSp>
        <p:nvGrpSpPr>
          <p:cNvPr id="130" name="Group 129">
            <a:extLst>
              <a:ext uri="{FF2B5EF4-FFF2-40B4-BE49-F238E27FC236}">
                <a16:creationId xmlns:a16="http://schemas.microsoft.com/office/drawing/2014/main" id="{4132CF53-7D6D-7E08-1092-56FA9E76348C}"/>
              </a:ext>
            </a:extLst>
          </p:cNvPr>
          <p:cNvGrpSpPr/>
          <p:nvPr/>
        </p:nvGrpSpPr>
        <p:grpSpPr>
          <a:xfrm>
            <a:off x="11019515" y="1806107"/>
            <a:ext cx="801198" cy="203683"/>
            <a:chOff x="10856038" y="2322576"/>
            <a:chExt cx="791307" cy="201168"/>
          </a:xfrm>
        </p:grpSpPr>
        <p:sp>
          <p:nvSpPr>
            <p:cNvPr id="131" name="Shape 43">
              <a:extLst>
                <a:ext uri="{FF2B5EF4-FFF2-40B4-BE49-F238E27FC236}">
                  <a16:creationId xmlns:a16="http://schemas.microsoft.com/office/drawing/2014/main" id="{0E44B3C3-60B3-80E9-04F9-A275A1BFE415}"/>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32" name="TextBox 131">
              <a:extLst>
                <a:ext uri="{FF2B5EF4-FFF2-40B4-BE49-F238E27FC236}">
                  <a16:creationId xmlns:a16="http://schemas.microsoft.com/office/drawing/2014/main" id="{80E17D4F-E6D0-4B16-F927-AAF566C2F60F}"/>
                </a:ext>
              </a:extLst>
            </p:cNvPr>
            <p:cNvSpPr txBox="1">
              <a:spLocks/>
            </p:cNvSpPr>
            <p:nvPr/>
          </p:nvSpPr>
          <p:spPr>
            <a:xfrm>
              <a:off x="10856038" y="2323689"/>
              <a:ext cx="791307" cy="200055"/>
            </a:xfrm>
            <a:prstGeom prst="rect">
              <a:avLst/>
            </a:prstGeom>
            <a:noFill/>
          </p:spPr>
          <p:txBody>
            <a:bodyPr wrap="square">
              <a:spAutoFit/>
            </a:bodyPr>
            <a:lstStyle/>
            <a:p>
              <a:pPr algn="ctr"/>
              <a:r>
                <a:rPr lang="en-US" sz="709" b="1"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33" name="Group 132">
            <a:extLst>
              <a:ext uri="{FF2B5EF4-FFF2-40B4-BE49-F238E27FC236}">
                <a16:creationId xmlns:a16="http://schemas.microsoft.com/office/drawing/2014/main" id="{042E70DA-F2F8-0889-73F8-F772A6AD5209}"/>
              </a:ext>
            </a:extLst>
          </p:cNvPr>
          <p:cNvGrpSpPr/>
          <p:nvPr/>
        </p:nvGrpSpPr>
        <p:grpSpPr>
          <a:xfrm>
            <a:off x="11012393" y="1197193"/>
            <a:ext cx="801198" cy="203683"/>
            <a:chOff x="10856038" y="2322576"/>
            <a:chExt cx="791307" cy="201168"/>
          </a:xfrm>
        </p:grpSpPr>
        <p:sp>
          <p:nvSpPr>
            <p:cNvPr id="134" name="Shape 43">
              <a:extLst>
                <a:ext uri="{FF2B5EF4-FFF2-40B4-BE49-F238E27FC236}">
                  <a16:creationId xmlns:a16="http://schemas.microsoft.com/office/drawing/2014/main" id="{A84D8951-A161-C449-5C26-88BA18CAA4B2}"/>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35" name="TextBox 134">
              <a:extLst>
                <a:ext uri="{FF2B5EF4-FFF2-40B4-BE49-F238E27FC236}">
                  <a16:creationId xmlns:a16="http://schemas.microsoft.com/office/drawing/2014/main" id="{2EB2C3A4-C4A6-95F5-034A-C315AD177485}"/>
                </a:ext>
              </a:extLst>
            </p:cNvPr>
            <p:cNvSpPr txBox="1">
              <a:spLocks/>
            </p:cNvSpPr>
            <p:nvPr/>
          </p:nvSpPr>
          <p:spPr>
            <a:xfrm>
              <a:off x="10856038" y="2323689"/>
              <a:ext cx="791307" cy="200055"/>
            </a:xfrm>
            <a:prstGeom prst="rect">
              <a:avLst/>
            </a:prstGeom>
            <a:noFill/>
          </p:spPr>
          <p:txBody>
            <a:bodyPr wrap="square">
              <a:spAutoFit/>
            </a:bodyPr>
            <a:lstStyle/>
            <a:p>
              <a:pPr algn="ctr"/>
              <a:r>
                <a:rPr lang="en-US" sz="709" b="1"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14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84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0% Ready</a:t>
            </a:r>
            <a:endParaRPr lang="en-US" sz="1100" dirty="0"/>
          </a:p>
        </p:txBody>
      </p:sp>
      <p:sp>
        <p:nvSpPr>
          <p:cNvPr id="20" name="Shape 18"/>
          <p:cNvSpPr/>
          <p:nvPr/>
        </p:nvSpPr>
        <p:spPr>
          <a:xfrm>
            <a:off x="164592" y="804672"/>
            <a:ext cx="9116568" cy="1170432"/>
          </a:xfrm>
          <a:prstGeom prst="rect">
            <a:avLst/>
          </a:prstGeom>
          <a:solidFill>
            <a:srgbClr val="FAFBFC"/>
          </a:solidFill>
          <a:ln w="6350">
            <a:solidFill>
              <a:srgbClr val="E5E7EB"/>
            </a:solidFill>
            <a:prstDash val="solid"/>
          </a:ln>
        </p:spPr>
      </p:sp>
      <p:sp>
        <p:nvSpPr>
          <p:cNvPr id="21" name="Shape 19"/>
          <p:cNvSpPr/>
          <p:nvPr/>
        </p:nvSpPr>
        <p:spPr>
          <a:xfrm>
            <a:off x="182880" y="877824"/>
            <a:ext cx="859536" cy="1024128"/>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Platforms</a:t>
            </a:r>
            <a:endParaRPr lang="en-US" sz="95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F3F4F6"/>
          </a:solidFill>
          <a:ln w="9525">
            <a:solidFill>
              <a:srgbClr val="D1D5DB"/>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F3F4F6"/>
          </a:solidFill>
          <a:ln w="9525">
            <a:solidFill>
              <a:srgbClr val="D1D5DB"/>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2029968"/>
            <a:ext cx="9116568" cy="1170432"/>
          </a:xfrm>
          <a:prstGeom prst="rect">
            <a:avLst/>
          </a:prstGeom>
          <a:solidFill>
            <a:srgbClr val="FFFFFF"/>
          </a:solidFill>
          <a:ln w="6350">
            <a:solidFill>
              <a:srgbClr val="E5E7EB"/>
            </a:solidFill>
            <a:prstDash val="solid"/>
          </a:ln>
        </p:spPr>
      </p:sp>
      <p:sp>
        <p:nvSpPr>
          <p:cNvPr id="53" name="Shape 51"/>
          <p:cNvSpPr/>
          <p:nvPr/>
        </p:nvSpPr>
        <p:spPr>
          <a:xfrm>
            <a:off x="182880" y="2103120"/>
            <a:ext cx="859536" cy="1024128"/>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2103120"/>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Video</a:t>
            </a:r>
            <a:endParaRPr lang="en-US" sz="950" dirty="0"/>
          </a:p>
          <a:p>
            <a:pPr algn="ctr" indent="0" marL="0">
              <a:buNone/>
            </a:pPr>
            <a:r>
              <a:rPr lang="en-US" sz="950" b="1" dirty="0">
                <a:solidFill>
                  <a:srgbClr val="FFFFFF"/>
                </a:solidFill>
              </a:rPr>
              <a:t>Delivery</a:t>
            </a:r>
            <a:endParaRPr lang="en-US" sz="950" dirty="0"/>
          </a:p>
        </p:txBody>
      </p:sp>
      <p:sp>
        <p:nvSpPr>
          <p:cNvPr id="55" name="Text 53"/>
          <p:cNvSpPr/>
          <p:nvPr/>
        </p:nvSpPr>
        <p:spPr>
          <a:xfrm>
            <a:off x="1170432" y="2075688"/>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295144"/>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505456"/>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295144"/>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505456"/>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295144"/>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505456"/>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295144"/>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505456"/>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295144"/>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505456"/>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295144"/>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505456"/>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3255264"/>
            <a:ext cx="9116568" cy="1170432"/>
          </a:xfrm>
          <a:prstGeom prst="rect">
            <a:avLst/>
          </a:prstGeom>
          <a:solidFill>
            <a:srgbClr val="FAFBFC"/>
          </a:solidFill>
          <a:ln w="6350">
            <a:solidFill>
              <a:srgbClr val="E5E7EB"/>
            </a:solidFill>
            <a:prstDash val="solid"/>
          </a:ln>
        </p:spPr>
      </p:sp>
      <p:sp>
        <p:nvSpPr>
          <p:cNvPr id="81" name="Shape 79"/>
          <p:cNvSpPr/>
          <p:nvPr/>
        </p:nvSpPr>
        <p:spPr>
          <a:xfrm>
            <a:off x="182880" y="3328416"/>
            <a:ext cx="859536" cy="1024128"/>
          </a:xfrm>
          <a:prstGeom prst="roundRect">
            <a:avLst>
              <a:gd name="adj" fmla="val 5319"/>
            </a:avLst>
          </a:prstGeom>
          <a:solidFill>
            <a:srgbClr val="9CA3AF"/>
          </a:solidFill>
          <a:ln w="12700">
            <a:solidFill>
              <a:srgbClr val="9CA3AF"/>
            </a:solidFill>
            <a:prstDash val="solid"/>
          </a:ln>
        </p:spPr>
      </p:sp>
      <p:sp>
        <p:nvSpPr>
          <p:cNvPr id="82" name="Text 80"/>
          <p:cNvSpPr/>
          <p:nvPr/>
        </p:nvSpPr>
        <p:spPr>
          <a:xfrm>
            <a:off x="182880" y="3328416"/>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Player</a:t>
            </a:r>
            <a:endParaRPr lang="en-US" sz="950" dirty="0"/>
          </a:p>
        </p:txBody>
      </p:sp>
      <p:sp>
        <p:nvSpPr>
          <p:cNvPr id="83" name="Text 81"/>
          <p:cNvSpPr/>
          <p:nvPr/>
        </p:nvSpPr>
        <p:spPr>
          <a:xfrm>
            <a:off x="1170432" y="3300984"/>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5 In Progress</a:t>
            </a:r>
            <a:endParaRPr lang="en-US" sz="750" dirty="0"/>
          </a:p>
        </p:txBody>
      </p:sp>
      <p:sp>
        <p:nvSpPr>
          <p:cNvPr id="84" name="Shape 82"/>
          <p:cNvSpPr/>
          <p:nvPr/>
        </p:nvSpPr>
        <p:spPr>
          <a:xfrm>
            <a:off x="1170432" y="3520440"/>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730752"/>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520440"/>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730752"/>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520440"/>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730752"/>
            <a:ext cx="932688" cy="155448"/>
          </a:xfrm>
          <a:prstGeom prst="roundRect">
            <a:avLst>
              <a:gd name="adj" fmla="val 17647"/>
            </a:avLst>
          </a:prstGeom>
          <a:solidFill>
            <a:srgbClr val="F3F4F6"/>
          </a:solidFill>
          <a:ln w="9525">
            <a:solidFill>
              <a:srgbClr val="D1D5DB"/>
            </a:solidFill>
            <a:prstDash val="solid"/>
          </a:ln>
        </p:spPr>
      </p:sp>
      <p:sp>
        <p:nvSpPr>
          <p:cNvPr id="95" name="Text 93"/>
          <p:cNvSpPr/>
          <p:nvPr/>
        </p:nvSpPr>
        <p:spPr>
          <a:xfrm>
            <a:off x="3200400"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6" name="Shape 94"/>
          <p:cNvSpPr/>
          <p:nvPr/>
        </p:nvSpPr>
        <p:spPr>
          <a:xfrm>
            <a:off x="4215384" y="3520440"/>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730752"/>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520440"/>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730752"/>
            <a:ext cx="932688" cy="155448"/>
          </a:xfrm>
          <a:prstGeom prst="roundRect">
            <a:avLst>
              <a:gd name="adj" fmla="val 17647"/>
            </a:avLst>
          </a:prstGeom>
          <a:solidFill>
            <a:srgbClr val="F3F4F6"/>
          </a:solidFill>
          <a:ln w="9525">
            <a:solidFill>
              <a:srgbClr val="D1D5DB"/>
            </a:solidFill>
            <a:prstDash val="solid"/>
          </a:ln>
        </p:spPr>
      </p:sp>
      <p:sp>
        <p:nvSpPr>
          <p:cNvPr id="103" name="Text 101"/>
          <p:cNvSpPr/>
          <p:nvPr/>
        </p:nvSpPr>
        <p:spPr>
          <a:xfrm>
            <a:off x="5230368"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4" name="Shape 102"/>
          <p:cNvSpPr/>
          <p:nvPr/>
        </p:nvSpPr>
        <p:spPr>
          <a:xfrm>
            <a:off x="164592" y="4480560"/>
            <a:ext cx="9116568" cy="1170432"/>
          </a:xfrm>
          <a:prstGeom prst="rect">
            <a:avLst/>
          </a:prstGeom>
          <a:solidFill>
            <a:srgbClr val="FFFFFF"/>
          </a:solidFill>
          <a:ln w="6350">
            <a:solidFill>
              <a:srgbClr val="E5E7EB"/>
            </a:solidFill>
            <a:prstDash val="solid"/>
          </a:ln>
        </p:spPr>
      </p:sp>
      <p:sp>
        <p:nvSpPr>
          <p:cNvPr id="105" name="Shape 103"/>
          <p:cNvSpPr/>
          <p:nvPr/>
        </p:nvSpPr>
        <p:spPr>
          <a:xfrm>
            <a:off x="182880" y="4553712"/>
            <a:ext cx="859536" cy="1024128"/>
          </a:xfrm>
          <a:prstGeom prst="roundRect">
            <a:avLst>
              <a:gd name="adj" fmla="val 5319"/>
            </a:avLst>
          </a:prstGeom>
          <a:solidFill>
            <a:srgbClr val="9CA3AF"/>
          </a:solidFill>
          <a:ln w="12700">
            <a:solidFill>
              <a:srgbClr val="9CA3AF"/>
            </a:solidFill>
            <a:prstDash val="solid"/>
          </a:ln>
        </p:spPr>
      </p:sp>
      <p:sp>
        <p:nvSpPr>
          <p:cNvPr id="106" name="Text 104"/>
          <p:cNvSpPr/>
          <p:nvPr/>
        </p:nvSpPr>
        <p:spPr>
          <a:xfrm>
            <a:off x="182880" y="4553712"/>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Merchandising</a:t>
            </a:r>
            <a:endParaRPr lang="en-US" sz="950" dirty="0"/>
          </a:p>
        </p:txBody>
      </p:sp>
      <p:sp>
        <p:nvSpPr>
          <p:cNvPr id="107" name="Text 105"/>
          <p:cNvSpPr/>
          <p:nvPr/>
        </p:nvSpPr>
        <p:spPr>
          <a:xfrm>
            <a:off x="1170432" y="4526280"/>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a:t>
            </a:r>
            <a:endParaRPr lang="en-US" sz="750" dirty="0"/>
          </a:p>
        </p:txBody>
      </p:sp>
      <p:sp>
        <p:nvSpPr>
          <p:cNvPr id="108" name="Shape 106"/>
          <p:cNvSpPr/>
          <p:nvPr/>
        </p:nvSpPr>
        <p:spPr>
          <a:xfrm>
            <a:off x="1170432" y="4745736"/>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956048"/>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745736"/>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956048"/>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745736"/>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956048"/>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745736"/>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956048"/>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745736"/>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956048"/>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745736"/>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956048"/>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745736"/>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956048"/>
            <a:ext cx="932688" cy="155448"/>
          </a:xfrm>
          <a:prstGeom prst="roundRect">
            <a:avLst>
              <a:gd name="adj" fmla="val 17647"/>
            </a:avLst>
          </a:prstGeom>
          <a:solidFill>
            <a:srgbClr val="F3F4F6"/>
          </a:solidFill>
          <a:ln w="9525">
            <a:solidFill>
              <a:srgbClr val="D1D5DB"/>
            </a:solidFill>
            <a:prstDash val="solid"/>
          </a:ln>
        </p:spPr>
      </p:sp>
      <p:sp>
        <p:nvSpPr>
          <p:cNvPr id="135" name="Text 133"/>
          <p:cNvSpPr/>
          <p:nvPr/>
        </p:nvSpPr>
        <p:spPr>
          <a:xfrm>
            <a:off x="7260336"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6" name="Shape 134"/>
          <p:cNvSpPr/>
          <p:nvPr/>
        </p:nvSpPr>
        <p:spPr>
          <a:xfrm>
            <a:off x="8275320" y="4745736"/>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956048"/>
            <a:ext cx="932688" cy="155448"/>
          </a:xfrm>
          <a:prstGeom prst="roundRect">
            <a:avLst>
              <a:gd name="adj" fmla="val 17647"/>
            </a:avLst>
          </a:prstGeom>
          <a:solidFill>
            <a:srgbClr val="F3F4F6"/>
          </a:solidFill>
          <a:ln w="9525">
            <a:solidFill>
              <a:srgbClr val="D1D5DB"/>
            </a:solidFill>
            <a:prstDash val="solid"/>
          </a:ln>
        </p:spPr>
      </p:sp>
      <p:sp>
        <p:nvSpPr>
          <p:cNvPr id="139" name="Text 137"/>
          <p:cNvSpPr/>
          <p:nvPr/>
        </p:nvSpPr>
        <p:spPr>
          <a:xfrm>
            <a:off x="8275320"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0" name="Shape 138"/>
          <p:cNvSpPr/>
          <p:nvPr/>
        </p:nvSpPr>
        <p:spPr>
          <a:xfrm>
            <a:off x="1170432" y="5202936"/>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52029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5413248"/>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54132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5705856"/>
            <a:ext cx="9116568" cy="1170432"/>
          </a:xfrm>
          <a:prstGeom prst="rect">
            <a:avLst/>
          </a:prstGeom>
          <a:solidFill>
            <a:srgbClr val="FAFBFC"/>
          </a:solidFill>
          <a:ln w="6350">
            <a:solidFill>
              <a:srgbClr val="E5E7EB"/>
            </a:solidFill>
            <a:prstDash val="solid"/>
          </a:ln>
        </p:spPr>
      </p:sp>
      <p:sp>
        <p:nvSpPr>
          <p:cNvPr id="145" name="Shape 143"/>
          <p:cNvSpPr/>
          <p:nvPr/>
        </p:nvSpPr>
        <p:spPr>
          <a:xfrm>
            <a:off x="182880" y="5779008"/>
            <a:ext cx="859536" cy="1024128"/>
          </a:xfrm>
          <a:prstGeom prst="roundRect">
            <a:avLst>
              <a:gd name="adj" fmla="val 5319"/>
            </a:avLst>
          </a:prstGeom>
          <a:solidFill>
            <a:srgbClr val="9CA3AF"/>
          </a:solidFill>
          <a:ln w="12700">
            <a:solidFill>
              <a:srgbClr val="9CA3AF"/>
            </a:solidFill>
            <a:prstDash val="solid"/>
          </a:ln>
        </p:spPr>
      </p:sp>
      <p:sp>
        <p:nvSpPr>
          <p:cNvPr id="146" name="Text 144"/>
          <p:cNvSpPr/>
          <p:nvPr/>
        </p:nvSpPr>
        <p:spPr>
          <a:xfrm>
            <a:off x="182880" y="5779008"/>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Onboarding</a:t>
            </a:r>
            <a:endParaRPr lang="en-US" sz="950" dirty="0"/>
          </a:p>
        </p:txBody>
      </p:sp>
      <p:sp>
        <p:nvSpPr>
          <p:cNvPr id="147" name="Text 145"/>
          <p:cNvSpPr/>
          <p:nvPr/>
        </p:nvSpPr>
        <p:spPr>
          <a:xfrm>
            <a:off x="1170432" y="5751576"/>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5 In Progress</a:t>
            </a:r>
            <a:endParaRPr lang="en-US" sz="750" dirty="0"/>
          </a:p>
        </p:txBody>
      </p:sp>
      <p:sp>
        <p:nvSpPr>
          <p:cNvPr id="148" name="Shape 146"/>
          <p:cNvSpPr/>
          <p:nvPr/>
        </p:nvSpPr>
        <p:spPr>
          <a:xfrm>
            <a:off x="1170432" y="5971032"/>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6181344"/>
            <a:ext cx="932688" cy="155448"/>
          </a:xfrm>
          <a:prstGeom prst="roundRect">
            <a:avLst>
              <a:gd name="adj" fmla="val 17647"/>
            </a:avLst>
          </a:prstGeom>
          <a:solidFill>
            <a:srgbClr val="F3F4F6"/>
          </a:solidFill>
          <a:ln w="9525">
            <a:solidFill>
              <a:srgbClr val="D1D5DB"/>
            </a:solidFill>
            <a:prstDash val="solid"/>
          </a:ln>
        </p:spPr>
      </p:sp>
      <p:sp>
        <p:nvSpPr>
          <p:cNvPr id="151" name="Text 149"/>
          <p:cNvSpPr/>
          <p:nvPr/>
        </p:nvSpPr>
        <p:spPr>
          <a:xfrm>
            <a:off x="1170432"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52" name="Shape 150"/>
          <p:cNvSpPr/>
          <p:nvPr/>
        </p:nvSpPr>
        <p:spPr>
          <a:xfrm>
            <a:off x="2185416" y="5971032"/>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6181344"/>
            <a:ext cx="932688" cy="155448"/>
          </a:xfrm>
          <a:prstGeom prst="roundRect">
            <a:avLst>
              <a:gd name="adj" fmla="val 17647"/>
            </a:avLst>
          </a:prstGeom>
          <a:solidFill>
            <a:srgbClr val="F3F4F6"/>
          </a:solidFill>
          <a:ln w="9525">
            <a:solidFill>
              <a:srgbClr val="D1D5DB"/>
            </a:solidFill>
            <a:prstDash val="solid"/>
          </a:ln>
        </p:spPr>
      </p:sp>
      <p:sp>
        <p:nvSpPr>
          <p:cNvPr id="155" name="Text 153"/>
          <p:cNvSpPr/>
          <p:nvPr/>
        </p:nvSpPr>
        <p:spPr>
          <a:xfrm>
            <a:off x="2185416"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56" name="Shape 154"/>
          <p:cNvSpPr/>
          <p:nvPr/>
        </p:nvSpPr>
        <p:spPr>
          <a:xfrm>
            <a:off x="3200400" y="5971032"/>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6181344"/>
            <a:ext cx="932688" cy="155448"/>
          </a:xfrm>
          <a:prstGeom prst="roundRect">
            <a:avLst>
              <a:gd name="adj" fmla="val 17647"/>
            </a:avLst>
          </a:prstGeom>
          <a:solidFill>
            <a:srgbClr val="F3F4F6"/>
          </a:solidFill>
          <a:ln w="9525">
            <a:solidFill>
              <a:srgbClr val="D1D5DB"/>
            </a:solidFill>
            <a:prstDash val="solid"/>
          </a:ln>
        </p:spPr>
      </p:sp>
      <p:sp>
        <p:nvSpPr>
          <p:cNvPr id="159" name="Text 157"/>
          <p:cNvSpPr/>
          <p:nvPr/>
        </p:nvSpPr>
        <p:spPr>
          <a:xfrm>
            <a:off x="3200400"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0" name="Shape 158"/>
          <p:cNvSpPr/>
          <p:nvPr/>
        </p:nvSpPr>
        <p:spPr>
          <a:xfrm>
            <a:off x="4215384" y="5971032"/>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6181344"/>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971032"/>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66" name="Shape 164"/>
          <p:cNvSpPr/>
          <p:nvPr/>
        </p:nvSpPr>
        <p:spPr>
          <a:xfrm>
            <a:off x="5230368" y="6181344"/>
            <a:ext cx="932688" cy="155448"/>
          </a:xfrm>
          <a:prstGeom prst="roundRect">
            <a:avLst>
              <a:gd name="adj" fmla="val 17647"/>
            </a:avLst>
          </a:prstGeom>
          <a:solidFill>
            <a:srgbClr val="F3F4F6"/>
          </a:solidFill>
          <a:ln w="9525">
            <a:solidFill>
              <a:srgbClr val="D1D5DB"/>
            </a:solidFill>
            <a:prstDash val="solid"/>
          </a:ln>
        </p:spPr>
      </p:sp>
      <p:sp>
        <p:nvSpPr>
          <p:cNvPr id="167" name="Text 165"/>
          <p:cNvSpPr/>
          <p:nvPr/>
        </p:nvSpPr>
        <p:spPr>
          <a:xfrm>
            <a:off x="5230368"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8" name="Shape 166"/>
          <p:cNvSpPr/>
          <p:nvPr/>
        </p:nvSpPr>
        <p:spPr>
          <a:xfrm>
            <a:off x="9372600" y="804672"/>
            <a:ext cx="2834640" cy="6071616"/>
          </a:xfrm>
          <a:prstGeom prst="rect">
            <a:avLst/>
          </a:prstGeom>
          <a:solidFill>
            <a:srgbClr val="F8FAFB"/>
          </a:solidFill>
          <a:ln w="12700">
            <a:solidFill>
              <a:srgbClr val="DDE1E6"/>
            </a:solidFill>
            <a:prstDash val="solid"/>
          </a:ln>
        </p:spPr>
      </p:sp>
      <p:sp>
        <p:nvSpPr>
          <p:cNvPr id="169" name="Text 167"/>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70" name="Shape 168"/>
          <p:cNvSpPr/>
          <p:nvPr/>
        </p:nvSpPr>
        <p:spPr>
          <a:xfrm>
            <a:off x="9464040" y="1225296"/>
            <a:ext cx="2670048" cy="420624"/>
          </a:xfrm>
          <a:prstGeom prst="rect">
            <a:avLst/>
          </a:prstGeom>
          <a:solidFill>
            <a:srgbClr val="FFFFFF"/>
          </a:solidFill>
          <a:ln w="6350">
            <a:solidFill>
              <a:srgbClr val="E5E7EB"/>
            </a:solidFill>
            <a:prstDash val="solid"/>
          </a:ln>
        </p:spPr>
      </p:sp>
      <p:sp>
        <p:nvSpPr>
          <p:cNvPr id="171" name="Shape 169"/>
          <p:cNvSpPr/>
          <p:nvPr/>
        </p:nvSpPr>
        <p:spPr>
          <a:xfrm>
            <a:off x="9537192" y="1316736"/>
            <a:ext cx="109728" cy="109728"/>
          </a:xfrm>
          <a:prstGeom prst="ellipse">
            <a:avLst/>
          </a:prstGeom>
          <a:solidFill>
            <a:srgbClr val="16A34A"/>
          </a:solidFill>
          <a:ln w="12700">
            <a:solidFill>
              <a:srgbClr val="16A34A"/>
            </a:solidFill>
            <a:prstDash val="solid"/>
          </a:ln>
        </p:spPr>
      </p:sp>
      <p:sp>
        <p:nvSpPr>
          <p:cNvPr id="172" name="Text 170"/>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73" name="Text 171"/>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74" name="Shape 172"/>
          <p:cNvSpPr/>
          <p:nvPr/>
        </p:nvSpPr>
        <p:spPr>
          <a:xfrm>
            <a:off x="11548872" y="1453896"/>
            <a:ext cx="530352" cy="137160"/>
          </a:xfrm>
          <a:prstGeom prst="roundRect">
            <a:avLst>
              <a:gd name="adj" fmla="val 20000"/>
            </a:avLst>
          </a:prstGeom>
          <a:solidFill>
            <a:srgbClr val="DCFCE7"/>
          </a:solidFill>
          <a:ln w="12700">
            <a:solidFill>
              <a:srgbClr val="DCFCE7"/>
            </a:solidFill>
            <a:prstDash val="solid"/>
          </a:ln>
        </p:spPr>
      </p:sp>
      <p:sp>
        <p:nvSpPr>
          <p:cNvPr id="175" name="Text 173"/>
          <p:cNvSpPr/>
          <p:nvPr/>
        </p:nvSpPr>
        <p:spPr>
          <a:xfrm>
            <a:off x="11548872" y="1453896"/>
            <a:ext cx="530352" cy="137160"/>
          </a:xfrm>
          <a:prstGeom prst="rect">
            <a:avLst/>
          </a:prstGeom>
          <a:noFill/>
          <a:ln/>
        </p:spPr>
        <p:txBody>
          <a:bodyPr wrap="square" lIns="0" tIns="0" rIns="0" bIns="0" rtlCol="0" anchor="ctr"/>
          <a:lstStyle/>
          <a:p>
            <a:pPr algn="ctr" indent="0" marL="0">
              <a:buNone/>
            </a:pPr>
            <a:r>
              <a:rPr lang="en-US" sz="650" b="1" dirty="0">
                <a:solidFill>
                  <a:srgbClr val="166534"/>
                </a:solidFill>
              </a:rPr>
              <a:t>Complete</a:t>
            </a:r>
            <a:endParaRPr lang="en-US" sz="650" dirty="0"/>
          </a:p>
        </p:txBody>
      </p:sp>
      <p:sp>
        <p:nvSpPr>
          <p:cNvPr id="176" name="Shape 174"/>
          <p:cNvSpPr/>
          <p:nvPr/>
        </p:nvSpPr>
        <p:spPr>
          <a:xfrm>
            <a:off x="9464040" y="1700784"/>
            <a:ext cx="2670048" cy="420624"/>
          </a:xfrm>
          <a:prstGeom prst="rect">
            <a:avLst/>
          </a:prstGeom>
          <a:solidFill>
            <a:srgbClr val="FFFFFF"/>
          </a:solidFill>
          <a:ln w="6350">
            <a:solidFill>
              <a:srgbClr val="E5E7EB"/>
            </a:solidFill>
            <a:prstDash val="solid"/>
          </a:ln>
        </p:spPr>
      </p:sp>
      <p:sp>
        <p:nvSpPr>
          <p:cNvPr id="177" name="Shape 175"/>
          <p:cNvSpPr/>
          <p:nvPr/>
        </p:nvSpPr>
        <p:spPr>
          <a:xfrm>
            <a:off x="9537192" y="1792224"/>
            <a:ext cx="109728" cy="109728"/>
          </a:xfrm>
          <a:prstGeom prst="ellipse">
            <a:avLst/>
          </a:prstGeom>
          <a:solidFill>
            <a:srgbClr val="9CA3AF"/>
          </a:solidFill>
          <a:ln w="12700">
            <a:solidFill>
              <a:srgbClr val="9CA3AF"/>
            </a:solidFill>
            <a:prstDash val="solid"/>
          </a:ln>
        </p:spPr>
      </p:sp>
      <p:sp>
        <p:nvSpPr>
          <p:cNvPr id="178" name="Text 176"/>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Integration</a:t>
            </a:r>
            <a:endParaRPr lang="en-US" sz="800" dirty="0"/>
          </a:p>
        </p:txBody>
      </p:sp>
      <p:sp>
        <p:nvSpPr>
          <p:cNvPr id="179" name="Text 177"/>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80" name="Shape 178"/>
          <p:cNvSpPr/>
          <p:nvPr/>
        </p:nvSpPr>
        <p:spPr>
          <a:xfrm>
            <a:off x="11548872" y="1929384"/>
            <a:ext cx="530352" cy="137160"/>
          </a:xfrm>
          <a:prstGeom prst="roundRect">
            <a:avLst>
              <a:gd name="adj" fmla="val 20000"/>
            </a:avLst>
          </a:prstGeom>
          <a:solidFill>
            <a:srgbClr val="F3F4F6"/>
          </a:solidFill>
          <a:ln w="12700">
            <a:solidFill>
              <a:srgbClr val="F3F4F6"/>
            </a:solidFill>
            <a:prstDash val="solid"/>
          </a:ln>
        </p:spPr>
      </p:sp>
      <p:sp>
        <p:nvSpPr>
          <p:cNvPr id="181" name="Text 179"/>
          <p:cNvSpPr/>
          <p:nvPr/>
        </p:nvSpPr>
        <p:spPr>
          <a:xfrm>
            <a:off x="11548872" y="1929384"/>
            <a:ext cx="530352" cy="137160"/>
          </a:xfrm>
          <a:prstGeom prst="rect">
            <a:avLst/>
          </a:prstGeom>
          <a:noFill/>
          <a:ln/>
        </p:spPr>
        <p:txBody>
          <a:bodyPr wrap="square" lIns="0" tIns="0" rIns="0" bIns="0" rtlCol="0" anchor="ctr"/>
          <a:lstStyle/>
          <a:p>
            <a:pPr algn="ctr" indent="0" marL="0">
              <a:buNone/>
            </a:pPr>
            <a:r>
              <a:rPr lang="en-US" sz="650" b="1" dirty="0">
                <a:solidFill>
                  <a:srgbClr val="6B7280"/>
                </a:solidFill>
              </a:rPr>
              <a:t>Upcoming</a:t>
            </a:r>
            <a:endParaRPr lang="en-US" sz="650" dirty="0"/>
          </a:p>
        </p:txBody>
      </p:sp>
      <p:sp>
        <p:nvSpPr>
          <p:cNvPr id="182" name="Shape 180"/>
          <p:cNvSpPr/>
          <p:nvPr/>
        </p:nvSpPr>
        <p:spPr>
          <a:xfrm>
            <a:off x="9464040" y="2176272"/>
            <a:ext cx="2670048" cy="420624"/>
          </a:xfrm>
          <a:prstGeom prst="rect">
            <a:avLst/>
          </a:prstGeom>
          <a:solidFill>
            <a:srgbClr val="FFFFFF"/>
          </a:solidFill>
          <a:ln w="6350">
            <a:solidFill>
              <a:srgbClr val="E5E7EB"/>
            </a:solidFill>
            <a:prstDash val="solid"/>
          </a:ln>
        </p:spPr>
      </p:sp>
      <p:sp>
        <p:nvSpPr>
          <p:cNvPr id="183" name="Shape 181"/>
          <p:cNvSpPr/>
          <p:nvPr/>
        </p:nvSpPr>
        <p:spPr>
          <a:xfrm>
            <a:off x="9537192" y="2267712"/>
            <a:ext cx="109728" cy="109728"/>
          </a:xfrm>
          <a:prstGeom prst="ellipse">
            <a:avLst/>
          </a:prstGeom>
          <a:solidFill>
            <a:srgbClr val="9CA3AF"/>
          </a:solidFill>
          <a:ln w="12700">
            <a:solidFill>
              <a:srgbClr val="9CA3AF"/>
            </a:solidFill>
            <a:prstDash val="solid"/>
          </a:ln>
        </p:spPr>
      </p:sp>
      <p:sp>
        <p:nvSpPr>
          <p:cNvPr id="184" name="Text 182"/>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Testing</a:t>
            </a:r>
            <a:endParaRPr lang="en-US" sz="800" dirty="0"/>
          </a:p>
        </p:txBody>
      </p:sp>
      <p:sp>
        <p:nvSpPr>
          <p:cNvPr id="185" name="Text 183"/>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86" name="Shape 184"/>
          <p:cNvSpPr/>
          <p:nvPr/>
        </p:nvSpPr>
        <p:spPr>
          <a:xfrm>
            <a:off x="11548872" y="2404872"/>
            <a:ext cx="530352" cy="137160"/>
          </a:xfrm>
          <a:prstGeom prst="roundRect">
            <a:avLst>
              <a:gd name="adj" fmla="val 20000"/>
            </a:avLst>
          </a:prstGeom>
          <a:solidFill>
            <a:srgbClr val="F3F4F6"/>
          </a:solidFill>
          <a:ln w="12700">
            <a:solidFill>
              <a:srgbClr val="F3F4F6"/>
            </a:solidFill>
            <a:prstDash val="solid"/>
          </a:ln>
        </p:spPr>
      </p:sp>
      <p:sp>
        <p:nvSpPr>
          <p:cNvPr id="187" name="Text 185"/>
          <p:cNvSpPr/>
          <p:nvPr/>
        </p:nvSpPr>
        <p:spPr>
          <a:xfrm>
            <a:off x="11548872" y="2404872"/>
            <a:ext cx="530352" cy="137160"/>
          </a:xfrm>
          <a:prstGeom prst="rect">
            <a:avLst/>
          </a:prstGeom>
          <a:noFill/>
          <a:ln/>
        </p:spPr>
        <p:txBody>
          <a:bodyPr wrap="square" lIns="0" tIns="0" rIns="0" bIns="0" rtlCol="0" anchor="ctr"/>
          <a:lstStyle/>
          <a:p>
            <a:pPr algn="ctr" indent="0" marL="0">
              <a:buNone/>
            </a:pPr>
            <a:r>
              <a:rPr lang="en-US" sz="650" b="1" dirty="0">
                <a:solidFill>
                  <a:srgbClr val="6B7280"/>
                </a:solidFill>
              </a:rPr>
              <a:t>Upcoming</a:t>
            </a:r>
            <a:endParaRPr lang="en-US" sz="650" dirty="0"/>
          </a:p>
        </p:txBody>
      </p:sp>
      <p:sp>
        <p:nvSpPr>
          <p:cNvPr id="188" name="Shape 186"/>
          <p:cNvSpPr/>
          <p:nvPr/>
        </p:nvSpPr>
        <p:spPr>
          <a:xfrm>
            <a:off x="9464040" y="2651760"/>
            <a:ext cx="2670048" cy="420624"/>
          </a:xfrm>
          <a:prstGeom prst="rect">
            <a:avLst/>
          </a:prstGeom>
          <a:solidFill>
            <a:srgbClr val="FFFFFF"/>
          </a:solidFill>
          <a:ln w="6350">
            <a:solidFill>
              <a:srgbClr val="E5E7EB"/>
            </a:solidFill>
            <a:prstDash val="solid"/>
          </a:ln>
        </p:spPr>
      </p:sp>
      <p:sp>
        <p:nvSpPr>
          <p:cNvPr id="189" name="Shape 187"/>
          <p:cNvSpPr/>
          <p:nvPr/>
        </p:nvSpPr>
        <p:spPr>
          <a:xfrm>
            <a:off x="9537192" y="2743200"/>
            <a:ext cx="109728" cy="109728"/>
          </a:xfrm>
          <a:prstGeom prst="ellipse">
            <a:avLst/>
          </a:prstGeom>
          <a:solidFill>
            <a:srgbClr val="9CA3AF"/>
          </a:solidFill>
          <a:ln w="12700">
            <a:solidFill>
              <a:srgbClr val="9CA3AF"/>
            </a:solidFill>
            <a:prstDash val="solid"/>
          </a:ln>
        </p:spPr>
      </p:sp>
      <p:sp>
        <p:nvSpPr>
          <p:cNvPr id="190" name="Text 188"/>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91" name="Text 189"/>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92" name="Shape 190"/>
          <p:cNvSpPr/>
          <p:nvPr/>
        </p:nvSpPr>
        <p:spPr>
          <a:xfrm>
            <a:off x="11548872" y="2880360"/>
            <a:ext cx="530352" cy="137160"/>
          </a:xfrm>
          <a:prstGeom prst="roundRect">
            <a:avLst>
              <a:gd name="adj" fmla="val 20000"/>
            </a:avLst>
          </a:prstGeom>
          <a:solidFill>
            <a:srgbClr val="F3F4F6"/>
          </a:solidFill>
          <a:ln w="12700">
            <a:solidFill>
              <a:srgbClr val="F3F4F6"/>
            </a:solidFill>
            <a:prstDash val="solid"/>
          </a:ln>
        </p:spPr>
      </p:sp>
      <p:sp>
        <p:nvSpPr>
          <p:cNvPr id="193" name="Text 191"/>
          <p:cNvSpPr/>
          <p:nvPr/>
        </p:nvSpPr>
        <p:spPr>
          <a:xfrm>
            <a:off x="11548872" y="2880360"/>
            <a:ext cx="530352" cy="137160"/>
          </a:xfrm>
          <a:prstGeom prst="rect">
            <a:avLst/>
          </a:prstGeom>
          <a:noFill/>
          <a:ln/>
        </p:spPr>
        <p:txBody>
          <a:bodyPr wrap="square" lIns="0" tIns="0" rIns="0" bIns="0" rtlCol="0" anchor="ctr"/>
          <a:lstStyle/>
          <a:p>
            <a:pPr algn="ctr" indent="0" marL="0">
              <a:buNone/>
            </a:pPr>
            <a:r>
              <a:rPr lang="en-US" sz="650" b="1" dirty="0">
                <a:solidFill>
                  <a:srgbClr val="6B7280"/>
                </a:solidFill>
              </a:rPr>
              <a:t>Upcoming</a:t>
            </a:r>
            <a:endParaRPr lang="en-US" sz="650" dirty="0"/>
          </a:p>
        </p:txBody>
      </p:sp>
      <p:sp>
        <p:nvSpPr>
          <p:cNvPr id="194" name="Shape 192"/>
          <p:cNvSpPr/>
          <p:nvPr/>
        </p:nvSpPr>
        <p:spPr>
          <a:xfrm>
            <a:off x="9482328" y="3200400"/>
            <a:ext cx="2633472" cy="0"/>
          </a:xfrm>
          <a:prstGeom prst="line">
            <a:avLst/>
          </a:prstGeom>
          <a:noFill/>
          <a:ln w="9525">
            <a:solidFill>
              <a:srgbClr val="DDE1E6"/>
            </a:solidFill>
            <a:prstDash val="solid"/>
          </a:ln>
        </p:spPr>
      </p:sp>
      <p:sp>
        <p:nvSpPr>
          <p:cNvPr id="195" name="Text 193"/>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96" name="Shape 194"/>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197" name="Text 195"/>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98" name="Text 196"/>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199" name="Shape 197"/>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00" name="Text 198"/>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01" name="Text 199"/>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02" name="Shape 200"/>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03" name="Text 201"/>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04" name="Text 202"/>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05" name="Shape 203"/>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06" name="Text 204"/>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07" name="Text 205"/>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08" name="Shape 206"/>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09" name="Text 207"/>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10" name="Text 208"/>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1190</Words>
  <Application>Microsoft Macintosh PowerPoint</Application>
  <PresentationFormat>Custom</PresentationFormat>
  <Paragraphs>191</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Aptos Display</vt:lpstr>
      <vt:lpstr>Arial</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Valdes</dc:creator>
  <cp:lastModifiedBy>Juan Valdes</cp:lastModifiedBy>
  <cp:revision>63</cp:revision>
  <cp:lastPrinted>2026-04-23T15:50:00Z</cp:lastPrinted>
  <dcterms:created xsi:type="dcterms:W3CDTF">2025-09-04T21:24:03Z</dcterms:created>
  <dcterms:modified xsi:type="dcterms:W3CDTF">2026-07-06T19:43:22Z</dcterms:modified>
</cp:coreProperties>
</file>