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Project SABR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D7C5"/>
                </a:solidFill>
              </a:rPr>
              <a:t>CPR  ·  Jul 6,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457200"/>
            <a:ext cx="12188952" cy="347472"/>
          </a:xfrm>
          <a:prstGeom prst="rect">
            <a:avLst/>
          </a:prstGeom>
          <a:solidFill>
            <a:srgbClr val="EFF7F3"/>
          </a:solidFill>
          <a:ln w="12700">
            <a:solidFill>
              <a:srgbClr val="CCE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DCFCE7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</a:rPr>
              <a:t>0  Done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389888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DBEAFE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89888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</a:rPr>
              <a:t>13  In Progress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3784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43784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20  Not Started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0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FEE2E2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F1D1D"/>
                </a:solidFill>
              </a:rPr>
              <a:t>0  Blocked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31536" y="52120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31536" y="5212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Dec 1, 2026  ·  147 days to launch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F4F6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" y="641908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Project SABR  ·  Tennis Channel OTT  ·  CONFIDENTIAL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86400" y="6419088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Launch: Dec 1, 2026  ·  147 days remaining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15600" y="641908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6E56"/>
                </a:solidFill>
              </a:rPr>
              <a:t>0% Ready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64592" y="804672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2880" y="877824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2880" y="877824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Platforms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70432" y="850392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7 In Progress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70432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70432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TC.com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170432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70432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2185416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85416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iOS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185416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200400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Android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0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0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4215384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215384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Roku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215384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15384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230368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0368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Fire TV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230368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30368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6245352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45352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Samsung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245352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45352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7260336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60336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tvOS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260336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60336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64592" y="1938528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82880" y="2011680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2880" y="2011680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Video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Delivery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170432" y="1984248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5 / 7 In Progress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1170432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70432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HLS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170432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70432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2185416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185416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MPEG-DASH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2185416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185416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3200400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00400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FairPlay DRM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3200400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00400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4215384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15384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Widevine DRM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215384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15384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5230368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30368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Live Streams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5230368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230368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6245352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245352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VOD Streams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6245352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45352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7260336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260336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Linear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7260336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260336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164592" y="3072384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82880" y="3145536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82880" y="3145536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Player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170432" y="3118104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5 In Progress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1170432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170432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Web Player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1170432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170432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2185416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185416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iOS Player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2185416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185416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3200400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00400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Android Player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3200400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200400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4215384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215384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HLS/DASH PB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4215384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215384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5230368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230368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Bitmovin QOE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5230368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230368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164592" y="4206240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82880" y="4279392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82880" y="4279392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Merchandising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170432" y="425196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9 In Progress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1170432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170432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Metadata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1170432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70432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16" name="Shape 114"/>
          <p:cNvSpPr/>
          <p:nvPr/>
        </p:nvSpPr>
        <p:spPr>
          <a:xfrm>
            <a:off x="2185416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2185416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Images</a:t>
            </a:r>
            <a:endParaRPr lang="en-US" sz="750" dirty="0"/>
          </a:p>
        </p:txBody>
      </p:sp>
      <p:sp>
        <p:nvSpPr>
          <p:cNvPr id="118" name="Shape 116"/>
          <p:cNvSpPr/>
          <p:nvPr/>
        </p:nvSpPr>
        <p:spPr>
          <a:xfrm>
            <a:off x="2185416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185416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20" name="Shape 118"/>
          <p:cNvSpPr/>
          <p:nvPr/>
        </p:nvSpPr>
        <p:spPr>
          <a:xfrm>
            <a:off x="3200400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200400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Carousels</a:t>
            </a:r>
            <a:endParaRPr lang="en-US" sz="750" dirty="0"/>
          </a:p>
        </p:txBody>
      </p:sp>
      <p:sp>
        <p:nvSpPr>
          <p:cNvPr id="122" name="Shape 120"/>
          <p:cNvSpPr/>
          <p:nvPr/>
        </p:nvSpPr>
        <p:spPr>
          <a:xfrm>
            <a:off x="3200400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3200400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4215384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215384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Live Events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4215384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215384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28" name="Shape 126"/>
          <p:cNvSpPr/>
          <p:nvPr/>
        </p:nvSpPr>
        <p:spPr>
          <a:xfrm>
            <a:off x="5230368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230368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Back Catalog</a:t>
            </a:r>
            <a:endParaRPr lang="en-US" sz="750" dirty="0"/>
          </a:p>
        </p:txBody>
      </p:sp>
      <p:sp>
        <p:nvSpPr>
          <p:cNvPr id="130" name="Shape 128"/>
          <p:cNvSpPr/>
          <p:nvPr/>
        </p:nvSpPr>
        <p:spPr>
          <a:xfrm>
            <a:off x="5230368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230368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32" name="Shape 130"/>
          <p:cNvSpPr/>
          <p:nvPr/>
        </p:nvSpPr>
        <p:spPr>
          <a:xfrm>
            <a:off x="6245352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45352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Full Replays</a:t>
            </a:r>
            <a:endParaRPr lang="en-US" sz="750" dirty="0"/>
          </a:p>
        </p:txBody>
      </p:sp>
      <p:sp>
        <p:nvSpPr>
          <p:cNvPr id="134" name="Shape 132"/>
          <p:cNvSpPr/>
          <p:nvPr/>
        </p:nvSpPr>
        <p:spPr>
          <a:xfrm>
            <a:off x="6245352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245352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36" name="Shape 134"/>
          <p:cNvSpPr/>
          <p:nvPr/>
        </p:nvSpPr>
        <p:spPr>
          <a:xfrm>
            <a:off x="7260336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7260336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M15</a:t>
            </a:r>
            <a:endParaRPr lang="en-US" sz="750" dirty="0"/>
          </a:p>
        </p:txBody>
      </p:sp>
      <p:sp>
        <p:nvSpPr>
          <p:cNvPr id="138" name="Shape 136"/>
          <p:cNvSpPr/>
          <p:nvPr/>
        </p:nvSpPr>
        <p:spPr>
          <a:xfrm>
            <a:off x="7260336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260336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8275320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275320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Highlights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8275320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275320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1170432" y="49286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1170432" y="49286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Linear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1170432" y="51389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1170432" y="51389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164592" y="5340096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82880" y="5413248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82880" y="5413248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Onboarding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170432" y="5385816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1 / 5 In Progress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1170432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170432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Unentitled</a:t>
            </a:r>
            <a:endParaRPr lang="en-US" sz="750" dirty="0"/>
          </a:p>
        </p:txBody>
      </p:sp>
      <p:sp>
        <p:nvSpPr>
          <p:cNvPr id="154" name="Shape 152"/>
          <p:cNvSpPr/>
          <p:nvPr/>
        </p:nvSpPr>
        <p:spPr>
          <a:xfrm>
            <a:off x="1170432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1170432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56" name="Shape 154"/>
          <p:cNvSpPr/>
          <p:nvPr/>
        </p:nvSpPr>
        <p:spPr>
          <a:xfrm>
            <a:off x="2185416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185416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Sign-in</a:t>
            </a: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2185416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2185416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3200400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3200400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Subscription</a:t>
            </a: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3200400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3200400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4215384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4215384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MVPD</a:t>
            </a:r>
            <a:endParaRPr lang="en-US" sz="750" dirty="0"/>
          </a:p>
        </p:txBody>
      </p:sp>
      <p:sp>
        <p:nvSpPr>
          <p:cNvPr id="166" name="Shape 164"/>
          <p:cNvSpPr/>
          <p:nvPr/>
        </p:nvSpPr>
        <p:spPr>
          <a:xfrm>
            <a:off x="4215384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215384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68" name="Shape 166"/>
          <p:cNvSpPr/>
          <p:nvPr/>
        </p:nvSpPr>
        <p:spPr>
          <a:xfrm>
            <a:off x="5230368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5230368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Promos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5230368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230368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372600" y="804672"/>
            <a:ext cx="2679192" cy="5614416"/>
          </a:xfrm>
          <a:prstGeom prst="rect">
            <a:avLst/>
          </a:prstGeom>
          <a:solidFill>
            <a:srgbClr val="F8FAFB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500616" y="950976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</a:rPr>
              <a:t>Progress by Category</a:t>
            </a:r>
            <a:endParaRPr lang="en-US" sz="950" dirty="0"/>
          </a:p>
        </p:txBody>
      </p:sp>
      <p:sp>
        <p:nvSpPr>
          <p:cNvPr id="174" name="Text 172"/>
          <p:cNvSpPr/>
          <p:nvPr/>
        </p:nvSpPr>
        <p:spPr>
          <a:xfrm>
            <a:off x="9500616" y="1216152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Platforms</a:t>
            </a:r>
            <a:endParaRPr lang="en-US" sz="800" dirty="0"/>
          </a:p>
        </p:txBody>
      </p:sp>
      <p:sp>
        <p:nvSpPr>
          <p:cNvPr id="175" name="Text 173"/>
          <p:cNvSpPr/>
          <p:nvPr/>
        </p:nvSpPr>
        <p:spPr>
          <a:xfrm>
            <a:off x="11558016" y="12161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76" name="Shape 174"/>
          <p:cNvSpPr/>
          <p:nvPr/>
        </p:nvSpPr>
        <p:spPr>
          <a:xfrm>
            <a:off x="9500616" y="1399032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500616" y="1572768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Video Delivery</a:t>
            </a:r>
            <a:endParaRPr lang="en-US" sz="800" dirty="0"/>
          </a:p>
        </p:txBody>
      </p:sp>
      <p:sp>
        <p:nvSpPr>
          <p:cNvPr id="178" name="Text 176"/>
          <p:cNvSpPr/>
          <p:nvPr/>
        </p:nvSpPr>
        <p:spPr>
          <a:xfrm>
            <a:off x="11558016" y="15727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79" name="Shape 177"/>
          <p:cNvSpPr/>
          <p:nvPr/>
        </p:nvSpPr>
        <p:spPr>
          <a:xfrm>
            <a:off x="9500616" y="1755648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9500616" y="1929384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Player</a:t>
            </a:r>
            <a:endParaRPr lang="en-US" sz="800" dirty="0"/>
          </a:p>
        </p:txBody>
      </p:sp>
      <p:sp>
        <p:nvSpPr>
          <p:cNvPr id="181" name="Text 179"/>
          <p:cNvSpPr/>
          <p:nvPr/>
        </p:nvSpPr>
        <p:spPr>
          <a:xfrm>
            <a:off x="11558016" y="192938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82" name="Shape 180"/>
          <p:cNvSpPr/>
          <p:nvPr/>
        </p:nvSpPr>
        <p:spPr>
          <a:xfrm>
            <a:off x="9500616" y="2112264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9500616" y="2286000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Merchandising</a:t>
            </a:r>
            <a:endParaRPr lang="en-US" sz="800" dirty="0"/>
          </a:p>
        </p:txBody>
      </p:sp>
      <p:sp>
        <p:nvSpPr>
          <p:cNvPr id="184" name="Text 182"/>
          <p:cNvSpPr/>
          <p:nvPr/>
        </p:nvSpPr>
        <p:spPr>
          <a:xfrm>
            <a:off x="11558016" y="22860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85" name="Shape 183"/>
          <p:cNvSpPr/>
          <p:nvPr/>
        </p:nvSpPr>
        <p:spPr>
          <a:xfrm>
            <a:off x="9500616" y="2468880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9500616" y="2642616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Onboarding</a:t>
            </a:r>
            <a:endParaRPr lang="en-US" sz="800" dirty="0"/>
          </a:p>
        </p:txBody>
      </p:sp>
      <p:sp>
        <p:nvSpPr>
          <p:cNvPr id="187" name="Text 185"/>
          <p:cNvSpPr/>
          <p:nvPr/>
        </p:nvSpPr>
        <p:spPr>
          <a:xfrm>
            <a:off x="11558016" y="264261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88" name="Shape 186"/>
          <p:cNvSpPr/>
          <p:nvPr/>
        </p:nvSpPr>
        <p:spPr>
          <a:xfrm>
            <a:off x="9500616" y="2825496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482328" y="3127248"/>
            <a:ext cx="2478024" cy="0"/>
          </a:xfrm>
          <a:prstGeom prst="line">
            <a:avLst/>
          </a:prstGeom>
          <a:noFill/>
          <a:ln w="9525">
            <a:solidFill>
              <a:srgbClr val="DDE1E6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500616" y="3264408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</a:rPr>
              <a:t>Status Key</a:t>
            </a:r>
            <a:endParaRPr lang="en-US" sz="950" dirty="0"/>
          </a:p>
        </p:txBody>
      </p:sp>
      <p:sp>
        <p:nvSpPr>
          <p:cNvPr id="191" name="Shape 189"/>
          <p:cNvSpPr/>
          <p:nvPr/>
        </p:nvSpPr>
        <p:spPr>
          <a:xfrm>
            <a:off x="9500616" y="35112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9500616" y="35112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93" name="Text 191"/>
          <p:cNvSpPr/>
          <p:nvPr/>
        </p:nvSpPr>
        <p:spPr>
          <a:xfrm>
            <a:off x="10305288" y="35112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Work has not begun</a:t>
            </a:r>
            <a:endParaRPr lang="en-US" sz="700" dirty="0"/>
          </a:p>
        </p:txBody>
      </p:sp>
      <p:sp>
        <p:nvSpPr>
          <p:cNvPr id="194" name="Shape 192"/>
          <p:cNvSpPr/>
          <p:nvPr/>
        </p:nvSpPr>
        <p:spPr>
          <a:xfrm>
            <a:off x="9500616" y="37398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9500616" y="37398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10305288" y="37398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Active development underway</a:t>
            </a:r>
            <a:endParaRPr lang="en-US" sz="700" dirty="0"/>
          </a:p>
        </p:txBody>
      </p:sp>
      <p:sp>
        <p:nvSpPr>
          <p:cNvPr id="197" name="Shape 195"/>
          <p:cNvSpPr/>
          <p:nvPr/>
        </p:nvSpPr>
        <p:spPr>
          <a:xfrm>
            <a:off x="9500616" y="39684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9500616" y="39684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F1D1D"/>
                </a:solidFill>
              </a:rPr>
              <a:t>Blocked</a:t>
            </a:r>
            <a:endParaRPr lang="en-US" sz="700" dirty="0"/>
          </a:p>
        </p:txBody>
      </p:sp>
      <p:sp>
        <p:nvSpPr>
          <p:cNvPr id="199" name="Text 197"/>
          <p:cNvSpPr/>
          <p:nvPr/>
        </p:nvSpPr>
        <p:spPr>
          <a:xfrm>
            <a:off x="10305288" y="39684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Blocked by dependency</a:t>
            </a:r>
            <a:endParaRPr lang="en-US" sz="700" dirty="0"/>
          </a:p>
        </p:txBody>
      </p:sp>
      <p:sp>
        <p:nvSpPr>
          <p:cNvPr id="200" name="Shape 198"/>
          <p:cNvSpPr/>
          <p:nvPr/>
        </p:nvSpPr>
        <p:spPr>
          <a:xfrm>
            <a:off x="9500616" y="41970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9500616" y="41970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4532D"/>
                </a:solidFill>
              </a:rPr>
              <a:t>Done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10305288" y="41970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Complete ✓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9500616" y="44256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9500616" y="44256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8350F"/>
                </a:solidFill>
              </a:rPr>
              <a:t>At Risk</a:t>
            </a:r>
            <a:endParaRPr lang="en-US" sz="700" dirty="0"/>
          </a:p>
        </p:txBody>
      </p:sp>
      <p:sp>
        <p:nvSpPr>
          <p:cNvPr id="205" name="Text 203"/>
          <p:cNvSpPr/>
          <p:nvPr/>
        </p:nvSpPr>
        <p:spPr>
          <a:xfrm>
            <a:off x="10305288" y="44256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NS with unmet dependencies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SABR Component Status</dc:title>
  <dc:subject>PptxGenJS Presentation</dc:subject>
  <dc:creator>SABR Reporting</dc:creator>
  <cp:lastModifiedBy>SABR Reporting</cp:lastModifiedBy>
  <cp:revision>1</cp:revision>
  <dcterms:created xsi:type="dcterms:W3CDTF">2026-07-06T19:39:30Z</dcterms:created>
  <dcterms:modified xsi:type="dcterms:W3CDTF">2026-07-06T19:39:30Z</dcterms:modified>
</cp:coreProperties>
</file>