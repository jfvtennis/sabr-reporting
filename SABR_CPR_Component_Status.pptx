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7/15/2026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74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dirty="0">
                <a:solidFill>
                  <a:srgbClr val="1F2937"/>
                </a:solidFill>
              </a:rPr>
              <a:t>PROJECT SABR — This Week Update</a:t>
            </a:r>
            <a:endParaRPr lang="en-US" sz="800" dirty="0"/>
          </a:p>
          <a:p>
            <a:pPr algn="l" indent="0" marL="0">
              <a:buNone/>
            </a:pPr>
            <a:endParaRPr lang="en-US" sz="800" dirty="0"/>
          </a:p>
          <a:p>
            <a:pPr algn="l" indent="0" marL="0">
              <a:buNone/>
            </a:pPr>
            <a:r>
              <a:rPr lang="en-US" sz="800" dirty="0">
                <a:solidFill>
                  <a:srgbClr val="1F2937"/>
                </a:solidFill>
              </a:rPr>
              <a:t>Engineering team made significant progress on live streaming functionality, with working demos of live streams across all platforms completed after approximately one to two weeks of development. The team continues to adapt to rapid AI-assisted development workflows, though structured refinement work will be critical before launch. Overall momentum is strong, but considerable effort remains to ensure the platform is launch-ready by December 1, with particular focus needed on stability, testing, and organizational alignment on priorities.</a:t>
            </a:r>
            <a:endParaRPr lang="en-US" sz="800" dirty="0"/>
          </a:p>
          <a:p>
            <a:pPr algn="l" indent="0" marL="0">
              <a:buNone/>
            </a:pPr>
            <a:endParaRPr lang="en-US" sz="800" dirty="0"/>
          </a:p>
          <a:p>
            <a:pPr algn="l" indent="0" marL="0">
              <a:buNone/>
            </a:pPr>
            <a:r>
              <a:rPr lang="en-US" sz="800" b="1" dirty="0">
                <a:solidFill>
                  <a:srgbClr val="1B5E20"/>
                </a:solidFill>
              </a:rPr>
              <a:t>ENGINEERING:</a:t>
            </a:r>
            <a:pPr algn="l" indent="0" marL="0">
              <a:buNone/>
            </a:pPr>
            <a:r>
              <a:rPr lang="en-US" sz="800" dirty="0">
                <a:solidFill>
                  <a:srgbClr val="1F2937"/>
                </a:solidFill>
              </a:rPr>
              <a:t> Live stream playback demonstrated successfully on web, mobile, and TV platforms. Team is moving quickly using AI-assisted coding tools, though approach differs significantly from traditional waterfall methodology. Significant backend refinement work and edge case testing still required. DRM configuration issues with EZDRM being escalated; ticket raised and awaiting vendor response. Offers and coupon code integration progressing with backend implementation and merchandise-side widget planning.</a:t>
            </a:r>
            <a:endParaRPr lang="en-US" sz="800" dirty="0"/>
          </a:p>
          <a:p>
            <a:pPr algn="l" indent="0" marL="0">
              <a:buNone/>
            </a:pPr>
            <a:endParaRPr lang="en-US" sz="800" dirty="0"/>
          </a:p>
          <a:p>
            <a:pPr algn="l" indent="0" marL="0">
              <a:buNone/>
            </a:pPr>
            <a:r>
              <a:rPr lang="en-US" sz="800" b="1" dirty="0">
                <a:solidFill>
                  <a:srgbClr val="1B5E20"/>
                </a:solidFill>
              </a:rPr>
              <a:t>MVPD AUTHENTICATION:</a:t>
            </a:r>
            <a:pPr algn="l" indent="0" marL="0">
              <a:buNone/>
            </a:pPr>
            <a:r>
              <a:rPr lang="en-US" sz="800" dirty="0">
                <a:solidFill>
                  <a:srgbClr val="1F2937"/>
                </a:solidFill>
              </a:rPr>
              <a:t> Login and logout flows working on web with mobile and TV integration underway. Testing across DirecTV, Spectrum, Cox, and other providers ongoing. User ID stability from Adobe authentication confirmed for personalization tracking. TTL reports for different MVPD providers being compiled by Adobe for review. Proxy account access needed for comprehensive testing coverage.</a:t>
            </a:r>
            <a:endParaRPr lang="en-US" sz="800" dirty="0"/>
          </a:p>
          <a:p>
            <a:pPr algn="l" indent="0" marL="0">
              <a:buNone/>
            </a:pPr>
            <a:endParaRPr lang="en-US" sz="800" dirty="0"/>
          </a:p>
          <a:p>
            <a:pPr algn="l" indent="0" marL="0">
              <a:buNone/>
            </a:pPr>
            <a:r>
              <a:rPr lang="en-US" sz="800" b="1" dirty="0">
                <a:solidFill>
                  <a:srgbClr val="1B5E20"/>
                </a:solidFill>
              </a:rPr>
              <a:t>LIVE EVENT ORCHESTRATION:</a:t>
            </a:r>
            <a:pPr algn="l" indent="0" marL="0">
              <a:buNone/>
            </a:pPr>
            <a:r>
              <a:rPr lang="en-US" sz="800" dirty="0">
                <a:solidFill>
                  <a:srgbClr val="1F2937"/>
                </a:solidFill>
              </a:rPr>
              <a:t> Amagi demonstrated control plane with automated provisioning, ready states, and manual teardown gating. Event scheduling, worker orchestration, and state management working. Timeline standardization and terminology refinement (group, match, court concepts) to be finalized. Operator UI with manual override controls planned for next one to two weeks.</a:t>
            </a:r>
            <a:endParaRPr lang="en-US" sz="800" dirty="0"/>
          </a:p>
          <a:p>
            <a:pPr algn="l" indent="0" marL="0">
              <a:buNone/>
            </a:pPr>
            <a:endParaRPr lang="en-US" sz="800" dirty="0"/>
          </a:p>
          <a:p>
            <a:pPr algn="l" indent="0" marL="0">
              <a:buNone/>
            </a:pPr>
            <a:r>
              <a:rPr lang="en-US" sz="800" b="1" dirty="0">
                <a:solidFill>
                  <a:srgbClr val="1B5E20"/>
                </a:solidFill>
              </a:rPr>
              <a:t>VOD AND CONTENT DELIVERY:</a:t>
            </a:r>
            <a:pPr algn="l" indent="0" marL="0">
              <a:buNone/>
            </a:pPr>
            <a:r>
              <a:rPr lang="en-US" sz="800" dirty="0">
                <a:solidFill>
                  <a:srgbClr val="1F2937"/>
                </a:solidFill>
              </a:rPr>
              <a:t> Roku partnership prioritizing live feeds with match-in-15 and highlights going forward; full back catalog parity deferred post-launch. Amagi to handle metadata transformation for all shoulder content delivery to avoid custom implementations. S3 delivery path confirmed for live and match-in-15 assets. SportRadar archive ingest planned for October with full replays and match-in-15 assets; manual ingest process for PDM content being scoped. Metadata requirements and QA approach to be defined.</a:t>
            </a:r>
            <a:endParaRPr lang="en-US" sz="800" dirty="0"/>
          </a:p>
          <a:p>
            <a:pPr algn="l" indent="0" marL="0">
              <a:buNone/>
            </a:pPr>
            <a:endParaRPr lang="en-US" sz="800" dirty="0"/>
          </a:p>
          <a:p>
            <a:pPr algn="l" indent="0" marL="0">
              <a:buNone/>
            </a:pPr>
            <a:r>
              <a:rPr lang="en-US" sz="800" b="1" dirty="0">
                <a:solidFill>
                  <a:srgbClr val="1B5E20"/>
                </a:solidFill>
              </a:rPr>
              <a:t>MERCHANDISING:</a:t>
            </a:r>
            <a:pPr algn="l" indent="0" marL="0">
              <a:buNone/>
            </a:pPr>
            <a:r>
              <a:rPr lang="en-US" sz="800" dirty="0">
                <a:solidFill>
                  <a:srgbClr val="1F2937"/>
                </a:solidFill>
              </a:rPr>
              <a:t> Rotation banner behavior clarified for portrait and landscape mobile orientations. Hero module functionality and merchandising configuration aligned with current approaches. VOD metadata structure established with queryable tags for automated placement. Baseline metadata fields identified with flexibility for post-launch enhancement.</a:t>
            </a:r>
            <a:endParaRPr lang="en-US" sz="800" dirty="0"/>
          </a:p>
          <a:p>
            <a:pPr algn="l" indent="0" marL="0">
              <a:buNone/>
            </a:pPr>
            <a:endParaRPr lang="en-US" sz="800" dirty="0"/>
          </a:p>
          <a:p>
            <a:pPr algn="l" indent="0" marL="0">
              <a:buNone/>
            </a:pPr>
            <a:r>
              <a:rPr lang="en-US" sz="800" b="1" dirty="0">
                <a:solidFill>
                  <a:srgbClr val="1B5E20"/>
                </a:solidFill>
              </a:rPr>
              <a:t>AMAGI INTEGRATION:</a:t>
            </a:r>
            <a:pPr algn="l" indent="0" marL="0">
              <a:buNone/>
            </a:pPr>
            <a:r>
              <a:rPr lang="en-US" sz="800" dirty="0">
                <a:solidFill>
                  <a:srgbClr val="1F2937"/>
                </a:solidFill>
              </a:rPr>
              <a:t> API access and documentation shared for live event ingestion. Daily production event testing starting next week to validate integration flows. Match upsert, cancellation, and withdrawal scenarios to be tested. Rights channel configuration for Roku delivery to be added. Non-blocking DRM playback issues under investigation with EZDRM.</a:t>
            </a:r>
            <a:endParaRPr lang="en-US" sz="800" dirty="0"/>
          </a:p>
          <a:p>
            <a:pPr algn="l" indent="0" marL="0">
              <a:buNone/>
            </a:pPr>
            <a:endParaRPr lang="en-US" sz="800" dirty="0"/>
          </a:p>
          <a:p>
            <a:pPr algn="l" indent="0" marL="0">
              <a:buNone/>
            </a:pPr>
            <a:r>
              <a:rPr lang="en-US" sz="800" b="1" dirty="0">
                <a:solidFill>
                  <a:srgbClr val="1B5E20"/>
                </a:solidFill>
              </a:rPr>
              <a:t>DEVICE PARITY STRATEGY:</a:t>
            </a:r>
            <a:pPr algn="l" indent="0" marL="0">
              <a:buNone/>
            </a:pPr>
            <a:r>
              <a:rPr lang="en-US" sz="800" dirty="0">
                <a:solidFill>
                  <a:srgbClr val="1F2937"/>
                </a:solidFill>
              </a:rPr>
              <a:t> Team clarified that perfect parity across web, mobile, and living room is not required; web can move faster with feature prioritization. Minimum feature parity identified for each platform with testing and iteration planned. Decision to avoid gating launch on full VOD backfill; current and going-forward content prioritized.</a:t>
            </a:r>
            <a:endParaRPr lang="en-US" sz="800" dirty="0"/>
          </a:p>
          <a:p>
            <a:pPr algn="l" indent="0" marL="0">
              <a:buNone/>
            </a:pPr>
            <a:endParaRPr lang="en-US" sz="800" dirty="0"/>
          </a:p>
          <a:p>
            <a:pPr algn="l" indent="0" marL="0">
              <a:buNone/>
            </a:pPr>
            <a:r>
              <a:rPr lang="en-US" sz="800" b="1" dirty="0">
                <a:solidFill>
                  <a:srgbClr val="1B5E20"/>
                </a:solidFill>
              </a:rPr>
              <a:t>TENNIS.COM COORDINATION:</a:t>
            </a:r>
            <a:pPr algn="l" indent="0" marL="0">
              <a:buNone/>
            </a:pPr>
            <a:r>
              <a:rPr lang="en-US" sz="800" dirty="0">
                <a:solidFill>
                  <a:srgbClr val="1F2937"/>
                </a:solidFill>
              </a:rPr>
              <a:t> Strategic conversation needed on relationship between Tennis.com and new OTT platform. Incremental tactical decisions planned including scores and schedules reuse. Product strategy document being drafted to outline H1 priorities around data capabilities, acquisition versus engagement versus retention balance, and high-level product initiatives.</a:t>
            </a:r>
            <a:endParaRPr lang="en-US" sz="800" dirty="0"/>
          </a:p>
          <a:p>
            <a:pPr algn="l" indent="0" marL="0">
              <a:buNone/>
            </a:pPr>
            <a:endParaRPr lang="en-US" sz="800" dirty="0"/>
          </a:p>
          <a:p>
            <a:pPr algn="l" indent="0" marL="0">
              <a:buNone/>
            </a:pPr>
            <a:r>
              <a:rPr lang="en-US" sz="800" b="1" dirty="0">
                <a:solidFill>
                  <a:srgbClr val="1B5E20"/>
                </a:solidFill>
              </a:rPr>
              <a:t>MEETING CADENCE:</a:t>
            </a:r>
            <a:pPr algn="l" indent="0" marL="0">
              <a:buNone/>
            </a:pPr>
            <a:r>
              <a:rPr lang="en-US" sz="800" dirty="0">
                <a:solidFill>
                  <a:srgbClr val="1F2937"/>
                </a:solidFill>
              </a:rPr>
              <a:t> Wednesday 9:00-9:45 AM engineering status updates implemented with disciplined format: engineers provide uninterrupted updates, questions collected for Q&amp;A section. Blockers and action items identified in real-time. Demos on bi-weekly basis when significant features complete; daily Slack video updates continuing.</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r>
              <a:rPr lang="en-US" sz="800" dirty="0">
                <a:solidFill>
                  <a:srgbClr val="1F2937"/>
                </a:solidFill>
              </a:rPr>
              <a:t>• Focus Roku launch on live feeds, match-in-15, and highlights with backfill deferred to post-launch phase to avoid gating on content parity</a:t>
            </a:r>
            <a:endParaRPr lang="en-US" sz="800" dirty="0"/>
          </a:p>
          <a:p>
            <a:pPr algn="l" indent="0" marL="0">
              <a:buNone/>
            </a:pPr>
            <a:r>
              <a:rPr lang="en-US" sz="800" dirty="0">
                <a:solidFill>
                  <a:srgbClr val="1F2937"/>
                </a:solidFill>
              </a:rPr>
              <a:t>• All future VOD delivery to partners will flow through Amagi for metadata transformation and file delivery to prevent custom integrations</a:t>
            </a:r>
            <a:endParaRPr lang="en-US" sz="800" dirty="0"/>
          </a:p>
          <a:p>
            <a:pPr algn="l" indent="0" marL="0">
              <a:buNone/>
            </a:pPr>
            <a:r>
              <a:rPr lang="en-US" sz="800" dirty="0">
                <a:solidFill>
                  <a:srgbClr val="1F2937"/>
                </a:solidFill>
              </a:rPr>
              <a:t>• Device feature parity not required; web leads faster with minimum parity thresholds per platform to be defined in roadmap</a:t>
            </a:r>
            <a:endParaRPr lang="en-US" sz="800" dirty="0"/>
          </a:p>
          <a:p>
            <a:pPr algn="l" indent="0" marL="0">
              <a:buNone/>
            </a:pPr>
            <a:r>
              <a:rPr lang="en-US" sz="800" dirty="0">
                <a:solidFill>
                  <a:srgbClr val="1F2937"/>
                </a:solidFill>
              </a:rPr>
              <a:t>• Coupon code configuration to remain in Cling with promotional pricing overrides on plan selection page until post-launch evaluation of better approaches</a:t>
            </a:r>
            <a:endParaRPr lang="en-US" sz="800" dirty="0"/>
          </a:p>
          <a:p>
            <a:pPr algn="l" indent="0" marL="0">
              <a:buNone/>
            </a:pPr>
            <a:r>
              <a:rPr lang="en-US" sz="800" dirty="0">
                <a:solidFill>
                  <a:srgbClr val="1F2937"/>
                </a:solidFill>
              </a:rPr>
              <a:t>• ProductStrategy document to be developed covering data foundations, acquisition-engagement-retention balance, and H1 product initiatives with Tennis.com coordination approach</a:t>
            </a:r>
            <a:endParaRPr lang="en-US" sz="800" dirty="0"/>
          </a:p>
          <a:p>
            <a:pPr algn="l" indent="0" marL="0">
              <a:buNone/>
            </a:pPr>
            <a:r>
              <a:rPr lang="en-US" sz="800" dirty="0">
                <a:solidFill>
                  <a:srgbClr val="1F2937"/>
                </a:solidFill>
              </a:rPr>
              <a:t>• Amagi to proceed with production event testing starting next week using real live event data rather than staging environment to accelerate integration validation</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2026-07-17T23:42:54Z</dcterms:created>
  <dcterms:modified xsi:type="dcterms:W3CDTF">2026-07-17T23:42:54Z</dcterms:modified>
</cp:coreProperties>
</file>