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SABR — Component Status &amp; Dependencies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D7C5"/>
                </a:solidFill>
              </a:rPr>
              <a:t>CPR  ·  Jul 2,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57200"/>
            <a:ext cx="12188952" cy="347472"/>
          </a:xfrm>
          <a:prstGeom prst="rect">
            <a:avLst/>
          </a:prstGeom>
          <a:solidFill>
            <a:srgbClr val="EFF7F3"/>
          </a:solidFill>
          <a:ln w="12700">
            <a:solidFill>
              <a:srgbClr val="CCE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DCFCE7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</a:rPr>
              <a:t>0  Done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389888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DBEAFE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89888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</a:rPr>
              <a:t>13  In Progress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3784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43784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20  Not Started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0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FEE2E2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F1D1D"/>
                </a:solidFill>
              </a:rPr>
              <a:t>0  Blocked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31536" y="52120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1536" y="5212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Dec 1, 2026  ·  151 days to launch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F4F6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641908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Project SABR  ·  Tennis Channel OTT  · 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023360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558A8"/>
                </a:solidFill>
              </a:rPr>
              <a:t>■ In Progress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504688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□ Not Started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986016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97706"/>
                </a:solidFill>
              </a:rPr>
              <a:t>★ Critical Path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467344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C2626"/>
                </a:solidFill>
              </a:rPr>
              <a:t>⚠ At Risk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948672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5803D"/>
                </a:solidFill>
              </a:rPr>
              <a:t>■ Done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515600" y="641908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6E56"/>
                </a:solidFill>
              </a:rPr>
              <a:t>20% Ready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64592" y="804672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2880" y="877824"/>
            <a:ext cx="859536" cy="932688"/>
          </a:xfrm>
          <a:prstGeom prst="roundRect">
            <a:avLst>
              <a:gd name="adj" fmla="val 531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" y="877824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Platforms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850392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7 In Progress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170432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70432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Roku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185416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Fire TV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200400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Samsung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215384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15384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TC.com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230368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Apple TV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45352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45352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iOS App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260336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60336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Android App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64592" y="1938528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82880" y="2011680"/>
            <a:ext cx="859536" cy="932688"/>
          </a:xfrm>
          <a:prstGeom prst="roundRect">
            <a:avLst>
              <a:gd name="adj" fmla="val 5319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2880" y="2011680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Video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Delivery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170432" y="1984248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7 In Progress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170432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70432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HLS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185416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85416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</a:rPr>
              <a:t>★ MPEG-DASH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200400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00400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FairPlay DRM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215384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215384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Widevine DRM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230368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30368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Live Streams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245352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245352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VOD Streams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7260336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60336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Linear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64592" y="3072384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2880" y="3145536"/>
            <a:ext cx="859536" cy="932688"/>
          </a:xfrm>
          <a:prstGeom prst="roundRect">
            <a:avLst>
              <a:gd name="adj" fmla="val 5319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82880" y="3145536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Player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170432" y="3118104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4 / 7 In Progress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170432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70432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Web Player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2185416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185416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FairPlay Sup.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3200400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200400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Widevine Sup.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215384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15384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iOS Player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5230368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30368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Android Player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245352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45352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HLS/DASH PB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7260336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260336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Bitmovin QOE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164592" y="4206240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2880" y="4279392"/>
            <a:ext cx="859536" cy="932688"/>
          </a:xfrm>
          <a:prstGeom prst="roundRect">
            <a:avLst>
              <a:gd name="adj" fmla="val 5319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82880" y="4279392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Merchandising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1170432" y="425196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8 In Progress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170432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170432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Metadata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185416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185416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Images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3200400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00400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Carousels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215384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215384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Live Video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5230368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230368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VOD Video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6245352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245352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JABs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7260336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260336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M15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8275320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275320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Highlights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164592" y="5340096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82880" y="5413248"/>
            <a:ext cx="859536" cy="932688"/>
          </a:xfrm>
          <a:prstGeom prst="roundRect">
            <a:avLst>
              <a:gd name="adj" fmla="val 5319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82880" y="5413248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Onboarding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1170432" y="5385816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1 / 4 In Progress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1170432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170432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</a:rPr>
              <a:t>★ Sign-in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2185416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185416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Subscription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3200400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00400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MVPD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4215384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15384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Promos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9372600" y="804672"/>
            <a:ext cx="2679192" cy="5614416"/>
          </a:xfrm>
          <a:prstGeom prst="rect">
            <a:avLst/>
          </a:prstGeom>
          <a:solidFill>
            <a:srgbClr val="F8FAFB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500616" y="950976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Progress by Category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9500616" y="1216152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Platforms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11558016" y="12161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C3AED"/>
                </a:solidFill>
              </a:rPr>
              <a:t>21%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9500616" y="1399032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500616" y="1399032"/>
            <a:ext cx="493502" cy="822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9500616" y="1572768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Video Delivery</a:t>
            </a:r>
            <a:endParaRPr lang="en-US" sz="800" dirty="0"/>
          </a:p>
        </p:txBody>
      </p:sp>
      <p:sp>
        <p:nvSpPr>
          <p:cNvPr id="117" name="Text 115"/>
          <p:cNvSpPr/>
          <p:nvPr/>
        </p:nvSpPr>
        <p:spPr>
          <a:xfrm>
            <a:off x="11558016" y="15727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14%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9500616" y="1755648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00616" y="1755648"/>
            <a:ext cx="329001" cy="82296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500616" y="1929384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Player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11558016" y="192938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E7490"/>
                </a:solidFill>
              </a:rPr>
              <a:t>29%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9500616" y="2112264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00616" y="2112264"/>
            <a:ext cx="681502" cy="822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9500616" y="2286000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Merchandising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11558016" y="22860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5803D"/>
                </a:solidFill>
              </a:rPr>
              <a:t>19%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9500616" y="2468880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500616" y="2468880"/>
            <a:ext cx="446502" cy="82296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9500616" y="2642616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Onboarding</a:t>
            </a:r>
            <a:endParaRPr lang="en-US" sz="800" dirty="0"/>
          </a:p>
        </p:txBody>
      </p:sp>
      <p:sp>
        <p:nvSpPr>
          <p:cNvPr id="129" name="Text 127"/>
          <p:cNvSpPr/>
          <p:nvPr/>
        </p:nvSpPr>
        <p:spPr>
          <a:xfrm>
            <a:off x="11558016" y="264261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91C1C"/>
                </a:solidFill>
              </a:rPr>
              <a:t>13%</a:t>
            </a:r>
            <a:endParaRPr lang="en-US" sz="800" dirty="0"/>
          </a:p>
        </p:txBody>
      </p:sp>
      <p:sp>
        <p:nvSpPr>
          <p:cNvPr id="130" name="Shape 128"/>
          <p:cNvSpPr/>
          <p:nvPr/>
        </p:nvSpPr>
        <p:spPr>
          <a:xfrm>
            <a:off x="9500616" y="2825496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9500616" y="2825496"/>
            <a:ext cx="305501" cy="82296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482328" y="3127248"/>
            <a:ext cx="2478024" cy="0"/>
          </a:xfrm>
          <a:prstGeom prst="line">
            <a:avLst/>
          </a:prstGeom>
          <a:noFill/>
          <a:ln w="9525">
            <a:solidFill>
              <a:srgbClr val="DDE1E6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500616" y="326440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</a:rPr>
              <a:t>★  Critical Path — Not Started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9518904" y="352958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MPEG-DASH</a:t>
            </a:r>
            <a:endParaRPr lang="en-US" sz="850" dirty="0"/>
          </a:p>
        </p:txBody>
      </p:sp>
      <p:sp>
        <p:nvSpPr>
          <p:cNvPr id="135" name="Text 133"/>
          <p:cNvSpPr/>
          <p:nvPr/>
        </p:nvSpPr>
        <p:spPr>
          <a:xfrm>
            <a:off x="9610344" y="3712464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Blocks 8+ downstream</a:t>
            </a:r>
            <a:endParaRPr lang="en-US" sz="750" dirty="0"/>
          </a:p>
        </p:txBody>
      </p:sp>
      <p:sp>
        <p:nvSpPr>
          <p:cNvPr id="136" name="Text 134"/>
          <p:cNvSpPr/>
          <p:nvPr/>
        </p:nvSpPr>
        <p:spPr>
          <a:xfrm>
            <a:off x="9518904" y="388620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Sign-in</a:t>
            </a:r>
            <a:endParaRPr lang="en-US" sz="850" dirty="0"/>
          </a:p>
        </p:txBody>
      </p:sp>
      <p:sp>
        <p:nvSpPr>
          <p:cNvPr id="137" name="Text 135"/>
          <p:cNvSpPr/>
          <p:nvPr/>
        </p:nvSpPr>
        <p:spPr>
          <a:xfrm>
            <a:off x="9610344" y="4069080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Blocks auth on all surfaces</a:t>
            </a:r>
            <a:endParaRPr lang="en-US" sz="750" dirty="0"/>
          </a:p>
        </p:txBody>
      </p:sp>
      <p:sp>
        <p:nvSpPr>
          <p:cNvPr id="138" name="Text 136"/>
          <p:cNvSpPr/>
          <p:nvPr/>
        </p:nvSpPr>
        <p:spPr>
          <a:xfrm>
            <a:off x="9518904" y="424281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Widevine DRM</a:t>
            </a:r>
            <a:endParaRPr lang="en-US" sz="850" dirty="0"/>
          </a:p>
        </p:txBody>
      </p:sp>
      <p:sp>
        <p:nvSpPr>
          <p:cNvPr id="139" name="Text 137"/>
          <p:cNvSpPr/>
          <p:nvPr/>
        </p:nvSpPr>
        <p:spPr>
          <a:xfrm>
            <a:off x="9610344" y="4425696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Blocked by MPEG-DASH</a:t>
            </a:r>
            <a:endParaRPr lang="en-US" sz="750" dirty="0"/>
          </a:p>
        </p:txBody>
      </p:sp>
      <p:sp>
        <p:nvSpPr>
          <p:cNvPr id="140" name="Text 138"/>
          <p:cNvSpPr/>
          <p:nvPr/>
        </p:nvSpPr>
        <p:spPr>
          <a:xfrm>
            <a:off x="9518904" y="459943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Android Player</a:t>
            </a:r>
            <a:endParaRPr lang="en-US" sz="850" dirty="0"/>
          </a:p>
        </p:txBody>
      </p:sp>
      <p:sp>
        <p:nvSpPr>
          <p:cNvPr id="141" name="Text 139"/>
          <p:cNvSpPr/>
          <p:nvPr/>
        </p:nvSpPr>
        <p:spPr>
          <a:xfrm>
            <a:off x="9610344" y="4782312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Blocked by MPEG-DASH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9518904" y="4956048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Android App</a:t>
            </a:r>
            <a:endParaRPr lang="en-US" sz="850" dirty="0"/>
          </a:p>
        </p:txBody>
      </p:sp>
      <p:sp>
        <p:nvSpPr>
          <p:cNvPr id="143" name="Text 141"/>
          <p:cNvSpPr/>
          <p:nvPr/>
        </p:nvSpPr>
        <p:spPr>
          <a:xfrm>
            <a:off x="9610344" y="5138928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3 unmet dependencies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SABR Component Status</dc:title>
  <dc:subject>PptxGenJS Presentation</dc:subject>
  <dc:creator>SABR Reporting</dc:creator>
  <cp:lastModifiedBy>SABR Reporting</cp:lastModifiedBy>
  <cp:revision>1</cp:revision>
  <dcterms:created xsi:type="dcterms:W3CDTF">2026-07-02T23:28:36Z</dcterms:created>
  <dcterms:modified xsi:type="dcterms:W3CDTF">2026-07-02T23:28:36Z</dcterms:modified>
</cp:coreProperties>
</file>