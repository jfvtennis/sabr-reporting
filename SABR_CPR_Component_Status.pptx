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3.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10"/>
    <p:sldId id="258" r:id="rId11"/>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30"/>
  </p:normalViewPr>
  <p:slideViewPr>
    <p:cSldViewPr snapToGrid="0">
      <p:cViewPr varScale="1">
        <p:scale>
          <a:sx n="130" d="100"/>
          <a:sy n="130"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2.xml"/><Relationship Id="rId11"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7/6/26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7/6/26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7/6/26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7/6/26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7/6/26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7/6/26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7/6/26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7/6/26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7/6/26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7/6/26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7/6/26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7/6/26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September 30,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7/8 Update</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Amagi (Streaming Orchestration) - Several long-standing design questions were resolved this week: the Prime/Ward acknowledgment schema, day-boundary event grouping, and the manual start/stop orchestration model. The remaining open question is how to cut off viewers of a finished match on a shared stream without disrupting others; Amagi is researching a CDN-edge/token approach and owes an estimate by the July 8 call. DRM credentials are due Friday, message-level testing with dummy data starts the week of July 6, and Amagi's full orchestration readiness is targeted for July 15.</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Adobe Pass / MVPD - The Adobe Pass integration is transitioning from setup into implementation. The registered application and API documentation are in hand, and Tennis Channel is reviewing the implementation package while configuring domain whitelisting and platform settings. On the app side, a basic prototype of the provider authentication flow is built and currently hardcoded to DirecTV for testing. Recurring working sessions are being scheduled, with a possible dedicated Slack channel to speed up onboarding.</a:t>
            </a:r>
          </a:p>
          <a:p>
            <a:endParaRPr lang="en-US" sz="1215" dirty="0">
              <a:latin typeface="Arial" panose="020B0604020202020204" pitchFamily="34" charset="0"/>
              <a:cs typeface="Arial" panose="020B0604020202020204" pitchFamily="34" charset="0"/>
            </a:endParaRPr>
          </a:p>
          <a:p>
            <a:r>
              <a:rPr lang="en-US" sz="1215" dirty="0" err="1">
                <a:latin typeface="Arial" panose="020B0604020202020204" pitchFamily="34" charset="0"/>
                <a:cs typeface="Arial" panose="020B0604020202020204" pitchFamily="34" charset="0"/>
              </a:rPr>
              <a:t>Foxxum</a:t>
            </a:r>
            <a:r>
              <a:rPr lang="en-US" sz="1215" dirty="0">
                <a:latin typeface="Arial" panose="020B0604020202020204" pitchFamily="34" charset="0"/>
                <a:cs typeface="Arial" panose="020B0604020202020204" pitchFamily="34" charset="0"/>
              </a:rPr>
              <a:t> - Technical discovery is progressing well, with both teams aligned on the target architecture for authentication, subscription, playback, and platform integration. Focus is now shifting from architecture to execution: documentation, provisioning </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finalizing API definitions, and validating implementation across platforms. No major blockers were identified, though documentation and third-party environment delays remain a watch item.</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Platform Engineering (Website &amp; Mobile) On the new website, the front-end foundation shipped and CMS, carousel,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and Adobe Pass work are all progressing, alongside an early proof-of-concept test of the video player. On mobile, the app moved off mock data onto the live backend across Home, Live, Schedule, and Tournaments, entitlement and login groundwork is in place ahead of the real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backend, and DRM stubs were handed to Amagi for integration testing.</a:t>
            </a: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8,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from TC legal, Bitmovin reviewing.</a:t>
            </a:r>
            <a:endParaRPr lang="en-US" sz="650" dirty="0"/>
          </a:p>
        </p:txBody>
      </p:sp>
      <p:sp>
        <p:nvSpPr>
          <p:cNvPr id="11" name="Shape 9"/>
          <p:cNvSpPr/>
          <p:nvPr/>
        </p:nvSpPr>
        <p:spPr>
          <a:xfrm>
            <a:off x="5230368" y="955548"/>
            <a:ext cx="822960" cy="173736"/>
          </a:xfrm>
          <a:prstGeom prst="roundRect">
            <a:avLst>
              <a:gd name="adj" fmla="val 15789"/>
            </a:avLst>
          </a:prstGeom>
          <a:solidFill>
            <a:srgbClr val="1558A8"/>
          </a:solidFill>
          <a:ln w="12700">
            <a:solidFill>
              <a:srgbClr val="1558A8"/>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Amagi Contract Cost Review: Provide Sinclair with details on cost savings for Amagi by following up with Mike Kralik and Kevin Kotlove. (Ari)</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contract sent out to FOXXUM for review on 7/2.</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Discussions will begin end of week or first week of July. Due by end of July.</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662940"/>
          </a:xfrm>
          <a:prstGeom prst="rect">
            <a:avLst/>
          </a:prstGeom>
          <a:solidFill>
            <a:srgbClr val="FFFFFF"/>
          </a:solidFill>
          <a:ln w="3175">
            <a:solidFill>
              <a:srgbClr val="E5E7EB"/>
            </a:solidFill>
            <a:prstDash val="solid"/>
          </a:ln>
        </p:spPr>
      </p:sp>
      <p:sp>
        <p:nvSpPr>
          <p:cNvPr id="39" name="Text 37"/>
          <p:cNvSpPr/>
          <p:nvPr/>
        </p:nvSpPr>
        <p:spPr>
          <a:xfrm>
            <a:off x="6309360" y="795528"/>
            <a:ext cx="777240" cy="626364"/>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608076"/>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1021842"/>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102184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440180"/>
            <a:ext cx="6016752" cy="0"/>
          </a:xfrm>
          <a:prstGeom prst="line">
            <a:avLst/>
          </a:prstGeom>
          <a:noFill/>
          <a:ln w="6350">
            <a:solidFill>
              <a:srgbClr val="E5E7EB"/>
            </a:solidFill>
            <a:prstDash val="solid"/>
          </a:ln>
        </p:spPr>
      </p:sp>
      <p:sp>
        <p:nvSpPr>
          <p:cNvPr id="44" name="Text 42"/>
          <p:cNvSpPr/>
          <p:nvPr/>
        </p:nvSpPr>
        <p:spPr>
          <a:xfrm>
            <a:off x="6309360" y="1458468"/>
            <a:ext cx="777240" cy="626364"/>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467612"/>
            <a:ext cx="4178808" cy="608076"/>
          </a:xfrm>
          <a:prstGeom prst="rect">
            <a:avLst/>
          </a:prstGeom>
          <a:noFill/>
          <a:ln/>
        </p:spPr>
        <p:txBody>
          <a:bodyPr wrap="square" lIns="0" tIns="0" rIns="0" bIns="0" rtlCol="0" anchor="t"/>
          <a:lstStyle/>
          <a:p>
            <a:pPr indent="0" marL="0">
              <a:buNone/>
            </a:pPr>
            <a:r>
              <a:rPr lang="en-US" sz="650" dirty="0">
                <a:solidFill>
                  <a:srgbClr val="374151"/>
                </a:solidFill>
              </a:rPr>
              <a:t>Migrated the app off mock data onto the live backend (Home, Live, Schedule, Tournaments now show real content and real playback). Shipped ~35 merged updates.</a:t>
            </a:r>
            <a:endParaRPr lang="en-US" sz="650" dirty="0"/>
          </a:p>
        </p:txBody>
      </p:sp>
      <p:sp>
        <p:nvSpPr>
          <p:cNvPr id="46" name="Shape 44"/>
          <p:cNvSpPr/>
          <p:nvPr/>
        </p:nvSpPr>
        <p:spPr>
          <a:xfrm>
            <a:off x="11375136" y="1684782"/>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68478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2103120"/>
            <a:ext cx="6016752" cy="662940"/>
          </a:xfrm>
          <a:prstGeom prst="rect">
            <a:avLst/>
          </a:prstGeom>
          <a:solidFill>
            <a:srgbClr val="FFFFFF"/>
          </a:solidFill>
          <a:ln w="3175">
            <a:solidFill>
              <a:srgbClr val="E5E7EB"/>
            </a:solidFill>
            <a:prstDash val="solid"/>
          </a:ln>
        </p:spPr>
      </p:sp>
      <p:sp>
        <p:nvSpPr>
          <p:cNvPr id="49" name="Shape 47"/>
          <p:cNvSpPr/>
          <p:nvPr/>
        </p:nvSpPr>
        <p:spPr>
          <a:xfrm>
            <a:off x="6236208" y="2103120"/>
            <a:ext cx="6016752" cy="0"/>
          </a:xfrm>
          <a:prstGeom prst="line">
            <a:avLst/>
          </a:prstGeom>
          <a:noFill/>
          <a:ln w="6350">
            <a:solidFill>
              <a:srgbClr val="E5E7EB"/>
            </a:solidFill>
            <a:prstDash val="solid"/>
          </a:ln>
        </p:spPr>
      </p:sp>
      <p:sp>
        <p:nvSpPr>
          <p:cNvPr id="50" name="Text 48"/>
          <p:cNvSpPr/>
          <p:nvPr/>
        </p:nvSpPr>
        <p:spPr>
          <a:xfrm>
            <a:off x="6309360" y="2121408"/>
            <a:ext cx="777240" cy="626364"/>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2130552"/>
            <a:ext cx="4178808" cy="608076"/>
          </a:xfrm>
          <a:prstGeom prst="rect">
            <a:avLst/>
          </a:prstGeom>
          <a:noFill/>
          <a:ln/>
        </p:spPr>
        <p:txBody>
          <a:bodyPr wrap="square" lIns="0" tIns="0" rIns="0" bIns="0" rtlCol="0" anchor="t"/>
          <a:lstStyle/>
          <a:p>
            <a:pPr indent="0" marL="0">
              <a:buNone/>
            </a:pPr>
            <a:r>
              <a:rPr lang="en-US" sz="650" dirty="0">
                <a:solidFill>
                  <a:srgbClr val="374151"/>
                </a:solidFill>
              </a:rPr>
              <a:t>Prototyping Auth0/Cleeng login, building out CMS widget support, and standing up Adobe Pass provider management. Carousel page engine and backend refresh API delivered.</a:t>
            </a:r>
            <a:endParaRPr lang="en-US" sz="650" dirty="0"/>
          </a:p>
        </p:txBody>
      </p:sp>
      <p:sp>
        <p:nvSpPr>
          <p:cNvPr id="52" name="Shape 50"/>
          <p:cNvSpPr/>
          <p:nvPr/>
        </p:nvSpPr>
        <p:spPr>
          <a:xfrm>
            <a:off x="11375136" y="234772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34772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766060"/>
            <a:ext cx="6016752" cy="0"/>
          </a:xfrm>
          <a:prstGeom prst="line">
            <a:avLst/>
          </a:prstGeom>
          <a:noFill/>
          <a:ln w="6350">
            <a:solidFill>
              <a:srgbClr val="E5E7EB"/>
            </a:solidFill>
            <a:prstDash val="solid"/>
          </a:ln>
        </p:spPr>
      </p:sp>
      <p:sp>
        <p:nvSpPr>
          <p:cNvPr id="55" name="Text 53"/>
          <p:cNvSpPr/>
          <p:nvPr/>
        </p:nvSpPr>
        <p:spPr>
          <a:xfrm>
            <a:off x="6309360" y="2784348"/>
            <a:ext cx="777240" cy="626364"/>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793492"/>
            <a:ext cx="4178808" cy="608076"/>
          </a:xfrm>
          <a:prstGeom prst="rect">
            <a:avLst/>
          </a:prstGeom>
          <a:noFill/>
          <a:ln/>
        </p:spPr>
        <p:txBody>
          <a:bodyPr wrap="square" lIns="0" tIns="0" rIns="0" bIns="0" rtlCol="0" anchor="t"/>
          <a:lstStyle/>
          <a:p>
            <a:pPr indent="0" marL="0">
              <a:buNone/>
            </a:pPr>
            <a:r>
              <a:rPr lang="en-US" sz="650" dirty="0">
                <a:solidFill>
                  <a:srgbClr val="374151"/>
                </a:solidFill>
              </a:rPr>
              <a:t>Moving control of Tennis Channel's website hosting setup in-house — same approach already used successfully for Tennis.com — giving us more control ahead of launch.</a:t>
            </a:r>
            <a:endParaRPr lang="en-US" sz="650" dirty="0"/>
          </a:p>
        </p:txBody>
      </p:sp>
      <p:sp>
        <p:nvSpPr>
          <p:cNvPr id="57" name="Shape 55"/>
          <p:cNvSpPr/>
          <p:nvPr/>
        </p:nvSpPr>
        <p:spPr>
          <a:xfrm>
            <a:off x="11375136" y="3010662"/>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301066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91440" y="3502152"/>
            <a:ext cx="6016752" cy="3749040"/>
          </a:xfrm>
          <a:prstGeom prst="rect">
            <a:avLst/>
          </a:prstGeom>
          <a:solidFill>
            <a:srgbClr val="FAFBFC"/>
          </a:solidFill>
          <a:ln w="9525">
            <a:solidFill>
              <a:srgbClr val="D1D5DB"/>
            </a:solidFill>
            <a:prstDash val="solid"/>
          </a:ln>
        </p:spPr>
      </p:sp>
      <p:sp>
        <p:nvSpPr>
          <p:cNvPr id="60" name="Shape 58"/>
          <p:cNvSpPr/>
          <p:nvPr/>
        </p:nvSpPr>
        <p:spPr>
          <a:xfrm>
            <a:off x="91440" y="3502152"/>
            <a:ext cx="6016752" cy="274320"/>
          </a:xfrm>
          <a:prstGeom prst="rect">
            <a:avLst/>
          </a:prstGeom>
          <a:solidFill>
            <a:srgbClr val="8ED973"/>
          </a:solidFill>
          <a:ln w="12700">
            <a:solidFill>
              <a:srgbClr val="8ED973"/>
            </a:solidFill>
            <a:prstDash val="solid"/>
          </a:ln>
        </p:spPr>
      </p:sp>
      <p:sp>
        <p:nvSpPr>
          <p:cNvPr id="61" name="Text 59"/>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2" name="Shape 60"/>
          <p:cNvSpPr/>
          <p:nvPr/>
        </p:nvSpPr>
        <p:spPr>
          <a:xfrm>
            <a:off x="91440" y="3776472"/>
            <a:ext cx="6016752" cy="1158240"/>
          </a:xfrm>
          <a:prstGeom prst="rect">
            <a:avLst/>
          </a:prstGeom>
          <a:solidFill>
            <a:srgbClr val="FFFFFF"/>
          </a:solidFill>
          <a:ln w="3175">
            <a:solidFill>
              <a:srgbClr val="E5E7EB"/>
            </a:solidFill>
            <a:prstDash val="solid"/>
          </a:ln>
        </p:spPr>
      </p:sp>
      <p:sp>
        <p:nvSpPr>
          <p:cNvPr id="63" name="Text 61"/>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64" name="Text 62"/>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Adobe Pass integration underway for MVPD access; CMS-based provider management being brought into the web app, with basic prototypes built and currently hardcoded to DirecTV for testing.</a:t>
            </a:r>
            <a:endParaRPr lang="en-US" sz="650" dirty="0"/>
          </a:p>
        </p:txBody>
      </p:sp>
      <p:sp>
        <p:nvSpPr>
          <p:cNvPr id="65" name="Shape 63"/>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66" name="Text 64"/>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7" name="Shape 65"/>
          <p:cNvSpPr/>
          <p:nvPr/>
        </p:nvSpPr>
        <p:spPr>
          <a:xfrm>
            <a:off x="91440" y="4934712"/>
            <a:ext cx="6016752" cy="0"/>
          </a:xfrm>
          <a:prstGeom prst="line">
            <a:avLst/>
          </a:prstGeom>
          <a:noFill/>
          <a:ln w="6350">
            <a:solidFill>
              <a:srgbClr val="E5E7EB"/>
            </a:solidFill>
            <a:prstDash val="solid"/>
          </a:ln>
        </p:spPr>
      </p:sp>
      <p:sp>
        <p:nvSpPr>
          <p:cNvPr id="68" name="Text 66"/>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69" name="Text 67"/>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0" name="Shape 68"/>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1" name="Text 69"/>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2" name="Shape 70"/>
          <p:cNvSpPr/>
          <p:nvPr/>
        </p:nvSpPr>
        <p:spPr>
          <a:xfrm>
            <a:off x="91440" y="6092952"/>
            <a:ext cx="6016752" cy="1158240"/>
          </a:xfrm>
          <a:prstGeom prst="rect">
            <a:avLst/>
          </a:prstGeom>
          <a:solidFill>
            <a:srgbClr val="FFFFFF"/>
          </a:solidFill>
          <a:ln w="3175">
            <a:solidFill>
              <a:srgbClr val="E5E7EB"/>
            </a:solidFill>
            <a:prstDash val="solid"/>
          </a:ln>
        </p:spPr>
      </p:sp>
      <p:sp>
        <p:nvSpPr>
          <p:cNvPr id="73" name="Shape 71"/>
          <p:cNvSpPr/>
          <p:nvPr/>
        </p:nvSpPr>
        <p:spPr>
          <a:xfrm>
            <a:off x="91440" y="6092952"/>
            <a:ext cx="6016752" cy="0"/>
          </a:xfrm>
          <a:prstGeom prst="line">
            <a:avLst/>
          </a:prstGeom>
          <a:noFill/>
          <a:ln w="6350">
            <a:solidFill>
              <a:srgbClr val="E5E7EB"/>
            </a:solidFill>
            <a:prstDash val="solid"/>
          </a:ln>
        </p:spPr>
      </p:sp>
      <p:sp>
        <p:nvSpPr>
          <p:cNvPr id="74" name="Text 72"/>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75" name="Text 73"/>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76" name="Shape 74"/>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6236208" y="3502152"/>
            <a:ext cx="6016752" cy="3749040"/>
          </a:xfrm>
          <a:prstGeom prst="rect">
            <a:avLst/>
          </a:prstGeom>
          <a:solidFill>
            <a:srgbClr val="FAFBFC"/>
          </a:solidFill>
          <a:ln w="9525">
            <a:solidFill>
              <a:srgbClr val="D1D5DB"/>
            </a:solidFill>
            <a:prstDash val="solid"/>
          </a:ln>
        </p:spPr>
      </p:sp>
      <p:sp>
        <p:nvSpPr>
          <p:cNvPr id="79" name="Shape 77"/>
          <p:cNvSpPr/>
          <p:nvPr/>
        </p:nvSpPr>
        <p:spPr>
          <a:xfrm>
            <a:off x="6236208" y="3502152"/>
            <a:ext cx="6016752" cy="274320"/>
          </a:xfrm>
          <a:prstGeom prst="rect">
            <a:avLst/>
          </a:prstGeom>
          <a:solidFill>
            <a:srgbClr val="8ED973"/>
          </a:solidFill>
          <a:ln w="12700">
            <a:solidFill>
              <a:srgbClr val="8ED973"/>
            </a:solidFill>
            <a:prstDash val="solid"/>
          </a:ln>
        </p:spPr>
      </p:sp>
      <p:sp>
        <p:nvSpPr>
          <p:cNvPr id="80" name="Text 78"/>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1" name="Shape 79"/>
          <p:cNvSpPr/>
          <p:nvPr/>
        </p:nvSpPr>
        <p:spPr>
          <a:xfrm>
            <a:off x="6236208" y="3776472"/>
            <a:ext cx="6016752" cy="868680"/>
          </a:xfrm>
          <a:prstGeom prst="rect">
            <a:avLst/>
          </a:prstGeom>
          <a:solidFill>
            <a:srgbClr val="FFFFFF"/>
          </a:solidFill>
          <a:ln w="3175">
            <a:solidFill>
              <a:srgbClr val="E5E7EB"/>
            </a:solidFill>
            <a:prstDash val="solid"/>
          </a:ln>
        </p:spPr>
      </p:sp>
      <p:sp>
        <p:nvSpPr>
          <p:cNvPr id="82" name="Text 80"/>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3" name="Text 81"/>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84" name="Shape 82"/>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85" name="Text 83"/>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6" name="Shape 84"/>
          <p:cNvSpPr/>
          <p:nvPr/>
        </p:nvSpPr>
        <p:spPr>
          <a:xfrm>
            <a:off x="6236208" y="4645152"/>
            <a:ext cx="6016752" cy="0"/>
          </a:xfrm>
          <a:prstGeom prst="line">
            <a:avLst/>
          </a:prstGeom>
          <a:noFill/>
          <a:ln w="6350">
            <a:solidFill>
              <a:srgbClr val="E5E7EB"/>
            </a:solidFill>
            <a:prstDash val="solid"/>
          </a:ln>
        </p:spPr>
      </p:sp>
      <p:sp>
        <p:nvSpPr>
          <p:cNvPr id="87" name="Text 85"/>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88" name="Text 86"/>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89" name="Shape 87"/>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0" name="Text 88"/>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1" name="Shape 89"/>
          <p:cNvSpPr/>
          <p:nvPr/>
        </p:nvSpPr>
        <p:spPr>
          <a:xfrm>
            <a:off x="6236208" y="5513832"/>
            <a:ext cx="6016752" cy="868680"/>
          </a:xfrm>
          <a:prstGeom prst="rect">
            <a:avLst/>
          </a:prstGeom>
          <a:solidFill>
            <a:srgbClr val="FFFFFF"/>
          </a:solidFill>
          <a:ln w="3175">
            <a:solidFill>
              <a:srgbClr val="E5E7EB"/>
            </a:solidFill>
            <a:prstDash val="solid"/>
          </a:ln>
        </p:spPr>
      </p:sp>
      <p:sp>
        <p:nvSpPr>
          <p:cNvPr id="92" name="Shape 90"/>
          <p:cNvSpPr/>
          <p:nvPr/>
        </p:nvSpPr>
        <p:spPr>
          <a:xfrm>
            <a:off x="6236208" y="5513832"/>
            <a:ext cx="6016752" cy="0"/>
          </a:xfrm>
          <a:prstGeom prst="line">
            <a:avLst/>
          </a:prstGeom>
          <a:noFill/>
          <a:ln w="6350">
            <a:solidFill>
              <a:srgbClr val="E5E7EB"/>
            </a:solidFill>
            <a:prstDash val="solid"/>
          </a:ln>
        </p:spPr>
      </p:sp>
      <p:sp>
        <p:nvSpPr>
          <p:cNvPr id="93" name="Text 91"/>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94" name="Text 92"/>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Prototyped the video experience: exploratory test of the BitMovin player APIs — a proof-of-concept, not the final player.</a:t>
            </a:r>
            <a:endParaRPr lang="en-US" sz="650" dirty="0"/>
          </a:p>
        </p:txBody>
      </p:sp>
      <p:sp>
        <p:nvSpPr>
          <p:cNvPr id="95" name="Shape 93"/>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6382512"/>
            <a:ext cx="6016752" cy="0"/>
          </a:xfrm>
          <a:prstGeom prst="line">
            <a:avLst/>
          </a:prstGeom>
          <a:noFill/>
          <a:ln w="6350">
            <a:solidFill>
              <a:srgbClr val="E5E7EB"/>
            </a:solidFill>
            <a:prstDash val="solid"/>
          </a:ln>
        </p:spPr>
      </p:sp>
      <p:sp>
        <p:nvSpPr>
          <p:cNvPr id="98" name="Text 96"/>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99" name="Text 97"/>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Testing E2E experience: Merchandising, sign-in flow, MVPD, Cleeng, replays.</a:t>
            </a:r>
            <a:endParaRPr lang="en-US" sz="650" dirty="0"/>
          </a:p>
        </p:txBody>
      </p:sp>
      <p:sp>
        <p:nvSpPr>
          <p:cNvPr id="100" name="Shape 98"/>
          <p:cNvSpPr/>
          <p:nvPr/>
        </p:nvSpPr>
        <p:spPr>
          <a:xfrm>
            <a:off x="11375136" y="6729984"/>
            <a:ext cx="822960" cy="173736"/>
          </a:xfrm>
          <a:prstGeom prst="roundRect">
            <a:avLst>
              <a:gd name="adj" fmla="val 15789"/>
            </a:avLst>
          </a:prstGeom>
          <a:solidFill>
            <a:srgbClr val="F3F4F6"/>
          </a:solidFill>
          <a:ln w="9525">
            <a:solidFill>
              <a:srgbClr val="D1D5DB"/>
            </a:solidFill>
            <a:prstDash val="solid"/>
          </a:ln>
        </p:spPr>
      </p:sp>
      <p:sp>
        <p:nvSpPr>
          <p:cNvPr id="101" name="Text 99"/>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14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84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170432"/>
          </a:xfrm>
          <a:prstGeom prst="rect">
            <a:avLst/>
          </a:prstGeom>
          <a:solidFill>
            <a:srgbClr val="FAFBFC"/>
          </a:solidFill>
          <a:ln w="6350">
            <a:solidFill>
              <a:srgbClr val="E5E7EB"/>
            </a:solidFill>
            <a:prstDash val="solid"/>
          </a:ln>
        </p:spPr>
      </p:sp>
      <p:sp>
        <p:nvSpPr>
          <p:cNvPr id="21" name="Shape 19"/>
          <p:cNvSpPr/>
          <p:nvPr/>
        </p:nvSpPr>
        <p:spPr>
          <a:xfrm>
            <a:off x="182880" y="877824"/>
            <a:ext cx="859536" cy="1024128"/>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Platforms</a:t>
            </a:r>
            <a:endParaRPr lang="en-US" sz="95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F3F4F6"/>
          </a:solidFill>
          <a:ln w="9525">
            <a:solidFill>
              <a:srgbClr val="D1D5DB"/>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F3F4F6"/>
          </a:solidFill>
          <a:ln w="9525">
            <a:solidFill>
              <a:srgbClr val="D1D5DB"/>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2029968"/>
            <a:ext cx="9116568" cy="1170432"/>
          </a:xfrm>
          <a:prstGeom prst="rect">
            <a:avLst/>
          </a:prstGeom>
          <a:solidFill>
            <a:srgbClr val="FFFFFF"/>
          </a:solidFill>
          <a:ln w="6350">
            <a:solidFill>
              <a:srgbClr val="E5E7EB"/>
            </a:solidFill>
            <a:prstDash val="solid"/>
          </a:ln>
        </p:spPr>
      </p:sp>
      <p:sp>
        <p:nvSpPr>
          <p:cNvPr id="53" name="Shape 51"/>
          <p:cNvSpPr/>
          <p:nvPr/>
        </p:nvSpPr>
        <p:spPr>
          <a:xfrm>
            <a:off x="182880" y="2103120"/>
            <a:ext cx="859536" cy="1024128"/>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2103120"/>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Video</a:t>
            </a:r>
            <a:endParaRPr lang="en-US" sz="950" dirty="0"/>
          </a:p>
          <a:p>
            <a:pPr algn="ctr" indent="0" marL="0">
              <a:buNone/>
            </a:pPr>
            <a:r>
              <a:rPr lang="en-US" sz="950" b="1" dirty="0">
                <a:solidFill>
                  <a:srgbClr val="FFFFFF"/>
                </a:solidFill>
              </a:rPr>
              <a:t>Delivery</a:t>
            </a:r>
            <a:endParaRPr lang="en-US" sz="950" dirty="0"/>
          </a:p>
        </p:txBody>
      </p:sp>
      <p:sp>
        <p:nvSpPr>
          <p:cNvPr id="55" name="Text 53"/>
          <p:cNvSpPr/>
          <p:nvPr/>
        </p:nvSpPr>
        <p:spPr>
          <a:xfrm>
            <a:off x="1170432" y="2075688"/>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295144"/>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505456"/>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295144"/>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505456"/>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295144"/>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505456"/>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295144"/>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505456"/>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295144"/>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505456"/>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295144"/>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505456"/>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3255264"/>
            <a:ext cx="9116568" cy="1170432"/>
          </a:xfrm>
          <a:prstGeom prst="rect">
            <a:avLst/>
          </a:prstGeom>
          <a:solidFill>
            <a:srgbClr val="FAFBFC"/>
          </a:solidFill>
          <a:ln w="6350">
            <a:solidFill>
              <a:srgbClr val="E5E7EB"/>
            </a:solidFill>
            <a:prstDash val="solid"/>
          </a:ln>
        </p:spPr>
      </p:sp>
      <p:sp>
        <p:nvSpPr>
          <p:cNvPr id="81" name="Shape 79"/>
          <p:cNvSpPr/>
          <p:nvPr/>
        </p:nvSpPr>
        <p:spPr>
          <a:xfrm>
            <a:off x="182880" y="3328416"/>
            <a:ext cx="859536" cy="1024128"/>
          </a:xfrm>
          <a:prstGeom prst="roundRect">
            <a:avLst>
              <a:gd name="adj" fmla="val 5319"/>
            </a:avLst>
          </a:prstGeom>
          <a:solidFill>
            <a:srgbClr val="9CA3AF"/>
          </a:solidFill>
          <a:ln w="12700">
            <a:solidFill>
              <a:srgbClr val="9CA3AF"/>
            </a:solidFill>
            <a:prstDash val="solid"/>
          </a:ln>
        </p:spPr>
      </p:sp>
      <p:sp>
        <p:nvSpPr>
          <p:cNvPr id="82" name="Text 80"/>
          <p:cNvSpPr/>
          <p:nvPr/>
        </p:nvSpPr>
        <p:spPr>
          <a:xfrm>
            <a:off x="182880" y="3328416"/>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Player</a:t>
            </a:r>
            <a:endParaRPr lang="en-US" sz="950" dirty="0"/>
          </a:p>
        </p:txBody>
      </p:sp>
      <p:sp>
        <p:nvSpPr>
          <p:cNvPr id="83" name="Text 81"/>
          <p:cNvSpPr/>
          <p:nvPr/>
        </p:nvSpPr>
        <p:spPr>
          <a:xfrm>
            <a:off x="1170432" y="3300984"/>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5 In Progress</a:t>
            </a:r>
            <a:endParaRPr lang="en-US" sz="750" dirty="0"/>
          </a:p>
        </p:txBody>
      </p:sp>
      <p:sp>
        <p:nvSpPr>
          <p:cNvPr id="84" name="Shape 82"/>
          <p:cNvSpPr/>
          <p:nvPr/>
        </p:nvSpPr>
        <p:spPr>
          <a:xfrm>
            <a:off x="1170432" y="3520440"/>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730752"/>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520440"/>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730752"/>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520440"/>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730752"/>
            <a:ext cx="932688" cy="155448"/>
          </a:xfrm>
          <a:prstGeom prst="roundRect">
            <a:avLst>
              <a:gd name="adj" fmla="val 17647"/>
            </a:avLst>
          </a:prstGeom>
          <a:solidFill>
            <a:srgbClr val="F3F4F6"/>
          </a:solidFill>
          <a:ln w="9525">
            <a:solidFill>
              <a:srgbClr val="D1D5DB"/>
            </a:solidFill>
            <a:prstDash val="solid"/>
          </a:ln>
        </p:spPr>
      </p:sp>
      <p:sp>
        <p:nvSpPr>
          <p:cNvPr id="95" name="Text 93"/>
          <p:cNvSpPr/>
          <p:nvPr/>
        </p:nvSpPr>
        <p:spPr>
          <a:xfrm>
            <a:off x="3200400"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6" name="Shape 94"/>
          <p:cNvSpPr/>
          <p:nvPr/>
        </p:nvSpPr>
        <p:spPr>
          <a:xfrm>
            <a:off x="4215384" y="3520440"/>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730752"/>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520440"/>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730752"/>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5230368"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164592" y="4480560"/>
            <a:ext cx="9116568" cy="1170432"/>
          </a:xfrm>
          <a:prstGeom prst="rect">
            <a:avLst/>
          </a:prstGeom>
          <a:solidFill>
            <a:srgbClr val="FFFFFF"/>
          </a:solidFill>
          <a:ln w="6350">
            <a:solidFill>
              <a:srgbClr val="E5E7EB"/>
            </a:solidFill>
            <a:prstDash val="solid"/>
          </a:ln>
        </p:spPr>
      </p:sp>
      <p:sp>
        <p:nvSpPr>
          <p:cNvPr id="105" name="Shape 103"/>
          <p:cNvSpPr/>
          <p:nvPr/>
        </p:nvSpPr>
        <p:spPr>
          <a:xfrm>
            <a:off x="182880" y="4553712"/>
            <a:ext cx="859536" cy="1024128"/>
          </a:xfrm>
          <a:prstGeom prst="roundRect">
            <a:avLst>
              <a:gd name="adj" fmla="val 5319"/>
            </a:avLst>
          </a:prstGeom>
          <a:solidFill>
            <a:srgbClr val="9CA3AF"/>
          </a:solidFill>
          <a:ln w="12700">
            <a:solidFill>
              <a:srgbClr val="9CA3AF"/>
            </a:solidFill>
            <a:prstDash val="solid"/>
          </a:ln>
        </p:spPr>
      </p:sp>
      <p:sp>
        <p:nvSpPr>
          <p:cNvPr id="106" name="Text 104"/>
          <p:cNvSpPr/>
          <p:nvPr/>
        </p:nvSpPr>
        <p:spPr>
          <a:xfrm>
            <a:off x="182880" y="4553712"/>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Merchandising</a:t>
            </a:r>
            <a:endParaRPr lang="en-US" sz="950" dirty="0"/>
          </a:p>
        </p:txBody>
      </p:sp>
      <p:sp>
        <p:nvSpPr>
          <p:cNvPr id="107" name="Text 105"/>
          <p:cNvSpPr/>
          <p:nvPr/>
        </p:nvSpPr>
        <p:spPr>
          <a:xfrm>
            <a:off x="1170432" y="4526280"/>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108" name="Shape 106"/>
          <p:cNvSpPr/>
          <p:nvPr/>
        </p:nvSpPr>
        <p:spPr>
          <a:xfrm>
            <a:off x="1170432" y="4745736"/>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956048"/>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745736"/>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956048"/>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745736"/>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956048"/>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745736"/>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956048"/>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745736"/>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956048"/>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745736"/>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956048"/>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745736"/>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956048"/>
            <a:ext cx="932688" cy="155448"/>
          </a:xfrm>
          <a:prstGeom prst="roundRect">
            <a:avLst>
              <a:gd name="adj" fmla="val 17647"/>
            </a:avLst>
          </a:prstGeom>
          <a:solidFill>
            <a:srgbClr val="F3F4F6"/>
          </a:solidFill>
          <a:ln w="9525">
            <a:solidFill>
              <a:srgbClr val="D1D5DB"/>
            </a:solidFill>
            <a:prstDash val="solid"/>
          </a:ln>
        </p:spPr>
      </p:sp>
      <p:sp>
        <p:nvSpPr>
          <p:cNvPr id="135" name="Text 133"/>
          <p:cNvSpPr/>
          <p:nvPr/>
        </p:nvSpPr>
        <p:spPr>
          <a:xfrm>
            <a:off x="7260336"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6" name="Shape 134"/>
          <p:cNvSpPr/>
          <p:nvPr/>
        </p:nvSpPr>
        <p:spPr>
          <a:xfrm>
            <a:off x="8275320" y="4745736"/>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956048"/>
            <a:ext cx="932688" cy="155448"/>
          </a:xfrm>
          <a:prstGeom prst="roundRect">
            <a:avLst>
              <a:gd name="adj" fmla="val 17647"/>
            </a:avLst>
          </a:prstGeom>
          <a:solidFill>
            <a:srgbClr val="F3F4F6"/>
          </a:solidFill>
          <a:ln w="9525">
            <a:solidFill>
              <a:srgbClr val="D1D5DB"/>
            </a:solidFill>
            <a:prstDash val="solid"/>
          </a:ln>
        </p:spPr>
      </p:sp>
      <p:sp>
        <p:nvSpPr>
          <p:cNvPr id="139" name="Text 137"/>
          <p:cNvSpPr/>
          <p:nvPr/>
        </p:nvSpPr>
        <p:spPr>
          <a:xfrm>
            <a:off x="8275320"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0" name="Shape 138"/>
          <p:cNvSpPr/>
          <p:nvPr/>
        </p:nvSpPr>
        <p:spPr>
          <a:xfrm>
            <a:off x="1170432" y="5202936"/>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52029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5413248"/>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54132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5705856"/>
            <a:ext cx="9116568" cy="1170432"/>
          </a:xfrm>
          <a:prstGeom prst="rect">
            <a:avLst/>
          </a:prstGeom>
          <a:solidFill>
            <a:srgbClr val="FAFBFC"/>
          </a:solidFill>
          <a:ln w="6350">
            <a:solidFill>
              <a:srgbClr val="E5E7EB"/>
            </a:solidFill>
            <a:prstDash val="solid"/>
          </a:ln>
        </p:spPr>
      </p:sp>
      <p:sp>
        <p:nvSpPr>
          <p:cNvPr id="145" name="Shape 143"/>
          <p:cNvSpPr/>
          <p:nvPr/>
        </p:nvSpPr>
        <p:spPr>
          <a:xfrm>
            <a:off x="182880" y="5779008"/>
            <a:ext cx="859536" cy="1024128"/>
          </a:xfrm>
          <a:prstGeom prst="roundRect">
            <a:avLst>
              <a:gd name="adj" fmla="val 5319"/>
            </a:avLst>
          </a:prstGeom>
          <a:solidFill>
            <a:srgbClr val="9CA3AF"/>
          </a:solidFill>
          <a:ln w="12700">
            <a:solidFill>
              <a:srgbClr val="9CA3AF"/>
            </a:solidFill>
            <a:prstDash val="solid"/>
          </a:ln>
        </p:spPr>
      </p:sp>
      <p:sp>
        <p:nvSpPr>
          <p:cNvPr id="146" name="Text 144"/>
          <p:cNvSpPr/>
          <p:nvPr/>
        </p:nvSpPr>
        <p:spPr>
          <a:xfrm>
            <a:off x="182880" y="5779008"/>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Onboarding</a:t>
            </a:r>
            <a:endParaRPr lang="en-US" sz="950" dirty="0"/>
          </a:p>
        </p:txBody>
      </p:sp>
      <p:sp>
        <p:nvSpPr>
          <p:cNvPr id="147" name="Text 145"/>
          <p:cNvSpPr/>
          <p:nvPr/>
        </p:nvSpPr>
        <p:spPr>
          <a:xfrm>
            <a:off x="1170432" y="5751576"/>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5 In Progress</a:t>
            </a:r>
            <a:endParaRPr lang="en-US" sz="750" dirty="0"/>
          </a:p>
        </p:txBody>
      </p:sp>
      <p:sp>
        <p:nvSpPr>
          <p:cNvPr id="148" name="Shape 146"/>
          <p:cNvSpPr/>
          <p:nvPr/>
        </p:nvSpPr>
        <p:spPr>
          <a:xfrm>
            <a:off x="1170432" y="5971032"/>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6181344"/>
            <a:ext cx="932688" cy="155448"/>
          </a:xfrm>
          <a:prstGeom prst="roundRect">
            <a:avLst>
              <a:gd name="adj" fmla="val 17647"/>
            </a:avLst>
          </a:prstGeom>
          <a:solidFill>
            <a:srgbClr val="F3F4F6"/>
          </a:solidFill>
          <a:ln w="9525">
            <a:solidFill>
              <a:srgbClr val="D1D5DB"/>
            </a:solidFill>
            <a:prstDash val="solid"/>
          </a:ln>
        </p:spPr>
      </p:sp>
      <p:sp>
        <p:nvSpPr>
          <p:cNvPr id="151" name="Text 149"/>
          <p:cNvSpPr/>
          <p:nvPr/>
        </p:nvSpPr>
        <p:spPr>
          <a:xfrm>
            <a:off x="1170432"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2" name="Shape 150"/>
          <p:cNvSpPr/>
          <p:nvPr/>
        </p:nvSpPr>
        <p:spPr>
          <a:xfrm>
            <a:off x="2185416" y="5971032"/>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6181344"/>
            <a:ext cx="932688" cy="155448"/>
          </a:xfrm>
          <a:prstGeom prst="roundRect">
            <a:avLst>
              <a:gd name="adj" fmla="val 17647"/>
            </a:avLst>
          </a:prstGeom>
          <a:solidFill>
            <a:srgbClr val="F3F4F6"/>
          </a:solidFill>
          <a:ln w="9525">
            <a:solidFill>
              <a:srgbClr val="D1D5DB"/>
            </a:solidFill>
            <a:prstDash val="solid"/>
          </a:ln>
        </p:spPr>
      </p:sp>
      <p:sp>
        <p:nvSpPr>
          <p:cNvPr id="155" name="Text 153"/>
          <p:cNvSpPr/>
          <p:nvPr/>
        </p:nvSpPr>
        <p:spPr>
          <a:xfrm>
            <a:off x="2185416"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6" name="Shape 154"/>
          <p:cNvSpPr/>
          <p:nvPr/>
        </p:nvSpPr>
        <p:spPr>
          <a:xfrm>
            <a:off x="3200400" y="5971032"/>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6181344"/>
            <a:ext cx="932688" cy="155448"/>
          </a:xfrm>
          <a:prstGeom prst="roundRect">
            <a:avLst>
              <a:gd name="adj" fmla="val 17647"/>
            </a:avLst>
          </a:prstGeom>
          <a:solidFill>
            <a:srgbClr val="F3F4F6"/>
          </a:solidFill>
          <a:ln w="9525">
            <a:solidFill>
              <a:srgbClr val="D1D5DB"/>
            </a:solidFill>
            <a:prstDash val="solid"/>
          </a:ln>
        </p:spPr>
      </p:sp>
      <p:sp>
        <p:nvSpPr>
          <p:cNvPr id="159" name="Text 157"/>
          <p:cNvSpPr/>
          <p:nvPr/>
        </p:nvSpPr>
        <p:spPr>
          <a:xfrm>
            <a:off x="3200400"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0" name="Shape 158"/>
          <p:cNvSpPr/>
          <p:nvPr/>
        </p:nvSpPr>
        <p:spPr>
          <a:xfrm>
            <a:off x="4215384" y="5971032"/>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6181344"/>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971032"/>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66" name="Shape 164"/>
          <p:cNvSpPr/>
          <p:nvPr/>
        </p:nvSpPr>
        <p:spPr>
          <a:xfrm>
            <a:off x="5230368" y="6181344"/>
            <a:ext cx="932688" cy="155448"/>
          </a:xfrm>
          <a:prstGeom prst="roundRect">
            <a:avLst>
              <a:gd name="adj" fmla="val 17647"/>
            </a:avLst>
          </a:prstGeom>
          <a:solidFill>
            <a:srgbClr val="F3F4F6"/>
          </a:solidFill>
          <a:ln w="9525">
            <a:solidFill>
              <a:srgbClr val="D1D5DB"/>
            </a:solidFill>
            <a:prstDash val="solid"/>
          </a:ln>
        </p:spPr>
      </p:sp>
      <p:sp>
        <p:nvSpPr>
          <p:cNvPr id="167" name="Text 165"/>
          <p:cNvSpPr/>
          <p:nvPr/>
        </p:nvSpPr>
        <p:spPr>
          <a:xfrm>
            <a:off x="5230368"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8" name="Shape 166"/>
          <p:cNvSpPr/>
          <p:nvPr/>
        </p:nvSpPr>
        <p:spPr>
          <a:xfrm>
            <a:off x="9372600" y="804672"/>
            <a:ext cx="2834640" cy="6071616"/>
          </a:xfrm>
          <a:prstGeom prst="rect">
            <a:avLst/>
          </a:prstGeom>
          <a:solidFill>
            <a:srgbClr val="F8FAFB"/>
          </a:solidFill>
          <a:ln w="12700">
            <a:solidFill>
              <a:srgbClr val="DDE1E6"/>
            </a:solidFill>
            <a:prstDash val="solid"/>
          </a:ln>
        </p:spPr>
      </p:sp>
      <p:sp>
        <p:nvSpPr>
          <p:cNvPr id="169" name="Text 167"/>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70" name="Shape 168"/>
          <p:cNvSpPr/>
          <p:nvPr/>
        </p:nvSpPr>
        <p:spPr>
          <a:xfrm>
            <a:off x="9464040" y="1225296"/>
            <a:ext cx="2670048" cy="420624"/>
          </a:xfrm>
          <a:prstGeom prst="rect">
            <a:avLst/>
          </a:prstGeom>
          <a:solidFill>
            <a:srgbClr val="FFFFFF"/>
          </a:solidFill>
          <a:ln w="6350">
            <a:solidFill>
              <a:srgbClr val="E5E7EB"/>
            </a:solidFill>
            <a:prstDash val="solid"/>
          </a:ln>
        </p:spPr>
      </p:sp>
      <p:sp>
        <p:nvSpPr>
          <p:cNvPr id="171" name="Shape 169"/>
          <p:cNvSpPr/>
          <p:nvPr/>
        </p:nvSpPr>
        <p:spPr>
          <a:xfrm>
            <a:off x="9537192" y="1316736"/>
            <a:ext cx="109728" cy="109728"/>
          </a:xfrm>
          <a:prstGeom prst="ellipse">
            <a:avLst/>
          </a:prstGeom>
          <a:solidFill>
            <a:srgbClr val="16A34A"/>
          </a:solidFill>
          <a:ln w="12700">
            <a:solidFill>
              <a:srgbClr val="16A34A"/>
            </a:solidFill>
            <a:prstDash val="solid"/>
          </a:ln>
        </p:spPr>
      </p:sp>
      <p:sp>
        <p:nvSpPr>
          <p:cNvPr id="172" name="Text 170"/>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73" name="Text 171"/>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74" name="Shape 172"/>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75" name="Text 173"/>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76" name="Shape 174"/>
          <p:cNvSpPr/>
          <p:nvPr/>
        </p:nvSpPr>
        <p:spPr>
          <a:xfrm>
            <a:off x="9464040" y="1700784"/>
            <a:ext cx="2670048" cy="420624"/>
          </a:xfrm>
          <a:prstGeom prst="rect">
            <a:avLst/>
          </a:prstGeom>
          <a:solidFill>
            <a:srgbClr val="FFFFFF"/>
          </a:solidFill>
          <a:ln w="6350">
            <a:solidFill>
              <a:srgbClr val="E5E7EB"/>
            </a:solidFill>
            <a:prstDash val="solid"/>
          </a:ln>
        </p:spPr>
      </p:sp>
      <p:sp>
        <p:nvSpPr>
          <p:cNvPr id="177" name="Shape 175"/>
          <p:cNvSpPr/>
          <p:nvPr/>
        </p:nvSpPr>
        <p:spPr>
          <a:xfrm>
            <a:off x="9537192" y="1792224"/>
            <a:ext cx="109728" cy="109728"/>
          </a:xfrm>
          <a:prstGeom prst="ellipse">
            <a:avLst/>
          </a:prstGeom>
          <a:solidFill>
            <a:srgbClr val="1558A8"/>
          </a:solidFill>
          <a:ln w="12700">
            <a:solidFill>
              <a:srgbClr val="1558A8"/>
            </a:solidFill>
            <a:prstDash val="solid"/>
          </a:ln>
        </p:spPr>
      </p:sp>
      <p:sp>
        <p:nvSpPr>
          <p:cNvPr id="178" name="Text 176"/>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Integration</a:t>
            </a:r>
            <a:endParaRPr lang="en-US" sz="800" dirty="0"/>
          </a:p>
        </p:txBody>
      </p:sp>
      <p:sp>
        <p:nvSpPr>
          <p:cNvPr id="179" name="Text 177"/>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80" name="Shape 178"/>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81" name="Text 179"/>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82" name="Shape 180"/>
          <p:cNvSpPr/>
          <p:nvPr/>
        </p:nvSpPr>
        <p:spPr>
          <a:xfrm>
            <a:off x="9464040" y="2176272"/>
            <a:ext cx="2670048" cy="420624"/>
          </a:xfrm>
          <a:prstGeom prst="rect">
            <a:avLst/>
          </a:prstGeom>
          <a:solidFill>
            <a:srgbClr val="FFFFFF"/>
          </a:solidFill>
          <a:ln w="6350">
            <a:solidFill>
              <a:srgbClr val="E5E7EB"/>
            </a:solidFill>
            <a:prstDash val="solid"/>
          </a:ln>
        </p:spPr>
      </p:sp>
      <p:sp>
        <p:nvSpPr>
          <p:cNvPr id="183" name="Shape 181"/>
          <p:cNvSpPr/>
          <p:nvPr/>
        </p:nvSpPr>
        <p:spPr>
          <a:xfrm>
            <a:off x="9537192" y="2267712"/>
            <a:ext cx="109728" cy="109728"/>
          </a:xfrm>
          <a:prstGeom prst="ellipse">
            <a:avLst/>
          </a:prstGeom>
          <a:solidFill>
            <a:srgbClr val="9CA3AF"/>
          </a:solidFill>
          <a:ln w="12700">
            <a:solidFill>
              <a:srgbClr val="9CA3AF"/>
            </a:solidFill>
            <a:prstDash val="solid"/>
          </a:ln>
        </p:spPr>
      </p:sp>
      <p:sp>
        <p:nvSpPr>
          <p:cNvPr id="184" name="Text 182"/>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Testing</a:t>
            </a:r>
            <a:endParaRPr lang="en-US" sz="800" dirty="0"/>
          </a:p>
        </p:txBody>
      </p:sp>
      <p:sp>
        <p:nvSpPr>
          <p:cNvPr id="185" name="Text 183"/>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86" name="Shape 184"/>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87" name="Text 185"/>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88" name="Shape 186"/>
          <p:cNvSpPr/>
          <p:nvPr/>
        </p:nvSpPr>
        <p:spPr>
          <a:xfrm>
            <a:off x="9464040" y="2651760"/>
            <a:ext cx="2670048" cy="420624"/>
          </a:xfrm>
          <a:prstGeom prst="rect">
            <a:avLst/>
          </a:prstGeom>
          <a:solidFill>
            <a:srgbClr val="FFFFFF"/>
          </a:solidFill>
          <a:ln w="6350">
            <a:solidFill>
              <a:srgbClr val="E5E7EB"/>
            </a:solidFill>
            <a:prstDash val="solid"/>
          </a:ln>
        </p:spPr>
      </p:sp>
      <p:sp>
        <p:nvSpPr>
          <p:cNvPr id="189" name="Shape 187"/>
          <p:cNvSpPr/>
          <p:nvPr/>
        </p:nvSpPr>
        <p:spPr>
          <a:xfrm>
            <a:off x="9537192" y="2743200"/>
            <a:ext cx="109728" cy="109728"/>
          </a:xfrm>
          <a:prstGeom prst="ellipse">
            <a:avLst/>
          </a:prstGeom>
          <a:solidFill>
            <a:srgbClr val="9CA3AF"/>
          </a:solidFill>
          <a:ln w="12700">
            <a:solidFill>
              <a:srgbClr val="9CA3AF"/>
            </a:solidFill>
            <a:prstDash val="solid"/>
          </a:ln>
        </p:spPr>
      </p:sp>
      <p:sp>
        <p:nvSpPr>
          <p:cNvPr id="190" name="Text 188"/>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91" name="Text 189"/>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92" name="Shape 190"/>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93" name="Text 191"/>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94" name="Shape 192"/>
          <p:cNvSpPr/>
          <p:nvPr/>
        </p:nvSpPr>
        <p:spPr>
          <a:xfrm>
            <a:off x="9482328" y="3200400"/>
            <a:ext cx="2633472" cy="0"/>
          </a:xfrm>
          <a:prstGeom prst="line">
            <a:avLst/>
          </a:prstGeom>
          <a:noFill/>
          <a:ln w="9525">
            <a:solidFill>
              <a:srgbClr val="DDE1E6"/>
            </a:solidFill>
            <a:prstDash val="solid"/>
          </a:ln>
        </p:spPr>
      </p:sp>
      <p:sp>
        <p:nvSpPr>
          <p:cNvPr id="195" name="Text 193"/>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96" name="Shape 194"/>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197" name="Text 195"/>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98" name="Text 196"/>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199" name="Shape 197"/>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00" name="Text 198"/>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01" name="Text 199"/>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02" name="Shape 200"/>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03" name="Text 201"/>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04" name="Text 202"/>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05" name="Shape 203"/>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06" name="Text 204"/>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07" name="Text 205"/>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08" name="Shape 206"/>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09" name="Text 207"/>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10" name="Text 208"/>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1190</Words>
  <Application>Microsoft Macintosh PowerPoint</Application>
  <PresentationFormat>Custom</PresentationFormat>
  <Paragraphs>191</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2026-07-06T19:43:22Z</dcterms:modified>
</cp:coreProperties>
</file>