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2.xml" ContentType="application/vnd.openxmlformats-officedocument.presentationml.slide+xml"/>
  <Override PartName="/ppt/slides/slide3.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2"/>
    <p:sldId id="257" r:id="rId10"/>
    <p:sldId id="258" r:id="rId11"/>
  </p:sldIdLst>
  <p:sldSz cx="12344400" cy="73152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41"/>
    <p:restoredTop sz="94630"/>
  </p:normalViewPr>
  <p:slideViewPr>
    <p:cSldViewPr snapToGrid="0">
      <p:cViewPr varScale="1">
        <p:scale>
          <a:sx n="130" d="100"/>
          <a:sy n="130" d="100"/>
        </p:scale>
        <p:origin x="96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2.xml"/><Relationship Id="rId11"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F6586C-20BB-0145-BBB0-5205A2D85F37}" type="datetimeFigureOut">
              <a:rPr lang="en-US" smtClean="0"/>
              <a:t>7/6/26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273F65-57BB-3342-98F4-D52BB15090D3}" type="slidenum">
              <a:rPr lang="en-US" smtClean="0"/>
              <a:t>‹#›</a:t>
            </a:fld>
            <a:endParaRPr lang="en-US"/>
          </a:p>
        </p:txBody>
      </p:sp>
    </p:spTree>
    <p:extLst>
      <p:ext uri="{BB962C8B-B14F-4D97-AF65-F5344CB8AC3E}">
        <p14:creationId xmlns:p14="http://schemas.microsoft.com/office/powerpoint/2010/main" val="8185981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542AB-4E5D-E3E5-DA43-46F3AD282BA3}"/>
              </a:ext>
            </a:extLst>
          </p:cNvPr>
          <p:cNvSpPr>
            <a:spLocks noGrp="1"/>
          </p:cNvSpPr>
          <p:nvPr>
            <p:ph type="ctrTitle"/>
          </p:nvPr>
        </p:nvSpPr>
        <p:spPr>
          <a:xfrm>
            <a:off x="1543050" y="1197187"/>
            <a:ext cx="9258300" cy="2546773"/>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6ADC5D1-2E43-2D4F-10CF-6B9C4932443F}"/>
              </a:ext>
            </a:extLst>
          </p:cNvPr>
          <p:cNvSpPr>
            <a:spLocks noGrp="1"/>
          </p:cNvSpPr>
          <p:nvPr>
            <p:ph type="subTitle" idx="1"/>
          </p:nvPr>
        </p:nvSpPr>
        <p:spPr>
          <a:xfrm>
            <a:off x="1543050" y="3842174"/>
            <a:ext cx="9258300" cy="1766146"/>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291BCE-1E26-2FF6-8CD5-66BFE639D14A}"/>
              </a:ext>
            </a:extLst>
          </p:cNvPr>
          <p:cNvSpPr>
            <a:spLocks noGrp="1"/>
          </p:cNvSpPr>
          <p:nvPr>
            <p:ph type="dt" sz="half" idx="10"/>
          </p:nvPr>
        </p:nvSpPr>
        <p:spPr/>
        <p:txBody>
          <a:bodyPr/>
          <a:lstStyle/>
          <a:p>
            <a:fld id="{4AF3E59C-6757-304D-81DC-AFC89DC42387}" type="datetime1">
              <a:rPr lang="en-US" smtClean="0"/>
              <a:t>7/6/26</a:t>
            </a:fld>
            <a:endParaRPr lang="en-US"/>
          </a:p>
        </p:txBody>
      </p:sp>
      <p:sp>
        <p:nvSpPr>
          <p:cNvPr id="5" name="Footer Placeholder 4">
            <a:extLst>
              <a:ext uri="{FF2B5EF4-FFF2-40B4-BE49-F238E27FC236}">
                <a16:creationId xmlns:a16="http://schemas.microsoft.com/office/drawing/2014/main" id="{342DBBA0-D6C7-FC07-5C56-7191AB2C846F}"/>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A6C5ABB2-FC67-66A2-B676-98C8F4708307}"/>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8646702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8AB43-7245-25CD-9429-3739721B0D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5EB2ECB-D6B4-1B28-8A6F-4A72D3E7E29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65FF69-2AD4-71DC-BCAE-6BCC61AA0542}"/>
              </a:ext>
            </a:extLst>
          </p:cNvPr>
          <p:cNvSpPr>
            <a:spLocks noGrp="1"/>
          </p:cNvSpPr>
          <p:nvPr>
            <p:ph type="dt" sz="half" idx="10"/>
          </p:nvPr>
        </p:nvSpPr>
        <p:spPr/>
        <p:txBody>
          <a:bodyPr/>
          <a:lstStyle/>
          <a:p>
            <a:fld id="{F5717DB9-6A5E-D34E-8F49-668C4E023DB8}" type="datetime1">
              <a:rPr lang="en-US" smtClean="0"/>
              <a:t>7/6/26</a:t>
            </a:fld>
            <a:endParaRPr lang="en-US"/>
          </a:p>
        </p:txBody>
      </p:sp>
      <p:sp>
        <p:nvSpPr>
          <p:cNvPr id="5" name="Footer Placeholder 4">
            <a:extLst>
              <a:ext uri="{FF2B5EF4-FFF2-40B4-BE49-F238E27FC236}">
                <a16:creationId xmlns:a16="http://schemas.microsoft.com/office/drawing/2014/main" id="{0A44906B-2BF5-D735-8C03-383888D485AC}"/>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538854DA-D980-9804-D429-EE5849AB2C7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581239677"/>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38A7F-439E-24E3-D0F9-D2B05E7C8108}"/>
              </a:ext>
            </a:extLst>
          </p:cNvPr>
          <p:cNvSpPr>
            <a:spLocks noGrp="1"/>
          </p:cNvSpPr>
          <p:nvPr>
            <p:ph type="title"/>
          </p:nvPr>
        </p:nvSpPr>
        <p:spPr>
          <a:xfrm>
            <a:off x="842248" y="1823721"/>
            <a:ext cx="10647045" cy="3042919"/>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443069C-437B-5A7C-D4D2-2F5EA044BEBC}"/>
              </a:ext>
            </a:extLst>
          </p:cNvPr>
          <p:cNvSpPr>
            <a:spLocks noGrp="1"/>
          </p:cNvSpPr>
          <p:nvPr>
            <p:ph type="body" idx="1"/>
          </p:nvPr>
        </p:nvSpPr>
        <p:spPr>
          <a:xfrm>
            <a:off x="842248" y="4895428"/>
            <a:ext cx="10647045" cy="1600199"/>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71F402-A6B4-06C9-471A-ADA7A5B20421}"/>
              </a:ext>
            </a:extLst>
          </p:cNvPr>
          <p:cNvSpPr>
            <a:spLocks noGrp="1"/>
          </p:cNvSpPr>
          <p:nvPr>
            <p:ph type="dt" sz="half" idx="10"/>
          </p:nvPr>
        </p:nvSpPr>
        <p:spPr/>
        <p:txBody>
          <a:bodyPr/>
          <a:lstStyle/>
          <a:p>
            <a:fld id="{9D8F7AC0-3832-FD45-8B44-A4D6390FE77E}" type="datetime1">
              <a:rPr lang="en-US" smtClean="0"/>
              <a:t>7/6/26</a:t>
            </a:fld>
            <a:endParaRPr lang="en-US"/>
          </a:p>
        </p:txBody>
      </p:sp>
      <p:sp>
        <p:nvSpPr>
          <p:cNvPr id="5" name="Footer Placeholder 4">
            <a:extLst>
              <a:ext uri="{FF2B5EF4-FFF2-40B4-BE49-F238E27FC236}">
                <a16:creationId xmlns:a16="http://schemas.microsoft.com/office/drawing/2014/main" id="{93CF1C27-1515-AE48-2681-B9E0DCA4CFC2}"/>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7591AB8D-4166-DA76-F40F-CB996B4F4D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12274396"/>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33359-1342-9126-C00F-43885A33B2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8346A5D-AA75-B6A7-2A97-8175D78EB429}"/>
              </a:ext>
            </a:extLst>
          </p:cNvPr>
          <p:cNvSpPr>
            <a:spLocks noGrp="1"/>
          </p:cNvSpPr>
          <p:nvPr>
            <p:ph sz="half" idx="1"/>
          </p:nvPr>
        </p:nvSpPr>
        <p:spPr>
          <a:xfrm>
            <a:off x="848678"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05D2B62-3F5B-CA87-894D-E35F3A7A73FA}"/>
              </a:ext>
            </a:extLst>
          </p:cNvPr>
          <p:cNvSpPr>
            <a:spLocks noGrp="1"/>
          </p:cNvSpPr>
          <p:nvPr>
            <p:ph sz="half" idx="2"/>
          </p:nvPr>
        </p:nvSpPr>
        <p:spPr>
          <a:xfrm>
            <a:off x="6249353"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EAB9ACC-74B2-0D1E-9729-94C5BDE608E7}"/>
              </a:ext>
            </a:extLst>
          </p:cNvPr>
          <p:cNvSpPr>
            <a:spLocks noGrp="1"/>
          </p:cNvSpPr>
          <p:nvPr>
            <p:ph type="dt" sz="half" idx="10"/>
          </p:nvPr>
        </p:nvSpPr>
        <p:spPr/>
        <p:txBody>
          <a:bodyPr/>
          <a:lstStyle/>
          <a:p>
            <a:fld id="{07846480-99BB-4344-B97D-DCA362A5FDF8}" type="datetime1">
              <a:rPr lang="en-US" smtClean="0"/>
              <a:t>7/6/26</a:t>
            </a:fld>
            <a:endParaRPr lang="en-US"/>
          </a:p>
        </p:txBody>
      </p:sp>
      <p:sp>
        <p:nvSpPr>
          <p:cNvPr id="6" name="Footer Placeholder 5">
            <a:extLst>
              <a:ext uri="{FF2B5EF4-FFF2-40B4-BE49-F238E27FC236}">
                <a16:creationId xmlns:a16="http://schemas.microsoft.com/office/drawing/2014/main" id="{0EB8D0D1-614A-F39F-2359-171D4F29F76E}"/>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41124FE4-5372-56CC-9C0A-792C0649DD9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11728568"/>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741B6-C81C-44D7-8314-B9E48D54DCC6}"/>
              </a:ext>
            </a:extLst>
          </p:cNvPr>
          <p:cNvSpPr>
            <a:spLocks noGrp="1"/>
          </p:cNvSpPr>
          <p:nvPr>
            <p:ph type="title"/>
          </p:nvPr>
        </p:nvSpPr>
        <p:spPr>
          <a:xfrm>
            <a:off x="850285" y="389467"/>
            <a:ext cx="10647045" cy="1413934"/>
          </a:xfrm>
        </p:spPr>
        <p:txBody>
          <a:bodyPr/>
          <a:lstStyle/>
          <a:p>
            <a:r>
              <a:rPr lang="en-US"/>
              <a:t>Click to edit Master title style</a:t>
            </a:r>
          </a:p>
        </p:txBody>
      </p:sp>
      <p:sp>
        <p:nvSpPr>
          <p:cNvPr id="3" name="Text Placeholder 2">
            <a:extLst>
              <a:ext uri="{FF2B5EF4-FFF2-40B4-BE49-F238E27FC236}">
                <a16:creationId xmlns:a16="http://schemas.microsoft.com/office/drawing/2014/main" id="{6A5B6461-6F52-D709-1AA9-7693FA24E633}"/>
              </a:ext>
            </a:extLst>
          </p:cNvPr>
          <p:cNvSpPr>
            <a:spLocks noGrp="1"/>
          </p:cNvSpPr>
          <p:nvPr>
            <p:ph type="body" idx="1"/>
          </p:nvPr>
        </p:nvSpPr>
        <p:spPr>
          <a:xfrm>
            <a:off x="850286" y="1793241"/>
            <a:ext cx="5222259"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705DFE-74DC-8B97-1F5D-76C626F585D2}"/>
              </a:ext>
            </a:extLst>
          </p:cNvPr>
          <p:cNvSpPr>
            <a:spLocks noGrp="1"/>
          </p:cNvSpPr>
          <p:nvPr>
            <p:ph sz="half" idx="2"/>
          </p:nvPr>
        </p:nvSpPr>
        <p:spPr>
          <a:xfrm>
            <a:off x="850286" y="2672080"/>
            <a:ext cx="5222259"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9030914-B7F9-314F-3471-1EB0342CE915}"/>
              </a:ext>
            </a:extLst>
          </p:cNvPr>
          <p:cNvSpPr>
            <a:spLocks noGrp="1"/>
          </p:cNvSpPr>
          <p:nvPr>
            <p:ph type="body" sz="quarter" idx="3"/>
          </p:nvPr>
        </p:nvSpPr>
        <p:spPr>
          <a:xfrm>
            <a:off x="6249352" y="1793241"/>
            <a:ext cx="5247978"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D342F94-E36A-FBCB-AD5A-A7A2F73400BD}"/>
              </a:ext>
            </a:extLst>
          </p:cNvPr>
          <p:cNvSpPr>
            <a:spLocks noGrp="1"/>
          </p:cNvSpPr>
          <p:nvPr>
            <p:ph sz="quarter" idx="4"/>
          </p:nvPr>
        </p:nvSpPr>
        <p:spPr>
          <a:xfrm>
            <a:off x="6249352" y="2672080"/>
            <a:ext cx="5247978"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BDDA9A0-9B83-1061-522A-D57667671334}"/>
              </a:ext>
            </a:extLst>
          </p:cNvPr>
          <p:cNvSpPr>
            <a:spLocks noGrp="1"/>
          </p:cNvSpPr>
          <p:nvPr>
            <p:ph type="dt" sz="half" idx="10"/>
          </p:nvPr>
        </p:nvSpPr>
        <p:spPr/>
        <p:txBody>
          <a:bodyPr/>
          <a:lstStyle/>
          <a:p>
            <a:fld id="{31F8A984-FDA0-474C-92E2-0FCD6F165F9D}" type="datetime1">
              <a:rPr lang="en-US" smtClean="0"/>
              <a:t>7/6/26</a:t>
            </a:fld>
            <a:endParaRPr lang="en-US"/>
          </a:p>
        </p:txBody>
      </p:sp>
      <p:sp>
        <p:nvSpPr>
          <p:cNvPr id="8" name="Footer Placeholder 7">
            <a:extLst>
              <a:ext uri="{FF2B5EF4-FFF2-40B4-BE49-F238E27FC236}">
                <a16:creationId xmlns:a16="http://schemas.microsoft.com/office/drawing/2014/main" id="{66A1BFC6-DD30-8582-9BB5-A4C2FCA69217}"/>
              </a:ext>
            </a:extLst>
          </p:cNvPr>
          <p:cNvSpPr>
            <a:spLocks noGrp="1"/>
          </p:cNvSpPr>
          <p:nvPr>
            <p:ph type="ftr" sz="quarter" idx="11"/>
          </p:nvPr>
        </p:nvSpPr>
        <p:spPr/>
        <p:txBody>
          <a:bodyPr/>
          <a:lstStyle/>
          <a:p>
            <a:r>
              <a:rPr lang="en-US"/>
              <a:t>Tennis Channel 2025 - CONFIDENTIAL</a:t>
            </a:r>
          </a:p>
        </p:txBody>
      </p:sp>
      <p:sp>
        <p:nvSpPr>
          <p:cNvPr id="9" name="Slide Number Placeholder 8">
            <a:extLst>
              <a:ext uri="{FF2B5EF4-FFF2-40B4-BE49-F238E27FC236}">
                <a16:creationId xmlns:a16="http://schemas.microsoft.com/office/drawing/2014/main" id="{50B897CB-2FF9-D746-CA12-5F53E4C9EF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960872535"/>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0689EC-C4E0-F720-B4BB-9C306330584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3242ECA-686B-F2FE-244F-519EADC8FBC1}"/>
              </a:ext>
            </a:extLst>
          </p:cNvPr>
          <p:cNvSpPr>
            <a:spLocks noGrp="1"/>
          </p:cNvSpPr>
          <p:nvPr>
            <p:ph type="dt" sz="half" idx="10"/>
          </p:nvPr>
        </p:nvSpPr>
        <p:spPr/>
        <p:txBody>
          <a:bodyPr/>
          <a:lstStyle/>
          <a:p>
            <a:fld id="{DF7D6774-7599-9340-9771-ADFFFF50DA4A}" type="datetime1">
              <a:rPr lang="en-US" smtClean="0"/>
              <a:t>7/6/26</a:t>
            </a:fld>
            <a:endParaRPr lang="en-US"/>
          </a:p>
        </p:txBody>
      </p:sp>
      <p:sp>
        <p:nvSpPr>
          <p:cNvPr id="4" name="Footer Placeholder 3">
            <a:extLst>
              <a:ext uri="{FF2B5EF4-FFF2-40B4-BE49-F238E27FC236}">
                <a16:creationId xmlns:a16="http://schemas.microsoft.com/office/drawing/2014/main" id="{994311D5-E61B-E713-F072-7FC70EFC6106}"/>
              </a:ext>
            </a:extLst>
          </p:cNvPr>
          <p:cNvSpPr>
            <a:spLocks noGrp="1"/>
          </p:cNvSpPr>
          <p:nvPr>
            <p:ph type="ftr" sz="quarter" idx="11"/>
          </p:nvPr>
        </p:nvSpPr>
        <p:spPr/>
        <p:txBody>
          <a:bodyPr/>
          <a:lstStyle/>
          <a:p>
            <a:r>
              <a:rPr lang="en-US"/>
              <a:t>Tennis Channel 2025 - CONFIDENTIAL</a:t>
            </a:r>
          </a:p>
        </p:txBody>
      </p:sp>
      <p:sp>
        <p:nvSpPr>
          <p:cNvPr id="5" name="Slide Number Placeholder 4">
            <a:extLst>
              <a:ext uri="{FF2B5EF4-FFF2-40B4-BE49-F238E27FC236}">
                <a16:creationId xmlns:a16="http://schemas.microsoft.com/office/drawing/2014/main" id="{D8B1AD28-E6B8-41E5-013F-EA3705C5052B}"/>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461587223"/>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9044EE4-4846-6C32-288C-E05F40C3111D}"/>
              </a:ext>
            </a:extLst>
          </p:cNvPr>
          <p:cNvSpPr>
            <a:spLocks noGrp="1"/>
          </p:cNvSpPr>
          <p:nvPr>
            <p:ph type="dt" sz="half" idx="10"/>
          </p:nvPr>
        </p:nvSpPr>
        <p:spPr/>
        <p:txBody>
          <a:bodyPr/>
          <a:lstStyle/>
          <a:p>
            <a:fld id="{9CBD47B3-23AB-F54B-9A7B-8C00C8081A30}" type="datetime1">
              <a:rPr lang="en-US" smtClean="0"/>
              <a:t>7/6/26</a:t>
            </a:fld>
            <a:endParaRPr lang="en-US"/>
          </a:p>
        </p:txBody>
      </p:sp>
      <p:sp>
        <p:nvSpPr>
          <p:cNvPr id="3" name="Footer Placeholder 2">
            <a:extLst>
              <a:ext uri="{FF2B5EF4-FFF2-40B4-BE49-F238E27FC236}">
                <a16:creationId xmlns:a16="http://schemas.microsoft.com/office/drawing/2014/main" id="{6261C964-1C2C-8775-5756-EB8BCF7C5D8E}"/>
              </a:ext>
            </a:extLst>
          </p:cNvPr>
          <p:cNvSpPr>
            <a:spLocks noGrp="1"/>
          </p:cNvSpPr>
          <p:nvPr>
            <p:ph type="ftr" sz="quarter" idx="11"/>
          </p:nvPr>
        </p:nvSpPr>
        <p:spPr/>
        <p:txBody>
          <a:bodyPr/>
          <a:lstStyle/>
          <a:p>
            <a:r>
              <a:rPr lang="en-US"/>
              <a:t>Tennis Channel 2025 - CONFIDENTIAL</a:t>
            </a:r>
          </a:p>
        </p:txBody>
      </p:sp>
      <p:sp>
        <p:nvSpPr>
          <p:cNvPr id="4" name="Slide Number Placeholder 3">
            <a:extLst>
              <a:ext uri="{FF2B5EF4-FFF2-40B4-BE49-F238E27FC236}">
                <a16:creationId xmlns:a16="http://schemas.microsoft.com/office/drawing/2014/main" id="{FACE2306-71B3-FBB9-6236-9950E5EAF3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78362405"/>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0843BF-2A0F-47ED-D433-DF8E9551A7AC}"/>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73D69E-2B52-800B-E2F9-FE835D84C945}"/>
              </a:ext>
            </a:extLst>
          </p:cNvPr>
          <p:cNvSpPr>
            <a:spLocks noGrp="1"/>
          </p:cNvSpPr>
          <p:nvPr>
            <p:ph idx="1"/>
          </p:nvPr>
        </p:nvSpPr>
        <p:spPr>
          <a:xfrm>
            <a:off x="5247978" y="1053254"/>
            <a:ext cx="6249353" cy="519853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E998016-679C-7679-BDA6-B776B0D0B0C9}"/>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C8CC95-EAA5-1963-009D-F7BA26301BCD}"/>
              </a:ext>
            </a:extLst>
          </p:cNvPr>
          <p:cNvSpPr>
            <a:spLocks noGrp="1"/>
          </p:cNvSpPr>
          <p:nvPr>
            <p:ph type="dt" sz="half" idx="10"/>
          </p:nvPr>
        </p:nvSpPr>
        <p:spPr/>
        <p:txBody>
          <a:bodyPr/>
          <a:lstStyle/>
          <a:p>
            <a:fld id="{14F30ED9-FCB1-5447-9794-AFD5F779FA3B}" type="datetime1">
              <a:rPr lang="en-US" smtClean="0"/>
              <a:t>7/6/26</a:t>
            </a:fld>
            <a:endParaRPr lang="en-US"/>
          </a:p>
        </p:txBody>
      </p:sp>
      <p:sp>
        <p:nvSpPr>
          <p:cNvPr id="6" name="Footer Placeholder 5">
            <a:extLst>
              <a:ext uri="{FF2B5EF4-FFF2-40B4-BE49-F238E27FC236}">
                <a16:creationId xmlns:a16="http://schemas.microsoft.com/office/drawing/2014/main" id="{D2646692-B664-9A1B-69AE-7EAA55E6C808}"/>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BEAE579E-2EBD-DCFD-488E-7D4D8A6274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646652161"/>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D89F60-72BE-0112-F6AB-FDF9D5265274}"/>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087395E-5F3E-85C5-01AF-8B5A395FF006}"/>
              </a:ext>
            </a:extLst>
          </p:cNvPr>
          <p:cNvSpPr>
            <a:spLocks noGrp="1"/>
          </p:cNvSpPr>
          <p:nvPr>
            <p:ph type="pic" idx="1"/>
          </p:nvPr>
        </p:nvSpPr>
        <p:spPr>
          <a:xfrm>
            <a:off x="5247978" y="1053254"/>
            <a:ext cx="6249353" cy="519853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7617A5B-9716-D4C8-864D-84AB8F3DF7AA}"/>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BA2244-8C79-D9DA-DEDF-531C692C6327}"/>
              </a:ext>
            </a:extLst>
          </p:cNvPr>
          <p:cNvSpPr>
            <a:spLocks noGrp="1"/>
          </p:cNvSpPr>
          <p:nvPr>
            <p:ph type="dt" sz="half" idx="10"/>
          </p:nvPr>
        </p:nvSpPr>
        <p:spPr/>
        <p:txBody>
          <a:bodyPr/>
          <a:lstStyle/>
          <a:p>
            <a:fld id="{DA073474-B78A-B243-B4FD-D7121F5357F7}" type="datetime1">
              <a:rPr lang="en-US" smtClean="0"/>
              <a:t>7/6/26</a:t>
            </a:fld>
            <a:endParaRPr lang="en-US"/>
          </a:p>
        </p:txBody>
      </p:sp>
      <p:sp>
        <p:nvSpPr>
          <p:cNvPr id="6" name="Footer Placeholder 5">
            <a:extLst>
              <a:ext uri="{FF2B5EF4-FFF2-40B4-BE49-F238E27FC236}">
                <a16:creationId xmlns:a16="http://schemas.microsoft.com/office/drawing/2014/main" id="{F48925A5-5811-EC41-095C-E6482D873996}"/>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9823A3D9-596F-C217-ADA1-150F7A06495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6003655"/>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1DCD6-4900-D307-8B3E-845F0B83D14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BDDC619-0D5E-261F-3E8E-3F35DAACDE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1CCCD90-30E8-04DC-218F-7B7549CB26CB}"/>
              </a:ext>
            </a:extLst>
          </p:cNvPr>
          <p:cNvSpPr>
            <a:spLocks noGrp="1"/>
          </p:cNvSpPr>
          <p:nvPr>
            <p:ph type="dt" sz="half" idx="10"/>
          </p:nvPr>
        </p:nvSpPr>
        <p:spPr/>
        <p:txBody>
          <a:bodyPr/>
          <a:lstStyle/>
          <a:p>
            <a:fld id="{5DD0E256-82DC-B742-83EE-95D668E2CF2A}" type="datetime1">
              <a:rPr lang="en-US" smtClean="0"/>
              <a:t>7/6/26</a:t>
            </a:fld>
            <a:endParaRPr lang="en-US"/>
          </a:p>
        </p:txBody>
      </p:sp>
      <p:sp>
        <p:nvSpPr>
          <p:cNvPr id="5" name="Footer Placeholder 4">
            <a:extLst>
              <a:ext uri="{FF2B5EF4-FFF2-40B4-BE49-F238E27FC236}">
                <a16:creationId xmlns:a16="http://schemas.microsoft.com/office/drawing/2014/main" id="{1D3EFA0D-D055-1B13-E297-61A43DE8F2B3}"/>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95AF7691-A6DA-9434-C090-1F588D69FC12}"/>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073727667"/>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87BDF5-EF24-0029-DCE1-7AC24EC7CFEF}"/>
              </a:ext>
            </a:extLst>
          </p:cNvPr>
          <p:cNvSpPr>
            <a:spLocks noGrp="1"/>
          </p:cNvSpPr>
          <p:nvPr>
            <p:ph type="title" orient="vert"/>
          </p:nvPr>
        </p:nvSpPr>
        <p:spPr>
          <a:xfrm>
            <a:off x="8833961" y="389467"/>
            <a:ext cx="2661761" cy="6199294"/>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3943A6-7D60-FE02-0DAD-FE1401B4EE15}"/>
              </a:ext>
            </a:extLst>
          </p:cNvPr>
          <p:cNvSpPr>
            <a:spLocks noGrp="1"/>
          </p:cNvSpPr>
          <p:nvPr>
            <p:ph type="body" orient="vert" idx="1"/>
          </p:nvPr>
        </p:nvSpPr>
        <p:spPr>
          <a:xfrm>
            <a:off x="848677" y="389467"/>
            <a:ext cx="7830979" cy="619929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F4A4EF-C246-3BC0-F8A4-2D40BC9CAA57}"/>
              </a:ext>
            </a:extLst>
          </p:cNvPr>
          <p:cNvSpPr>
            <a:spLocks noGrp="1"/>
          </p:cNvSpPr>
          <p:nvPr>
            <p:ph type="dt" sz="half" idx="10"/>
          </p:nvPr>
        </p:nvSpPr>
        <p:spPr/>
        <p:txBody>
          <a:bodyPr/>
          <a:lstStyle/>
          <a:p>
            <a:fld id="{6E08F2DA-B790-C342-8CF1-3B2B97F389FB}" type="datetime1">
              <a:rPr lang="en-US" smtClean="0"/>
              <a:t>7/6/26</a:t>
            </a:fld>
            <a:endParaRPr lang="en-US"/>
          </a:p>
        </p:txBody>
      </p:sp>
      <p:sp>
        <p:nvSpPr>
          <p:cNvPr id="5" name="Footer Placeholder 4">
            <a:extLst>
              <a:ext uri="{FF2B5EF4-FFF2-40B4-BE49-F238E27FC236}">
                <a16:creationId xmlns:a16="http://schemas.microsoft.com/office/drawing/2014/main" id="{21A78659-C8AF-161E-4E7D-5D3EEF219ED6}"/>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C46C2202-F3E0-D5DC-F7E2-566FC445139A}"/>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35359364"/>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0750729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0832AE-95EA-F660-E35B-9F761BA36B82}"/>
              </a:ext>
            </a:extLst>
          </p:cNvPr>
          <p:cNvSpPr>
            <a:spLocks noGrp="1"/>
          </p:cNvSpPr>
          <p:nvPr>
            <p:ph type="title"/>
          </p:nvPr>
        </p:nvSpPr>
        <p:spPr>
          <a:xfrm>
            <a:off x="848678" y="389467"/>
            <a:ext cx="10647045" cy="1413934"/>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4A31F6F-E4B0-5C59-F323-FC6476B0321D}"/>
              </a:ext>
            </a:extLst>
          </p:cNvPr>
          <p:cNvSpPr>
            <a:spLocks noGrp="1"/>
          </p:cNvSpPr>
          <p:nvPr>
            <p:ph type="body" idx="1"/>
          </p:nvPr>
        </p:nvSpPr>
        <p:spPr>
          <a:xfrm>
            <a:off x="848678" y="1947333"/>
            <a:ext cx="10647045" cy="464142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A68926-F5FE-4122-DF92-7B0B254C8718}"/>
              </a:ext>
            </a:extLst>
          </p:cNvPr>
          <p:cNvSpPr>
            <a:spLocks noGrp="1"/>
          </p:cNvSpPr>
          <p:nvPr>
            <p:ph type="dt" sz="half" idx="2"/>
          </p:nvPr>
        </p:nvSpPr>
        <p:spPr>
          <a:xfrm>
            <a:off x="848678" y="6780107"/>
            <a:ext cx="2777490" cy="389467"/>
          </a:xfrm>
          <a:prstGeom prst="rect">
            <a:avLst/>
          </a:prstGeom>
        </p:spPr>
        <p:txBody>
          <a:bodyPr vert="horz" lIns="91440" tIns="45720" rIns="91440" bIns="45720" rtlCol="0" anchor="ctr"/>
          <a:lstStyle>
            <a:lvl1pPr algn="l">
              <a:defRPr sz="1200">
                <a:solidFill>
                  <a:schemeClr val="tx1">
                    <a:tint val="82000"/>
                  </a:schemeClr>
                </a:solidFill>
              </a:defRPr>
            </a:lvl1pPr>
          </a:lstStyle>
          <a:p>
            <a:fld id="{905F453D-07D2-4A45-8FB4-9BC139C4CB3A}" type="datetime1">
              <a:rPr lang="en-US" smtClean="0"/>
              <a:t>7/6/26</a:t>
            </a:fld>
            <a:endParaRPr lang="en-US"/>
          </a:p>
        </p:txBody>
      </p:sp>
      <p:sp>
        <p:nvSpPr>
          <p:cNvPr id="5" name="Footer Placeholder 4">
            <a:extLst>
              <a:ext uri="{FF2B5EF4-FFF2-40B4-BE49-F238E27FC236}">
                <a16:creationId xmlns:a16="http://schemas.microsoft.com/office/drawing/2014/main" id="{6485CEA4-3B6B-7E59-4DDA-7365730F344D}"/>
              </a:ext>
            </a:extLst>
          </p:cNvPr>
          <p:cNvSpPr>
            <a:spLocks noGrp="1"/>
          </p:cNvSpPr>
          <p:nvPr>
            <p:ph type="ftr" sz="quarter" idx="3"/>
          </p:nvPr>
        </p:nvSpPr>
        <p:spPr>
          <a:xfrm>
            <a:off x="4089083" y="6780107"/>
            <a:ext cx="4166235" cy="389467"/>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Tennis Channel 2025 - CONFIDENTIAL</a:t>
            </a:r>
          </a:p>
        </p:txBody>
      </p:sp>
      <p:sp>
        <p:nvSpPr>
          <p:cNvPr id="6" name="Slide Number Placeholder 5">
            <a:extLst>
              <a:ext uri="{FF2B5EF4-FFF2-40B4-BE49-F238E27FC236}">
                <a16:creationId xmlns:a16="http://schemas.microsoft.com/office/drawing/2014/main" id="{3162949E-0088-40B8-643A-0F725CFA305F}"/>
              </a:ext>
            </a:extLst>
          </p:cNvPr>
          <p:cNvSpPr>
            <a:spLocks noGrp="1"/>
          </p:cNvSpPr>
          <p:nvPr>
            <p:ph type="sldNum" sz="quarter" idx="4"/>
          </p:nvPr>
        </p:nvSpPr>
        <p:spPr>
          <a:xfrm>
            <a:off x="8718233" y="6780107"/>
            <a:ext cx="2777490" cy="389467"/>
          </a:xfrm>
          <a:prstGeom prst="rect">
            <a:avLst/>
          </a:prstGeom>
        </p:spPr>
        <p:txBody>
          <a:bodyPr vert="horz" lIns="91440" tIns="45720" rIns="91440" bIns="45720" rtlCol="0" anchor="ctr"/>
          <a:lstStyle>
            <a:lvl1pPr algn="r">
              <a:defRPr sz="1200">
                <a:solidFill>
                  <a:schemeClr val="tx1">
                    <a:tint val="82000"/>
                  </a:schemeClr>
                </a:solidFill>
              </a:defRPr>
            </a:lvl1pPr>
          </a:lstStyle>
          <a:p>
            <a:fld id="{F6DAA944-EC5F-9D44-9E3D-812366C7D5CA}" type="slidenum">
              <a:rPr lang="en-US" smtClean="0"/>
              <a:t>‹#›</a:t>
            </a:fld>
            <a:endParaRPr lang="en-US"/>
          </a:p>
        </p:txBody>
      </p:sp>
    </p:spTree>
    <p:extLst>
      <p:ext uri="{BB962C8B-B14F-4D97-AF65-F5344CB8AC3E}">
        <p14:creationId xmlns:p14="http://schemas.microsoft.com/office/powerpoint/2010/main" val="41250136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 y="27691"/>
            <a:ext cx="12344091" cy="388849"/>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3" name="Text 1"/>
          <p:cNvSpPr/>
          <p:nvPr/>
        </p:nvSpPr>
        <p:spPr>
          <a:xfrm>
            <a:off x="1" y="38980"/>
            <a:ext cx="12344091" cy="388849"/>
          </a:xfrm>
          <a:prstGeom prst="rect">
            <a:avLst/>
          </a:prstGeom>
          <a:noFill/>
          <a:ln/>
        </p:spPr>
        <p:txBody>
          <a:bodyPr wrap="square" lIns="0" tIns="0" rIns="0" bIns="0" rtlCol="0" anchor="ctr"/>
          <a:lstStyle/>
          <a:p>
            <a:pPr algn="ctr"/>
            <a:r>
              <a:rPr lang="en-US" sz="1600" b="1" dirty="0">
                <a:solidFill>
                  <a:srgbClr val="000000"/>
                </a:solidFill>
                <a:latin typeface="Arial" panose="020B0604020202020204" pitchFamily="34" charset="0"/>
                <a:ea typeface="Arial" pitchFamily="34" charset="-122"/>
                <a:cs typeface="Arial" panose="020B0604020202020204" pitchFamily="34" charset="0"/>
              </a:rPr>
              <a:t>Tennis Channel Project SABR</a:t>
            </a:r>
            <a:endParaRPr lang="en-US" sz="1600" b="1" dirty="0">
              <a:latin typeface="Arial" panose="020B0604020202020204" pitchFamily="34" charset="0"/>
              <a:cs typeface="Arial" panose="020B0604020202020204" pitchFamily="34" charset="0"/>
            </a:endParaRPr>
          </a:p>
        </p:txBody>
      </p:sp>
      <p:sp>
        <p:nvSpPr>
          <p:cNvPr id="4" name="Shape 2"/>
          <p:cNvSpPr/>
          <p:nvPr/>
        </p:nvSpPr>
        <p:spPr>
          <a:xfrm>
            <a:off x="0" y="427829"/>
            <a:ext cx="12251509" cy="1017037"/>
          </a:xfrm>
          <a:prstGeom prst="rect">
            <a:avLst/>
          </a:prstGeom>
          <a:solidFill>
            <a:schemeClr val="bg1"/>
          </a:solidFill>
          <a:ln w="9525">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 name="Shape 3"/>
          <p:cNvSpPr/>
          <p:nvPr/>
        </p:nvSpPr>
        <p:spPr>
          <a:xfrm>
            <a:off x="92584" y="861593"/>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6" name="Shape 4"/>
          <p:cNvSpPr/>
          <p:nvPr/>
        </p:nvSpPr>
        <p:spPr>
          <a:xfrm>
            <a:off x="92584" y="1213409"/>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7" name="Shape 5"/>
          <p:cNvSpPr/>
          <p:nvPr/>
        </p:nvSpPr>
        <p:spPr>
          <a:xfrm>
            <a:off x="925830" y="611619"/>
            <a:ext cx="0" cy="833247"/>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8" name="Text 6"/>
          <p:cNvSpPr/>
          <p:nvPr/>
        </p:nvSpPr>
        <p:spPr>
          <a:xfrm>
            <a:off x="148133" y="611619"/>
            <a:ext cx="759181" cy="249974"/>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OWNERS</a:t>
            </a:r>
            <a:endParaRPr lang="en-US" sz="810" dirty="0">
              <a:latin typeface="Arial" panose="020B0604020202020204" pitchFamily="34" charset="0"/>
              <a:cs typeface="Arial" panose="020B0604020202020204" pitchFamily="34" charset="0"/>
            </a:endParaRPr>
          </a:p>
        </p:txBody>
      </p:sp>
      <p:sp>
        <p:nvSpPr>
          <p:cNvPr id="9" name="Text 7"/>
          <p:cNvSpPr/>
          <p:nvPr/>
        </p:nvSpPr>
        <p:spPr>
          <a:xfrm>
            <a:off x="981380"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Keff Ratcliffe</a:t>
            </a:r>
            <a:endParaRPr lang="en-US" sz="911" dirty="0">
              <a:latin typeface="Arial" panose="020B0604020202020204" pitchFamily="34" charset="0"/>
              <a:cs typeface="Arial" panose="020B0604020202020204" pitchFamily="34" charset="0"/>
            </a:endParaRPr>
          </a:p>
        </p:txBody>
      </p:sp>
      <p:sp>
        <p:nvSpPr>
          <p:cNvPr id="10" name="Text 8"/>
          <p:cNvSpPr/>
          <p:nvPr/>
        </p:nvSpPr>
        <p:spPr>
          <a:xfrm>
            <a:off x="3246516"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Aditya Pande</a:t>
            </a:r>
            <a:endParaRPr lang="en-US" sz="911" dirty="0">
              <a:latin typeface="Arial" panose="020B0604020202020204" pitchFamily="34" charset="0"/>
              <a:cs typeface="Arial" panose="020B0604020202020204" pitchFamily="34" charset="0"/>
            </a:endParaRPr>
          </a:p>
        </p:txBody>
      </p:sp>
      <p:sp>
        <p:nvSpPr>
          <p:cNvPr id="11" name="Text 9"/>
          <p:cNvSpPr/>
          <p:nvPr/>
        </p:nvSpPr>
        <p:spPr>
          <a:xfrm>
            <a:off x="5511652"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Cristina Thompson</a:t>
            </a:r>
            <a:endParaRPr lang="en-US" sz="911" dirty="0">
              <a:latin typeface="Arial" panose="020B0604020202020204" pitchFamily="34" charset="0"/>
              <a:cs typeface="Arial" panose="020B0604020202020204" pitchFamily="34" charset="0"/>
            </a:endParaRPr>
          </a:p>
        </p:txBody>
      </p:sp>
      <p:sp>
        <p:nvSpPr>
          <p:cNvPr id="12" name="Text 10"/>
          <p:cNvSpPr/>
          <p:nvPr/>
        </p:nvSpPr>
        <p:spPr>
          <a:xfrm>
            <a:off x="7776787"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Juan Valdes</a:t>
            </a:r>
            <a:endParaRPr lang="en-US" sz="911" dirty="0">
              <a:latin typeface="Arial" panose="020B0604020202020204" pitchFamily="34" charset="0"/>
              <a:cs typeface="Arial" panose="020B0604020202020204" pitchFamily="34" charset="0"/>
            </a:endParaRPr>
          </a:p>
        </p:txBody>
      </p:sp>
      <p:sp>
        <p:nvSpPr>
          <p:cNvPr id="13" name="Text 11"/>
          <p:cNvSpPr/>
          <p:nvPr/>
        </p:nvSpPr>
        <p:spPr>
          <a:xfrm>
            <a:off x="10041923"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Chris Krueger</a:t>
            </a:r>
            <a:endParaRPr lang="en-US" sz="911" dirty="0">
              <a:latin typeface="Arial" panose="020B0604020202020204" pitchFamily="34" charset="0"/>
              <a:cs typeface="Arial" panose="020B0604020202020204" pitchFamily="34" charset="0"/>
            </a:endParaRPr>
          </a:p>
        </p:txBody>
      </p:sp>
      <p:sp>
        <p:nvSpPr>
          <p:cNvPr id="14" name="Text 12"/>
          <p:cNvSpPr/>
          <p:nvPr/>
        </p:nvSpPr>
        <p:spPr>
          <a:xfrm>
            <a:off x="148133" y="861594"/>
            <a:ext cx="759181" cy="351815"/>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GOAL</a:t>
            </a:r>
            <a:endParaRPr lang="en-US" sz="810" dirty="0">
              <a:latin typeface="Arial" panose="020B0604020202020204" pitchFamily="34" charset="0"/>
              <a:cs typeface="Arial" panose="020B0604020202020204" pitchFamily="34" charset="0"/>
            </a:endParaRPr>
          </a:p>
        </p:txBody>
      </p:sp>
      <p:sp>
        <p:nvSpPr>
          <p:cNvPr id="15" name="Text 13"/>
          <p:cNvSpPr/>
          <p:nvPr/>
        </p:nvSpPr>
        <p:spPr>
          <a:xfrm>
            <a:off x="981380" y="861594"/>
            <a:ext cx="11233095" cy="351815"/>
          </a:xfrm>
          <a:prstGeom prst="rect">
            <a:avLst/>
          </a:prstGeom>
          <a:noFill/>
          <a:ln/>
        </p:spPr>
        <p:txBody>
          <a:bodyPr wrap="square" lIns="0" tIns="0" rIns="0" bIns="0" rtlCol="0" anchor="ctr"/>
          <a:lstStyle/>
          <a:p>
            <a:r>
              <a:rPr lang="en-US" sz="861" dirty="0">
                <a:solidFill>
                  <a:srgbClr val="1A1A1A"/>
                </a:solidFill>
                <a:latin typeface="Arial" panose="020B0604020202020204" pitchFamily="34" charset="0"/>
                <a:ea typeface="Calibri" pitchFamily="34" charset="-122"/>
                <a:cs typeface="Arial" panose="020B0604020202020204" pitchFamily="34" charset="0"/>
              </a:rPr>
              <a:t>Rebuilding Tennis Channel OTT (web, iOS, Android, CTV) on its own platform, powered by Match Central replacing Sport Radar stack.</a:t>
            </a:r>
            <a:endParaRPr lang="en-US" sz="861" dirty="0">
              <a:latin typeface="Arial" panose="020B0604020202020204" pitchFamily="34" charset="0"/>
              <a:cs typeface="Arial" panose="020B0604020202020204" pitchFamily="34" charset="0"/>
            </a:endParaRPr>
          </a:p>
        </p:txBody>
      </p:sp>
      <p:sp>
        <p:nvSpPr>
          <p:cNvPr id="16" name="Text 14"/>
          <p:cNvSpPr/>
          <p:nvPr/>
        </p:nvSpPr>
        <p:spPr>
          <a:xfrm>
            <a:off x="148133" y="1213409"/>
            <a:ext cx="759181" cy="231458"/>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LAUNCH</a:t>
            </a:r>
            <a:endParaRPr lang="en-US" sz="810" dirty="0">
              <a:latin typeface="Arial" panose="020B0604020202020204" pitchFamily="34" charset="0"/>
              <a:cs typeface="Arial" panose="020B0604020202020204" pitchFamily="34" charset="0"/>
            </a:endParaRPr>
          </a:p>
        </p:txBody>
      </p:sp>
      <p:sp>
        <p:nvSpPr>
          <p:cNvPr id="17" name="Text 15"/>
          <p:cNvSpPr/>
          <p:nvPr/>
        </p:nvSpPr>
        <p:spPr>
          <a:xfrm>
            <a:off x="981380" y="1213409"/>
            <a:ext cx="11233095" cy="231458"/>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December 1, 2026</a:t>
            </a:r>
            <a:endParaRPr lang="en-US" sz="911" dirty="0">
              <a:latin typeface="Arial" panose="020B0604020202020204" pitchFamily="34" charset="0"/>
              <a:cs typeface="Arial" panose="020B0604020202020204" pitchFamily="34" charset="0"/>
            </a:endParaRPr>
          </a:p>
        </p:txBody>
      </p:sp>
      <p:sp>
        <p:nvSpPr>
          <p:cNvPr id="18" name="Shape 16"/>
          <p:cNvSpPr/>
          <p:nvPr/>
        </p:nvSpPr>
        <p:spPr>
          <a:xfrm>
            <a:off x="0" y="1463382"/>
            <a:ext cx="12251509" cy="312747"/>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9" name="Text 17"/>
          <p:cNvSpPr/>
          <p:nvPr/>
        </p:nvSpPr>
        <p:spPr>
          <a:xfrm>
            <a:off x="92584" y="1463383"/>
            <a:ext cx="12158925" cy="249974"/>
          </a:xfrm>
          <a:prstGeom prst="rect">
            <a:avLst/>
          </a:prstGeom>
          <a:noFill/>
          <a:ln/>
        </p:spPr>
        <p:txBody>
          <a:bodyPr wrap="square" lIns="0" tIns="102870" rIns="0" bIns="0" rtlCol="0" anchor="ctr"/>
          <a:lstStyle/>
          <a:p>
            <a:r>
              <a:rPr lang="en-US" sz="1114" b="1" dirty="0">
                <a:solidFill>
                  <a:srgbClr val="000000"/>
                </a:solidFill>
                <a:latin typeface="Arial" panose="020B0604020202020204" pitchFamily="34" charset="0"/>
                <a:ea typeface="Calibri" pitchFamily="34" charset="-122"/>
                <a:cs typeface="Arial" panose="020B0604020202020204" pitchFamily="34" charset="0"/>
              </a:rPr>
              <a:t>This Week</a:t>
            </a:r>
            <a:endParaRPr lang="en-US" sz="1114" b="1" dirty="0">
              <a:latin typeface="Arial" panose="020B0604020202020204" pitchFamily="34" charset="0"/>
              <a:cs typeface="Arial" panose="020B0604020202020204" pitchFamily="34" charset="0"/>
            </a:endParaRPr>
          </a:p>
        </p:txBody>
      </p:sp>
      <p:sp>
        <p:nvSpPr>
          <p:cNvPr id="20" name="Shape 18"/>
          <p:cNvSpPr/>
          <p:nvPr/>
        </p:nvSpPr>
        <p:spPr>
          <a:xfrm>
            <a:off x="0" y="1787423"/>
            <a:ext cx="12344400" cy="5488784"/>
          </a:xfrm>
          <a:prstGeom prst="rect">
            <a:avLst/>
          </a:prstGeom>
          <a:solidFill>
            <a:schemeClr val="bg1"/>
          </a:solidFill>
          <a:ln w="9525">
            <a:solidFill>
              <a:srgbClr val="D1D5DB"/>
            </a:solidFill>
            <a:prstDash val="solid"/>
          </a:ln>
        </p:spPr>
        <p:txBody>
          <a:bodyPr/>
          <a:lstStyle/>
          <a:p>
            <a:pPr lvl="0">
              <a:buClr>
                <a:srgbClr val="000000"/>
              </a:buClr>
              <a:defRPr/>
            </a:pPr>
            <a:r>
              <a:rPr lang="en-US" sz="1200" b="1" dirty="0">
                <a:solidFill>
                  <a:srgbClr val="0A0A0A"/>
                </a:solidFill>
                <a:highlight>
                  <a:srgbClr val="FFFFFF"/>
                </a:highlight>
                <a:latin typeface="Arial" panose="020B0604020202020204" pitchFamily="34" charset="0"/>
                <a:cs typeface="Arial" panose="020B0604020202020204" pitchFamily="34" charset="0"/>
              </a:rPr>
              <a:t>7/8 Update</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Amagi (Streaming Orchestration) - Several long-standing design questions were resolved this week: the Prime/Ward acknowledgment schema, day-boundary event grouping, and the manual start/stop orchestration model. The remaining open question is how to cut off viewers of a finished match on a shared stream without disrupting others; Amagi is researching a CDN-edge/token approach and owes an estimate by the July 8 call. DRM credentials are due Friday, message-level testing with dummy data starts the week of July 6, and Amagi's full orchestration readiness is targeted for July 15.</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Adobe Pass / MVPD - The Adobe Pass integration is transitioning from setup into implementation. The registered application and API documentation are in hand, and Tennis Channel is reviewing the implementation package while configuring domain whitelisting and platform settings. On the app side, a basic prototype of the provider authentication flow is built and currently hardcoded to DirecTV for testing. Recurring working sessions are being scheduled, with a possible dedicated Slack channel to speed up onboarding.</a:t>
            </a:r>
          </a:p>
          <a:p>
            <a:endParaRPr lang="en-US" sz="1215" dirty="0">
              <a:latin typeface="Arial" panose="020B0604020202020204" pitchFamily="34" charset="0"/>
              <a:cs typeface="Arial" panose="020B0604020202020204" pitchFamily="34" charset="0"/>
            </a:endParaRPr>
          </a:p>
          <a:p>
            <a:r>
              <a:rPr lang="en-US" sz="1215" dirty="0" err="1">
                <a:latin typeface="Arial" panose="020B0604020202020204" pitchFamily="34" charset="0"/>
                <a:cs typeface="Arial" panose="020B0604020202020204" pitchFamily="34" charset="0"/>
              </a:rPr>
              <a:t>Foxxum</a:t>
            </a:r>
            <a:r>
              <a:rPr lang="en-US" sz="1215" dirty="0">
                <a:latin typeface="Arial" panose="020B0604020202020204" pitchFamily="34" charset="0"/>
                <a:cs typeface="Arial" panose="020B0604020202020204" pitchFamily="34" charset="0"/>
              </a:rPr>
              <a:t> - Technical discovery is progressing well, with both teams aligned on the target architecture for authentication, subscription, playback, and platform integration. Focus is now shifting from architecture to execution: documentation, provisioning </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finalizing API definitions, and validating implementation across platforms. No major blockers were identified, though documentation and third-party environment delays remain a watch item.</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Platform Engineering (Website &amp; Mobile) On the new website, the front-end foundation shipped and CMS, carousel,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and Adobe Pass work are all progressing, alongside an early proof-of-concept test of the video player. On mobile, the app moved off mock data onto the live backend across Home, Live, Schedule, and Tournaments, entitlement and login groundwork is in place ahead of the real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backend, and DRM stubs were handed to Amagi for integration testing.</a:t>
            </a:r>
          </a:p>
        </p:txBody>
      </p:sp>
      <p:sp>
        <p:nvSpPr>
          <p:cNvPr id="21" name="Text 19"/>
          <p:cNvSpPr/>
          <p:nvPr/>
        </p:nvSpPr>
        <p:spPr>
          <a:xfrm>
            <a:off x="231458" y="1787423"/>
            <a:ext cx="12020051" cy="4832833"/>
          </a:xfrm>
          <a:prstGeom prst="rect">
            <a:avLst/>
          </a:prstGeom>
          <a:noFill/>
          <a:ln/>
        </p:spPr>
        <p:txBody>
          <a:bodyPr wrap="square" rtlCol="0" anchor="t"/>
          <a:lstStyle/>
          <a:p>
            <a:pPr>
              <a:spcAft>
                <a:spcPts val="608"/>
              </a:spcAft>
            </a:pPr>
            <a:endParaRPr lang="en-US" sz="1164" dirty="0">
              <a:latin typeface="Arial" panose="020B0604020202020204" pitchFamily="34" charset="0"/>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Jul 8,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530352"/>
          </a:xfrm>
          <a:prstGeom prst="rect">
            <a:avLst/>
          </a:prstGeom>
          <a:solidFill>
            <a:srgbClr val="FFFFFF"/>
          </a:solidFill>
          <a:ln w="3175">
            <a:solidFill>
              <a:srgbClr val="E5E7EB"/>
            </a:solidFill>
            <a:prstDash val="solid"/>
          </a:ln>
        </p:spPr>
      </p:sp>
      <p:sp>
        <p:nvSpPr>
          <p:cNvPr id="9" name="Text 7"/>
          <p:cNvSpPr/>
          <p:nvPr/>
        </p:nvSpPr>
        <p:spPr>
          <a:xfrm>
            <a:off x="164592"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Redlined from TC legal, Bitmovin reviewing.</a:t>
            </a:r>
            <a:endParaRPr lang="en-US" sz="650" dirty="0"/>
          </a:p>
        </p:txBody>
      </p:sp>
      <p:sp>
        <p:nvSpPr>
          <p:cNvPr id="11" name="Shape 9"/>
          <p:cNvSpPr/>
          <p:nvPr/>
        </p:nvSpPr>
        <p:spPr>
          <a:xfrm>
            <a:off x="5230368" y="955548"/>
            <a:ext cx="822960" cy="173736"/>
          </a:xfrm>
          <a:prstGeom prst="roundRect">
            <a:avLst>
              <a:gd name="adj" fmla="val 15789"/>
            </a:avLst>
          </a:prstGeom>
          <a:solidFill>
            <a:srgbClr val="1558A8"/>
          </a:solidFill>
          <a:ln w="12700">
            <a:solidFill>
              <a:srgbClr val="1558A8"/>
            </a:solidFill>
            <a:prstDash val="solid"/>
          </a:ln>
        </p:spPr>
      </p:sp>
      <p:sp>
        <p:nvSpPr>
          <p:cNvPr id="12" name="Text 10"/>
          <p:cNvSpPr/>
          <p:nvPr/>
        </p:nvSpPr>
        <p:spPr>
          <a:xfrm>
            <a:off x="5230368"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3" name="Shape 11"/>
          <p:cNvSpPr/>
          <p:nvPr/>
        </p:nvSpPr>
        <p:spPr>
          <a:xfrm>
            <a:off x="91440" y="1307592"/>
            <a:ext cx="6016752" cy="0"/>
          </a:xfrm>
          <a:prstGeom prst="line">
            <a:avLst/>
          </a:prstGeom>
          <a:noFill/>
          <a:ln w="6350">
            <a:solidFill>
              <a:srgbClr val="E5E7EB"/>
            </a:solidFill>
            <a:prstDash val="solid"/>
          </a:ln>
        </p:spPr>
      </p:sp>
      <p:sp>
        <p:nvSpPr>
          <p:cNvPr id="14" name="Text 12"/>
          <p:cNvSpPr/>
          <p:nvPr/>
        </p:nvSpPr>
        <p:spPr>
          <a:xfrm>
            <a:off x="164592"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We are good. Just need to find out who owns the original contract and review renewal dates. Keff owns.</a:t>
            </a:r>
            <a:endParaRPr lang="en-US" sz="650" dirty="0"/>
          </a:p>
        </p:txBody>
      </p:sp>
      <p:sp>
        <p:nvSpPr>
          <p:cNvPr id="16" name="Shape 14"/>
          <p:cNvSpPr/>
          <p:nvPr/>
        </p:nvSpPr>
        <p:spPr>
          <a:xfrm>
            <a:off x="5230368" y="1485900"/>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485900"/>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837944"/>
            <a:ext cx="6016752" cy="530352"/>
          </a:xfrm>
          <a:prstGeom prst="rect">
            <a:avLst/>
          </a:prstGeom>
          <a:solidFill>
            <a:srgbClr val="FFFFFF"/>
          </a:solidFill>
          <a:ln w="3175">
            <a:solidFill>
              <a:srgbClr val="E5E7EB"/>
            </a:solidFill>
            <a:prstDash val="solid"/>
          </a:ln>
        </p:spPr>
      </p:sp>
      <p:sp>
        <p:nvSpPr>
          <p:cNvPr id="19" name="Shape 17"/>
          <p:cNvSpPr/>
          <p:nvPr/>
        </p:nvSpPr>
        <p:spPr>
          <a:xfrm>
            <a:off x="91440" y="1837944"/>
            <a:ext cx="6016752" cy="0"/>
          </a:xfrm>
          <a:prstGeom prst="line">
            <a:avLst/>
          </a:prstGeom>
          <a:noFill/>
          <a:ln w="6350">
            <a:solidFill>
              <a:srgbClr val="E5E7EB"/>
            </a:solidFill>
            <a:prstDash val="solid"/>
          </a:ln>
        </p:spPr>
      </p:sp>
      <p:sp>
        <p:nvSpPr>
          <p:cNvPr id="20" name="Text 18"/>
          <p:cNvSpPr/>
          <p:nvPr/>
        </p:nvSpPr>
        <p:spPr>
          <a:xfrm>
            <a:off x="164592"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Amagi Contract Cost Review: Provide Sinclair with details on cost savings for Amagi by following up with Mike Kralik and Kevin Kotlove. (Ari)</a:t>
            </a:r>
            <a:endParaRPr lang="en-US" sz="650" dirty="0"/>
          </a:p>
        </p:txBody>
      </p:sp>
      <p:sp>
        <p:nvSpPr>
          <p:cNvPr id="22" name="Shape 20"/>
          <p:cNvSpPr/>
          <p:nvPr/>
        </p:nvSpPr>
        <p:spPr>
          <a:xfrm>
            <a:off x="5230368" y="2016252"/>
            <a:ext cx="822960" cy="173736"/>
          </a:xfrm>
          <a:prstGeom prst="roundRect">
            <a:avLst>
              <a:gd name="adj" fmla="val 15789"/>
            </a:avLst>
          </a:prstGeom>
          <a:solidFill>
            <a:srgbClr val="1558A8"/>
          </a:solidFill>
          <a:ln w="12700">
            <a:solidFill>
              <a:srgbClr val="1558A8"/>
            </a:solidFill>
            <a:prstDash val="solid"/>
          </a:ln>
        </p:spPr>
      </p:sp>
      <p:sp>
        <p:nvSpPr>
          <p:cNvPr id="23" name="Text 21"/>
          <p:cNvSpPr/>
          <p:nvPr/>
        </p:nvSpPr>
        <p:spPr>
          <a:xfrm>
            <a:off x="5230368"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4" name="Shape 22"/>
          <p:cNvSpPr/>
          <p:nvPr/>
        </p:nvSpPr>
        <p:spPr>
          <a:xfrm>
            <a:off x="91440" y="2368296"/>
            <a:ext cx="6016752" cy="0"/>
          </a:xfrm>
          <a:prstGeom prst="line">
            <a:avLst/>
          </a:prstGeom>
          <a:noFill/>
          <a:ln w="6350">
            <a:solidFill>
              <a:srgbClr val="E5E7EB"/>
            </a:solidFill>
            <a:prstDash val="solid"/>
          </a:ln>
        </p:spPr>
      </p:sp>
      <p:sp>
        <p:nvSpPr>
          <p:cNvPr id="25" name="Text 23"/>
          <p:cNvSpPr/>
          <p:nvPr/>
        </p:nvSpPr>
        <p:spPr>
          <a:xfrm>
            <a:off x="164592"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Redlined, contract sent out to FOXXUM for review on 7/2.</a:t>
            </a:r>
            <a:endParaRPr lang="en-US" sz="650" dirty="0"/>
          </a:p>
        </p:txBody>
      </p:sp>
      <p:sp>
        <p:nvSpPr>
          <p:cNvPr id="27" name="Shape 25"/>
          <p:cNvSpPr/>
          <p:nvPr/>
        </p:nvSpPr>
        <p:spPr>
          <a:xfrm>
            <a:off x="5230368" y="2546604"/>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898648"/>
            <a:ext cx="6016752" cy="530352"/>
          </a:xfrm>
          <a:prstGeom prst="rect">
            <a:avLst/>
          </a:prstGeom>
          <a:solidFill>
            <a:srgbClr val="FFFFFF"/>
          </a:solidFill>
          <a:ln w="3175">
            <a:solidFill>
              <a:srgbClr val="E5E7EB"/>
            </a:solidFill>
            <a:prstDash val="solid"/>
          </a:ln>
        </p:spPr>
      </p:sp>
      <p:sp>
        <p:nvSpPr>
          <p:cNvPr id="30" name="Shape 28"/>
          <p:cNvSpPr/>
          <p:nvPr/>
        </p:nvSpPr>
        <p:spPr>
          <a:xfrm>
            <a:off x="91440" y="2898648"/>
            <a:ext cx="6016752" cy="0"/>
          </a:xfrm>
          <a:prstGeom prst="line">
            <a:avLst/>
          </a:prstGeom>
          <a:noFill/>
          <a:ln w="6350">
            <a:solidFill>
              <a:srgbClr val="E5E7EB"/>
            </a:solidFill>
            <a:prstDash val="solid"/>
          </a:ln>
        </p:spPr>
      </p:sp>
      <p:sp>
        <p:nvSpPr>
          <p:cNvPr id="31" name="Text 29"/>
          <p:cNvSpPr/>
          <p:nvPr/>
        </p:nvSpPr>
        <p:spPr>
          <a:xfrm>
            <a:off x="164592"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2" name="Text 30"/>
          <p:cNvSpPr/>
          <p:nvPr/>
        </p:nvSpPr>
        <p:spPr>
          <a:xfrm>
            <a:off x="960120"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Discussions will begin end of week or first week of July. Due by end of July.</a:t>
            </a:r>
            <a:endParaRPr lang="en-US" sz="650" dirty="0"/>
          </a:p>
        </p:txBody>
      </p:sp>
      <p:sp>
        <p:nvSpPr>
          <p:cNvPr id="33" name="Shape 31"/>
          <p:cNvSpPr/>
          <p:nvPr/>
        </p:nvSpPr>
        <p:spPr>
          <a:xfrm>
            <a:off x="5230368" y="3076956"/>
            <a:ext cx="822960" cy="173736"/>
          </a:xfrm>
          <a:prstGeom prst="roundRect">
            <a:avLst>
              <a:gd name="adj" fmla="val 15789"/>
            </a:avLst>
          </a:prstGeom>
          <a:solidFill>
            <a:srgbClr val="1558A8"/>
          </a:solidFill>
          <a:ln w="12700">
            <a:solidFill>
              <a:srgbClr val="1558A8"/>
            </a:solidFill>
            <a:prstDash val="solid"/>
          </a:ln>
        </p:spPr>
      </p:sp>
      <p:sp>
        <p:nvSpPr>
          <p:cNvPr id="34" name="Text 32"/>
          <p:cNvSpPr/>
          <p:nvPr/>
        </p:nvSpPr>
        <p:spPr>
          <a:xfrm>
            <a:off x="5230368"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35" name="Shape 33"/>
          <p:cNvSpPr/>
          <p:nvPr/>
        </p:nvSpPr>
        <p:spPr>
          <a:xfrm>
            <a:off x="6236208" y="502920"/>
            <a:ext cx="6016752" cy="2926080"/>
          </a:xfrm>
          <a:prstGeom prst="rect">
            <a:avLst/>
          </a:prstGeom>
          <a:solidFill>
            <a:srgbClr val="FAFBFC"/>
          </a:solidFill>
          <a:ln w="9525">
            <a:solidFill>
              <a:srgbClr val="D1D5DB"/>
            </a:solidFill>
            <a:prstDash val="solid"/>
          </a:ln>
        </p:spPr>
      </p:sp>
      <p:sp>
        <p:nvSpPr>
          <p:cNvPr id="36" name="Shape 34"/>
          <p:cNvSpPr/>
          <p:nvPr/>
        </p:nvSpPr>
        <p:spPr>
          <a:xfrm>
            <a:off x="6236208" y="502920"/>
            <a:ext cx="6016752" cy="274320"/>
          </a:xfrm>
          <a:prstGeom prst="rect">
            <a:avLst/>
          </a:prstGeom>
          <a:solidFill>
            <a:srgbClr val="8ED973"/>
          </a:solidFill>
          <a:ln w="12700">
            <a:solidFill>
              <a:srgbClr val="8ED973"/>
            </a:solidFill>
            <a:prstDash val="solid"/>
          </a:ln>
        </p:spPr>
      </p:sp>
      <p:sp>
        <p:nvSpPr>
          <p:cNvPr id="37" name="Text 35"/>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38" name="Shape 36"/>
          <p:cNvSpPr/>
          <p:nvPr/>
        </p:nvSpPr>
        <p:spPr>
          <a:xfrm>
            <a:off x="6236208" y="777240"/>
            <a:ext cx="6016752" cy="662940"/>
          </a:xfrm>
          <a:prstGeom prst="rect">
            <a:avLst/>
          </a:prstGeom>
          <a:solidFill>
            <a:srgbClr val="FFFFFF"/>
          </a:solidFill>
          <a:ln w="3175">
            <a:solidFill>
              <a:srgbClr val="E5E7EB"/>
            </a:solidFill>
            <a:prstDash val="solid"/>
          </a:ln>
        </p:spPr>
      </p:sp>
      <p:sp>
        <p:nvSpPr>
          <p:cNvPr id="39" name="Text 37"/>
          <p:cNvSpPr/>
          <p:nvPr/>
        </p:nvSpPr>
        <p:spPr>
          <a:xfrm>
            <a:off x="6309360" y="795528"/>
            <a:ext cx="777240" cy="626364"/>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40" name="Text 38"/>
          <p:cNvSpPr/>
          <p:nvPr/>
        </p:nvSpPr>
        <p:spPr>
          <a:xfrm>
            <a:off x="7104888" y="804672"/>
            <a:ext cx="4178808" cy="608076"/>
          </a:xfrm>
          <a:prstGeom prst="rect">
            <a:avLst/>
          </a:prstGeom>
          <a:noFill/>
          <a:ln/>
        </p:spPr>
        <p:txBody>
          <a:bodyPr wrap="square" lIns="0" tIns="0" rIns="0" bIns="0" rtlCol="0" anchor="t"/>
          <a:lstStyle/>
          <a:p>
            <a:pPr indent="0" marL="0">
              <a:buNone/>
            </a:pPr>
            <a:r>
              <a:rPr lang="en-US" sz="650" dirty="0">
                <a:solidFill>
                  <a:srgbClr val="374151"/>
                </a:solidFill>
              </a:rPr>
              <a:t>Added automatic tracking of what users do in the app (screens viewed, buttons tapped) and instant alerts when something breaks, so issues get caught and fixed faster instead of relying on user reports.</a:t>
            </a:r>
            <a:endParaRPr lang="en-US" sz="650" dirty="0"/>
          </a:p>
        </p:txBody>
      </p:sp>
      <p:sp>
        <p:nvSpPr>
          <p:cNvPr id="41" name="Shape 39"/>
          <p:cNvSpPr/>
          <p:nvPr/>
        </p:nvSpPr>
        <p:spPr>
          <a:xfrm>
            <a:off x="11375136" y="1021842"/>
            <a:ext cx="822960" cy="173736"/>
          </a:xfrm>
          <a:prstGeom prst="roundRect">
            <a:avLst>
              <a:gd name="adj" fmla="val 15789"/>
            </a:avLst>
          </a:prstGeom>
          <a:solidFill>
            <a:srgbClr val="1558A8"/>
          </a:solidFill>
          <a:ln w="12700">
            <a:solidFill>
              <a:srgbClr val="1558A8"/>
            </a:solidFill>
            <a:prstDash val="solid"/>
          </a:ln>
        </p:spPr>
      </p:sp>
      <p:sp>
        <p:nvSpPr>
          <p:cNvPr id="42" name="Text 40"/>
          <p:cNvSpPr/>
          <p:nvPr/>
        </p:nvSpPr>
        <p:spPr>
          <a:xfrm>
            <a:off x="11375136" y="102184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3" name="Shape 41"/>
          <p:cNvSpPr/>
          <p:nvPr/>
        </p:nvSpPr>
        <p:spPr>
          <a:xfrm>
            <a:off x="6236208" y="1440180"/>
            <a:ext cx="6016752" cy="0"/>
          </a:xfrm>
          <a:prstGeom prst="line">
            <a:avLst/>
          </a:prstGeom>
          <a:noFill/>
          <a:ln w="6350">
            <a:solidFill>
              <a:srgbClr val="E5E7EB"/>
            </a:solidFill>
            <a:prstDash val="solid"/>
          </a:ln>
        </p:spPr>
      </p:sp>
      <p:sp>
        <p:nvSpPr>
          <p:cNvPr id="44" name="Text 42"/>
          <p:cNvSpPr/>
          <p:nvPr/>
        </p:nvSpPr>
        <p:spPr>
          <a:xfrm>
            <a:off x="6309360" y="1458468"/>
            <a:ext cx="777240" cy="626364"/>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45" name="Text 43"/>
          <p:cNvSpPr/>
          <p:nvPr/>
        </p:nvSpPr>
        <p:spPr>
          <a:xfrm>
            <a:off x="7104888" y="1467612"/>
            <a:ext cx="4178808" cy="608076"/>
          </a:xfrm>
          <a:prstGeom prst="rect">
            <a:avLst/>
          </a:prstGeom>
          <a:noFill/>
          <a:ln/>
        </p:spPr>
        <p:txBody>
          <a:bodyPr wrap="square" lIns="0" tIns="0" rIns="0" bIns="0" rtlCol="0" anchor="t"/>
          <a:lstStyle/>
          <a:p>
            <a:pPr indent="0" marL="0">
              <a:buNone/>
            </a:pPr>
            <a:r>
              <a:rPr lang="en-US" sz="650" dirty="0">
                <a:solidFill>
                  <a:srgbClr val="374151"/>
                </a:solidFill>
              </a:rPr>
              <a:t>Migrated the app off mock data onto the live backend (Home, Live, Schedule, Tournaments now show real content and real playback). Shipped ~35 merged updates.</a:t>
            </a:r>
            <a:endParaRPr lang="en-US" sz="650" dirty="0"/>
          </a:p>
        </p:txBody>
      </p:sp>
      <p:sp>
        <p:nvSpPr>
          <p:cNvPr id="46" name="Shape 44"/>
          <p:cNvSpPr/>
          <p:nvPr/>
        </p:nvSpPr>
        <p:spPr>
          <a:xfrm>
            <a:off x="11375136" y="1684782"/>
            <a:ext cx="822960" cy="173736"/>
          </a:xfrm>
          <a:prstGeom prst="roundRect">
            <a:avLst>
              <a:gd name="adj" fmla="val 15789"/>
            </a:avLst>
          </a:prstGeom>
          <a:solidFill>
            <a:srgbClr val="1558A8"/>
          </a:solidFill>
          <a:ln w="12700">
            <a:solidFill>
              <a:srgbClr val="1558A8"/>
            </a:solidFill>
            <a:prstDash val="solid"/>
          </a:ln>
        </p:spPr>
      </p:sp>
      <p:sp>
        <p:nvSpPr>
          <p:cNvPr id="47" name="Text 45"/>
          <p:cNvSpPr/>
          <p:nvPr/>
        </p:nvSpPr>
        <p:spPr>
          <a:xfrm>
            <a:off x="11375136" y="168478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8" name="Shape 46"/>
          <p:cNvSpPr/>
          <p:nvPr/>
        </p:nvSpPr>
        <p:spPr>
          <a:xfrm>
            <a:off x="6236208" y="2103120"/>
            <a:ext cx="6016752" cy="662940"/>
          </a:xfrm>
          <a:prstGeom prst="rect">
            <a:avLst/>
          </a:prstGeom>
          <a:solidFill>
            <a:srgbClr val="FFFFFF"/>
          </a:solidFill>
          <a:ln w="3175">
            <a:solidFill>
              <a:srgbClr val="E5E7EB"/>
            </a:solidFill>
            <a:prstDash val="solid"/>
          </a:ln>
        </p:spPr>
      </p:sp>
      <p:sp>
        <p:nvSpPr>
          <p:cNvPr id="49" name="Shape 47"/>
          <p:cNvSpPr/>
          <p:nvPr/>
        </p:nvSpPr>
        <p:spPr>
          <a:xfrm>
            <a:off x="6236208" y="2103120"/>
            <a:ext cx="6016752" cy="0"/>
          </a:xfrm>
          <a:prstGeom prst="line">
            <a:avLst/>
          </a:prstGeom>
          <a:noFill/>
          <a:ln w="6350">
            <a:solidFill>
              <a:srgbClr val="E5E7EB"/>
            </a:solidFill>
            <a:prstDash val="solid"/>
          </a:ln>
        </p:spPr>
      </p:sp>
      <p:sp>
        <p:nvSpPr>
          <p:cNvPr id="50" name="Text 48"/>
          <p:cNvSpPr/>
          <p:nvPr/>
        </p:nvSpPr>
        <p:spPr>
          <a:xfrm>
            <a:off x="6309360" y="2121408"/>
            <a:ext cx="777240" cy="626364"/>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51" name="Text 49"/>
          <p:cNvSpPr/>
          <p:nvPr/>
        </p:nvSpPr>
        <p:spPr>
          <a:xfrm>
            <a:off x="7104888" y="2130552"/>
            <a:ext cx="4178808" cy="608076"/>
          </a:xfrm>
          <a:prstGeom prst="rect">
            <a:avLst/>
          </a:prstGeom>
          <a:noFill/>
          <a:ln/>
        </p:spPr>
        <p:txBody>
          <a:bodyPr wrap="square" lIns="0" tIns="0" rIns="0" bIns="0" rtlCol="0" anchor="t"/>
          <a:lstStyle/>
          <a:p>
            <a:pPr indent="0" marL="0">
              <a:buNone/>
            </a:pPr>
            <a:r>
              <a:rPr lang="en-US" sz="650" dirty="0">
                <a:solidFill>
                  <a:srgbClr val="374151"/>
                </a:solidFill>
              </a:rPr>
              <a:t>Prototyping Auth0/Cleeng login, building out CMS widget support, and standing up Adobe Pass provider management. Carousel page engine and backend refresh API delivered.</a:t>
            </a:r>
            <a:endParaRPr lang="en-US" sz="650" dirty="0"/>
          </a:p>
        </p:txBody>
      </p:sp>
      <p:sp>
        <p:nvSpPr>
          <p:cNvPr id="52" name="Shape 50"/>
          <p:cNvSpPr/>
          <p:nvPr/>
        </p:nvSpPr>
        <p:spPr>
          <a:xfrm>
            <a:off x="11375136" y="2347722"/>
            <a:ext cx="822960" cy="173736"/>
          </a:xfrm>
          <a:prstGeom prst="roundRect">
            <a:avLst>
              <a:gd name="adj" fmla="val 15789"/>
            </a:avLst>
          </a:prstGeom>
          <a:solidFill>
            <a:srgbClr val="1558A8"/>
          </a:solidFill>
          <a:ln w="12700">
            <a:solidFill>
              <a:srgbClr val="1558A8"/>
            </a:solidFill>
            <a:prstDash val="solid"/>
          </a:ln>
        </p:spPr>
      </p:sp>
      <p:sp>
        <p:nvSpPr>
          <p:cNvPr id="53" name="Text 51"/>
          <p:cNvSpPr/>
          <p:nvPr/>
        </p:nvSpPr>
        <p:spPr>
          <a:xfrm>
            <a:off x="11375136" y="234772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4" name="Shape 52"/>
          <p:cNvSpPr/>
          <p:nvPr/>
        </p:nvSpPr>
        <p:spPr>
          <a:xfrm>
            <a:off x="6236208" y="2766060"/>
            <a:ext cx="6016752" cy="0"/>
          </a:xfrm>
          <a:prstGeom prst="line">
            <a:avLst/>
          </a:prstGeom>
          <a:noFill/>
          <a:ln w="6350">
            <a:solidFill>
              <a:srgbClr val="E5E7EB"/>
            </a:solidFill>
            <a:prstDash val="solid"/>
          </a:ln>
        </p:spPr>
      </p:sp>
      <p:sp>
        <p:nvSpPr>
          <p:cNvPr id="55" name="Text 53"/>
          <p:cNvSpPr/>
          <p:nvPr/>
        </p:nvSpPr>
        <p:spPr>
          <a:xfrm>
            <a:off x="6309360" y="2784348"/>
            <a:ext cx="777240" cy="626364"/>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56" name="Text 54"/>
          <p:cNvSpPr/>
          <p:nvPr/>
        </p:nvSpPr>
        <p:spPr>
          <a:xfrm>
            <a:off x="7104888" y="2793492"/>
            <a:ext cx="4178808" cy="608076"/>
          </a:xfrm>
          <a:prstGeom prst="rect">
            <a:avLst/>
          </a:prstGeom>
          <a:noFill/>
          <a:ln/>
        </p:spPr>
        <p:txBody>
          <a:bodyPr wrap="square" lIns="0" tIns="0" rIns="0" bIns="0" rtlCol="0" anchor="t"/>
          <a:lstStyle/>
          <a:p>
            <a:pPr indent="0" marL="0">
              <a:buNone/>
            </a:pPr>
            <a:r>
              <a:rPr lang="en-US" sz="650" dirty="0">
                <a:solidFill>
                  <a:srgbClr val="374151"/>
                </a:solidFill>
              </a:rPr>
              <a:t>Moving control of Tennis Channel's website hosting setup in-house — same approach already used successfully for Tennis.com — giving us more control ahead of launch.</a:t>
            </a:r>
            <a:endParaRPr lang="en-US" sz="650" dirty="0"/>
          </a:p>
        </p:txBody>
      </p:sp>
      <p:sp>
        <p:nvSpPr>
          <p:cNvPr id="57" name="Shape 55"/>
          <p:cNvSpPr/>
          <p:nvPr/>
        </p:nvSpPr>
        <p:spPr>
          <a:xfrm>
            <a:off x="11375136" y="3010662"/>
            <a:ext cx="822960" cy="173736"/>
          </a:xfrm>
          <a:prstGeom prst="roundRect">
            <a:avLst>
              <a:gd name="adj" fmla="val 15789"/>
            </a:avLst>
          </a:prstGeom>
          <a:solidFill>
            <a:srgbClr val="1558A8"/>
          </a:solidFill>
          <a:ln w="12700">
            <a:solidFill>
              <a:srgbClr val="1558A8"/>
            </a:solidFill>
            <a:prstDash val="solid"/>
          </a:ln>
        </p:spPr>
      </p:sp>
      <p:sp>
        <p:nvSpPr>
          <p:cNvPr id="58" name="Text 56"/>
          <p:cNvSpPr/>
          <p:nvPr/>
        </p:nvSpPr>
        <p:spPr>
          <a:xfrm>
            <a:off x="11375136" y="301066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9" name="Shape 57"/>
          <p:cNvSpPr/>
          <p:nvPr/>
        </p:nvSpPr>
        <p:spPr>
          <a:xfrm>
            <a:off x="91440" y="3502152"/>
            <a:ext cx="6016752" cy="3749040"/>
          </a:xfrm>
          <a:prstGeom prst="rect">
            <a:avLst/>
          </a:prstGeom>
          <a:solidFill>
            <a:srgbClr val="FAFBFC"/>
          </a:solidFill>
          <a:ln w="9525">
            <a:solidFill>
              <a:srgbClr val="D1D5DB"/>
            </a:solidFill>
            <a:prstDash val="solid"/>
          </a:ln>
        </p:spPr>
      </p:sp>
      <p:sp>
        <p:nvSpPr>
          <p:cNvPr id="60" name="Shape 58"/>
          <p:cNvSpPr/>
          <p:nvPr/>
        </p:nvSpPr>
        <p:spPr>
          <a:xfrm>
            <a:off x="91440" y="3502152"/>
            <a:ext cx="6016752" cy="274320"/>
          </a:xfrm>
          <a:prstGeom prst="rect">
            <a:avLst/>
          </a:prstGeom>
          <a:solidFill>
            <a:srgbClr val="8ED973"/>
          </a:solidFill>
          <a:ln w="12700">
            <a:solidFill>
              <a:srgbClr val="8ED973"/>
            </a:solidFill>
            <a:prstDash val="solid"/>
          </a:ln>
        </p:spPr>
      </p:sp>
      <p:sp>
        <p:nvSpPr>
          <p:cNvPr id="61" name="Text 59"/>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62" name="Shape 60"/>
          <p:cNvSpPr/>
          <p:nvPr/>
        </p:nvSpPr>
        <p:spPr>
          <a:xfrm>
            <a:off x="91440" y="3776472"/>
            <a:ext cx="6016752" cy="1158240"/>
          </a:xfrm>
          <a:prstGeom prst="rect">
            <a:avLst/>
          </a:prstGeom>
          <a:solidFill>
            <a:srgbClr val="FFFFFF"/>
          </a:solidFill>
          <a:ln w="3175">
            <a:solidFill>
              <a:srgbClr val="E5E7EB"/>
            </a:solidFill>
            <a:prstDash val="solid"/>
          </a:ln>
        </p:spPr>
      </p:sp>
      <p:sp>
        <p:nvSpPr>
          <p:cNvPr id="63" name="Text 61"/>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64" name="Text 62"/>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Adobe Pass integration underway for MVPD access; CMS-based provider management being brought into the web app, with basic prototypes built and currently hardcoded to DirecTV for testing.</a:t>
            </a:r>
            <a:endParaRPr lang="en-US" sz="650" dirty="0"/>
          </a:p>
        </p:txBody>
      </p:sp>
      <p:sp>
        <p:nvSpPr>
          <p:cNvPr id="65" name="Shape 63"/>
          <p:cNvSpPr/>
          <p:nvPr/>
        </p:nvSpPr>
        <p:spPr>
          <a:xfrm>
            <a:off x="5230368" y="4268724"/>
            <a:ext cx="822960" cy="173736"/>
          </a:xfrm>
          <a:prstGeom prst="roundRect">
            <a:avLst>
              <a:gd name="adj" fmla="val 15789"/>
            </a:avLst>
          </a:prstGeom>
          <a:solidFill>
            <a:srgbClr val="1558A8"/>
          </a:solidFill>
          <a:ln w="12700">
            <a:solidFill>
              <a:srgbClr val="1558A8"/>
            </a:solidFill>
            <a:prstDash val="solid"/>
          </a:ln>
        </p:spPr>
      </p:sp>
      <p:sp>
        <p:nvSpPr>
          <p:cNvPr id="66" name="Text 64"/>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67" name="Shape 65"/>
          <p:cNvSpPr/>
          <p:nvPr/>
        </p:nvSpPr>
        <p:spPr>
          <a:xfrm>
            <a:off x="91440" y="4934712"/>
            <a:ext cx="6016752" cy="0"/>
          </a:xfrm>
          <a:prstGeom prst="line">
            <a:avLst/>
          </a:prstGeom>
          <a:noFill/>
          <a:ln w="6350">
            <a:solidFill>
              <a:srgbClr val="E5E7EB"/>
            </a:solidFill>
            <a:prstDash val="solid"/>
          </a:ln>
        </p:spPr>
      </p:sp>
      <p:sp>
        <p:nvSpPr>
          <p:cNvPr id="68" name="Text 66"/>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69" name="Text 67"/>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Dedicated DRM auth service launched, with license flows stubbed for FairPlay, Widevine, and PlayReady, and handed off to Amagi for EZDRM integration testing.</a:t>
            </a:r>
            <a:endParaRPr lang="en-US" sz="650" dirty="0"/>
          </a:p>
        </p:txBody>
      </p:sp>
      <p:sp>
        <p:nvSpPr>
          <p:cNvPr id="70" name="Shape 68"/>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71" name="Text 69"/>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2" name="Shape 70"/>
          <p:cNvSpPr/>
          <p:nvPr/>
        </p:nvSpPr>
        <p:spPr>
          <a:xfrm>
            <a:off x="91440" y="6092952"/>
            <a:ext cx="6016752" cy="1158240"/>
          </a:xfrm>
          <a:prstGeom prst="rect">
            <a:avLst/>
          </a:prstGeom>
          <a:solidFill>
            <a:srgbClr val="FFFFFF"/>
          </a:solidFill>
          <a:ln w="3175">
            <a:solidFill>
              <a:srgbClr val="E5E7EB"/>
            </a:solidFill>
            <a:prstDash val="solid"/>
          </a:ln>
        </p:spPr>
      </p:sp>
      <p:sp>
        <p:nvSpPr>
          <p:cNvPr id="73" name="Shape 71"/>
          <p:cNvSpPr/>
          <p:nvPr/>
        </p:nvSpPr>
        <p:spPr>
          <a:xfrm>
            <a:off x="91440" y="6092952"/>
            <a:ext cx="6016752" cy="0"/>
          </a:xfrm>
          <a:prstGeom prst="line">
            <a:avLst/>
          </a:prstGeom>
          <a:noFill/>
          <a:ln w="6350">
            <a:solidFill>
              <a:srgbClr val="E5E7EB"/>
            </a:solidFill>
            <a:prstDash val="solid"/>
          </a:ln>
        </p:spPr>
      </p:sp>
      <p:sp>
        <p:nvSpPr>
          <p:cNvPr id="74" name="Text 72"/>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75" name="Text 73"/>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Integration packet produced and workshop collaboration ongoing with Foxxum; no schema-stability specifics called out in this update.</a:t>
            </a:r>
            <a:endParaRPr lang="en-US" sz="650" dirty="0"/>
          </a:p>
        </p:txBody>
      </p:sp>
      <p:sp>
        <p:nvSpPr>
          <p:cNvPr id="76" name="Shape 74"/>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77" name="Text 75"/>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8" name="Shape 76"/>
          <p:cNvSpPr/>
          <p:nvPr/>
        </p:nvSpPr>
        <p:spPr>
          <a:xfrm>
            <a:off x="6236208" y="3502152"/>
            <a:ext cx="6016752" cy="3749040"/>
          </a:xfrm>
          <a:prstGeom prst="rect">
            <a:avLst/>
          </a:prstGeom>
          <a:solidFill>
            <a:srgbClr val="FAFBFC"/>
          </a:solidFill>
          <a:ln w="9525">
            <a:solidFill>
              <a:srgbClr val="D1D5DB"/>
            </a:solidFill>
            <a:prstDash val="solid"/>
          </a:ln>
        </p:spPr>
      </p:sp>
      <p:sp>
        <p:nvSpPr>
          <p:cNvPr id="79" name="Shape 77"/>
          <p:cNvSpPr/>
          <p:nvPr/>
        </p:nvSpPr>
        <p:spPr>
          <a:xfrm>
            <a:off x="6236208" y="3502152"/>
            <a:ext cx="6016752" cy="274320"/>
          </a:xfrm>
          <a:prstGeom prst="rect">
            <a:avLst/>
          </a:prstGeom>
          <a:solidFill>
            <a:srgbClr val="8ED973"/>
          </a:solidFill>
          <a:ln w="12700">
            <a:solidFill>
              <a:srgbClr val="8ED973"/>
            </a:solidFill>
            <a:prstDash val="solid"/>
          </a:ln>
        </p:spPr>
      </p:sp>
      <p:sp>
        <p:nvSpPr>
          <p:cNvPr id="80" name="Text 78"/>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81" name="Shape 79"/>
          <p:cNvSpPr/>
          <p:nvPr/>
        </p:nvSpPr>
        <p:spPr>
          <a:xfrm>
            <a:off x="6236208" y="3776472"/>
            <a:ext cx="6016752" cy="868680"/>
          </a:xfrm>
          <a:prstGeom prst="rect">
            <a:avLst/>
          </a:prstGeom>
          <a:solidFill>
            <a:srgbClr val="FFFFFF"/>
          </a:solidFill>
          <a:ln w="3175">
            <a:solidFill>
              <a:srgbClr val="E5E7EB"/>
            </a:solidFill>
            <a:prstDash val="solid"/>
          </a:ln>
        </p:spPr>
      </p:sp>
      <p:sp>
        <p:nvSpPr>
          <p:cNvPr id="82" name="Text 80"/>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83" name="Text 81"/>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Mobile login gate placeholder: first login gate for anonymous viewers built with placeholder UI ahead of the real Auth0 flow. Entitlement simulator: mobile tool simulating any account state to test flows.</a:t>
            </a:r>
            <a:endParaRPr lang="en-US" sz="650" dirty="0"/>
          </a:p>
        </p:txBody>
      </p:sp>
      <p:sp>
        <p:nvSpPr>
          <p:cNvPr id="84" name="Shape 82"/>
          <p:cNvSpPr/>
          <p:nvPr/>
        </p:nvSpPr>
        <p:spPr>
          <a:xfrm>
            <a:off x="11375136" y="4123944"/>
            <a:ext cx="822960" cy="173736"/>
          </a:xfrm>
          <a:prstGeom prst="roundRect">
            <a:avLst>
              <a:gd name="adj" fmla="val 15789"/>
            </a:avLst>
          </a:prstGeom>
          <a:solidFill>
            <a:srgbClr val="1558A8"/>
          </a:solidFill>
          <a:ln w="12700">
            <a:solidFill>
              <a:srgbClr val="1558A8"/>
            </a:solidFill>
            <a:prstDash val="solid"/>
          </a:ln>
        </p:spPr>
      </p:sp>
      <p:sp>
        <p:nvSpPr>
          <p:cNvPr id="85" name="Text 83"/>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6" name="Shape 84"/>
          <p:cNvSpPr/>
          <p:nvPr/>
        </p:nvSpPr>
        <p:spPr>
          <a:xfrm>
            <a:off x="6236208" y="4645152"/>
            <a:ext cx="6016752" cy="0"/>
          </a:xfrm>
          <a:prstGeom prst="line">
            <a:avLst/>
          </a:prstGeom>
          <a:noFill/>
          <a:ln w="6350">
            <a:solidFill>
              <a:srgbClr val="E5E7EB"/>
            </a:solidFill>
            <a:prstDash val="solid"/>
          </a:ln>
        </p:spPr>
      </p:sp>
      <p:sp>
        <p:nvSpPr>
          <p:cNvPr id="87" name="Text 85"/>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88" name="Text 86"/>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Built the front-end foundation (design system, left sidebar navigation, footer, and page shell). Built the page engine and styled the merchandising carousels.</a:t>
            </a:r>
            <a:endParaRPr lang="en-US" sz="650" dirty="0"/>
          </a:p>
        </p:txBody>
      </p:sp>
      <p:sp>
        <p:nvSpPr>
          <p:cNvPr id="89" name="Shape 87"/>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90" name="Text 88"/>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1" name="Shape 89"/>
          <p:cNvSpPr/>
          <p:nvPr/>
        </p:nvSpPr>
        <p:spPr>
          <a:xfrm>
            <a:off x="6236208" y="5513832"/>
            <a:ext cx="6016752" cy="868680"/>
          </a:xfrm>
          <a:prstGeom prst="rect">
            <a:avLst/>
          </a:prstGeom>
          <a:solidFill>
            <a:srgbClr val="FFFFFF"/>
          </a:solidFill>
          <a:ln w="3175">
            <a:solidFill>
              <a:srgbClr val="E5E7EB"/>
            </a:solidFill>
            <a:prstDash val="solid"/>
          </a:ln>
        </p:spPr>
      </p:sp>
      <p:sp>
        <p:nvSpPr>
          <p:cNvPr id="92" name="Shape 90"/>
          <p:cNvSpPr/>
          <p:nvPr/>
        </p:nvSpPr>
        <p:spPr>
          <a:xfrm>
            <a:off x="6236208" y="5513832"/>
            <a:ext cx="6016752" cy="0"/>
          </a:xfrm>
          <a:prstGeom prst="line">
            <a:avLst/>
          </a:prstGeom>
          <a:noFill/>
          <a:ln w="6350">
            <a:solidFill>
              <a:srgbClr val="E5E7EB"/>
            </a:solidFill>
            <a:prstDash val="solid"/>
          </a:ln>
        </p:spPr>
      </p:sp>
      <p:sp>
        <p:nvSpPr>
          <p:cNvPr id="93" name="Text 91"/>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94" name="Text 92"/>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Prototyped the video experience: exploratory test of the BitMovin player APIs — a proof-of-concept, not the final player.</a:t>
            </a:r>
            <a:endParaRPr lang="en-US" sz="650" dirty="0"/>
          </a:p>
        </p:txBody>
      </p:sp>
      <p:sp>
        <p:nvSpPr>
          <p:cNvPr id="95" name="Shape 93"/>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96" name="Text 94"/>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7" name="Shape 95"/>
          <p:cNvSpPr/>
          <p:nvPr/>
        </p:nvSpPr>
        <p:spPr>
          <a:xfrm>
            <a:off x="6236208" y="6382512"/>
            <a:ext cx="6016752" cy="0"/>
          </a:xfrm>
          <a:prstGeom prst="line">
            <a:avLst/>
          </a:prstGeom>
          <a:noFill/>
          <a:ln w="6350">
            <a:solidFill>
              <a:srgbClr val="E5E7EB"/>
            </a:solidFill>
            <a:prstDash val="solid"/>
          </a:ln>
        </p:spPr>
      </p:sp>
      <p:sp>
        <p:nvSpPr>
          <p:cNvPr id="98" name="Text 96"/>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99" name="Text 97"/>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Testing E2E experience: Merchandising, sign-in flow, MVPD, Cleeng, replays.</a:t>
            </a:r>
            <a:endParaRPr lang="en-US" sz="650" dirty="0"/>
          </a:p>
        </p:txBody>
      </p:sp>
      <p:sp>
        <p:nvSpPr>
          <p:cNvPr id="100" name="Shape 98"/>
          <p:cNvSpPr/>
          <p:nvPr/>
        </p:nvSpPr>
        <p:spPr>
          <a:xfrm>
            <a:off x="11375136" y="6729984"/>
            <a:ext cx="822960" cy="173736"/>
          </a:xfrm>
          <a:prstGeom prst="roundRect">
            <a:avLst>
              <a:gd name="adj" fmla="val 15789"/>
            </a:avLst>
          </a:prstGeom>
          <a:solidFill>
            <a:srgbClr val="F3F4F6"/>
          </a:solidFill>
          <a:ln w="9525">
            <a:solidFill>
              <a:srgbClr val="D1D5DB"/>
            </a:solidFill>
            <a:prstDash val="solid"/>
          </a:ln>
        </p:spPr>
      </p:sp>
      <p:sp>
        <p:nvSpPr>
          <p:cNvPr id="101" name="Text 99"/>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Not Started</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Jul 8,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0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18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14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84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0% Ready</a:t>
            </a:r>
            <a:endParaRPr lang="en-US" sz="1100" dirty="0"/>
          </a:p>
        </p:txBody>
      </p:sp>
      <p:sp>
        <p:nvSpPr>
          <p:cNvPr id="20" name="Shape 18"/>
          <p:cNvSpPr/>
          <p:nvPr/>
        </p:nvSpPr>
        <p:spPr>
          <a:xfrm>
            <a:off x="164592" y="804672"/>
            <a:ext cx="9116568" cy="1170432"/>
          </a:xfrm>
          <a:prstGeom prst="rect">
            <a:avLst/>
          </a:prstGeom>
          <a:solidFill>
            <a:srgbClr val="FAFBFC"/>
          </a:solidFill>
          <a:ln w="6350">
            <a:solidFill>
              <a:srgbClr val="E5E7EB"/>
            </a:solidFill>
            <a:prstDash val="solid"/>
          </a:ln>
        </p:spPr>
      </p:sp>
      <p:sp>
        <p:nvSpPr>
          <p:cNvPr id="21" name="Shape 19"/>
          <p:cNvSpPr/>
          <p:nvPr/>
        </p:nvSpPr>
        <p:spPr>
          <a:xfrm>
            <a:off x="182880" y="877824"/>
            <a:ext cx="859536" cy="1024128"/>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Platforms</a:t>
            </a:r>
            <a:endParaRPr lang="en-US" sz="95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F3F4F6"/>
          </a:solidFill>
          <a:ln w="9525">
            <a:solidFill>
              <a:srgbClr val="D1D5DB"/>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F3F4F6"/>
          </a:solidFill>
          <a:ln w="9525">
            <a:solidFill>
              <a:srgbClr val="D1D5DB"/>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F3F4F6"/>
          </a:solidFill>
          <a:ln w="9525">
            <a:solidFill>
              <a:srgbClr val="D1D5DB"/>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2" name="Shape 50"/>
          <p:cNvSpPr/>
          <p:nvPr/>
        </p:nvSpPr>
        <p:spPr>
          <a:xfrm>
            <a:off x="164592" y="2029968"/>
            <a:ext cx="9116568" cy="1170432"/>
          </a:xfrm>
          <a:prstGeom prst="rect">
            <a:avLst/>
          </a:prstGeom>
          <a:solidFill>
            <a:srgbClr val="FFFFFF"/>
          </a:solidFill>
          <a:ln w="6350">
            <a:solidFill>
              <a:srgbClr val="E5E7EB"/>
            </a:solidFill>
            <a:prstDash val="solid"/>
          </a:ln>
        </p:spPr>
      </p:sp>
      <p:sp>
        <p:nvSpPr>
          <p:cNvPr id="53" name="Shape 51"/>
          <p:cNvSpPr/>
          <p:nvPr/>
        </p:nvSpPr>
        <p:spPr>
          <a:xfrm>
            <a:off x="182880" y="2103120"/>
            <a:ext cx="859536" cy="1024128"/>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2103120"/>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Video</a:t>
            </a:r>
            <a:endParaRPr lang="en-US" sz="950" dirty="0"/>
          </a:p>
          <a:p>
            <a:pPr algn="ctr" indent="0" marL="0">
              <a:buNone/>
            </a:pPr>
            <a:r>
              <a:rPr lang="en-US" sz="950" b="1" dirty="0">
                <a:solidFill>
                  <a:srgbClr val="FFFFFF"/>
                </a:solidFill>
              </a:rPr>
              <a:t>Delivery</a:t>
            </a:r>
            <a:endParaRPr lang="en-US" sz="950" dirty="0"/>
          </a:p>
        </p:txBody>
      </p:sp>
      <p:sp>
        <p:nvSpPr>
          <p:cNvPr id="55" name="Text 53"/>
          <p:cNvSpPr/>
          <p:nvPr/>
        </p:nvSpPr>
        <p:spPr>
          <a:xfrm>
            <a:off x="1170432" y="2075688"/>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295144"/>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505456"/>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295144"/>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505456"/>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295144"/>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505456"/>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295144"/>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505456"/>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295144"/>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505456"/>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295144"/>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505456"/>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3255264"/>
            <a:ext cx="9116568" cy="1170432"/>
          </a:xfrm>
          <a:prstGeom prst="rect">
            <a:avLst/>
          </a:prstGeom>
          <a:solidFill>
            <a:srgbClr val="FAFBFC"/>
          </a:solidFill>
          <a:ln w="6350">
            <a:solidFill>
              <a:srgbClr val="E5E7EB"/>
            </a:solidFill>
            <a:prstDash val="solid"/>
          </a:ln>
        </p:spPr>
      </p:sp>
      <p:sp>
        <p:nvSpPr>
          <p:cNvPr id="81" name="Shape 79"/>
          <p:cNvSpPr/>
          <p:nvPr/>
        </p:nvSpPr>
        <p:spPr>
          <a:xfrm>
            <a:off x="182880" y="3328416"/>
            <a:ext cx="859536" cy="1024128"/>
          </a:xfrm>
          <a:prstGeom prst="roundRect">
            <a:avLst>
              <a:gd name="adj" fmla="val 5319"/>
            </a:avLst>
          </a:prstGeom>
          <a:solidFill>
            <a:srgbClr val="9CA3AF"/>
          </a:solidFill>
          <a:ln w="12700">
            <a:solidFill>
              <a:srgbClr val="9CA3AF"/>
            </a:solidFill>
            <a:prstDash val="solid"/>
          </a:ln>
        </p:spPr>
      </p:sp>
      <p:sp>
        <p:nvSpPr>
          <p:cNvPr id="82" name="Text 80"/>
          <p:cNvSpPr/>
          <p:nvPr/>
        </p:nvSpPr>
        <p:spPr>
          <a:xfrm>
            <a:off x="182880" y="3328416"/>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Player</a:t>
            </a:r>
            <a:endParaRPr lang="en-US" sz="950" dirty="0"/>
          </a:p>
        </p:txBody>
      </p:sp>
      <p:sp>
        <p:nvSpPr>
          <p:cNvPr id="83" name="Text 81"/>
          <p:cNvSpPr/>
          <p:nvPr/>
        </p:nvSpPr>
        <p:spPr>
          <a:xfrm>
            <a:off x="1170432" y="3300984"/>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5 In Progress</a:t>
            </a:r>
            <a:endParaRPr lang="en-US" sz="750" dirty="0"/>
          </a:p>
        </p:txBody>
      </p:sp>
      <p:sp>
        <p:nvSpPr>
          <p:cNvPr id="84" name="Shape 82"/>
          <p:cNvSpPr/>
          <p:nvPr/>
        </p:nvSpPr>
        <p:spPr>
          <a:xfrm>
            <a:off x="1170432" y="3520440"/>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730752"/>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520440"/>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730752"/>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520440"/>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730752"/>
            <a:ext cx="932688" cy="155448"/>
          </a:xfrm>
          <a:prstGeom prst="roundRect">
            <a:avLst>
              <a:gd name="adj" fmla="val 17647"/>
            </a:avLst>
          </a:prstGeom>
          <a:solidFill>
            <a:srgbClr val="F3F4F6"/>
          </a:solidFill>
          <a:ln w="9525">
            <a:solidFill>
              <a:srgbClr val="D1D5DB"/>
            </a:solidFill>
            <a:prstDash val="solid"/>
          </a:ln>
        </p:spPr>
      </p:sp>
      <p:sp>
        <p:nvSpPr>
          <p:cNvPr id="95" name="Text 93"/>
          <p:cNvSpPr/>
          <p:nvPr/>
        </p:nvSpPr>
        <p:spPr>
          <a:xfrm>
            <a:off x="3200400" y="3730752"/>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6" name="Shape 94"/>
          <p:cNvSpPr/>
          <p:nvPr/>
        </p:nvSpPr>
        <p:spPr>
          <a:xfrm>
            <a:off x="4215384" y="3520440"/>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730752"/>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520440"/>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2" name="Shape 100"/>
          <p:cNvSpPr/>
          <p:nvPr/>
        </p:nvSpPr>
        <p:spPr>
          <a:xfrm>
            <a:off x="5230368" y="3730752"/>
            <a:ext cx="932688" cy="155448"/>
          </a:xfrm>
          <a:prstGeom prst="roundRect">
            <a:avLst>
              <a:gd name="adj" fmla="val 17647"/>
            </a:avLst>
          </a:prstGeom>
          <a:solidFill>
            <a:srgbClr val="F3F4F6"/>
          </a:solidFill>
          <a:ln w="9525">
            <a:solidFill>
              <a:srgbClr val="D1D5DB"/>
            </a:solidFill>
            <a:prstDash val="solid"/>
          </a:ln>
        </p:spPr>
      </p:sp>
      <p:sp>
        <p:nvSpPr>
          <p:cNvPr id="103" name="Text 101"/>
          <p:cNvSpPr/>
          <p:nvPr/>
        </p:nvSpPr>
        <p:spPr>
          <a:xfrm>
            <a:off x="5230368" y="3730752"/>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4" name="Shape 102"/>
          <p:cNvSpPr/>
          <p:nvPr/>
        </p:nvSpPr>
        <p:spPr>
          <a:xfrm>
            <a:off x="164592" y="4480560"/>
            <a:ext cx="9116568" cy="1170432"/>
          </a:xfrm>
          <a:prstGeom prst="rect">
            <a:avLst/>
          </a:prstGeom>
          <a:solidFill>
            <a:srgbClr val="FFFFFF"/>
          </a:solidFill>
          <a:ln w="6350">
            <a:solidFill>
              <a:srgbClr val="E5E7EB"/>
            </a:solidFill>
            <a:prstDash val="solid"/>
          </a:ln>
        </p:spPr>
      </p:sp>
      <p:sp>
        <p:nvSpPr>
          <p:cNvPr id="105" name="Shape 103"/>
          <p:cNvSpPr/>
          <p:nvPr/>
        </p:nvSpPr>
        <p:spPr>
          <a:xfrm>
            <a:off x="182880" y="4553712"/>
            <a:ext cx="859536" cy="1024128"/>
          </a:xfrm>
          <a:prstGeom prst="roundRect">
            <a:avLst>
              <a:gd name="adj" fmla="val 5319"/>
            </a:avLst>
          </a:prstGeom>
          <a:solidFill>
            <a:srgbClr val="9CA3AF"/>
          </a:solidFill>
          <a:ln w="12700">
            <a:solidFill>
              <a:srgbClr val="9CA3AF"/>
            </a:solidFill>
            <a:prstDash val="solid"/>
          </a:ln>
        </p:spPr>
      </p:sp>
      <p:sp>
        <p:nvSpPr>
          <p:cNvPr id="106" name="Text 104"/>
          <p:cNvSpPr/>
          <p:nvPr/>
        </p:nvSpPr>
        <p:spPr>
          <a:xfrm>
            <a:off x="182880" y="4553712"/>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Merchandising</a:t>
            </a:r>
            <a:endParaRPr lang="en-US" sz="950" dirty="0"/>
          </a:p>
        </p:txBody>
      </p:sp>
      <p:sp>
        <p:nvSpPr>
          <p:cNvPr id="107" name="Text 105"/>
          <p:cNvSpPr/>
          <p:nvPr/>
        </p:nvSpPr>
        <p:spPr>
          <a:xfrm>
            <a:off x="1170432" y="4526280"/>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a:t>
            </a:r>
            <a:endParaRPr lang="en-US" sz="750" dirty="0"/>
          </a:p>
        </p:txBody>
      </p:sp>
      <p:sp>
        <p:nvSpPr>
          <p:cNvPr id="108" name="Shape 106"/>
          <p:cNvSpPr/>
          <p:nvPr/>
        </p:nvSpPr>
        <p:spPr>
          <a:xfrm>
            <a:off x="1170432" y="4745736"/>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956048"/>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745736"/>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956048"/>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745736"/>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956048"/>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745736"/>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956048"/>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745736"/>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956048"/>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745736"/>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956048"/>
            <a:ext cx="932688" cy="155448"/>
          </a:xfrm>
          <a:prstGeom prst="roundRect">
            <a:avLst>
              <a:gd name="adj" fmla="val 17647"/>
            </a:avLst>
          </a:prstGeom>
          <a:solidFill>
            <a:srgbClr val="F3F4F6"/>
          </a:solidFill>
          <a:ln w="9525">
            <a:solidFill>
              <a:srgbClr val="D1D5DB"/>
            </a:solidFill>
            <a:prstDash val="solid"/>
          </a:ln>
        </p:spPr>
      </p:sp>
      <p:sp>
        <p:nvSpPr>
          <p:cNvPr id="131" name="Text 129"/>
          <p:cNvSpPr/>
          <p:nvPr/>
        </p:nvSpPr>
        <p:spPr>
          <a:xfrm>
            <a:off x="6245352"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2" name="Shape 130"/>
          <p:cNvSpPr/>
          <p:nvPr/>
        </p:nvSpPr>
        <p:spPr>
          <a:xfrm>
            <a:off x="7260336" y="4745736"/>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956048"/>
            <a:ext cx="932688" cy="155448"/>
          </a:xfrm>
          <a:prstGeom prst="roundRect">
            <a:avLst>
              <a:gd name="adj" fmla="val 17647"/>
            </a:avLst>
          </a:prstGeom>
          <a:solidFill>
            <a:srgbClr val="F3F4F6"/>
          </a:solidFill>
          <a:ln w="9525">
            <a:solidFill>
              <a:srgbClr val="D1D5DB"/>
            </a:solidFill>
            <a:prstDash val="solid"/>
          </a:ln>
        </p:spPr>
      </p:sp>
      <p:sp>
        <p:nvSpPr>
          <p:cNvPr id="135" name="Text 133"/>
          <p:cNvSpPr/>
          <p:nvPr/>
        </p:nvSpPr>
        <p:spPr>
          <a:xfrm>
            <a:off x="7260336"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6" name="Shape 134"/>
          <p:cNvSpPr/>
          <p:nvPr/>
        </p:nvSpPr>
        <p:spPr>
          <a:xfrm>
            <a:off x="8275320" y="4745736"/>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956048"/>
            <a:ext cx="932688" cy="155448"/>
          </a:xfrm>
          <a:prstGeom prst="roundRect">
            <a:avLst>
              <a:gd name="adj" fmla="val 17647"/>
            </a:avLst>
          </a:prstGeom>
          <a:solidFill>
            <a:srgbClr val="F3F4F6"/>
          </a:solidFill>
          <a:ln w="9525">
            <a:solidFill>
              <a:srgbClr val="D1D5DB"/>
            </a:solidFill>
            <a:prstDash val="solid"/>
          </a:ln>
        </p:spPr>
      </p:sp>
      <p:sp>
        <p:nvSpPr>
          <p:cNvPr id="139" name="Text 137"/>
          <p:cNvSpPr/>
          <p:nvPr/>
        </p:nvSpPr>
        <p:spPr>
          <a:xfrm>
            <a:off x="8275320"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0" name="Shape 138"/>
          <p:cNvSpPr/>
          <p:nvPr/>
        </p:nvSpPr>
        <p:spPr>
          <a:xfrm>
            <a:off x="1170432" y="5202936"/>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52029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5413248"/>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54132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5705856"/>
            <a:ext cx="9116568" cy="1170432"/>
          </a:xfrm>
          <a:prstGeom prst="rect">
            <a:avLst/>
          </a:prstGeom>
          <a:solidFill>
            <a:srgbClr val="FAFBFC"/>
          </a:solidFill>
          <a:ln w="6350">
            <a:solidFill>
              <a:srgbClr val="E5E7EB"/>
            </a:solidFill>
            <a:prstDash val="solid"/>
          </a:ln>
        </p:spPr>
      </p:sp>
      <p:sp>
        <p:nvSpPr>
          <p:cNvPr id="145" name="Shape 143"/>
          <p:cNvSpPr/>
          <p:nvPr/>
        </p:nvSpPr>
        <p:spPr>
          <a:xfrm>
            <a:off x="182880" y="5779008"/>
            <a:ext cx="859536" cy="1024128"/>
          </a:xfrm>
          <a:prstGeom prst="roundRect">
            <a:avLst>
              <a:gd name="adj" fmla="val 5319"/>
            </a:avLst>
          </a:prstGeom>
          <a:solidFill>
            <a:srgbClr val="9CA3AF"/>
          </a:solidFill>
          <a:ln w="12700">
            <a:solidFill>
              <a:srgbClr val="9CA3AF"/>
            </a:solidFill>
            <a:prstDash val="solid"/>
          </a:ln>
        </p:spPr>
      </p:sp>
      <p:sp>
        <p:nvSpPr>
          <p:cNvPr id="146" name="Text 144"/>
          <p:cNvSpPr/>
          <p:nvPr/>
        </p:nvSpPr>
        <p:spPr>
          <a:xfrm>
            <a:off x="182880" y="5779008"/>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Onboarding</a:t>
            </a:r>
            <a:endParaRPr lang="en-US" sz="950" dirty="0"/>
          </a:p>
        </p:txBody>
      </p:sp>
      <p:sp>
        <p:nvSpPr>
          <p:cNvPr id="147" name="Text 145"/>
          <p:cNvSpPr/>
          <p:nvPr/>
        </p:nvSpPr>
        <p:spPr>
          <a:xfrm>
            <a:off x="1170432" y="5751576"/>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5 In Progress</a:t>
            </a:r>
            <a:endParaRPr lang="en-US" sz="750" dirty="0"/>
          </a:p>
        </p:txBody>
      </p:sp>
      <p:sp>
        <p:nvSpPr>
          <p:cNvPr id="148" name="Shape 146"/>
          <p:cNvSpPr/>
          <p:nvPr/>
        </p:nvSpPr>
        <p:spPr>
          <a:xfrm>
            <a:off x="1170432" y="5971032"/>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6181344"/>
            <a:ext cx="932688" cy="155448"/>
          </a:xfrm>
          <a:prstGeom prst="roundRect">
            <a:avLst>
              <a:gd name="adj" fmla="val 17647"/>
            </a:avLst>
          </a:prstGeom>
          <a:solidFill>
            <a:srgbClr val="F3F4F6"/>
          </a:solidFill>
          <a:ln w="9525">
            <a:solidFill>
              <a:srgbClr val="D1D5DB"/>
            </a:solidFill>
            <a:prstDash val="solid"/>
          </a:ln>
        </p:spPr>
      </p:sp>
      <p:sp>
        <p:nvSpPr>
          <p:cNvPr id="151" name="Text 149"/>
          <p:cNvSpPr/>
          <p:nvPr/>
        </p:nvSpPr>
        <p:spPr>
          <a:xfrm>
            <a:off x="1170432"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52" name="Shape 150"/>
          <p:cNvSpPr/>
          <p:nvPr/>
        </p:nvSpPr>
        <p:spPr>
          <a:xfrm>
            <a:off x="2185416" y="5971032"/>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6181344"/>
            <a:ext cx="932688" cy="155448"/>
          </a:xfrm>
          <a:prstGeom prst="roundRect">
            <a:avLst>
              <a:gd name="adj" fmla="val 17647"/>
            </a:avLst>
          </a:prstGeom>
          <a:solidFill>
            <a:srgbClr val="F3F4F6"/>
          </a:solidFill>
          <a:ln w="9525">
            <a:solidFill>
              <a:srgbClr val="D1D5DB"/>
            </a:solidFill>
            <a:prstDash val="solid"/>
          </a:ln>
        </p:spPr>
      </p:sp>
      <p:sp>
        <p:nvSpPr>
          <p:cNvPr id="155" name="Text 153"/>
          <p:cNvSpPr/>
          <p:nvPr/>
        </p:nvSpPr>
        <p:spPr>
          <a:xfrm>
            <a:off x="2185416"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56" name="Shape 154"/>
          <p:cNvSpPr/>
          <p:nvPr/>
        </p:nvSpPr>
        <p:spPr>
          <a:xfrm>
            <a:off x="3200400" y="5971032"/>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6181344"/>
            <a:ext cx="932688" cy="155448"/>
          </a:xfrm>
          <a:prstGeom prst="roundRect">
            <a:avLst>
              <a:gd name="adj" fmla="val 17647"/>
            </a:avLst>
          </a:prstGeom>
          <a:solidFill>
            <a:srgbClr val="F3F4F6"/>
          </a:solidFill>
          <a:ln w="9525">
            <a:solidFill>
              <a:srgbClr val="D1D5DB"/>
            </a:solidFill>
            <a:prstDash val="solid"/>
          </a:ln>
        </p:spPr>
      </p:sp>
      <p:sp>
        <p:nvSpPr>
          <p:cNvPr id="159" name="Text 157"/>
          <p:cNvSpPr/>
          <p:nvPr/>
        </p:nvSpPr>
        <p:spPr>
          <a:xfrm>
            <a:off x="3200400"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60" name="Shape 158"/>
          <p:cNvSpPr/>
          <p:nvPr/>
        </p:nvSpPr>
        <p:spPr>
          <a:xfrm>
            <a:off x="4215384" y="5971032"/>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6181344"/>
            <a:ext cx="932688" cy="155448"/>
          </a:xfrm>
          <a:prstGeom prst="roundRect">
            <a:avLst>
              <a:gd name="adj" fmla="val 17647"/>
            </a:avLst>
          </a:prstGeom>
          <a:solidFill>
            <a:srgbClr val="1558A8"/>
          </a:solidFill>
          <a:ln w="12700">
            <a:solidFill>
              <a:srgbClr val="1558A8"/>
            </a:solidFill>
            <a:prstDash val="solid"/>
          </a:ln>
        </p:spPr>
      </p:sp>
      <p:sp>
        <p:nvSpPr>
          <p:cNvPr id="163" name="Text 161"/>
          <p:cNvSpPr/>
          <p:nvPr/>
        </p:nvSpPr>
        <p:spPr>
          <a:xfrm>
            <a:off x="4215384" y="618134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4" name="Shape 162"/>
          <p:cNvSpPr/>
          <p:nvPr/>
        </p:nvSpPr>
        <p:spPr>
          <a:xfrm>
            <a:off x="5230368" y="5971032"/>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66" name="Shape 164"/>
          <p:cNvSpPr/>
          <p:nvPr/>
        </p:nvSpPr>
        <p:spPr>
          <a:xfrm>
            <a:off x="5230368" y="6181344"/>
            <a:ext cx="932688" cy="155448"/>
          </a:xfrm>
          <a:prstGeom prst="roundRect">
            <a:avLst>
              <a:gd name="adj" fmla="val 17647"/>
            </a:avLst>
          </a:prstGeom>
          <a:solidFill>
            <a:srgbClr val="F3F4F6"/>
          </a:solidFill>
          <a:ln w="9525">
            <a:solidFill>
              <a:srgbClr val="D1D5DB"/>
            </a:solidFill>
            <a:prstDash val="solid"/>
          </a:ln>
        </p:spPr>
      </p:sp>
      <p:sp>
        <p:nvSpPr>
          <p:cNvPr id="167" name="Text 165"/>
          <p:cNvSpPr/>
          <p:nvPr/>
        </p:nvSpPr>
        <p:spPr>
          <a:xfrm>
            <a:off x="5230368"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68" name="Shape 166"/>
          <p:cNvSpPr/>
          <p:nvPr/>
        </p:nvSpPr>
        <p:spPr>
          <a:xfrm>
            <a:off x="9372600" y="804672"/>
            <a:ext cx="2834640" cy="6071616"/>
          </a:xfrm>
          <a:prstGeom prst="rect">
            <a:avLst/>
          </a:prstGeom>
          <a:solidFill>
            <a:srgbClr val="F8FAFB"/>
          </a:solidFill>
          <a:ln w="12700">
            <a:solidFill>
              <a:srgbClr val="DDE1E6"/>
            </a:solidFill>
            <a:prstDash val="solid"/>
          </a:ln>
        </p:spPr>
      </p:sp>
      <p:sp>
        <p:nvSpPr>
          <p:cNvPr id="169" name="Text 167"/>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70" name="Shape 168"/>
          <p:cNvSpPr/>
          <p:nvPr/>
        </p:nvSpPr>
        <p:spPr>
          <a:xfrm>
            <a:off x="9464040" y="1225296"/>
            <a:ext cx="2670048" cy="420624"/>
          </a:xfrm>
          <a:prstGeom prst="rect">
            <a:avLst/>
          </a:prstGeom>
          <a:solidFill>
            <a:srgbClr val="FFFFFF"/>
          </a:solidFill>
          <a:ln w="6350">
            <a:solidFill>
              <a:srgbClr val="E5E7EB"/>
            </a:solidFill>
            <a:prstDash val="solid"/>
          </a:ln>
        </p:spPr>
      </p:sp>
      <p:sp>
        <p:nvSpPr>
          <p:cNvPr id="171" name="Shape 169"/>
          <p:cNvSpPr/>
          <p:nvPr/>
        </p:nvSpPr>
        <p:spPr>
          <a:xfrm>
            <a:off x="9537192" y="1316736"/>
            <a:ext cx="109728" cy="109728"/>
          </a:xfrm>
          <a:prstGeom prst="ellipse">
            <a:avLst/>
          </a:prstGeom>
          <a:solidFill>
            <a:srgbClr val="16A34A"/>
          </a:solidFill>
          <a:ln w="12700">
            <a:solidFill>
              <a:srgbClr val="16A34A"/>
            </a:solidFill>
            <a:prstDash val="solid"/>
          </a:ln>
        </p:spPr>
      </p:sp>
      <p:sp>
        <p:nvSpPr>
          <p:cNvPr id="172" name="Text 170"/>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73" name="Text 171"/>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74" name="Shape 172"/>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75" name="Text 173"/>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76" name="Shape 174"/>
          <p:cNvSpPr/>
          <p:nvPr/>
        </p:nvSpPr>
        <p:spPr>
          <a:xfrm>
            <a:off x="9464040" y="1700784"/>
            <a:ext cx="2670048" cy="420624"/>
          </a:xfrm>
          <a:prstGeom prst="rect">
            <a:avLst/>
          </a:prstGeom>
          <a:solidFill>
            <a:srgbClr val="FFFFFF"/>
          </a:solidFill>
          <a:ln w="6350">
            <a:solidFill>
              <a:srgbClr val="E5E7EB"/>
            </a:solidFill>
            <a:prstDash val="solid"/>
          </a:ln>
        </p:spPr>
      </p:sp>
      <p:sp>
        <p:nvSpPr>
          <p:cNvPr id="177" name="Shape 175"/>
          <p:cNvSpPr/>
          <p:nvPr/>
        </p:nvSpPr>
        <p:spPr>
          <a:xfrm>
            <a:off x="9537192" y="1792224"/>
            <a:ext cx="109728" cy="109728"/>
          </a:xfrm>
          <a:prstGeom prst="ellipse">
            <a:avLst/>
          </a:prstGeom>
          <a:solidFill>
            <a:srgbClr val="1558A8"/>
          </a:solidFill>
          <a:ln w="12700">
            <a:solidFill>
              <a:srgbClr val="1558A8"/>
            </a:solidFill>
            <a:prstDash val="solid"/>
          </a:ln>
        </p:spPr>
      </p:sp>
      <p:sp>
        <p:nvSpPr>
          <p:cNvPr id="178" name="Text 176"/>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79" name="Text 177"/>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80" name="Shape 178"/>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81" name="Text 179"/>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82" name="Shape 180"/>
          <p:cNvSpPr/>
          <p:nvPr/>
        </p:nvSpPr>
        <p:spPr>
          <a:xfrm>
            <a:off x="9464040" y="2176272"/>
            <a:ext cx="2670048" cy="420624"/>
          </a:xfrm>
          <a:prstGeom prst="rect">
            <a:avLst/>
          </a:prstGeom>
          <a:solidFill>
            <a:srgbClr val="FFFFFF"/>
          </a:solidFill>
          <a:ln w="6350">
            <a:solidFill>
              <a:srgbClr val="E5E7EB"/>
            </a:solidFill>
            <a:prstDash val="solid"/>
          </a:ln>
        </p:spPr>
      </p:sp>
      <p:sp>
        <p:nvSpPr>
          <p:cNvPr id="183" name="Shape 181"/>
          <p:cNvSpPr/>
          <p:nvPr/>
        </p:nvSpPr>
        <p:spPr>
          <a:xfrm>
            <a:off x="9537192" y="2267712"/>
            <a:ext cx="109728" cy="109728"/>
          </a:xfrm>
          <a:prstGeom prst="ellipse">
            <a:avLst/>
          </a:prstGeom>
          <a:solidFill>
            <a:srgbClr val="9CA3AF"/>
          </a:solidFill>
          <a:ln w="12700">
            <a:solidFill>
              <a:srgbClr val="9CA3AF"/>
            </a:solidFill>
            <a:prstDash val="solid"/>
          </a:ln>
        </p:spPr>
      </p:sp>
      <p:sp>
        <p:nvSpPr>
          <p:cNvPr id="184" name="Text 182"/>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85" name="Text 183"/>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86" name="Shape 184"/>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87" name="Text 185"/>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88" name="Shape 186"/>
          <p:cNvSpPr/>
          <p:nvPr/>
        </p:nvSpPr>
        <p:spPr>
          <a:xfrm>
            <a:off x="9464040" y="2651760"/>
            <a:ext cx="2670048" cy="420624"/>
          </a:xfrm>
          <a:prstGeom prst="rect">
            <a:avLst/>
          </a:prstGeom>
          <a:solidFill>
            <a:srgbClr val="FFFFFF"/>
          </a:solidFill>
          <a:ln w="6350">
            <a:solidFill>
              <a:srgbClr val="E5E7EB"/>
            </a:solidFill>
            <a:prstDash val="solid"/>
          </a:ln>
        </p:spPr>
      </p:sp>
      <p:sp>
        <p:nvSpPr>
          <p:cNvPr id="189" name="Shape 187"/>
          <p:cNvSpPr/>
          <p:nvPr/>
        </p:nvSpPr>
        <p:spPr>
          <a:xfrm>
            <a:off x="9537192" y="2743200"/>
            <a:ext cx="109728" cy="109728"/>
          </a:xfrm>
          <a:prstGeom prst="ellipse">
            <a:avLst/>
          </a:prstGeom>
          <a:solidFill>
            <a:srgbClr val="9CA3AF"/>
          </a:solidFill>
          <a:ln w="12700">
            <a:solidFill>
              <a:srgbClr val="9CA3AF"/>
            </a:solidFill>
            <a:prstDash val="solid"/>
          </a:ln>
        </p:spPr>
      </p:sp>
      <p:sp>
        <p:nvSpPr>
          <p:cNvPr id="190" name="Text 188"/>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91" name="Text 189"/>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92" name="Shape 190"/>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93" name="Text 191"/>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94" name="Shape 192"/>
          <p:cNvSpPr/>
          <p:nvPr/>
        </p:nvSpPr>
        <p:spPr>
          <a:xfrm>
            <a:off x="9482328" y="3200400"/>
            <a:ext cx="2633472" cy="0"/>
          </a:xfrm>
          <a:prstGeom prst="line">
            <a:avLst/>
          </a:prstGeom>
          <a:noFill/>
          <a:ln w="9525">
            <a:solidFill>
              <a:srgbClr val="DDE1E6"/>
            </a:solidFill>
            <a:prstDash val="solid"/>
          </a:ln>
        </p:spPr>
      </p:sp>
      <p:sp>
        <p:nvSpPr>
          <p:cNvPr id="195" name="Text 193"/>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96" name="Shape 194"/>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197" name="Text 195"/>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98" name="Text 196"/>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199" name="Shape 197"/>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00" name="Text 198"/>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01" name="Text 199"/>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02" name="Shape 200"/>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03" name="Text 201"/>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04" name="Text 202"/>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05" name="Shape 203"/>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06" name="Text 204"/>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07" name="Text 205"/>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08" name="Shape 206"/>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09" name="Text 207"/>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10" name="Text 208"/>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1190</Words>
  <Application>Microsoft Macintosh PowerPoint</Application>
  <PresentationFormat>Custom</PresentationFormat>
  <Paragraphs>191</Paragraphs>
  <Slides>3</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Aptos</vt:lpstr>
      <vt:lpstr>Aptos Display</vt:lpstr>
      <vt:lpstr>Arial</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Juan Valdes</dc:creator>
  <cp:lastModifiedBy>Juan Valdes</cp:lastModifiedBy>
  <cp:revision>63</cp:revision>
  <cp:lastPrinted>2026-04-23T15:50:00Z</cp:lastPrinted>
  <dcterms:created xsi:type="dcterms:W3CDTF">2025-09-04T21:24:03Z</dcterms:created>
  <dcterms:modified xsi:type="dcterms:W3CDTF">2026-07-06T19:43:22Z</dcterms:modified>
</cp:coreProperties>
</file>