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10"/>
    <p:sldId id="258" r:id="rId11"/>
    <p:sldId id="259" r:id="rId12"/>
    <p:sldId id="260" r:id="rId13"/>
    <p:sldId id="261" r:id="rId14"/>
    <p:sldId id="262" r:id="rId15"/>
  </p:sldIdLst>
  <p:sldSz cx="12344400" cy="73152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41"/>
    <p:restoredTop sz="94630"/>
  </p:normalViewPr>
  <p:slideViewPr>
    <p:cSldViewPr snapToGrid="0">
      <p:cViewPr varScale="1">
        <p:scale>
          <a:sx n="130" d="100"/>
          <a:sy n="130" d="100"/>
        </p:scale>
        <p:origin x="96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F6586C-20BB-0145-BBB0-5205A2D85F37}" type="datetimeFigureOut">
              <a:rPr lang="en-US" smtClean="0"/>
              <a:t>7/6/26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273F65-57BB-3342-98F4-D52BB15090D3}" type="slidenum">
              <a:rPr lang="en-US" smtClean="0"/>
              <a:t>‹#›</a:t>
            </a:fld>
            <a:endParaRPr lang="en-US"/>
          </a:p>
        </p:txBody>
      </p:sp>
    </p:spTree>
    <p:extLst>
      <p:ext uri="{BB962C8B-B14F-4D97-AF65-F5344CB8AC3E}">
        <p14:creationId xmlns:p14="http://schemas.microsoft.com/office/powerpoint/2010/main" val="8185981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542AB-4E5D-E3E5-DA43-46F3AD282BA3}"/>
              </a:ext>
            </a:extLst>
          </p:cNvPr>
          <p:cNvSpPr>
            <a:spLocks noGrp="1"/>
          </p:cNvSpPr>
          <p:nvPr>
            <p:ph type="ctrTitle"/>
          </p:nvPr>
        </p:nvSpPr>
        <p:spPr>
          <a:xfrm>
            <a:off x="1543050" y="1197187"/>
            <a:ext cx="9258300" cy="2546773"/>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6ADC5D1-2E43-2D4F-10CF-6B9C4932443F}"/>
              </a:ext>
            </a:extLst>
          </p:cNvPr>
          <p:cNvSpPr>
            <a:spLocks noGrp="1"/>
          </p:cNvSpPr>
          <p:nvPr>
            <p:ph type="subTitle" idx="1"/>
          </p:nvPr>
        </p:nvSpPr>
        <p:spPr>
          <a:xfrm>
            <a:off x="1543050" y="3842174"/>
            <a:ext cx="9258300" cy="1766146"/>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291BCE-1E26-2FF6-8CD5-66BFE639D14A}"/>
              </a:ext>
            </a:extLst>
          </p:cNvPr>
          <p:cNvSpPr>
            <a:spLocks noGrp="1"/>
          </p:cNvSpPr>
          <p:nvPr>
            <p:ph type="dt" sz="half" idx="10"/>
          </p:nvPr>
        </p:nvSpPr>
        <p:spPr/>
        <p:txBody>
          <a:bodyPr/>
          <a:lstStyle/>
          <a:p>
            <a:fld id="{4AF3E59C-6757-304D-81DC-AFC89DC42387}" type="datetime1">
              <a:rPr lang="en-US" smtClean="0"/>
              <a:t>7/6/26</a:t>
            </a:fld>
            <a:endParaRPr lang="en-US"/>
          </a:p>
        </p:txBody>
      </p:sp>
      <p:sp>
        <p:nvSpPr>
          <p:cNvPr id="5" name="Footer Placeholder 4">
            <a:extLst>
              <a:ext uri="{FF2B5EF4-FFF2-40B4-BE49-F238E27FC236}">
                <a16:creationId xmlns:a16="http://schemas.microsoft.com/office/drawing/2014/main" id="{342DBBA0-D6C7-FC07-5C56-7191AB2C846F}"/>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A6C5ABB2-FC67-66A2-B676-98C8F4708307}"/>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8646702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8AB43-7245-25CD-9429-3739721B0D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5EB2ECB-D6B4-1B28-8A6F-4A72D3E7E29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65FF69-2AD4-71DC-BCAE-6BCC61AA0542}"/>
              </a:ext>
            </a:extLst>
          </p:cNvPr>
          <p:cNvSpPr>
            <a:spLocks noGrp="1"/>
          </p:cNvSpPr>
          <p:nvPr>
            <p:ph type="dt" sz="half" idx="10"/>
          </p:nvPr>
        </p:nvSpPr>
        <p:spPr/>
        <p:txBody>
          <a:bodyPr/>
          <a:lstStyle/>
          <a:p>
            <a:fld id="{F5717DB9-6A5E-D34E-8F49-668C4E023DB8}" type="datetime1">
              <a:rPr lang="en-US" smtClean="0"/>
              <a:t>7/6/26</a:t>
            </a:fld>
            <a:endParaRPr lang="en-US"/>
          </a:p>
        </p:txBody>
      </p:sp>
      <p:sp>
        <p:nvSpPr>
          <p:cNvPr id="5" name="Footer Placeholder 4">
            <a:extLst>
              <a:ext uri="{FF2B5EF4-FFF2-40B4-BE49-F238E27FC236}">
                <a16:creationId xmlns:a16="http://schemas.microsoft.com/office/drawing/2014/main" id="{0A44906B-2BF5-D735-8C03-383888D485AC}"/>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538854DA-D980-9804-D429-EE5849AB2C7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581239677"/>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38A7F-439E-24E3-D0F9-D2B05E7C8108}"/>
              </a:ext>
            </a:extLst>
          </p:cNvPr>
          <p:cNvSpPr>
            <a:spLocks noGrp="1"/>
          </p:cNvSpPr>
          <p:nvPr>
            <p:ph type="title"/>
          </p:nvPr>
        </p:nvSpPr>
        <p:spPr>
          <a:xfrm>
            <a:off x="842248" y="1823721"/>
            <a:ext cx="10647045" cy="3042919"/>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443069C-437B-5A7C-D4D2-2F5EA044BEBC}"/>
              </a:ext>
            </a:extLst>
          </p:cNvPr>
          <p:cNvSpPr>
            <a:spLocks noGrp="1"/>
          </p:cNvSpPr>
          <p:nvPr>
            <p:ph type="body" idx="1"/>
          </p:nvPr>
        </p:nvSpPr>
        <p:spPr>
          <a:xfrm>
            <a:off x="842248" y="4895428"/>
            <a:ext cx="10647045" cy="1600199"/>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71F402-A6B4-06C9-471A-ADA7A5B20421}"/>
              </a:ext>
            </a:extLst>
          </p:cNvPr>
          <p:cNvSpPr>
            <a:spLocks noGrp="1"/>
          </p:cNvSpPr>
          <p:nvPr>
            <p:ph type="dt" sz="half" idx="10"/>
          </p:nvPr>
        </p:nvSpPr>
        <p:spPr/>
        <p:txBody>
          <a:bodyPr/>
          <a:lstStyle/>
          <a:p>
            <a:fld id="{9D8F7AC0-3832-FD45-8B44-A4D6390FE77E}" type="datetime1">
              <a:rPr lang="en-US" smtClean="0"/>
              <a:t>7/6/26</a:t>
            </a:fld>
            <a:endParaRPr lang="en-US"/>
          </a:p>
        </p:txBody>
      </p:sp>
      <p:sp>
        <p:nvSpPr>
          <p:cNvPr id="5" name="Footer Placeholder 4">
            <a:extLst>
              <a:ext uri="{FF2B5EF4-FFF2-40B4-BE49-F238E27FC236}">
                <a16:creationId xmlns:a16="http://schemas.microsoft.com/office/drawing/2014/main" id="{93CF1C27-1515-AE48-2681-B9E0DCA4CFC2}"/>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7591AB8D-4166-DA76-F40F-CB996B4F4D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12274396"/>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33359-1342-9126-C00F-43885A33B2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8346A5D-AA75-B6A7-2A97-8175D78EB429}"/>
              </a:ext>
            </a:extLst>
          </p:cNvPr>
          <p:cNvSpPr>
            <a:spLocks noGrp="1"/>
          </p:cNvSpPr>
          <p:nvPr>
            <p:ph sz="half" idx="1"/>
          </p:nvPr>
        </p:nvSpPr>
        <p:spPr>
          <a:xfrm>
            <a:off x="848678"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05D2B62-3F5B-CA87-894D-E35F3A7A73FA}"/>
              </a:ext>
            </a:extLst>
          </p:cNvPr>
          <p:cNvSpPr>
            <a:spLocks noGrp="1"/>
          </p:cNvSpPr>
          <p:nvPr>
            <p:ph sz="half" idx="2"/>
          </p:nvPr>
        </p:nvSpPr>
        <p:spPr>
          <a:xfrm>
            <a:off x="6249353"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EAB9ACC-74B2-0D1E-9729-94C5BDE608E7}"/>
              </a:ext>
            </a:extLst>
          </p:cNvPr>
          <p:cNvSpPr>
            <a:spLocks noGrp="1"/>
          </p:cNvSpPr>
          <p:nvPr>
            <p:ph type="dt" sz="half" idx="10"/>
          </p:nvPr>
        </p:nvSpPr>
        <p:spPr/>
        <p:txBody>
          <a:bodyPr/>
          <a:lstStyle/>
          <a:p>
            <a:fld id="{07846480-99BB-4344-B97D-DCA362A5FDF8}" type="datetime1">
              <a:rPr lang="en-US" smtClean="0"/>
              <a:t>7/6/26</a:t>
            </a:fld>
            <a:endParaRPr lang="en-US"/>
          </a:p>
        </p:txBody>
      </p:sp>
      <p:sp>
        <p:nvSpPr>
          <p:cNvPr id="6" name="Footer Placeholder 5">
            <a:extLst>
              <a:ext uri="{FF2B5EF4-FFF2-40B4-BE49-F238E27FC236}">
                <a16:creationId xmlns:a16="http://schemas.microsoft.com/office/drawing/2014/main" id="{0EB8D0D1-614A-F39F-2359-171D4F29F76E}"/>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41124FE4-5372-56CC-9C0A-792C0649DD9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11728568"/>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741B6-C81C-44D7-8314-B9E48D54DCC6}"/>
              </a:ext>
            </a:extLst>
          </p:cNvPr>
          <p:cNvSpPr>
            <a:spLocks noGrp="1"/>
          </p:cNvSpPr>
          <p:nvPr>
            <p:ph type="title"/>
          </p:nvPr>
        </p:nvSpPr>
        <p:spPr>
          <a:xfrm>
            <a:off x="850285" y="389467"/>
            <a:ext cx="10647045" cy="1413934"/>
          </a:xfrm>
        </p:spPr>
        <p:txBody>
          <a:bodyPr/>
          <a:lstStyle/>
          <a:p>
            <a:r>
              <a:rPr lang="en-US"/>
              <a:t>Click to edit Master title style</a:t>
            </a:r>
          </a:p>
        </p:txBody>
      </p:sp>
      <p:sp>
        <p:nvSpPr>
          <p:cNvPr id="3" name="Text Placeholder 2">
            <a:extLst>
              <a:ext uri="{FF2B5EF4-FFF2-40B4-BE49-F238E27FC236}">
                <a16:creationId xmlns:a16="http://schemas.microsoft.com/office/drawing/2014/main" id="{6A5B6461-6F52-D709-1AA9-7693FA24E633}"/>
              </a:ext>
            </a:extLst>
          </p:cNvPr>
          <p:cNvSpPr>
            <a:spLocks noGrp="1"/>
          </p:cNvSpPr>
          <p:nvPr>
            <p:ph type="body" idx="1"/>
          </p:nvPr>
        </p:nvSpPr>
        <p:spPr>
          <a:xfrm>
            <a:off x="850286" y="1793241"/>
            <a:ext cx="5222259"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705DFE-74DC-8B97-1F5D-76C626F585D2}"/>
              </a:ext>
            </a:extLst>
          </p:cNvPr>
          <p:cNvSpPr>
            <a:spLocks noGrp="1"/>
          </p:cNvSpPr>
          <p:nvPr>
            <p:ph sz="half" idx="2"/>
          </p:nvPr>
        </p:nvSpPr>
        <p:spPr>
          <a:xfrm>
            <a:off x="850286" y="2672080"/>
            <a:ext cx="5222259"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9030914-B7F9-314F-3471-1EB0342CE915}"/>
              </a:ext>
            </a:extLst>
          </p:cNvPr>
          <p:cNvSpPr>
            <a:spLocks noGrp="1"/>
          </p:cNvSpPr>
          <p:nvPr>
            <p:ph type="body" sz="quarter" idx="3"/>
          </p:nvPr>
        </p:nvSpPr>
        <p:spPr>
          <a:xfrm>
            <a:off x="6249352" y="1793241"/>
            <a:ext cx="5247978"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D342F94-E36A-FBCB-AD5A-A7A2F73400BD}"/>
              </a:ext>
            </a:extLst>
          </p:cNvPr>
          <p:cNvSpPr>
            <a:spLocks noGrp="1"/>
          </p:cNvSpPr>
          <p:nvPr>
            <p:ph sz="quarter" idx="4"/>
          </p:nvPr>
        </p:nvSpPr>
        <p:spPr>
          <a:xfrm>
            <a:off x="6249352" y="2672080"/>
            <a:ext cx="5247978"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BDDA9A0-9B83-1061-522A-D57667671334}"/>
              </a:ext>
            </a:extLst>
          </p:cNvPr>
          <p:cNvSpPr>
            <a:spLocks noGrp="1"/>
          </p:cNvSpPr>
          <p:nvPr>
            <p:ph type="dt" sz="half" idx="10"/>
          </p:nvPr>
        </p:nvSpPr>
        <p:spPr/>
        <p:txBody>
          <a:bodyPr/>
          <a:lstStyle/>
          <a:p>
            <a:fld id="{31F8A984-FDA0-474C-92E2-0FCD6F165F9D}" type="datetime1">
              <a:rPr lang="en-US" smtClean="0"/>
              <a:t>7/6/26</a:t>
            </a:fld>
            <a:endParaRPr lang="en-US"/>
          </a:p>
        </p:txBody>
      </p:sp>
      <p:sp>
        <p:nvSpPr>
          <p:cNvPr id="8" name="Footer Placeholder 7">
            <a:extLst>
              <a:ext uri="{FF2B5EF4-FFF2-40B4-BE49-F238E27FC236}">
                <a16:creationId xmlns:a16="http://schemas.microsoft.com/office/drawing/2014/main" id="{66A1BFC6-DD30-8582-9BB5-A4C2FCA69217}"/>
              </a:ext>
            </a:extLst>
          </p:cNvPr>
          <p:cNvSpPr>
            <a:spLocks noGrp="1"/>
          </p:cNvSpPr>
          <p:nvPr>
            <p:ph type="ftr" sz="quarter" idx="11"/>
          </p:nvPr>
        </p:nvSpPr>
        <p:spPr/>
        <p:txBody>
          <a:bodyPr/>
          <a:lstStyle/>
          <a:p>
            <a:r>
              <a:rPr lang="en-US"/>
              <a:t>Tennis Channel 2025 - CONFIDENTIAL</a:t>
            </a:r>
          </a:p>
        </p:txBody>
      </p:sp>
      <p:sp>
        <p:nvSpPr>
          <p:cNvPr id="9" name="Slide Number Placeholder 8">
            <a:extLst>
              <a:ext uri="{FF2B5EF4-FFF2-40B4-BE49-F238E27FC236}">
                <a16:creationId xmlns:a16="http://schemas.microsoft.com/office/drawing/2014/main" id="{50B897CB-2FF9-D746-CA12-5F53E4C9EF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960872535"/>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689EC-C4E0-F720-B4BB-9C306330584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3242ECA-686B-F2FE-244F-519EADC8FBC1}"/>
              </a:ext>
            </a:extLst>
          </p:cNvPr>
          <p:cNvSpPr>
            <a:spLocks noGrp="1"/>
          </p:cNvSpPr>
          <p:nvPr>
            <p:ph type="dt" sz="half" idx="10"/>
          </p:nvPr>
        </p:nvSpPr>
        <p:spPr/>
        <p:txBody>
          <a:bodyPr/>
          <a:lstStyle/>
          <a:p>
            <a:fld id="{DF7D6774-7599-9340-9771-ADFFFF50DA4A}" type="datetime1">
              <a:rPr lang="en-US" smtClean="0"/>
              <a:t>7/6/26</a:t>
            </a:fld>
            <a:endParaRPr lang="en-US"/>
          </a:p>
        </p:txBody>
      </p:sp>
      <p:sp>
        <p:nvSpPr>
          <p:cNvPr id="4" name="Footer Placeholder 3">
            <a:extLst>
              <a:ext uri="{FF2B5EF4-FFF2-40B4-BE49-F238E27FC236}">
                <a16:creationId xmlns:a16="http://schemas.microsoft.com/office/drawing/2014/main" id="{994311D5-E61B-E713-F072-7FC70EFC6106}"/>
              </a:ext>
            </a:extLst>
          </p:cNvPr>
          <p:cNvSpPr>
            <a:spLocks noGrp="1"/>
          </p:cNvSpPr>
          <p:nvPr>
            <p:ph type="ftr" sz="quarter" idx="11"/>
          </p:nvPr>
        </p:nvSpPr>
        <p:spPr/>
        <p:txBody>
          <a:bodyPr/>
          <a:lstStyle/>
          <a:p>
            <a:r>
              <a:rPr lang="en-US"/>
              <a:t>Tennis Channel 2025 - CONFIDENTIAL</a:t>
            </a:r>
          </a:p>
        </p:txBody>
      </p:sp>
      <p:sp>
        <p:nvSpPr>
          <p:cNvPr id="5" name="Slide Number Placeholder 4">
            <a:extLst>
              <a:ext uri="{FF2B5EF4-FFF2-40B4-BE49-F238E27FC236}">
                <a16:creationId xmlns:a16="http://schemas.microsoft.com/office/drawing/2014/main" id="{D8B1AD28-E6B8-41E5-013F-EA3705C5052B}"/>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461587223"/>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9044EE4-4846-6C32-288C-E05F40C3111D}"/>
              </a:ext>
            </a:extLst>
          </p:cNvPr>
          <p:cNvSpPr>
            <a:spLocks noGrp="1"/>
          </p:cNvSpPr>
          <p:nvPr>
            <p:ph type="dt" sz="half" idx="10"/>
          </p:nvPr>
        </p:nvSpPr>
        <p:spPr/>
        <p:txBody>
          <a:bodyPr/>
          <a:lstStyle/>
          <a:p>
            <a:fld id="{9CBD47B3-23AB-F54B-9A7B-8C00C8081A30}" type="datetime1">
              <a:rPr lang="en-US" smtClean="0"/>
              <a:t>7/6/26</a:t>
            </a:fld>
            <a:endParaRPr lang="en-US"/>
          </a:p>
        </p:txBody>
      </p:sp>
      <p:sp>
        <p:nvSpPr>
          <p:cNvPr id="3" name="Footer Placeholder 2">
            <a:extLst>
              <a:ext uri="{FF2B5EF4-FFF2-40B4-BE49-F238E27FC236}">
                <a16:creationId xmlns:a16="http://schemas.microsoft.com/office/drawing/2014/main" id="{6261C964-1C2C-8775-5756-EB8BCF7C5D8E}"/>
              </a:ext>
            </a:extLst>
          </p:cNvPr>
          <p:cNvSpPr>
            <a:spLocks noGrp="1"/>
          </p:cNvSpPr>
          <p:nvPr>
            <p:ph type="ftr" sz="quarter" idx="11"/>
          </p:nvPr>
        </p:nvSpPr>
        <p:spPr/>
        <p:txBody>
          <a:bodyPr/>
          <a:lstStyle/>
          <a:p>
            <a:r>
              <a:rPr lang="en-US"/>
              <a:t>Tennis Channel 2025 - CONFIDENTIAL</a:t>
            </a:r>
          </a:p>
        </p:txBody>
      </p:sp>
      <p:sp>
        <p:nvSpPr>
          <p:cNvPr id="4" name="Slide Number Placeholder 3">
            <a:extLst>
              <a:ext uri="{FF2B5EF4-FFF2-40B4-BE49-F238E27FC236}">
                <a16:creationId xmlns:a16="http://schemas.microsoft.com/office/drawing/2014/main" id="{FACE2306-71B3-FBB9-6236-9950E5EAF3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78362405"/>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0843BF-2A0F-47ED-D433-DF8E9551A7AC}"/>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73D69E-2B52-800B-E2F9-FE835D84C945}"/>
              </a:ext>
            </a:extLst>
          </p:cNvPr>
          <p:cNvSpPr>
            <a:spLocks noGrp="1"/>
          </p:cNvSpPr>
          <p:nvPr>
            <p:ph idx="1"/>
          </p:nvPr>
        </p:nvSpPr>
        <p:spPr>
          <a:xfrm>
            <a:off x="5247978" y="1053254"/>
            <a:ext cx="6249353" cy="519853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E998016-679C-7679-BDA6-B776B0D0B0C9}"/>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C8CC95-EAA5-1963-009D-F7BA26301BCD}"/>
              </a:ext>
            </a:extLst>
          </p:cNvPr>
          <p:cNvSpPr>
            <a:spLocks noGrp="1"/>
          </p:cNvSpPr>
          <p:nvPr>
            <p:ph type="dt" sz="half" idx="10"/>
          </p:nvPr>
        </p:nvSpPr>
        <p:spPr/>
        <p:txBody>
          <a:bodyPr/>
          <a:lstStyle/>
          <a:p>
            <a:fld id="{14F30ED9-FCB1-5447-9794-AFD5F779FA3B}" type="datetime1">
              <a:rPr lang="en-US" smtClean="0"/>
              <a:t>7/6/26</a:t>
            </a:fld>
            <a:endParaRPr lang="en-US"/>
          </a:p>
        </p:txBody>
      </p:sp>
      <p:sp>
        <p:nvSpPr>
          <p:cNvPr id="6" name="Footer Placeholder 5">
            <a:extLst>
              <a:ext uri="{FF2B5EF4-FFF2-40B4-BE49-F238E27FC236}">
                <a16:creationId xmlns:a16="http://schemas.microsoft.com/office/drawing/2014/main" id="{D2646692-B664-9A1B-69AE-7EAA55E6C808}"/>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BEAE579E-2EBD-DCFD-488E-7D4D8A6274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646652161"/>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89F60-72BE-0112-F6AB-FDF9D5265274}"/>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087395E-5F3E-85C5-01AF-8B5A395FF006}"/>
              </a:ext>
            </a:extLst>
          </p:cNvPr>
          <p:cNvSpPr>
            <a:spLocks noGrp="1"/>
          </p:cNvSpPr>
          <p:nvPr>
            <p:ph type="pic" idx="1"/>
          </p:nvPr>
        </p:nvSpPr>
        <p:spPr>
          <a:xfrm>
            <a:off x="5247978" y="1053254"/>
            <a:ext cx="6249353" cy="519853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7617A5B-9716-D4C8-864D-84AB8F3DF7AA}"/>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BA2244-8C79-D9DA-DEDF-531C692C6327}"/>
              </a:ext>
            </a:extLst>
          </p:cNvPr>
          <p:cNvSpPr>
            <a:spLocks noGrp="1"/>
          </p:cNvSpPr>
          <p:nvPr>
            <p:ph type="dt" sz="half" idx="10"/>
          </p:nvPr>
        </p:nvSpPr>
        <p:spPr/>
        <p:txBody>
          <a:bodyPr/>
          <a:lstStyle/>
          <a:p>
            <a:fld id="{DA073474-B78A-B243-B4FD-D7121F5357F7}" type="datetime1">
              <a:rPr lang="en-US" smtClean="0"/>
              <a:t>7/6/26</a:t>
            </a:fld>
            <a:endParaRPr lang="en-US"/>
          </a:p>
        </p:txBody>
      </p:sp>
      <p:sp>
        <p:nvSpPr>
          <p:cNvPr id="6" name="Footer Placeholder 5">
            <a:extLst>
              <a:ext uri="{FF2B5EF4-FFF2-40B4-BE49-F238E27FC236}">
                <a16:creationId xmlns:a16="http://schemas.microsoft.com/office/drawing/2014/main" id="{F48925A5-5811-EC41-095C-E6482D873996}"/>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9823A3D9-596F-C217-ADA1-150F7A06495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6003655"/>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1DCD6-4900-D307-8B3E-845F0B83D14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BDDC619-0D5E-261F-3E8E-3F35DAACDE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CCCD90-30E8-04DC-218F-7B7549CB26CB}"/>
              </a:ext>
            </a:extLst>
          </p:cNvPr>
          <p:cNvSpPr>
            <a:spLocks noGrp="1"/>
          </p:cNvSpPr>
          <p:nvPr>
            <p:ph type="dt" sz="half" idx="10"/>
          </p:nvPr>
        </p:nvSpPr>
        <p:spPr/>
        <p:txBody>
          <a:bodyPr/>
          <a:lstStyle/>
          <a:p>
            <a:fld id="{5DD0E256-82DC-B742-83EE-95D668E2CF2A}" type="datetime1">
              <a:rPr lang="en-US" smtClean="0"/>
              <a:t>7/6/26</a:t>
            </a:fld>
            <a:endParaRPr lang="en-US"/>
          </a:p>
        </p:txBody>
      </p:sp>
      <p:sp>
        <p:nvSpPr>
          <p:cNvPr id="5" name="Footer Placeholder 4">
            <a:extLst>
              <a:ext uri="{FF2B5EF4-FFF2-40B4-BE49-F238E27FC236}">
                <a16:creationId xmlns:a16="http://schemas.microsoft.com/office/drawing/2014/main" id="{1D3EFA0D-D055-1B13-E297-61A43DE8F2B3}"/>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95AF7691-A6DA-9434-C090-1F588D69FC12}"/>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073727667"/>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87BDF5-EF24-0029-DCE1-7AC24EC7CFEF}"/>
              </a:ext>
            </a:extLst>
          </p:cNvPr>
          <p:cNvSpPr>
            <a:spLocks noGrp="1"/>
          </p:cNvSpPr>
          <p:nvPr>
            <p:ph type="title" orient="vert"/>
          </p:nvPr>
        </p:nvSpPr>
        <p:spPr>
          <a:xfrm>
            <a:off x="8833961" y="389467"/>
            <a:ext cx="2661761" cy="6199294"/>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3943A6-7D60-FE02-0DAD-FE1401B4EE15}"/>
              </a:ext>
            </a:extLst>
          </p:cNvPr>
          <p:cNvSpPr>
            <a:spLocks noGrp="1"/>
          </p:cNvSpPr>
          <p:nvPr>
            <p:ph type="body" orient="vert" idx="1"/>
          </p:nvPr>
        </p:nvSpPr>
        <p:spPr>
          <a:xfrm>
            <a:off x="848677" y="389467"/>
            <a:ext cx="7830979" cy="619929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F4A4EF-C246-3BC0-F8A4-2D40BC9CAA57}"/>
              </a:ext>
            </a:extLst>
          </p:cNvPr>
          <p:cNvSpPr>
            <a:spLocks noGrp="1"/>
          </p:cNvSpPr>
          <p:nvPr>
            <p:ph type="dt" sz="half" idx="10"/>
          </p:nvPr>
        </p:nvSpPr>
        <p:spPr/>
        <p:txBody>
          <a:bodyPr/>
          <a:lstStyle/>
          <a:p>
            <a:fld id="{6E08F2DA-B790-C342-8CF1-3B2B97F389FB}" type="datetime1">
              <a:rPr lang="en-US" smtClean="0"/>
              <a:t>7/6/26</a:t>
            </a:fld>
            <a:endParaRPr lang="en-US"/>
          </a:p>
        </p:txBody>
      </p:sp>
      <p:sp>
        <p:nvSpPr>
          <p:cNvPr id="5" name="Footer Placeholder 4">
            <a:extLst>
              <a:ext uri="{FF2B5EF4-FFF2-40B4-BE49-F238E27FC236}">
                <a16:creationId xmlns:a16="http://schemas.microsoft.com/office/drawing/2014/main" id="{21A78659-C8AF-161E-4E7D-5D3EEF219ED6}"/>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C46C2202-F3E0-D5DC-F7E2-566FC445139A}"/>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35359364"/>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075072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0832AE-95EA-F660-E35B-9F761BA36B82}"/>
              </a:ext>
            </a:extLst>
          </p:cNvPr>
          <p:cNvSpPr>
            <a:spLocks noGrp="1"/>
          </p:cNvSpPr>
          <p:nvPr>
            <p:ph type="title"/>
          </p:nvPr>
        </p:nvSpPr>
        <p:spPr>
          <a:xfrm>
            <a:off x="848678" y="389467"/>
            <a:ext cx="10647045" cy="141393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A31F6F-E4B0-5C59-F323-FC6476B0321D}"/>
              </a:ext>
            </a:extLst>
          </p:cNvPr>
          <p:cNvSpPr>
            <a:spLocks noGrp="1"/>
          </p:cNvSpPr>
          <p:nvPr>
            <p:ph type="body" idx="1"/>
          </p:nvPr>
        </p:nvSpPr>
        <p:spPr>
          <a:xfrm>
            <a:off x="848678" y="1947333"/>
            <a:ext cx="10647045" cy="464142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A68926-F5FE-4122-DF92-7B0B254C8718}"/>
              </a:ext>
            </a:extLst>
          </p:cNvPr>
          <p:cNvSpPr>
            <a:spLocks noGrp="1"/>
          </p:cNvSpPr>
          <p:nvPr>
            <p:ph type="dt" sz="half" idx="2"/>
          </p:nvPr>
        </p:nvSpPr>
        <p:spPr>
          <a:xfrm>
            <a:off x="848678" y="6780107"/>
            <a:ext cx="2777490" cy="389467"/>
          </a:xfrm>
          <a:prstGeom prst="rect">
            <a:avLst/>
          </a:prstGeom>
        </p:spPr>
        <p:txBody>
          <a:bodyPr vert="horz" lIns="91440" tIns="45720" rIns="91440" bIns="45720" rtlCol="0" anchor="ctr"/>
          <a:lstStyle>
            <a:lvl1pPr algn="l">
              <a:defRPr sz="1200">
                <a:solidFill>
                  <a:schemeClr val="tx1">
                    <a:tint val="82000"/>
                  </a:schemeClr>
                </a:solidFill>
              </a:defRPr>
            </a:lvl1pPr>
          </a:lstStyle>
          <a:p>
            <a:fld id="{905F453D-07D2-4A45-8FB4-9BC139C4CB3A}" type="datetime1">
              <a:rPr lang="en-US" smtClean="0"/>
              <a:t>7/6/26</a:t>
            </a:fld>
            <a:endParaRPr lang="en-US"/>
          </a:p>
        </p:txBody>
      </p:sp>
      <p:sp>
        <p:nvSpPr>
          <p:cNvPr id="5" name="Footer Placeholder 4">
            <a:extLst>
              <a:ext uri="{FF2B5EF4-FFF2-40B4-BE49-F238E27FC236}">
                <a16:creationId xmlns:a16="http://schemas.microsoft.com/office/drawing/2014/main" id="{6485CEA4-3B6B-7E59-4DDA-7365730F344D}"/>
              </a:ext>
            </a:extLst>
          </p:cNvPr>
          <p:cNvSpPr>
            <a:spLocks noGrp="1"/>
          </p:cNvSpPr>
          <p:nvPr>
            <p:ph type="ftr" sz="quarter" idx="3"/>
          </p:nvPr>
        </p:nvSpPr>
        <p:spPr>
          <a:xfrm>
            <a:off x="4089083" y="6780107"/>
            <a:ext cx="4166235" cy="389467"/>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Tennis Channel 2025 - CONFIDENTIAL</a:t>
            </a:r>
          </a:p>
        </p:txBody>
      </p:sp>
      <p:sp>
        <p:nvSpPr>
          <p:cNvPr id="6" name="Slide Number Placeholder 5">
            <a:extLst>
              <a:ext uri="{FF2B5EF4-FFF2-40B4-BE49-F238E27FC236}">
                <a16:creationId xmlns:a16="http://schemas.microsoft.com/office/drawing/2014/main" id="{3162949E-0088-40B8-643A-0F725CFA305F}"/>
              </a:ext>
            </a:extLst>
          </p:cNvPr>
          <p:cNvSpPr>
            <a:spLocks noGrp="1"/>
          </p:cNvSpPr>
          <p:nvPr>
            <p:ph type="sldNum" sz="quarter" idx="4"/>
          </p:nvPr>
        </p:nvSpPr>
        <p:spPr>
          <a:xfrm>
            <a:off x="8718233" y="6780107"/>
            <a:ext cx="2777490" cy="389467"/>
          </a:xfrm>
          <a:prstGeom prst="rect">
            <a:avLst/>
          </a:prstGeom>
        </p:spPr>
        <p:txBody>
          <a:bodyPr vert="horz" lIns="91440" tIns="45720" rIns="91440" bIns="45720" rtlCol="0" anchor="ctr"/>
          <a:lstStyle>
            <a:lvl1pPr algn="r">
              <a:defRPr sz="1200">
                <a:solidFill>
                  <a:schemeClr val="tx1">
                    <a:tint val="82000"/>
                  </a:schemeClr>
                </a:solidFill>
              </a:defRPr>
            </a:lvl1pPr>
          </a:lstStyle>
          <a:p>
            <a:fld id="{F6DAA944-EC5F-9D44-9E3D-812366C7D5CA}" type="slidenum">
              <a:rPr lang="en-US" smtClean="0"/>
              <a:t>‹#›</a:t>
            </a:fld>
            <a:endParaRPr lang="en-US"/>
          </a:p>
        </p:txBody>
      </p:sp>
    </p:spTree>
    <p:extLst>
      <p:ext uri="{BB962C8B-B14F-4D97-AF65-F5344CB8AC3E}">
        <p14:creationId xmlns:p14="http://schemas.microsoft.com/office/powerpoint/2010/main" val="41250136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 y="27691"/>
            <a:ext cx="12344091" cy="388849"/>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3" name="Text 1"/>
          <p:cNvSpPr/>
          <p:nvPr/>
        </p:nvSpPr>
        <p:spPr>
          <a:xfrm>
            <a:off x="1" y="38980"/>
            <a:ext cx="12344091" cy="388849"/>
          </a:xfrm>
          <a:prstGeom prst="rect">
            <a:avLst/>
          </a:prstGeom>
          <a:noFill/>
          <a:ln/>
        </p:spPr>
        <p:txBody>
          <a:bodyPr wrap="square" lIns="0" tIns="0" rIns="0" bIns="0" rtlCol="0" anchor="ctr"/>
          <a:lstStyle/>
          <a:p>
            <a:pPr algn="ctr"/>
            <a:r>
              <a:rPr lang="en-US" sz="1600" b="1" dirty="0">
                <a:solidFill>
                  <a:srgbClr val="000000"/>
                </a:solidFill>
                <a:latin typeface="Arial" panose="020B0604020202020204" pitchFamily="34" charset="0"/>
                <a:ea typeface="Arial" pitchFamily="34" charset="-122"/>
                <a:cs typeface="Arial" panose="020B0604020202020204" pitchFamily="34" charset="0"/>
              </a:rPr>
              <a:t>Tennis Channel Project SABR</a:t>
            </a:r>
            <a:endParaRPr lang="en-US" sz="1600" b="1" dirty="0">
              <a:latin typeface="Arial" panose="020B0604020202020204" pitchFamily="34" charset="0"/>
              <a:cs typeface="Arial" panose="020B0604020202020204" pitchFamily="34" charset="0"/>
            </a:endParaRPr>
          </a:p>
        </p:txBody>
      </p:sp>
      <p:sp>
        <p:nvSpPr>
          <p:cNvPr id="4" name="Shape 2"/>
          <p:cNvSpPr/>
          <p:nvPr/>
        </p:nvSpPr>
        <p:spPr>
          <a:xfrm>
            <a:off x="0" y="427829"/>
            <a:ext cx="12251509" cy="1017037"/>
          </a:xfrm>
          <a:prstGeom prst="rect">
            <a:avLst/>
          </a:prstGeom>
          <a:solidFill>
            <a:schemeClr val="bg1"/>
          </a:solidFill>
          <a:ln w="9525">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 name="Shape 3"/>
          <p:cNvSpPr/>
          <p:nvPr/>
        </p:nvSpPr>
        <p:spPr>
          <a:xfrm>
            <a:off x="92584" y="861593"/>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 name="Shape 4"/>
          <p:cNvSpPr/>
          <p:nvPr/>
        </p:nvSpPr>
        <p:spPr>
          <a:xfrm>
            <a:off x="92584" y="1213409"/>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7" name="Shape 5"/>
          <p:cNvSpPr/>
          <p:nvPr/>
        </p:nvSpPr>
        <p:spPr>
          <a:xfrm>
            <a:off x="925830" y="611619"/>
            <a:ext cx="0" cy="833247"/>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8" name="Text 6"/>
          <p:cNvSpPr/>
          <p:nvPr/>
        </p:nvSpPr>
        <p:spPr>
          <a:xfrm>
            <a:off x="148133" y="611619"/>
            <a:ext cx="759181" cy="249974"/>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OWNERS</a:t>
            </a:r>
            <a:endParaRPr lang="en-US" sz="810" dirty="0">
              <a:latin typeface="Arial" panose="020B0604020202020204" pitchFamily="34" charset="0"/>
              <a:cs typeface="Arial" panose="020B0604020202020204" pitchFamily="34" charset="0"/>
            </a:endParaRPr>
          </a:p>
        </p:txBody>
      </p:sp>
      <p:sp>
        <p:nvSpPr>
          <p:cNvPr id="9" name="Text 7"/>
          <p:cNvSpPr/>
          <p:nvPr/>
        </p:nvSpPr>
        <p:spPr>
          <a:xfrm>
            <a:off x="981380"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Keff Ratcliffe</a:t>
            </a:r>
            <a:endParaRPr lang="en-US" sz="911" dirty="0">
              <a:latin typeface="Arial" panose="020B0604020202020204" pitchFamily="34" charset="0"/>
              <a:cs typeface="Arial" panose="020B0604020202020204" pitchFamily="34" charset="0"/>
            </a:endParaRPr>
          </a:p>
        </p:txBody>
      </p:sp>
      <p:sp>
        <p:nvSpPr>
          <p:cNvPr id="10" name="Text 8"/>
          <p:cNvSpPr/>
          <p:nvPr/>
        </p:nvSpPr>
        <p:spPr>
          <a:xfrm>
            <a:off x="3246516"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Aditya Pande</a:t>
            </a:r>
            <a:endParaRPr lang="en-US" sz="911" dirty="0">
              <a:latin typeface="Arial" panose="020B0604020202020204" pitchFamily="34" charset="0"/>
              <a:cs typeface="Arial" panose="020B0604020202020204" pitchFamily="34" charset="0"/>
            </a:endParaRPr>
          </a:p>
        </p:txBody>
      </p:sp>
      <p:sp>
        <p:nvSpPr>
          <p:cNvPr id="11" name="Text 9"/>
          <p:cNvSpPr/>
          <p:nvPr/>
        </p:nvSpPr>
        <p:spPr>
          <a:xfrm>
            <a:off x="5511652"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Cristina Thompson</a:t>
            </a:r>
            <a:endParaRPr lang="en-US" sz="911" dirty="0">
              <a:latin typeface="Arial" panose="020B0604020202020204" pitchFamily="34" charset="0"/>
              <a:cs typeface="Arial" panose="020B0604020202020204" pitchFamily="34" charset="0"/>
            </a:endParaRPr>
          </a:p>
        </p:txBody>
      </p:sp>
      <p:sp>
        <p:nvSpPr>
          <p:cNvPr id="12" name="Text 10"/>
          <p:cNvSpPr/>
          <p:nvPr/>
        </p:nvSpPr>
        <p:spPr>
          <a:xfrm>
            <a:off x="7776787"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Juan Valdes</a:t>
            </a:r>
            <a:endParaRPr lang="en-US" sz="911" dirty="0">
              <a:latin typeface="Arial" panose="020B0604020202020204" pitchFamily="34" charset="0"/>
              <a:cs typeface="Arial" panose="020B0604020202020204" pitchFamily="34" charset="0"/>
            </a:endParaRPr>
          </a:p>
        </p:txBody>
      </p:sp>
      <p:sp>
        <p:nvSpPr>
          <p:cNvPr id="13" name="Text 11"/>
          <p:cNvSpPr/>
          <p:nvPr/>
        </p:nvSpPr>
        <p:spPr>
          <a:xfrm>
            <a:off x="10041923"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Chris Krueger</a:t>
            </a:r>
            <a:endParaRPr lang="en-US" sz="911" dirty="0">
              <a:latin typeface="Arial" panose="020B0604020202020204" pitchFamily="34" charset="0"/>
              <a:cs typeface="Arial" panose="020B0604020202020204" pitchFamily="34" charset="0"/>
            </a:endParaRPr>
          </a:p>
        </p:txBody>
      </p:sp>
      <p:sp>
        <p:nvSpPr>
          <p:cNvPr id="14" name="Text 12"/>
          <p:cNvSpPr/>
          <p:nvPr/>
        </p:nvSpPr>
        <p:spPr>
          <a:xfrm>
            <a:off x="148133" y="861594"/>
            <a:ext cx="759181" cy="351815"/>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GOAL</a:t>
            </a:r>
            <a:endParaRPr lang="en-US" sz="810" dirty="0">
              <a:latin typeface="Arial" panose="020B0604020202020204" pitchFamily="34" charset="0"/>
              <a:cs typeface="Arial" panose="020B0604020202020204" pitchFamily="34" charset="0"/>
            </a:endParaRPr>
          </a:p>
        </p:txBody>
      </p:sp>
      <p:sp>
        <p:nvSpPr>
          <p:cNvPr id="15" name="Text 13"/>
          <p:cNvSpPr/>
          <p:nvPr/>
        </p:nvSpPr>
        <p:spPr>
          <a:xfrm>
            <a:off x="981380" y="861594"/>
            <a:ext cx="11233095" cy="351815"/>
          </a:xfrm>
          <a:prstGeom prst="rect">
            <a:avLst/>
          </a:prstGeom>
          <a:noFill/>
          <a:ln/>
        </p:spPr>
        <p:txBody>
          <a:bodyPr wrap="square" lIns="0" tIns="0" rIns="0" bIns="0" rtlCol="0" anchor="ctr"/>
          <a:lstStyle/>
          <a:p>
            <a:r>
              <a:rPr lang="en-US" sz="861" dirty="0">
                <a:solidFill>
                  <a:srgbClr val="1A1A1A"/>
                </a:solidFill>
                <a:latin typeface="Arial" panose="020B0604020202020204" pitchFamily="34" charset="0"/>
                <a:ea typeface="Calibri" pitchFamily="34" charset="-122"/>
                <a:cs typeface="Arial" panose="020B0604020202020204" pitchFamily="34" charset="0"/>
              </a:rPr>
              <a:t>Rebuilding Tennis Channel OTT (web, iOS, Android, CTV) on its own platform, powered by Match Central replacing Sport Radar stack.</a:t>
            </a:r>
            <a:endParaRPr lang="en-US" sz="861" dirty="0">
              <a:latin typeface="Arial" panose="020B0604020202020204" pitchFamily="34" charset="0"/>
              <a:cs typeface="Arial" panose="020B0604020202020204" pitchFamily="34" charset="0"/>
            </a:endParaRPr>
          </a:p>
        </p:txBody>
      </p:sp>
      <p:sp>
        <p:nvSpPr>
          <p:cNvPr id="16" name="Text 14"/>
          <p:cNvSpPr/>
          <p:nvPr/>
        </p:nvSpPr>
        <p:spPr>
          <a:xfrm>
            <a:off x="148133" y="1213409"/>
            <a:ext cx="759181" cy="231458"/>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LAUNCH</a:t>
            </a:r>
            <a:endParaRPr lang="en-US" sz="810" dirty="0">
              <a:latin typeface="Arial" panose="020B0604020202020204" pitchFamily="34" charset="0"/>
              <a:cs typeface="Arial" panose="020B0604020202020204" pitchFamily="34" charset="0"/>
            </a:endParaRPr>
          </a:p>
        </p:txBody>
      </p:sp>
      <p:sp>
        <p:nvSpPr>
          <p:cNvPr id="17" name="Text 15"/>
          <p:cNvSpPr/>
          <p:nvPr/>
        </p:nvSpPr>
        <p:spPr>
          <a:xfrm>
            <a:off x="981380" y="1213409"/>
            <a:ext cx="11233095" cy="231458"/>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December 1, 2026</a:t>
            </a:r>
            <a:endParaRPr lang="en-US" sz="911" dirty="0">
              <a:latin typeface="Arial" panose="020B0604020202020204" pitchFamily="34" charset="0"/>
              <a:cs typeface="Arial" panose="020B0604020202020204" pitchFamily="34" charset="0"/>
            </a:endParaRPr>
          </a:p>
        </p:txBody>
      </p:sp>
      <p:sp>
        <p:nvSpPr>
          <p:cNvPr id="18" name="Shape 16"/>
          <p:cNvSpPr/>
          <p:nvPr/>
        </p:nvSpPr>
        <p:spPr>
          <a:xfrm>
            <a:off x="0" y="1463382"/>
            <a:ext cx="12251509" cy="312747"/>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9" name="Text 17"/>
          <p:cNvSpPr/>
          <p:nvPr/>
        </p:nvSpPr>
        <p:spPr>
          <a:xfrm>
            <a:off x="92584" y="1463383"/>
            <a:ext cx="12158925" cy="249974"/>
          </a:xfrm>
          <a:prstGeom prst="rect">
            <a:avLst/>
          </a:prstGeom>
          <a:noFill/>
          <a:ln/>
        </p:spPr>
        <p:txBody>
          <a:bodyPr wrap="square" lIns="0" tIns="102870" rIns="0" bIns="0" rtlCol="0" anchor="ctr"/>
          <a:lstStyle/>
          <a:p>
            <a:r>
              <a:rPr lang="en-US" sz="1114" b="1" dirty="0">
                <a:solidFill>
                  <a:srgbClr val="000000"/>
                </a:solidFill>
                <a:latin typeface="Arial" panose="020B0604020202020204" pitchFamily="34" charset="0"/>
                <a:ea typeface="Calibri" pitchFamily="34" charset="-122"/>
                <a:cs typeface="Arial" panose="020B0604020202020204" pitchFamily="34" charset="0"/>
              </a:rPr>
              <a:t>This Week</a:t>
            </a:r>
            <a:endParaRPr lang="en-US" sz="1114" b="1" dirty="0">
              <a:latin typeface="Arial" panose="020B0604020202020204" pitchFamily="34" charset="0"/>
              <a:cs typeface="Arial" panose="020B0604020202020204" pitchFamily="34" charset="0"/>
            </a:endParaRPr>
          </a:p>
        </p:txBody>
      </p:sp>
      <p:sp>
        <p:nvSpPr>
          <p:cNvPr id="20" name="Shape 18"/>
          <p:cNvSpPr/>
          <p:nvPr/>
        </p:nvSpPr>
        <p:spPr>
          <a:xfrm>
            <a:off x="0" y="1787423"/>
            <a:ext cx="12344400" cy="5488784"/>
          </a:xfrm>
          <a:prstGeom prst="rect">
            <a:avLst/>
          </a:prstGeom>
          <a:solidFill>
            <a:schemeClr val="bg1"/>
          </a:solidFill>
          <a:ln w="9525">
            <a:solidFill>
              <a:srgbClr val="D1D5DB"/>
            </a:solidFill>
            <a:prstDash val="solid"/>
          </a:ln>
        </p:spPr>
        <p:txBody>
          <a:bodyPr/>
          <a:lstStyle/>
          <a:p>
            <a:pPr lvl="0">
              <a:buClr>
                <a:srgbClr val="000000"/>
              </a:buClr>
              <a:defRPr/>
            </a:pPr>
            <a:r>
              <a:rPr lang="en-US" sz="1200" b="1" dirty="0">
                <a:solidFill>
                  <a:srgbClr val="0A0A0A"/>
                </a:solidFill>
                <a:highlight>
                  <a:srgbClr val="FFFFFF"/>
                </a:highlight>
                <a:latin typeface="Arial" panose="020B0604020202020204" pitchFamily="34" charset="0"/>
                <a:cs typeface="Arial" panose="020B0604020202020204" pitchFamily="34" charset="0"/>
              </a:rPr>
              <a:t>7/15 Update</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Amagi (Streaming Orchestration) - Several long-standing design questions were resolved this week: the Prime/Ward acknowledgment schema, day-boundary event grouping, and the manual start/stop orchestration model. The remaining open question is how to cut off viewers of a finished match on a shared stream without disrupting others; Amagi is researching a CDN-edge/token approach and owes an estimate by the July 8 call. DRM credentials are due Friday, message-level testing with dummy data starts the week of July 6, and Amagi's full orchestration readiness is targeted for July 15.</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Adobe Pass / MVPD - The Adobe Pass integration is transitioning from setup into implementation. The registered application and API documentation are in hand, and Tennis Channel is reviewing the implementation package while configuring domain whitelisting and platform settings. On the app side, a basic prototype of the provider authentication flow is built and currently hardcoded to DirecTV for testing. Recurring working sessions are being scheduled, with a possible dedicated Slack channel to speed up onboarding.</a:t>
            </a:r>
          </a:p>
          <a:p>
            <a:endParaRPr lang="en-US" sz="1215" dirty="0">
              <a:latin typeface="Arial" panose="020B0604020202020204" pitchFamily="34" charset="0"/>
              <a:cs typeface="Arial" panose="020B0604020202020204" pitchFamily="34" charset="0"/>
            </a:endParaRPr>
          </a:p>
          <a:p>
            <a:r>
              <a:rPr lang="en-US" sz="1215" dirty="0" err="1">
                <a:latin typeface="Arial" panose="020B0604020202020204" pitchFamily="34" charset="0"/>
                <a:cs typeface="Arial" panose="020B0604020202020204" pitchFamily="34" charset="0"/>
              </a:rPr>
              <a:t>Foxxum</a:t>
            </a:r>
            <a:r>
              <a:rPr lang="en-US" sz="1215" dirty="0">
                <a:latin typeface="Arial" panose="020B0604020202020204" pitchFamily="34" charset="0"/>
                <a:cs typeface="Arial" panose="020B0604020202020204" pitchFamily="34" charset="0"/>
              </a:rPr>
              <a:t> - Technical discovery is progressing well, with both teams aligned on the target architecture for authentication, subscription, playback, and platform integration. Focus is now shifting from architecture to execution: documentation, provisioning </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finalizing API definitions, and validating implementation across platforms. No major blockers were identified, though documentation and third-party environment delays remain a watch item.</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Platform Engineering (Website &amp; Mobile) On the new website, the front-end foundation shipped and CMS, carousel,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and Adobe Pass work are all progressing, alongside an early proof-of-concept test of the video player. On mobile, the app moved off mock data onto the live backend across Home, Live, Schedule, and Tournaments, entitlement and login groundwork is in place ahead of the real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backend, and DRM stubs were handed to Amagi for integration testing.</a:t>
            </a:r>
          </a:p>
        </p:txBody>
      </p:sp>
      <p:sp>
        <p:nvSpPr>
          <p:cNvPr id="21" name="Text 19"/>
          <p:cNvSpPr/>
          <p:nvPr/>
        </p:nvSpPr>
        <p:spPr>
          <a:xfrm>
            <a:off x="231458" y="1787423"/>
            <a:ext cx="12020051" cy="4832833"/>
          </a:xfrm>
          <a:prstGeom prst="rect">
            <a:avLst/>
          </a:prstGeom>
          <a:noFill/>
          <a:ln/>
        </p:spPr>
        <p:txBody>
          <a:bodyPr wrap="square" rtlCol="0" anchor="t"/>
          <a:lstStyle/>
          <a:p>
            <a:pPr>
              <a:spcAft>
                <a:spcPts val="608"/>
              </a:spcAft>
            </a:pPr>
            <a:endParaRPr lang="en-US" sz="1164" dirty="0">
              <a:latin typeface="Arial" panose="020B0604020202020204" pitchFamily="34"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Jul 15,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530352"/>
          </a:xfrm>
          <a:prstGeom prst="rect">
            <a:avLst/>
          </a:prstGeom>
          <a:solidFill>
            <a:srgbClr val="FFFFFF"/>
          </a:solidFill>
          <a:ln w="3175">
            <a:solidFill>
              <a:srgbClr val="E5E7EB"/>
            </a:solidFill>
            <a:prstDash val="solid"/>
          </a:ln>
        </p:spPr>
      </p:sp>
      <p:sp>
        <p:nvSpPr>
          <p:cNvPr id="9" name="Text 7"/>
          <p:cNvSpPr/>
          <p:nvPr/>
        </p:nvSpPr>
        <p:spPr>
          <a:xfrm>
            <a:off x="164592"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Redlined from TC legal, Bitmovin reviewing.</a:t>
            </a:r>
            <a:endParaRPr lang="en-US" sz="650" dirty="0"/>
          </a:p>
        </p:txBody>
      </p:sp>
      <p:sp>
        <p:nvSpPr>
          <p:cNvPr id="11" name="Shape 9"/>
          <p:cNvSpPr/>
          <p:nvPr/>
        </p:nvSpPr>
        <p:spPr>
          <a:xfrm>
            <a:off x="5230368" y="955548"/>
            <a:ext cx="822960" cy="173736"/>
          </a:xfrm>
          <a:prstGeom prst="roundRect">
            <a:avLst>
              <a:gd name="adj" fmla="val 15789"/>
            </a:avLst>
          </a:prstGeom>
          <a:solidFill>
            <a:srgbClr val="1558A8"/>
          </a:solidFill>
          <a:ln w="12700">
            <a:solidFill>
              <a:srgbClr val="1558A8"/>
            </a:solidFill>
            <a:prstDash val="solid"/>
          </a:ln>
        </p:spPr>
      </p:sp>
      <p:sp>
        <p:nvSpPr>
          <p:cNvPr id="12" name="Text 10"/>
          <p:cNvSpPr/>
          <p:nvPr/>
        </p:nvSpPr>
        <p:spPr>
          <a:xfrm>
            <a:off x="5230368"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3" name="Shape 11"/>
          <p:cNvSpPr/>
          <p:nvPr/>
        </p:nvSpPr>
        <p:spPr>
          <a:xfrm>
            <a:off x="91440" y="1307592"/>
            <a:ext cx="6016752" cy="0"/>
          </a:xfrm>
          <a:prstGeom prst="line">
            <a:avLst/>
          </a:prstGeom>
          <a:noFill/>
          <a:ln w="6350">
            <a:solidFill>
              <a:srgbClr val="E5E7EB"/>
            </a:solidFill>
            <a:prstDash val="solid"/>
          </a:ln>
        </p:spPr>
      </p:sp>
      <p:sp>
        <p:nvSpPr>
          <p:cNvPr id="14" name="Text 12"/>
          <p:cNvSpPr/>
          <p:nvPr/>
        </p:nvSpPr>
        <p:spPr>
          <a:xfrm>
            <a:off x="164592"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We are good. Just need to find out who owns the original contract and review renewal dates. Keff owns.</a:t>
            </a:r>
            <a:endParaRPr lang="en-US" sz="650" dirty="0"/>
          </a:p>
        </p:txBody>
      </p:sp>
      <p:sp>
        <p:nvSpPr>
          <p:cNvPr id="16" name="Shape 14"/>
          <p:cNvSpPr/>
          <p:nvPr/>
        </p:nvSpPr>
        <p:spPr>
          <a:xfrm>
            <a:off x="5230368" y="1485900"/>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485900"/>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837944"/>
            <a:ext cx="6016752" cy="530352"/>
          </a:xfrm>
          <a:prstGeom prst="rect">
            <a:avLst/>
          </a:prstGeom>
          <a:solidFill>
            <a:srgbClr val="FFFFFF"/>
          </a:solidFill>
          <a:ln w="3175">
            <a:solidFill>
              <a:srgbClr val="E5E7EB"/>
            </a:solidFill>
            <a:prstDash val="solid"/>
          </a:ln>
        </p:spPr>
      </p:sp>
      <p:sp>
        <p:nvSpPr>
          <p:cNvPr id="19" name="Shape 17"/>
          <p:cNvSpPr/>
          <p:nvPr/>
        </p:nvSpPr>
        <p:spPr>
          <a:xfrm>
            <a:off x="91440" y="1837944"/>
            <a:ext cx="6016752" cy="0"/>
          </a:xfrm>
          <a:prstGeom prst="line">
            <a:avLst/>
          </a:prstGeom>
          <a:noFill/>
          <a:ln w="6350">
            <a:solidFill>
              <a:srgbClr val="E5E7EB"/>
            </a:solidFill>
            <a:prstDash val="solid"/>
          </a:ln>
        </p:spPr>
      </p:sp>
      <p:sp>
        <p:nvSpPr>
          <p:cNvPr id="20" name="Text 18"/>
          <p:cNvSpPr/>
          <p:nvPr/>
        </p:nvSpPr>
        <p:spPr>
          <a:xfrm>
            <a:off x="164592"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Amagi Contract Cost Review: Provide Sinclair with details on cost savings for Amagi by following up with Mike Kralik and Kevin Kotlove. (Ari)</a:t>
            </a:r>
            <a:endParaRPr lang="en-US" sz="650" dirty="0"/>
          </a:p>
        </p:txBody>
      </p:sp>
      <p:sp>
        <p:nvSpPr>
          <p:cNvPr id="22" name="Shape 20"/>
          <p:cNvSpPr/>
          <p:nvPr/>
        </p:nvSpPr>
        <p:spPr>
          <a:xfrm>
            <a:off x="5230368" y="2016252"/>
            <a:ext cx="822960" cy="173736"/>
          </a:xfrm>
          <a:prstGeom prst="roundRect">
            <a:avLst>
              <a:gd name="adj" fmla="val 15789"/>
            </a:avLst>
          </a:prstGeom>
          <a:solidFill>
            <a:srgbClr val="1558A8"/>
          </a:solidFill>
          <a:ln w="12700">
            <a:solidFill>
              <a:srgbClr val="1558A8"/>
            </a:solidFill>
            <a:prstDash val="solid"/>
          </a:ln>
        </p:spPr>
      </p:sp>
      <p:sp>
        <p:nvSpPr>
          <p:cNvPr id="23" name="Text 21"/>
          <p:cNvSpPr/>
          <p:nvPr/>
        </p:nvSpPr>
        <p:spPr>
          <a:xfrm>
            <a:off x="5230368"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4" name="Shape 22"/>
          <p:cNvSpPr/>
          <p:nvPr/>
        </p:nvSpPr>
        <p:spPr>
          <a:xfrm>
            <a:off x="91440" y="2368296"/>
            <a:ext cx="6016752" cy="0"/>
          </a:xfrm>
          <a:prstGeom prst="line">
            <a:avLst/>
          </a:prstGeom>
          <a:noFill/>
          <a:ln w="6350">
            <a:solidFill>
              <a:srgbClr val="E5E7EB"/>
            </a:solidFill>
            <a:prstDash val="solid"/>
          </a:ln>
        </p:spPr>
      </p:sp>
      <p:sp>
        <p:nvSpPr>
          <p:cNvPr id="25" name="Text 23"/>
          <p:cNvSpPr/>
          <p:nvPr/>
        </p:nvSpPr>
        <p:spPr>
          <a:xfrm>
            <a:off x="164592"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Redlined, contract sent out to FOXXUM for review on 7/2.</a:t>
            </a:r>
            <a:endParaRPr lang="en-US" sz="650" dirty="0"/>
          </a:p>
        </p:txBody>
      </p:sp>
      <p:sp>
        <p:nvSpPr>
          <p:cNvPr id="27" name="Shape 25"/>
          <p:cNvSpPr/>
          <p:nvPr/>
        </p:nvSpPr>
        <p:spPr>
          <a:xfrm>
            <a:off x="5230368" y="2546604"/>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898648"/>
            <a:ext cx="6016752" cy="530352"/>
          </a:xfrm>
          <a:prstGeom prst="rect">
            <a:avLst/>
          </a:prstGeom>
          <a:solidFill>
            <a:srgbClr val="FFFFFF"/>
          </a:solidFill>
          <a:ln w="3175">
            <a:solidFill>
              <a:srgbClr val="E5E7EB"/>
            </a:solidFill>
            <a:prstDash val="solid"/>
          </a:ln>
        </p:spPr>
      </p:sp>
      <p:sp>
        <p:nvSpPr>
          <p:cNvPr id="30" name="Shape 28"/>
          <p:cNvSpPr/>
          <p:nvPr/>
        </p:nvSpPr>
        <p:spPr>
          <a:xfrm>
            <a:off x="91440" y="2898648"/>
            <a:ext cx="6016752" cy="0"/>
          </a:xfrm>
          <a:prstGeom prst="line">
            <a:avLst/>
          </a:prstGeom>
          <a:noFill/>
          <a:ln w="6350">
            <a:solidFill>
              <a:srgbClr val="E5E7EB"/>
            </a:solidFill>
            <a:prstDash val="solid"/>
          </a:ln>
        </p:spPr>
      </p:sp>
      <p:sp>
        <p:nvSpPr>
          <p:cNvPr id="31" name="Text 29"/>
          <p:cNvSpPr/>
          <p:nvPr/>
        </p:nvSpPr>
        <p:spPr>
          <a:xfrm>
            <a:off x="164592"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2" name="Text 30"/>
          <p:cNvSpPr/>
          <p:nvPr/>
        </p:nvSpPr>
        <p:spPr>
          <a:xfrm>
            <a:off x="960120"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Discussions will begin end of week or first week of July. Due by end of July.</a:t>
            </a:r>
            <a:endParaRPr lang="en-US" sz="650" dirty="0"/>
          </a:p>
        </p:txBody>
      </p:sp>
      <p:sp>
        <p:nvSpPr>
          <p:cNvPr id="33" name="Shape 31"/>
          <p:cNvSpPr/>
          <p:nvPr/>
        </p:nvSpPr>
        <p:spPr>
          <a:xfrm>
            <a:off x="5230368" y="3076956"/>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6236208" y="502920"/>
            <a:ext cx="6016752" cy="2926080"/>
          </a:xfrm>
          <a:prstGeom prst="rect">
            <a:avLst/>
          </a:prstGeom>
          <a:solidFill>
            <a:srgbClr val="FAFBFC"/>
          </a:solidFill>
          <a:ln w="9525">
            <a:solidFill>
              <a:srgbClr val="D1D5DB"/>
            </a:solidFill>
            <a:prstDash val="solid"/>
          </a:ln>
        </p:spPr>
      </p:sp>
      <p:sp>
        <p:nvSpPr>
          <p:cNvPr id="36" name="Shape 34"/>
          <p:cNvSpPr/>
          <p:nvPr/>
        </p:nvSpPr>
        <p:spPr>
          <a:xfrm>
            <a:off x="6236208" y="502920"/>
            <a:ext cx="6016752" cy="274320"/>
          </a:xfrm>
          <a:prstGeom prst="rect">
            <a:avLst/>
          </a:prstGeom>
          <a:solidFill>
            <a:srgbClr val="8ED973"/>
          </a:solidFill>
          <a:ln w="12700">
            <a:solidFill>
              <a:srgbClr val="8ED973"/>
            </a:solidFill>
            <a:prstDash val="solid"/>
          </a:ln>
        </p:spPr>
      </p:sp>
      <p:sp>
        <p:nvSpPr>
          <p:cNvPr id="37" name="Text 35"/>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38" name="Shape 36"/>
          <p:cNvSpPr/>
          <p:nvPr/>
        </p:nvSpPr>
        <p:spPr>
          <a:xfrm>
            <a:off x="6236208" y="777240"/>
            <a:ext cx="6016752" cy="530352"/>
          </a:xfrm>
          <a:prstGeom prst="rect">
            <a:avLst/>
          </a:prstGeom>
          <a:solidFill>
            <a:srgbClr val="FFFFFF"/>
          </a:solidFill>
          <a:ln w="3175">
            <a:solidFill>
              <a:srgbClr val="E5E7EB"/>
            </a:solidFill>
            <a:prstDash val="solid"/>
          </a:ln>
        </p:spPr>
      </p:sp>
      <p:sp>
        <p:nvSpPr>
          <p:cNvPr id="39" name="Text 37"/>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0" name="Text 38"/>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41" name="Shape 39"/>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42" name="Text 40"/>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3" name="Shape 41"/>
          <p:cNvSpPr/>
          <p:nvPr/>
        </p:nvSpPr>
        <p:spPr>
          <a:xfrm>
            <a:off x="6236208" y="1307592"/>
            <a:ext cx="6016752" cy="0"/>
          </a:xfrm>
          <a:prstGeom prst="line">
            <a:avLst/>
          </a:prstGeom>
          <a:noFill/>
          <a:ln w="6350">
            <a:solidFill>
              <a:srgbClr val="E5E7EB"/>
            </a:solidFill>
            <a:prstDash val="solid"/>
          </a:ln>
        </p:spPr>
      </p:sp>
      <p:sp>
        <p:nvSpPr>
          <p:cNvPr id="44" name="Text 42"/>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45" name="Text 43"/>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Migrated the app off mock data onto the live backend (Home, Live, Schedule, Tournaments now show real content and real playback). Shipped ~35 merged updates.</a:t>
            </a:r>
            <a:endParaRPr lang="en-US" sz="650" dirty="0"/>
          </a:p>
        </p:txBody>
      </p:sp>
      <p:sp>
        <p:nvSpPr>
          <p:cNvPr id="46" name="Shape 44"/>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1837944"/>
            <a:ext cx="6016752" cy="530352"/>
          </a:xfrm>
          <a:prstGeom prst="rect">
            <a:avLst/>
          </a:prstGeom>
          <a:solidFill>
            <a:srgbClr val="FFFFFF"/>
          </a:solidFill>
          <a:ln w="3175">
            <a:solidFill>
              <a:srgbClr val="E5E7EB"/>
            </a:solidFill>
            <a:prstDash val="solid"/>
          </a:ln>
        </p:spPr>
      </p:sp>
      <p:sp>
        <p:nvSpPr>
          <p:cNvPr id="49" name="Shape 47"/>
          <p:cNvSpPr/>
          <p:nvPr/>
        </p:nvSpPr>
        <p:spPr>
          <a:xfrm>
            <a:off x="6236208" y="1837944"/>
            <a:ext cx="6016752" cy="0"/>
          </a:xfrm>
          <a:prstGeom prst="line">
            <a:avLst/>
          </a:prstGeom>
          <a:noFill/>
          <a:ln w="6350">
            <a:solidFill>
              <a:srgbClr val="E5E7EB"/>
            </a:solidFill>
            <a:prstDash val="solid"/>
          </a:ln>
        </p:spPr>
      </p:sp>
      <p:sp>
        <p:nvSpPr>
          <p:cNvPr id="50" name="Text 48"/>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1" name="Text 49"/>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Prototyping Auth0/Cleeng login, building out CMS widget support, and standing up Adobe Pass provider management. Carousel page engine and backend refresh API delivered.</a:t>
            </a:r>
            <a:endParaRPr lang="en-US" sz="650" dirty="0"/>
          </a:p>
        </p:txBody>
      </p:sp>
      <p:sp>
        <p:nvSpPr>
          <p:cNvPr id="52" name="Shape 50"/>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53" name="Text 51"/>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4" name="Shape 52"/>
          <p:cNvSpPr/>
          <p:nvPr/>
        </p:nvSpPr>
        <p:spPr>
          <a:xfrm>
            <a:off x="6236208" y="2368296"/>
            <a:ext cx="6016752" cy="0"/>
          </a:xfrm>
          <a:prstGeom prst="line">
            <a:avLst/>
          </a:prstGeom>
          <a:noFill/>
          <a:ln w="6350">
            <a:solidFill>
              <a:srgbClr val="E5E7EB"/>
            </a:solidFill>
            <a:prstDash val="solid"/>
          </a:ln>
        </p:spPr>
      </p:sp>
      <p:sp>
        <p:nvSpPr>
          <p:cNvPr id="55" name="Text 53"/>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56" name="Text 54"/>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Moving control of Tennis Channel's website hosting setup in-house — same approach already used successfully for Tennis.com — giving us more control ahead of launch.</a:t>
            </a:r>
            <a:endParaRPr lang="en-US" sz="650" dirty="0"/>
          </a:p>
        </p:txBody>
      </p:sp>
      <p:sp>
        <p:nvSpPr>
          <p:cNvPr id="57" name="Shape 55"/>
          <p:cNvSpPr/>
          <p:nvPr/>
        </p:nvSpPr>
        <p:spPr>
          <a:xfrm>
            <a:off x="11375136" y="2546604"/>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6236208" y="2898648"/>
            <a:ext cx="6016752" cy="530352"/>
          </a:xfrm>
          <a:prstGeom prst="rect">
            <a:avLst/>
          </a:prstGeom>
          <a:solidFill>
            <a:srgbClr val="FFFFFF"/>
          </a:solidFill>
          <a:ln w="3175">
            <a:solidFill>
              <a:srgbClr val="E5E7EB"/>
            </a:solidFill>
            <a:prstDash val="solid"/>
          </a:ln>
        </p:spPr>
      </p:sp>
      <p:sp>
        <p:nvSpPr>
          <p:cNvPr id="60" name="Shape 58"/>
          <p:cNvSpPr/>
          <p:nvPr/>
        </p:nvSpPr>
        <p:spPr>
          <a:xfrm>
            <a:off x="6236208" y="2898648"/>
            <a:ext cx="6016752" cy="0"/>
          </a:xfrm>
          <a:prstGeom prst="line">
            <a:avLst/>
          </a:prstGeom>
          <a:noFill/>
          <a:ln w="6350">
            <a:solidFill>
              <a:srgbClr val="E5E7EB"/>
            </a:solidFill>
            <a:prstDash val="solid"/>
          </a:ln>
        </p:spPr>
      </p:sp>
      <p:sp>
        <p:nvSpPr>
          <p:cNvPr id="61" name="Text 59"/>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62" name="Text 60"/>
          <p:cNvSpPr/>
          <p:nvPr/>
        </p:nvSpPr>
        <p:spPr>
          <a:xfrm>
            <a:off x="7104888" y="2926080"/>
            <a:ext cx="4178808" cy="475488"/>
          </a:xfrm>
          <a:prstGeom prst="rect">
            <a:avLst/>
          </a:prstGeom>
          <a:noFill/>
          <a:ln/>
        </p:spPr>
        <p:txBody>
          <a:bodyPr wrap="square" lIns="0" tIns="0" rIns="0" bIns="0" rtlCol="0" anchor="t"/>
          <a:lstStyle/>
          <a:p>
            <a:pPr indent="0" marL="0">
              <a:buNone/>
            </a:pPr>
            <a:endParaRPr lang="en-US" sz="650" dirty="0"/>
          </a:p>
        </p:txBody>
      </p:sp>
      <p:sp>
        <p:nvSpPr>
          <p:cNvPr id="63" name="Shape 61"/>
          <p:cNvSpPr/>
          <p:nvPr/>
        </p:nvSpPr>
        <p:spPr>
          <a:xfrm>
            <a:off x="11375136" y="3076956"/>
            <a:ext cx="822960" cy="173736"/>
          </a:xfrm>
          <a:prstGeom prst="roundRect">
            <a:avLst>
              <a:gd name="adj" fmla="val 15789"/>
            </a:avLst>
          </a:prstGeom>
          <a:solidFill>
            <a:srgbClr val="F3F4F6"/>
          </a:solidFill>
          <a:ln w="9525">
            <a:solidFill>
              <a:srgbClr val="D1D5DB"/>
            </a:solidFill>
            <a:prstDash val="solid"/>
          </a:ln>
        </p:spPr>
      </p:sp>
      <p:sp>
        <p:nvSpPr>
          <p:cNvPr id="64" name="Text 62"/>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Not Started</a:t>
            </a:r>
            <a:endParaRPr lang="en-US" sz="650" dirty="0"/>
          </a:p>
        </p:txBody>
      </p:sp>
      <p:sp>
        <p:nvSpPr>
          <p:cNvPr id="65" name="Shape 63"/>
          <p:cNvSpPr/>
          <p:nvPr/>
        </p:nvSpPr>
        <p:spPr>
          <a:xfrm>
            <a:off x="91440" y="3502152"/>
            <a:ext cx="6016752" cy="3749040"/>
          </a:xfrm>
          <a:prstGeom prst="rect">
            <a:avLst/>
          </a:prstGeom>
          <a:solidFill>
            <a:srgbClr val="FAFBFC"/>
          </a:solidFill>
          <a:ln w="9525">
            <a:solidFill>
              <a:srgbClr val="D1D5DB"/>
            </a:solidFill>
            <a:prstDash val="solid"/>
          </a:ln>
        </p:spPr>
      </p:sp>
      <p:sp>
        <p:nvSpPr>
          <p:cNvPr id="66" name="Shape 64"/>
          <p:cNvSpPr/>
          <p:nvPr/>
        </p:nvSpPr>
        <p:spPr>
          <a:xfrm>
            <a:off x="91440" y="3502152"/>
            <a:ext cx="6016752" cy="274320"/>
          </a:xfrm>
          <a:prstGeom prst="rect">
            <a:avLst/>
          </a:prstGeom>
          <a:solidFill>
            <a:srgbClr val="8ED973"/>
          </a:solidFill>
          <a:ln w="12700">
            <a:solidFill>
              <a:srgbClr val="8ED973"/>
            </a:solidFill>
            <a:prstDash val="solid"/>
          </a:ln>
        </p:spPr>
      </p:sp>
      <p:sp>
        <p:nvSpPr>
          <p:cNvPr id="67" name="Text 65"/>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68" name="Shape 66"/>
          <p:cNvSpPr/>
          <p:nvPr/>
        </p:nvSpPr>
        <p:spPr>
          <a:xfrm>
            <a:off x="91440" y="3776472"/>
            <a:ext cx="6016752" cy="1158240"/>
          </a:xfrm>
          <a:prstGeom prst="rect">
            <a:avLst/>
          </a:prstGeom>
          <a:solidFill>
            <a:srgbClr val="FFFFFF"/>
          </a:solidFill>
          <a:ln w="3175">
            <a:solidFill>
              <a:srgbClr val="E5E7EB"/>
            </a:solidFill>
            <a:prstDash val="solid"/>
          </a:ln>
        </p:spPr>
      </p:sp>
      <p:sp>
        <p:nvSpPr>
          <p:cNvPr id="69" name="Text 67"/>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70" name="Text 68"/>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Adobe Pass integration underway for MVPD access; CMS-based provider management being brought into the web app, with basic prototypes built and currently hardcoded to DirecTV for testing.</a:t>
            </a:r>
            <a:endParaRPr lang="en-US" sz="650" dirty="0"/>
          </a:p>
        </p:txBody>
      </p:sp>
      <p:sp>
        <p:nvSpPr>
          <p:cNvPr id="71" name="Shape 69"/>
          <p:cNvSpPr/>
          <p:nvPr/>
        </p:nvSpPr>
        <p:spPr>
          <a:xfrm>
            <a:off x="5230368" y="4268724"/>
            <a:ext cx="822960" cy="173736"/>
          </a:xfrm>
          <a:prstGeom prst="roundRect">
            <a:avLst>
              <a:gd name="adj" fmla="val 15789"/>
            </a:avLst>
          </a:prstGeom>
          <a:solidFill>
            <a:srgbClr val="1558A8"/>
          </a:solidFill>
          <a:ln w="12700">
            <a:solidFill>
              <a:srgbClr val="1558A8"/>
            </a:solidFill>
            <a:prstDash val="solid"/>
          </a:ln>
        </p:spPr>
      </p:sp>
      <p:sp>
        <p:nvSpPr>
          <p:cNvPr id="72" name="Text 70"/>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3" name="Shape 71"/>
          <p:cNvSpPr/>
          <p:nvPr/>
        </p:nvSpPr>
        <p:spPr>
          <a:xfrm>
            <a:off x="91440" y="4934712"/>
            <a:ext cx="6016752" cy="0"/>
          </a:xfrm>
          <a:prstGeom prst="line">
            <a:avLst/>
          </a:prstGeom>
          <a:noFill/>
          <a:ln w="6350">
            <a:solidFill>
              <a:srgbClr val="E5E7EB"/>
            </a:solidFill>
            <a:prstDash val="solid"/>
          </a:ln>
        </p:spPr>
      </p:sp>
      <p:sp>
        <p:nvSpPr>
          <p:cNvPr id="74" name="Text 72"/>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75" name="Text 73"/>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76" name="Shape 74"/>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77" name="Text 75"/>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8" name="Shape 76"/>
          <p:cNvSpPr/>
          <p:nvPr/>
        </p:nvSpPr>
        <p:spPr>
          <a:xfrm>
            <a:off x="91440" y="6092952"/>
            <a:ext cx="6016752" cy="1158240"/>
          </a:xfrm>
          <a:prstGeom prst="rect">
            <a:avLst/>
          </a:prstGeom>
          <a:solidFill>
            <a:srgbClr val="FFFFFF"/>
          </a:solidFill>
          <a:ln w="3175">
            <a:solidFill>
              <a:srgbClr val="E5E7EB"/>
            </a:solidFill>
            <a:prstDash val="solid"/>
          </a:ln>
        </p:spPr>
      </p:sp>
      <p:sp>
        <p:nvSpPr>
          <p:cNvPr id="79" name="Shape 77"/>
          <p:cNvSpPr/>
          <p:nvPr/>
        </p:nvSpPr>
        <p:spPr>
          <a:xfrm>
            <a:off x="91440" y="6092952"/>
            <a:ext cx="6016752" cy="0"/>
          </a:xfrm>
          <a:prstGeom prst="line">
            <a:avLst/>
          </a:prstGeom>
          <a:noFill/>
          <a:ln w="6350">
            <a:solidFill>
              <a:srgbClr val="E5E7EB"/>
            </a:solidFill>
            <a:prstDash val="solid"/>
          </a:ln>
        </p:spPr>
      </p:sp>
      <p:sp>
        <p:nvSpPr>
          <p:cNvPr id="80" name="Text 78"/>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81" name="Text 79"/>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82" name="Shape 80"/>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83" name="Text 81"/>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4" name="Shape 82"/>
          <p:cNvSpPr/>
          <p:nvPr/>
        </p:nvSpPr>
        <p:spPr>
          <a:xfrm>
            <a:off x="6236208" y="3502152"/>
            <a:ext cx="6016752" cy="3749040"/>
          </a:xfrm>
          <a:prstGeom prst="rect">
            <a:avLst/>
          </a:prstGeom>
          <a:solidFill>
            <a:srgbClr val="FAFBFC"/>
          </a:solidFill>
          <a:ln w="9525">
            <a:solidFill>
              <a:srgbClr val="D1D5DB"/>
            </a:solidFill>
            <a:prstDash val="solid"/>
          </a:ln>
        </p:spPr>
      </p:sp>
      <p:sp>
        <p:nvSpPr>
          <p:cNvPr id="85" name="Shape 83"/>
          <p:cNvSpPr/>
          <p:nvPr/>
        </p:nvSpPr>
        <p:spPr>
          <a:xfrm>
            <a:off x="6236208" y="3502152"/>
            <a:ext cx="6016752" cy="274320"/>
          </a:xfrm>
          <a:prstGeom prst="rect">
            <a:avLst/>
          </a:prstGeom>
          <a:solidFill>
            <a:srgbClr val="8ED973"/>
          </a:solidFill>
          <a:ln w="12700">
            <a:solidFill>
              <a:srgbClr val="8ED973"/>
            </a:solidFill>
            <a:prstDash val="solid"/>
          </a:ln>
        </p:spPr>
      </p:sp>
      <p:sp>
        <p:nvSpPr>
          <p:cNvPr id="86" name="Text 84"/>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87" name="Shape 85"/>
          <p:cNvSpPr/>
          <p:nvPr/>
        </p:nvSpPr>
        <p:spPr>
          <a:xfrm>
            <a:off x="6236208" y="3776472"/>
            <a:ext cx="6016752" cy="868680"/>
          </a:xfrm>
          <a:prstGeom prst="rect">
            <a:avLst/>
          </a:prstGeom>
          <a:solidFill>
            <a:srgbClr val="FFFFFF"/>
          </a:solidFill>
          <a:ln w="3175">
            <a:solidFill>
              <a:srgbClr val="E5E7EB"/>
            </a:solidFill>
            <a:prstDash val="solid"/>
          </a:ln>
        </p:spPr>
      </p:sp>
      <p:sp>
        <p:nvSpPr>
          <p:cNvPr id="88" name="Text 86"/>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89" name="Text 87"/>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90" name="Shape 88"/>
          <p:cNvSpPr/>
          <p:nvPr/>
        </p:nvSpPr>
        <p:spPr>
          <a:xfrm>
            <a:off x="11375136" y="4123944"/>
            <a:ext cx="822960" cy="173736"/>
          </a:xfrm>
          <a:prstGeom prst="roundRect">
            <a:avLst>
              <a:gd name="adj" fmla="val 15789"/>
            </a:avLst>
          </a:prstGeom>
          <a:solidFill>
            <a:srgbClr val="1558A8"/>
          </a:solidFill>
          <a:ln w="12700">
            <a:solidFill>
              <a:srgbClr val="1558A8"/>
            </a:solidFill>
            <a:prstDash val="solid"/>
          </a:ln>
        </p:spPr>
      </p:sp>
      <p:sp>
        <p:nvSpPr>
          <p:cNvPr id="91" name="Text 89"/>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2" name="Shape 90"/>
          <p:cNvSpPr/>
          <p:nvPr/>
        </p:nvSpPr>
        <p:spPr>
          <a:xfrm>
            <a:off x="6236208" y="4645152"/>
            <a:ext cx="6016752" cy="0"/>
          </a:xfrm>
          <a:prstGeom prst="line">
            <a:avLst/>
          </a:prstGeom>
          <a:noFill/>
          <a:ln w="6350">
            <a:solidFill>
              <a:srgbClr val="E5E7EB"/>
            </a:solidFill>
            <a:prstDash val="solid"/>
          </a:ln>
        </p:spPr>
      </p:sp>
      <p:sp>
        <p:nvSpPr>
          <p:cNvPr id="93" name="Text 91"/>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94" name="Text 92"/>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95" name="Shape 93"/>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96" name="Text 94"/>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7" name="Shape 95"/>
          <p:cNvSpPr/>
          <p:nvPr/>
        </p:nvSpPr>
        <p:spPr>
          <a:xfrm>
            <a:off x="6236208" y="5513832"/>
            <a:ext cx="6016752" cy="868680"/>
          </a:xfrm>
          <a:prstGeom prst="rect">
            <a:avLst/>
          </a:prstGeom>
          <a:solidFill>
            <a:srgbClr val="FFFFFF"/>
          </a:solidFill>
          <a:ln w="3175">
            <a:solidFill>
              <a:srgbClr val="E5E7EB"/>
            </a:solidFill>
            <a:prstDash val="solid"/>
          </a:ln>
        </p:spPr>
      </p:sp>
      <p:sp>
        <p:nvSpPr>
          <p:cNvPr id="98" name="Shape 96"/>
          <p:cNvSpPr/>
          <p:nvPr/>
        </p:nvSpPr>
        <p:spPr>
          <a:xfrm>
            <a:off x="6236208" y="5513832"/>
            <a:ext cx="6016752" cy="0"/>
          </a:xfrm>
          <a:prstGeom prst="line">
            <a:avLst/>
          </a:prstGeom>
          <a:noFill/>
          <a:ln w="6350">
            <a:solidFill>
              <a:srgbClr val="E5E7EB"/>
            </a:solidFill>
            <a:prstDash val="solid"/>
          </a:ln>
        </p:spPr>
      </p:sp>
      <p:sp>
        <p:nvSpPr>
          <p:cNvPr id="99" name="Text 97"/>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00" name="Text 98"/>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Prototyped the video experience: exploratory test of the BitMovin player APIs — a proof-of-concept, not the final player.</a:t>
            </a:r>
            <a:endParaRPr lang="en-US" sz="650" dirty="0"/>
          </a:p>
        </p:txBody>
      </p:sp>
      <p:sp>
        <p:nvSpPr>
          <p:cNvPr id="101" name="Shape 99"/>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02" name="Text 100"/>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3" name="Shape 101"/>
          <p:cNvSpPr/>
          <p:nvPr/>
        </p:nvSpPr>
        <p:spPr>
          <a:xfrm>
            <a:off x="6236208" y="6382512"/>
            <a:ext cx="6016752" cy="0"/>
          </a:xfrm>
          <a:prstGeom prst="line">
            <a:avLst/>
          </a:prstGeom>
          <a:noFill/>
          <a:ln w="6350">
            <a:solidFill>
              <a:srgbClr val="E5E7EB"/>
            </a:solidFill>
            <a:prstDash val="solid"/>
          </a:ln>
        </p:spPr>
      </p:sp>
      <p:sp>
        <p:nvSpPr>
          <p:cNvPr id="104" name="Text 102"/>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05" name="Text 103"/>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Testing E2E experience: Merchandising, sign-in flow, MVPD, Cleeng, replays.</a:t>
            </a:r>
            <a:endParaRPr lang="en-US" sz="650" dirty="0"/>
          </a:p>
        </p:txBody>
      </p:sp>
      <p:sp>
        <p:nvSpPr>
          <p:cNvPr id="106" name="Shape 104"/>
          <p:cNvSpPr/>
          <p:nvPr/>
        </p:nvSpPr>
        <p:spPr>
          <a:xfrm>
            <a:off x="11375136" y="6729984"/>
            <a:ext cx="822960" cy="173736"/>
          </a:xfrm>
          <a:prstGeom prst="roundRect">
            <a:avLst>
              <a:gd name="adj" fmla="val 15789"/>
            </a:avLst>
          </a:prstGeom>
          <a:solidFill>
            <a:srgbClr val="F3F4F6"/>
          </a:solidFill>
          <a:ln w="9525">
            <a:solidFill>
              <a:srgbClr val="D1D5DB"/>
            </a:solidFill>
            <a:prstDash val="solid"/>
          </a:ln>
        </p:spPr>
      </p:sp>
      <p:sp>
        <p:nvSpPr>
          <p:cNvPr id="107" name="Text 105"/>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Not Started</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Jul 15,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26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7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76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6% Ready</a:t>
            </a:r>
            <a:endParaRPr lang="en-US" sz="1100" dirty="0"/>
          </a:p>
        </p:txBody>
      </p:sp>
      <p:sp>
        <p:nvSpPr>
          <p:cNvPr id="20" name="Shape 18"/>
          <p:cNvSpPr/>
          <p:nvPr/>
        </p:nvSpPr>
        <p:spPr>
          <a:xfrm>
            <a:off x="164592" y="804672"/>
            <a:ext cx="9116568" cy="966216"/>
          </a:xfrm>
          <a:prstGeom prst="rect">
            <a:avLst/>
          </a:prstGeom>
          <a:solidFill>
            <a:srgbClr val="FAFBFC"/>
          </a:solidFill>
          <a:ln w="6350">
            <a:solidFill>
              <a:srgbClr val="E5E7EB"/>
            </a:solidFill>
            <a:prstDash val="solid"/>
          </a:ln>
        </p:spPr>
      </p:sp>
      <p:sp>
        <p:nvSpPr>
          <p:cNvPr id="21" name="Shape 19"/>
          <p:cNvSpPr/>
          <p:nvPr/>
        </p:nvSpPr>
        <p:spPr>
          <a:xfrm>
            <a:off x="182880" y="877824"/>
            <a:ext cx="859536" cy="819912"/>
          </a:xfrm>
          <a:prstGeom prst="roundRect">
            <a:avLst>
              <a:gd name="adj" fmla="val 5576"/>
            </a:avLst>
          </a:prstGeom>
          <a:solidFill>
            <a:srgbClr val="9CA3AF"/>
          </a:solidFill>
          <a:ln w="12700">
            <a:solidFill>
              <a:srgbClr val="9CA3AF"/>
            </a:solidFill>
            <a:prstDash val="solid"/>
          </a:ln>
        </p:spPr>
      </p:sp>
      <p:sp>
        <p:nvSpPr>
          <p:cNvPr id="22" name="Text 20"/>
          <p:cNvSpPr/>
          <p:nvPr/>
        </p:nvSpPr>
        <p:spPr>
          <a:xfrm>
            <a:off x="182880" y="8778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164592" y="1825752"/>
            <a:ext cx="9116568" cy="966216"/>
          </a:xfrm>
          <a:prstGeom prst="rect">
            <a:avLst/>
          </a:prstGeom>
          <a:solidFill>
            <a:srgbClr val="FFFFFF"/>
          </a:solidFill>
          <a:ln w="6350">
            <a:solidFill>
              <a:srgbClr val="E5E7EB"/>
            </a:solidFill>
            <a:prstDash val="solid"/>
          </a:ln>
        </p:spPr>
      </p:sp>
      <p:sp>
        <p:nvSpPr>
          <p:cNvPr id="53" name="Shape 51"/>
          <p:cNvSpPr/>
          <p:nvPr/>
        </p:nvSpPr>
        <p:spPr>
          <a:xfrm>
            <a:off x="182880" y="1898904"/>
            <a:ext cx="859536" cy="819912"/>
          </a:xfrm>
          <a:prstGeom prst="roundRect">
            <a:avLst>
              <a:gd name="adj" fmla="val 5576"/>
            </a:avLst>
          </a:prstGeom>
          <a:solidFill>
            <a:srgbClr val="9CA3AF"/>
          </a:solidFill>
          <a:ln w="12700">
            <a:solidFill>
              <a:srgbClr val="9CA3AF"/>
            </a:solidFill>
            <a:prstDash val="solid"/>
          </a:ln>
        </p:spPr>
      </p:sp>
      <p:sp>
        <p:nvSpPr>
          <p:cNvPr id="54" name="Text 52"/>
          <p:cNvSpPr/>
          <p:nvPr/>
        </p:nvSpPr>
        <p:spPr>
          <a:xfrm>
            <a:off x="182880" y="189890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55" name="Text 53"/>
          <p:cNvSpPr/>
          <p:nvPr/>
        </p:nvSpPr>
        <p:spPr>
          <a:xfrm>
            <a:off x="1170432" y="18714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09092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30124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09092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30124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09092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30124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09092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30124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09092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30124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09092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30124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2846832"/>
            <a:ext cx="9116568" cy="966216"/>
          </a:xfrm>
          <a:prstGeom prst="rect">
            <a:avLst/>
          </a:prstGeom>
          <a:solidFill>
            <a:srgbClr val="FAFBFC"/>
          </a:solidFill>
          <a:ln w="6350">
            <a:solidFill>
              <a:srgbClr val="E5E7EB"/>
            </a:solidFill>
            <a:prstDash val="solid"/>
          </a:ln>
        </p:spPr>
      </p:sp>
      <p:sp>
        <p:nvSpPr>
          <p:cNvPr id="81" name="Shape 79"/>
          <p:cNvSpPr/>
          <p:nvPr/>
        </p:nvSpPr>
        <p:spPr>
          <a:xfrm>
            <a:off x="182880" y="2919984"/>
            <a:ext cx="859536" cy="819912"/>
          </a:xfrm>
          <a:prstGeom prst="roundRect">
            <a:avLst>
              <a:gd name="adj" fmla="val 5576"/>
            </a:avLst>
          </a:prstGeom>
          <a:solidFill>
            <a:srgbClr val="9CA3AF"/>
          </a:solidFill>
          <a:ln w="12700">
            <a:solidFill>
              <a:srgbClr val="9CA3AF"/>
            </a:solidFill>
            <a:prstDash val="solid"/>
          </a:ln>
        </p:spPr>
      </p:sp>
      <p:sp>
        <p:nvSpPr>
          <p:cNvPr id="82" name="Text 80"/>
          <p:cNvSpPr/>
          <p:nvPr/>
        </p:nvSpPr>
        <p:spPr>
          <a:xfrm>
            <a:off x="182880" y="291998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83" name="Text 81"/>
          <p:cNvSpPr/>
          <p:nvPr/>
        </p:nvSpPr>
        <p:spPr>
          <a:xfrm>
            <a:off x="1170432" y="28925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5 In Progress</a:t>
            </a:r>
            <a:endParaRPr lang="en-US" sz="750" dirty="0"/>
          </a:p>
        </p:txBody>
      </p:sp>
      <p:sp>
        <p:nvSpPr>
          <p:cNvPr id="84" name="Shape 82"/>
          <p:cNvSpPr/>
          <p:nvPr/>
        </p:nvSpPr>
        <p:spPr>
          <a:xfrm>
            <a:off x="1170432" y="311200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32232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11200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32232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1120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3223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3200400"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4215384" y="31120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3223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1120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322320"/>
            <a:ext cx="932688" cy="155448"/>
          </a:xfrm>
          <a:prstGeom prst="roundRect">
            <a:avLst>
              <a:gd name="adj" fmla="val 17647"/>
            </a:avLst>
          </a:prstGeom>
          <a:solidFill>
            <a:srgbClr val="F3F4F6"/>
          </a:solidFill>
          <a:ln w="9525">
            <a:solidFill>
              <a:srgbClr val="D1D5DB"/>
            </a:solidFill>
            <a:prstDash val="solid"/>
          </a:ln>
        </p:spPr>
      </p:sp>
      <p:sp>
        <p:nvSpPr>
          <p:cNvPr id="103" name="Text 101"/>
          <p:cNvSpPr/>
          <p:nvPr/>
        </p:nvSpPr>
        <p:spPr>
          <a:xfrm>
            <a:off x="5230368" y="33223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4" name="Shape 102"/>
          <p:cNvSpPr/>
          <p:nvPr/>
        </p:nvSpPr>
        <p:spPr>
          <a:xfrm>
            <a:off x="164592" y="3867912"/>
            <a:ext cx="9116568" cy="966216"/>
          </a:xfrm>
          <a:prstGeom prst="rect">
            <a:avLst/>
          </a:prstGeom>
          <a:solidFill>
            <a:srgbClr val="FFFFFF"/>
          </a:solidFill>
          <a:ln w="6350">
            <a:solidFill>
              <a:srgbClr val="E5E7EB"/>
            </a:solidFill>
            <a:prstDash val="solid"/>
          </a:ln>
        </p:spPr>
      </p:sp>
      <p:sp>
        <p:nvSpPr>
          <p:cNvPr id="105" name="Shape 103"/>
          <p:cNvSpPr/>
          <p:nvPr/>
        </p:nvSpPr>
        <p:spPr>
          <a:xfrm>
            <a:off x="182880" y="3941064"/>
            <a:ext cx="859536" cy="819912"/>
          </a:xfrm>
          <a:prstGeom prst="roundRect">
            <a:avLst>
              <a:gd name="adj" fmla="val 5576"/>
            </a:avLst>
          </a:prstGeom>
          <a:solidFill>
            <a:srgbClr val="9CA3AF"/>
          </a:solidFill>
          <a:ln w="12700">
            <a:solidFill>
              <a:srgbClr val="9CA3AF"/>
            </a:solidFill>
            <a:prstDash val="solid"/>
          </a:ln>
        </p:spPr>
      </p:sp>
      <p:sp>
        <p:nvSpPr>
          <p:cNvPr id="106" name="Text 104"/>
          <p:cNvSpPr/>
          <p:nvPr/>
        </p:nvSpPr>
        <p:spPr>
          <a:xfrm>
            <a:off x="182880" y="394106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107" name="Text 105"/>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108" name="Shape 106"/>
          <p:cNvSpPr/>
          <p:nvPr/>
        </p:nvSpPr>
        <p:spPr>
          <a:xfrm>
            <a:off x="1170432" y="4032504"/>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242816"/>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032504"/>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242816"/>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032504"/>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242816"/>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032504"/>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242816"/>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032504"/>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242816"/>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032504"/>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242816"/>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6245352"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7260336" y="4032504"/>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242816"/>
            <a:ext cx="932688" cy="155448"/>
          </a:xfrm>
          <a:prstGeom prst="roundRect">
            <a:avLst>
              <a:gd name="adj" fmla="val 17647"/>
            </a:avLst>
          </a:prstGeom>
          <a:solidFill>
            <a:srgbClr val="DCFCE7"/>
          </a:solidFill>
          <a:ln w="12700">
            <a:solidFill>
              <a:srgbClr val="15803D"/>
            </a:solidFill>
            <a:prstDash val="solid"/>
          </a:ln>
        </p:spPr>
      </p:sp>
      <p:sp>
        <p:nvSpPr>
          <p:cNvPr id="135" name="Text 133"/>
          <p:cNvSpPr/>
          <p:nvPr/>
        </p:nvSpPr>
        <p:spPr>
          <a:xfrm>
            <a:off x="7260336"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6" name="Shape 134"/>
          <p:cNvSpPr/>
          <p:nvPr/>
        </p:nvSpPr>
        <p:spPr>
          <a:xfrm>
            <a:off x="8275320" y="4032504"/>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242816"/>
            <a:ext cx="932688" cy="155448"/>
          </a:xfrm>
          <a:prstGeom prst="roundRect">
            <a:avLst>
              <a:gd name="adj" fmla="val 17647"/>
            </a:avLst>
          </a:prstGeom>
          <a:solidFill>
            <a:srgbClr val="DCFCE7"/>
          </a:solidFill>
          <a:ln w="12700">
            <a:solidFill>
              <a:srgbClr val="15803D"/>
            </a:solidFill>
            <a:prstDash val="solid"/>
          </a:ln>
        </p:spPr>
      </p:sp>
      <p:sp>
        <p:nvSpPr>
          <p:cNvPr id="139" name="Text 137"/>
          <p:cNvSpPr/>
          <p:nvPr/>
        </p:nvSpPr>
        <p:spPr>
          <a:xfrm>
            <a:off x="8275320"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40" name="Shape 138"/>
          <p:cNvSpPr/>
          <p:nvPr/>
        </p:nvSpPr>
        <p:spPr>
          <a:xfrm>
            <a:off x="1170432" y="4431792"/>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443179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4642104"/>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464210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4888992"/>
            <a:ext cx="9116568" cy="966216"/>
          </a:xfrm>
          <a:prstGeom prst="rect">
            <a:avLst/>
          </a:prstGeom>
          <a:solidFill>
            <a:srgbClr val="FAFBFC"/>
          </a:solidFill>
          <a:ln w="6350">
            <a:solidFill>
              <a:srgbClr val="E5E7EB"/>
            </a:solidFill>
            <a:prstDash val="solid"/>
          </a:ln>
        </p:spPr>
      </p:sp>
      <p:sp>
        <p:nvSpPr>
          <p:cNvPr id="145" name="Shape 143"/>
          <p:cNvSpPr/>
          <p:nvPr/>
        </p:nvSpPr>
        <p:spPr>
          <a:xfrm>
            <a:off x="182880" y="4962144"/>
            <a:ext cx="859536" cy="819912"/>
          </a:xfrm>
          <a:prstGeom prst="roundRect">
            <a:avLst>
              <a:gd name="adj" fmla="val 5576"/>
            </a:avLst>
          </a:prstGeom>
          <a:solidFill>
            <a:srgbClr val="9CA3AF"/>
          </a:solidFill>
          <a:ln w="12700">
            <a:solidFill>
              <a:srgbClr val="9CA3AF"/>
            </a:solidFill>
            <a:prstDash val="solid"/>
          </a:ln>
        </p:spPr>
      </p:sp>
      <p:sp>
        <p:nvSpPr>
          <p:cNvPr id="146" name="Text 144"/>
          <p:cNvSpPr/>
          <p:nvPr/>
        </p:nvSpPr>
        <p:spPr>
          <a:xfrm>
            <a:off x="182880" y="496214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47" name="Text 145"/>
          <p:cNvSpPr/>
          <p:nvPr/>
        </p:nvSpPr>
        <p:spPr>
          <a:xfrm>
            <a:off x="1170432" y="49347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48" name="Shape 146"/>
          <p:cNvSpPr/>
          <p:nvPr/>
        </p:nvSpPr>
        <p:spPr>
          <a:xfrm>
            <a:off x="1170432" y="5154168"/>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5364480"/>
            <a:ext cx="932688" cy="155448"/>
          </a:xfrm>
          <a:prstGeom prst="roundRect">
            <a:avLst>
              <a:gd name="adj" fmla="val 17647"/>
            </a:avLst>
          </a:prstGeom>
          <a:solidFill>
            <a:srgbClr val="1558A8"/>
          </a:solidFill>
          <a:ln w="12700">
            <a:solidFill>
              <a:srgbClr val="1558A8"/>
            </a:solidFill>
            <a:prstDash val="solid"/>
          </a:ln>
        </p:spPr>
      </p:sp>
      <p:sp>
        <p:nvSpPr>
          <p:cNvPr id="151" name="Text 149"/>
          <p:cNvSpPr/>
          <p:nvPr/>
        </p:nvSpPr>
        <p:spPr>
          <a:xfrm>
            <a:off x="1170432"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2" name="Shape 150"/>
          <p:cNvSpPr/>
          <p:nvPr/>
        </p:nvSpPr>
        <p:spPr>
          <a:xfrm>
            <a:off x="2185416" y="5154168"/>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5364480"/>
            <a:ext cx="932688" cy="155448"/>
          </a:xfrm>
          <a:prstGeom prst="roundRect">
            <a:avLst>
              <a:gd name="adj" fmla="val 17647"/>
            </a:avLst>
          </a:prstGeom>
          <a:solidFill>
            <a:srgbClr val="1558A8"/>
          </a:solidFill>
          <a:ln w="12700">
            <a:solidFill>
              <a:srgbClr val="1558A8"/>
            </a:solidFill>
            <a:prstDash val="solid"/>
          </a:ln>
        </p:spPr>
      </p:sp>
      <p:sp>
        <p:nvSpPr>
          <p:cNvPr id="155" name="Text 153"/>
          <p:cNvSpPr/>
          <p:nvPr/>
        </p:nvSpPr>
        <p:spPr>
          <a:xfrm>
            <a:off x="2185416"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6" name="Shape 154"/>
          <p:cNvSpPr/>
          <p:nvPr/>
        </p:nvSpPr>
        <p:spPr>
          <a:xfrm>
            <a:off x="3200400" y="5154168"/>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5364480"/>
            <a:ext cx="932688" cy="155448"/>
          </a:xfrm>
          <a:prstGeom prst="roundRect">
            <a:avLst>
              <a:gd name="adj" fmla="val 17647"/>
            </a:avLst>
          </a:prstGeom>
          <a:solidFill>
            <a:srgbClr val="1558A8"/>
          </a:solidFill>
          <a:ln w="12700">
            <a:solidFill>
              <a:srgbClr val="1558A8"/>
            </a:solidFill>
            <a:prstDash val="solid"/>
          </a:ln>
        </p:spPr>
      </p:sp>
      <p:sp>
        <p:nvSpPr>
          <p:cNvPr id="159" name="Text 157"/>
          <p:cNvSpPr/>
          <p:nvPr/>
        </p:nvSpPr>
        <p:spPr>
          <a:xfrm>
            <a:off x="3200400"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0" name="Shape 158"/>
          <p:cNvSpPr/>
          <p:nvPr/>
        </p:nvSpPr>
        <p:spPr>
          <a:xfrm>
            <a:off x="4215384" y="5154168"/>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5364480"/>
            <a:ext cx="932688" cy="155448"/>
          </a:xfrm>
          <a:prstGeom prst="roundRect">
            <a:avLst>
              <a:gd name="adj" fmla="val 17647"/>
            </a:avLst>
          </a:prstGeom>
          <a:solidFill>
            <a:srgbClr val="1558A8"/>
          </a:solidFill>
          <a:ln w="12700">
            <a:solidFill>
              <a:srgbClr val="1558A8"/>
            </a:solidFill>
            <a:prstDash val="solid"/>
          </a:ln>
        </p:spPr>
      </p:sp>
      <p:sp>
        <p:nvSpPr>
          <p:cNvPr id="163" name="Text 161"/>
          <p:cNvSpPr/>
          <p:nvPr/>
        </p:nvSpPr>
        <p:spPr>
          <a:xfrm>
            <a:off x="4215384"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4" name="Shape 162"/>
          <p:cNvSpPr/>
          <p:nvPr/>
        </p:nvSpPr>
        <p:spPr>
          <a:xfrm>
            <a:off x="5230368" y="5154168"/>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5364480"/>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5230368"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6245352" y="5154168"/>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5364480"/>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53644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164592" y="5910072"/>
            <a:ext cx="9116568" cy="966216"/>
          </a:xfrm>
          <a:prstGeom prst="rect">
            <a:avLst/>
          </a:prstGeom>
          <a:solidFill>
            <a:srgbClr val="FFFFFF"/>
          </a:solidFill>
          <a:ln w="6350">
            <a:solidFill>
              <a:srgbClr val="E5E7EB"/>
            </a:solidFill>
            <a:prstDash val="solid"/>
          </a:ln>
        </p:spPr>
      </p:sp>
      <p:sp>
        <p:nvSpPr>
          <p:cNvPr id="173" name="Shape 171"/>
          <p:cNvSpPr/>
          <p:nvPr/>
        </p:nvSpPr>
        <p:spPr>
          <a:xfrm>
            <a:off x="182880" y="5983224"/>
            <a:ext cx="859536" cy="819912"/>
          </a:xfrm>
          <a:prstGeom prst="roundRect">
            <a:avLst>
              <a:gd name="adj" fmla="val 5576"/>
            </a:avLst>
          </a:prstGeom>
          <a:solidFill>
            <a:srgbClr val="64748B"/>
          </a:solidFill>
          <a:ln w="12700">
            <a:solidFill>
              <a:srgbClr val="64748B"/>
            </a:solidFill>
            <a:prstDash val="solid"/>
          </a:ln>
        </p:spPr>
      </p:sp>
      <p:sp>
        <p:nvSpPr>
          <p:cNvPr id="174" name="Text 172"/>
          <p:cNvSpPr/>
          <p:nvPr/>
        </p:nvSpPr>
        <p:spPr>
          <a:xfrm>
            <a:off x="182880" y="59832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Data</a:t>
            </a:r>
            <a:endParaRPr lang="en-US" sz="800" dirty="0"/>
          </a:p>
          <a:p>
            <a:pPr algn="ctr" indent="0" marL="0">
              <a:buNone/>
            </a:pPr>
            <a:r>
              <a:rPr lang="en-US" sz="800" b="1" dirty="0">
                <a:solidFill>
                  <a:srgbClr val="FFFFFF"/>
                </a:solidFill>
              </a:rPr>
              <a:t>&amp; Analytics</a:t>
            </a:r>
            <a:endParaRPr lang="en-US" sz="800" dirty="0"/>
          </a:p>
        </p:txBody>
      </p:sp>
      <p:sp>
        <p:nvSpPr>
          <p:cNvPr id="175" name="Text 173"/>
          <p:cNvSpPr/>
          <p:nvPr/>
        </p:nvSpPr>
        <p:spPr>
          <a:xfrm>
            <a:off x="1170432" y="59557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2 In Progress</a:t>
            </a:r>
            <a:endParaRPr lang="en-US" sz="750" dirty="0"/>
          </a:p>
        </p:txBody>
      </p:sp>
      <p:sp>
        <p:nvSpPr>
          <p:cNvPr id="176" name="Shape 174"/>
          <p:cNvSpPr/>
          <p:nvPr/>
        </p:nvSpPr>
        <p:spPr>
          <a:xfrm>
            <a:off x="1170432" y="6175248"/>
            <a:ext cx="932688" cy="182880"/>
          </a:xfrm>
          <a:prstGeom prst="roundRect">
            <a:avLst>
              <a:gd name="adj" fmla="val 15000"/>
            </a:avLst>
          </a:prstGeom>
          <a:solidFill>
            <a:srgbClr val="FFFFFF"/>
          </a:solidFill>
          <a:ln w="9525">
            <a:solidFill>
              <a:srgbClr val="CBD5E1"/>
            </a:solidFill>
            <a:prstDash val="solid"/>
          </a:ln>
        </p:spPr>
      </p:sp>
      <p:sp>
        <p:nvSpPr>
          <p:cNvPr id="177" name="Text 175"/>
          <p:cNvSpPr/>
          <p:nvPr/>
        </p:nvSpPr>
        <p:spPr>
          <a:xfrm>
            <a:off x="1170432"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NPAW Historical</a:t>
            </a:r>
            <a:endParaRPr lang="en-US" sz="750" dirty="0"/>
          </a:p>
        </p:txBody>
      </p:sp>
      <p:sp>
        <p:nvSpPr>
          <p:cNvPr id="178" name="Shape 176"/>
          <p:cNvSpPr/>
          <p:nvPr/>
        </p:nvSpPr>
        <p:spPr>
          <a:xfrm>
            <a:off x="1170432" y="6385560"/>
            <a:ext cx="932688" cy="155448"/>
          </a:xfrm>
          <a:prstGeom prst="roundRect">
            <a:avLst>
              <a:gd name="adj" fmla="val 17647"/>
            </a:avLst>
          </a:prstGeom>
          <a:solidFill>
            <a:srgbClr val="F3F4F6"/>
          </a:solidFill>
          <a:ln w="9525">
            <a:solidFill>
              <a:srgbClr val="D1D5DB"/>
            </a:solidFill>
            <a:prstDash val="solid"/>
          </a:ln>
        </p:spPr>
      </p:sp>
      <p:sp>
        <p:nvSpPr>
          <p:cNvPr id="179" name="Text 177"/>
          <p:cNvSpPr/>
          <p:nvPr/>
        </p:nvSpPr>
        <p:spPr>
          <a:xfrm>
            <a:off x="1170432" y="63855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80" name="Shape 178"/>
          <p:cNvSpPr/>
          <p:nvPr/>
        </p:nvSpPr>
        <p:spPr>
          <a:xfrm>
            <a:off x="2185416" y="6175248"/>
            <a:ext cx="932688" cy="182880"/>
          </a:xfrm>
          <a:prstGeom prst="roundRect">
            <a:avLst>
              <a:gd name="adj" fmla="val 15000"/>
            </a:avLst>
          </a:prstGeom>
          <a:solidFill>
            <a:srgbClr val="FFFFFF"/>
          </a:solidFill>
          <a:ln w="9525">
            <a:solidFill>
              <a:srgbClr val="CBD5E1"/>
            </a:solidFill>
            <a:prstDash val="solid"/>
          </a:ln>
        </p:spPr>
      </p:sp>
      <p:sp>
        <p:nvSpPr>
          <p:cNvPr id="181" name="Text 179"/>
          <p:cNvSpPr/>
          <p:nvPr/>
        </p:nvSpPr>
        <p:spPr>
          <a:xfrm>
            <a:off x="2185416"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 Historical</a:t>
            </a:r>
            <a:endParaRPr lang="en-US" sz="750" dirty="0"/>
          </a:p>
        </p:txBody>
      </p:sp>
      <p:sp>
        <p:nvSpPr>
          <p:cNvPr id="182" name="Shape 180"/>
          <p:cNvSpPr/>
          <p:nvPr/>
        </p:nvSpPr>
        <p:spPr>
          <a:xfrm>
            <a:off x="2185416" y="6385560"/>
            <a:ext cx="932688" cy="155448"/>
          </a:xfrm>
          <a:prstGeom prst="roundRect">
            <a:avLst>
              <a:gd name="adj" fmla="val 17647"/>
            </a:avLst>
          </a:prstGeom>
          <a:solidFill>
            <a:srgbClr val="1558A8"/>
          </a:solidFill>
          <a:ln w="12700">
            <a:solidFill>
              <a:srgbClr val="1558A8"/>
            </a:solidFill>
            <a:prstDash val="solid"/>
          </a:ln>
        </p:spPr>
      </p:sp>
      <p:sp>
        <p:nvSpPr>
          <p:cNvPr id="183" name="Text 181"/>
          <p:cNvSpPr/>
          <p:nvPr/>
        </p:nvSpPr>
        <p:spPr>
          <a:xfrm>
            <a:off x="2185416"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4" name="Shape 182"/>
          <p:cNvSpPr/>
          <p:nvPr/>
        </p:nvSpPr>
        <p:spPr>
          <a:xfrm>
            <a:off x="9372600" y="804672"/>
            <a:ext cx="2834640" cy="6071616"/>
          </a:xfrm>
          <a:prstGeom prst="rect">
            <a:avLst/>
          </a:prstGeom>
          <a:solidFill>
            <a:srgbClr val="F8FAFB"/>
          </a:solidFill>
          <a:ln w="12700">
            <a:solidFill>
              <a:srgbClr val="DDE1E6"/>
            </a:solidFill>
            <a:prstDash val="solid"/>
          </a:ln>
        </p:spPr>
      </p:sp>
      <p:sp>
        <p:nvSpPr>
          <p:cNvPr id="185" name="Text 18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86" name="Shape 184"/>
          <p:cNvSpPr/>
          <p:nvPr/>
        </p:nvSpPr>
        <p:spPr>
          <a:xfrm>
            <a:off x="9464040" y="1225296"/>
            <a:ext cx="2670048" cy="420624"/>
          </a:xfrm>
          <a:prstGeom prst="rect">
            <a:avLst/>
          </a:prstGeom>
          <a:solidFill>
            <a:srgbClr val="FFFFFF"/>
          </a:solidFill>
          <a:ln w="6350">
            <a:solidFill>
              <a:srgbClr val="E5E7EB"/>
            </a:solidFill>
            <a:prstDash val="solid"/>
          </a:ln>
        </p:spPr>
      </p:sp>
      <p:sp>
        <p:nvSpPr>
          <p:cNvPr id="187" name="Shape 185"/>
          <p:cNvSpPr/>
          <p:nvPr/>
        </p:nvSpPr>
        <p:spPr>
          <a:xfrm>
            <a:off x="9537192" y="1316736"/>
            <a:ext cx="109728" cy="109728"/>
          </a:xfrm>
          <a:prstGeom prst="ellipse">
            <a:avLst/>
          </a:prstGeom>
          <a:solidFill>
            <a:srgbClr val="16A34A"/>
          </a:solidFill>
          <a:ln w="12700">
            <a:solidFill>
              <a:srgbClr val="16A34A"/>
            </a:solidFill>
            <a:prstDash val="solid"/>
          </a:ln>
        </p:spPr>
      </p:sp>
      <p:sp>
        <p:nvSpPr>
          <p:cNvPr id="188" name="Text 18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89" name="Text 18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90" name="Shape 18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91" name="Text 18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92" name="Shape 190"/>
          <p:cNvSpPr/>
          <p:nvPr/>
        </p:nvSpPr>
        <p:spPr>
          <a:xfrm>
            <a:off x="9464040" y="1700784"/>
            <a:ext cx="2670048" cy="420624"/>
          </a:xfrm>
          <a:prstGeom prst="rect">
            <a:avLst/>
          </a:prstGeom>
          <a:solidFill>
            <a:srgbClr val="FFFFFF"/>
          </a:solidFill>
          <a:ln w="6350">
            <a:solidFill>
              <a:srgbClr val="E5E7EB"/>
            </a:solidFill>
            <a:prstDash val="solid"/>
          </a:ln>
        </p:spPr>
      </p:sp>
      <p:sp>
        <p:nvSpPr>
          <p:cNvPr id="193" name="Shape 191"/>
          <p:cNvSpPr/>
          <p:nvPr/>
        </p:nvSpPr>
        <p:spPr>
          <a:xfrm>
            <a:off x="9537192" y="1792224"/>
            <a:ext cx="109728" cy="109728"/>
          </a:xfrm>
          <a:prstGeom prst="ellipse">
            <a:avLst/>
          </a:prstGeom>
          <a:solidFill>
            <a:srgbClr val="1558A8"/>
          </a:solidFill>
          <a:ln w="12700">
            <a:solidFill>
              <a:srgbClr val="1558A8"/>
            </a:solidFill>
            <a:prstDash val="solid"/>
          </a:ln>
        </p:spPr>
      </p:sp>
      <p:sp>
        <p:nvSpPr>
          <p:cNvPr id="194" name="Text 19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95" name="Text 19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96" name="Shape 19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97" name="Text 19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98" name="Shape 196"/>
          <p:cNvSpPr/>
          <p:nvPr/>
        </p:nvSpPr>
        <p:spPr>
          <a:xfrm>
            <a:off x="9464040" y="2176272"/>
            <a:ext cx="2670048" cy="420624"/>
          </a:xfrm>
          <a:prstGeom prst="rect">
            <a:avLst/>
          </a:prstGeom>
          <a:solidFill>
            <a:srgbClr val="FFFFFF"/>
          </a:solidFill>
          <a:ln w="6350">
            <a:solidFill>
              <a:srgbClr val="E5E7EB"/>
            </a:solidFill>
            <a:prstDash val="solid"/>
          </a:ln>
        </p:spPr>
      </p:sp>
      <p:sp>
        <p:nvSpPr>
          <p:cNvPr id="199" name="Shape 197"/>
          <p:cNvSpPr/>
          <p:nvPr/>
        </p:nvSpPr>
        <p:spPr>
          <a:xfrm>
            <a:off x="9537192" y="2267712"/>
            <a:ext cx="109728" cy="109728"/>
          </a:xfrm>
          <a:prstGeom prst="ellipse">
            <a:avLst/>
          </a:prstGeom>
          <a:solidFill>
            <a:srgbClr val="9CA3AF"/>
          </a:solidFill>
          <a:ln w="12700">
            <a:solidFill>
              <a:srgbClr val="9CA3AF"/>
            </a:solidFill>
            <a:prstDash val="solid"/>
          </a:ln>
        </p:spPr>
      </p:sp>
      <p:sp>
        <p:nvSpPr>
          <p:cNvPr id="200" name="Text 19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201" name="Text 19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202" name="Shape 20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203" name="Text 20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04" name="Shape 202"/>
          <p:cNvSpPr/>
          <p:nvPr/>
        </p:nvSpPr>
        <p:spPr>
          <a:xfrm>
            <a:off x="9464040" y="2651760"/>
            <a:ext cx="2670048" cy="420624"/>
          </a:xfrm>
          <a:prstGeom prst="rect">
            <a:avLst/>
          </a:prstGeom>
          <a:solidFill>
            <a:srgbClr val="FFFFFF"/>
          </a:solidFill>
          <a:ln w="6350">
            <a:solidFill>
              <a:srgbClr val="E5E7EB"/>
            </a:solidFill>
            <a:prstDash val="solid"/>
          </a:ln>
        </p:spPr>
      </p:sp>
      <p:sp>
        <p:nvSpPr>
          <p:cNvPr id="205" name="Shape 203"/>
          <p:cNvSpPr/>
          <p:nvPr/>
        </p:nvSpPr>
        <p:spPr>
          <a:xfrm>
            <a:off x="9537192" y="2743200"/>
            <a:ext cx="109728" cy="109728"/>
          </a:xfrm>
          <a:prstGeom prst="ellipse">
            <a:avLst/>
          </a:prstGeom>
          <a:solidFill>
            <a:srgbClr val="9CA3AF"/>
          </a:solidFill>
          <a:ln w="12700">
            <a:solidFill>
              <a:srgbClr val="9CA3AF"/>
            </a:solidFill>
            <a:prstDash val="solid"/>
          </a:ln>
        </p:spPr>
      </p:sp>
      <p:sp>
        <p:nvSpPr>
          <p:cNvPr id="206" name="Text 20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207" name="Text 20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208" name="Shape 20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209" name="Text 20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10" name="Shape 208"/>
          <p:cNvSpPr/>
          <p:nvPr/>
        </p:nvSpPr>
        <p:spPr>
          <a:xfrm>
            <a:off x="9482328" y="3200400"/>
            <a:ext cx="2633472" cy="0"/>
          </a:xfrm>
          <a:prstGeom prst="line">
            <a:avLst/>
          </a:prstGeom>
          <a:noFill/>
          <a:ln w="9525">
            <a:solidFill>
              <a:srgbClr val="DDE1E6"/>
            </a:solidFill>
            <a:prstDash val="solid"/>
          </a:ln>
        </p:spPr>
      </p:sp>
      <p:sp>
        <p:nvSpPr>
          <p:cNvPr id="211" name="Text 20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12" name="Shape 210"/>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13" name="Text 211"/>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14" name="Text 212"/>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15" name="Shape 213"/>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16" name="Text 214"/>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17" name="Text 215"/>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18" name="Shape 216"/>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19" name="Text 217"/>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20" name="Text 218"/>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21" name="Shape 219"/>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22" name="Text 220"/>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23" name="Text 221"/>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24" name="Shape 222"/>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25" name="Text 223"/>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26" name="Text 224"/>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Web Browser  ·  Jul 15,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15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76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164592" y="2336292"/>
            <a:ext cx="9116568" cy="1476756"/>
          </a:xfrm>
          <a:prstGeom prst="rect">
            <a:avLst/>
          </a:prstGeom>
          <a:solidFill>
            <a:srgbClr val="FFFFFF"/>
          </a:solidFill>
          <a:ln w="6350">
            <a:solidFill>
              <a:srgbClr val="E5E7EB"/>
            </a:solidFill>
            <a:prstDash val="solid"/>
          </a:ln>
        </p:spPr>
      </p:sp>
      <p:sp>
        <p:nvSpPr>
          <p:cNvPr id="37" name="Shape 35"/>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38" name="Text 36"/>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39" name="Text 37"/>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0" name="Shape 38"/>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42" name="Shape 40"/>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46" name="Shape 44"/>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164592" y="3867912"/>
            <a:ext cx="9116568" cy="1476756"/>
          </a:xfrm>
          <a:prstGeom prst="rect">
            <a:avLst/>
          </a:prstGeom>
          <a:solidFill>
            <a:srgbClr val="FAFBFC"/>
          </a:solidFill>
          <a:ln w="6350">
            <a:solidFill>
              <a:srgbClr val="E5E7EB"/>
            </a:solidFill>
            <a:prstDash val="solid"/>
          </a:ln>
        </p:spPr>
      </p:sp>
      <p:sp>
        <p:nvSpPr>
          <p:cNvPr id="49" name="Shape 47"/>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0" name="Text 48"/>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1" name="Text 49"/>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2" name="Shape 50"/>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4" name="Shape 52"/>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58" name="Shape 56"/>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2" name="Shape 60"/>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66" name="Shape 64"/>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0" name="Shape 68"/>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1" name="Text 69"/>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2" name="Shape 70"/>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4" name="Shape 72"/>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78" name="Shape 76"/>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79" name="Text 77"/>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0" name="Shape 78"/>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2" name="Shape 80"/>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6" name="Shape 84"/>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164592" y="5399532"/>
            <a:ext cx="9116568" cy="1476756"/>
          </a:xfrm>
          <a:prstGeom prst="rect">
            <a:avLst/>
          </a:prstGeom>
          <a:solidFill>
            <a:srgbClr val="FFFFFF"/>
          </a:solidFill>
          <a:ln w="6350">
            <a:solidFill>
              <a:srgbClr val="E5E7EB"/>
            </a:solidFill>
            <a:prstDash val="solid"/>
          </a:ln>
        </p:spPr>
      </p:sp>
      <p:sp>
        <p:nvSpPr>
          <p:cNvPr id="89" name="Shape 87"/>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0" name="Text 88"/>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1" name="Text 89"/>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2" name="Shape 90"/>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4" name="Shape 92"/>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98" name="Shape 96"/>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2" name="Shape 100"/>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06" name="Shape 104"/>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0" name="Shape 108"/>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4" name="Shape 112"/>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9372600" y="804672"/>
            <a:ext cx="2834640" cy="6071616"/>
          </a:xfrm>
          <a:prstGeom prst="rect">
            <a:avLst/>
          </a:prstGeom>
          <a:solidFill>
            <a:srgbClr val="F8FAFB"/>
          </a:solidFill>
          <a:ln w="12700">
            <a:solidFill>
              <a:srgbClr val="DDE1E6"/>
            </a:solidFill>
            <a:prstDash val="solid"/>
          </a:ln>
        </p:spPr>
      </p:sp>
      <p:sp>
        <p:nvSpPr>
          <p:cNvPr id="117" name="Text 115"/>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18" name="Shape 116"/>
          <p:cNvSpPr/>
          <p:nvPr/>
        </p:nvSpPr>
        <p:spPr>
          <a:xfrm>
            <a:off x="9464040" y="1225296"/>
            <a:ext cx="2670048" cy="420624"/>
          </a:xfrm>
          <a:prstGeom prst="rect">
            <a:avLst/>
          </a:prstGeom>
          <a:solidFill>
            <a:srgbClr val="FFFFFF"/>
          </a:solidFill>
          <a:ln w="6350">
            <a:solidFill>
              <a:srgbClr val="E5E7EB"/>
            </a:solidFill>
            <a:prstDash val="solid"/>
          </a:ln>
        </p:spPr>
      </p:sp>
      <p:sp>
        <p:nvSpPr>
          <p:cNvPr id="119" name="Shape 117"/>
          <p:cNvSpPr/>
          <p:nvPr/>
        </p:nvSpPr>
        <p:spPr>
          <a:xfrm>
            <a:off x="9537192" y="1316736"/>
            <a:ext cx="109728" cy="109728"/>
          </a:xfrm>
          <a:prstGeom prst="ellipse">
            <a:avLst/>
          </a:prstGeom>
          <a:solidFill>
            <a:srgbClr val="16A34A"/>
          </a:solidFill>
          <a:ln w="12700">
            <a:solidFill>
              <a:srgbClr val="16A34A"/>
            </a:solidFill>
            <a:prstDash val="solid"/>
          </a:ln>
        </p:spPr>
      </p:sp>
      <p:sp>
        <p:nvSpPr>
          <p:cNvPr id="120" name="Text 118"/>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1" name="Text 119"/>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2" name="Shape 12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3" name="Text 121"/>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4" name="Shape 122"/>
          <p:cNvSpPr/>
          <p:nvPr/>
        </p:nvSpPr>
        <p:spPr>
          <a:xfrm>
            <a:off x="9464040" y="1700784"/>
            <a:ext cx="2670048" cy="420624"/>
          </a:xfrm>
          <a:prstGeom prst="rect">
            <a:avLst/>
          </a:prstGeom>
          <a:solidFill>
            <a:srgbClr val="FFFFFF"/>
          </a:solidFill>
          <a:ln w="6350">
            <a:solidFill>
              <a:srgbClr val="E5E7EB"/>
            </a:solidFill>
            <a:prstDash val="solid"/>
          </a:ln>
        </p:spPr>
      </p:sp>
      <p:sp>
        <p:nvSpPr>
          <p:cNvPr id="125" name="Shape 123"/>
          <p:cNvSpPr/>
          <p:nvPr/>
        </p:nvSpPr>
        <p:spPr>
          <a:xfrm>
            <a:off x="9537192" y="1792224"/>
            <a:ext cx="109728" cy="109728"/>
          </a:xfrm>
          <a:prstGeom prst="ellipse">
            <a:avLst/>
          </a:prstGeom>
          <a:solidFill>
            <a:srgbClr val="1558A8"/>
          </a:solidFill>
          <a:ln w="12700">
            <a:solidFill>
              <a:srgbClr val="1558A8"/>
            </a:solidFill>
            <a:prstDash val="solid"/>
          </a:ln>
        </p:spPr>
      </p:sp>
      <p:sp>
        <p:nvSpPr>
          <p:cNvPr id="126" name="Text 124"/>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27" name="Text 125"/>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28" name="Shape 12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29" name="Text 127"/>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0" name="Shape 128"/>
          <p:cNvSpPr/>
          <p:nvPr/>
        </p:nvSpPr>
        <p:spPr>
          <a:xfrm>
            <a:off x="9464040" y="2176272"/>
            <a:ext cx="2670048" cy="420624"/>
          </a:xfrm>
          <a:prstGeom prst="rect">
            <a:avLst/>
          </a:prstGeom>
          <a:solidFill>
            <a:srgbClr val="FFFFFF"/>
          </a:solidFill>
          <a:ln w="6350">
            <a:solidFill>
              <a:srgbClr val="E5E7EB"/>
            </a:solidFill>
            <a:prstDash val="solid"/>
          </a:ln>
        </p:spPr>
      </p:sp>
      <p:sp>
        <p:nvSpPr>
          <p:cNvPr id="131" name="Shape 129"/>
          <p:cNvSpPr/>
          <p:nvPr/>
        </p:nvSpPr>
        <p:spPr>
          <a:xfrm>
            <a:off x="9537192" y="2267712"/>
            <a:ext cx="109728" cy="109728"/>
          </a:xfrm>
          <a:prstGeom prst="ellipse">
            <a:avLst/>
          </a:prstGeom>
          <a:solidFill>
            <a:srgbClr val="9CA3AF"/>
          </a:solidFill>
          <a:ln w="12700">
            <a:solidFill>
              <a:srgbClr val="9CA3AF"/>
            </a:solidFill>
            <a:prstDash val="solid"/>
          </a:ln>
        </p:spPr>
      </p:sp>
      <p:sp>
        <p:nvSpPr>
          <p:cNvPr id="132" name="Text 130"/>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3" name="Text 131"/>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4" name="Shape 13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5" name="Text 133"/>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36" name="Shape 134"/>
          <p:cNvSpPr/>
          <p:nvPr/>
        </p:nvSpPr>
        <p:spPr>
          <a:xfrm>
            <a:off x="9464040" y="2651760"/>
            <a:ext cx="2670048" cy="420624"/>
          </a:xfrm>
          <a:prstGeom prst="rect">
            <a:avLst/>
          </a:prstGeom>
          <a:solidFill>
            <a:srgbClr val="FFFFFF"/>
          </a:solidFill>
          <a:ln w="6350">
            <a:solidFill>
              <a:srgbClr val="E5E7EB"/>
            </a:solidFill>
            <a:prstDash val="solid"/>
          </a:ln>
        </p:spPr>
      </p:sp>
      <p:sp>
        <p:nvSpPr>
          <p:cNvPr id="137" name="Shape 135"/>
          <p:cNvSpPr/>
          <p:nvPr/>
        </p:nvSpPr>
        <p:spPr>
          <a:xfrm>
            <a:off x="9537192" y="2743200"/>
            <a:ext cx="109728" cy="109728"/>
          </a:xfrm>
          <a:prstGeom prst="ellipse">
            <a:avLst/>
          </a:prstGeom>
          <a:solidFill>
            <a:srgbClr val="9CA3AF"/>
          </a:solidFill>
          <a:ln w="12700">
            <a:solidFill>
              <a:srgbClr val="9CA3AF"/>
            </a:solidFill>
            <a:prstDash val="solid"/>
          </a:ln>
        </p:spPr>
      </p:sp>
      <p:sp>
        <p:nvSpPr>
          <p:cNvPr id="138" name="Text 136"/>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39" name="Text 137"/>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0" name="Shape 13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1" name="Text 139"/>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2" name="Shape 140"/>
          <p:cNvSpPr/>
          <p:nvPr/>
        </p:nvSpPr>
        <p:spPr>
          <a:xfrm>
            <a:off x="9482328" y="3200400"/>
            <a:ext cx="2633472" cy="0"/>
          </a:xfrm>
          <a:prstGeom prst="line">
            <a:avLst/>
          </a:prstGeom>
          <a:noFill/>
          <a:ln w="9525">
            <a:solidFill>
              <a:srgbClr val="DDE1E6"/>
            </a:solidFill>
            <a:prstDash val="solid"/>
          </a:ln>
        </p:spPr>
      </p:sp>
      <p:sp>
        <p:nvSpPr>
          <p:cNvPr id="143" name="Text 141"/>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4" name="Shape 142"/>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5" name="Text 143"/>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46" name="Shape 144"/>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47" name="Text 145"/>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48" name="Shape 146"/>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49" name="Text 147"/>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0" name="Shape 148"/>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1" name="Text 149"/>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iPhone · iPad  ·  Jul 15,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76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2" name="Text 40"/>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3867912"/>
            <a:ext cx="9116568" cy="1476756"/>
          </a:xfrm>
          <a:prstGeom prst="rect">
            <a:avLst/>
          </a:prstGeom>
          <a:solidFill>
            <a:srgbClr val="FAFBFC"/>
          </a:solidFill>
          <a:ln w="6350">
            <a:solidFill>
              <a:srgbClr val="E5E7EB"/>
            </a:solidFill>
            <a:prstDash val="solid"/>
          </a:ln>
        </p:spPr>
      </p:sp>
      <p:sp>
        <p:nvSpPr>
          <p:cNvPr id="53" name="Shape 51"/>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5" name="Text 53"/>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6" name="Shape 54"/>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8" name="Shape 56"/>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2" name="Shape 60"/>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6" name="Shape 64"/>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0" name="Shape 68"/>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4" name="Shape 72"/>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8" name="Shape 76"/>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2" name="Shape 80"/>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6" name="Shape 84"/>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0" name="Shape 88"/>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164592" y="5399532"/>
            <a:ext cx="9116568" cy="1476756"/>
          </a:xfrm>
          <a:prstGeom prst="rect">
            <a:avLst/>
          </a:prstGeom>
          <a:solidFill>
            <a:srgbClr val="FFFFFF"/>
          </a:solidFill>
          <a:ln w="6350">
            <a:solidFill>
              <a:srgbClr val="E5E7EB"/>
            </a:solidFill>
            <a:prstDash val="solid"/>
          </a:ln>
        </p:spPr>
      </p:sp>
      <p:sp>
        <p:nvSpPr>
          <p:cNvPr id="93" name="Shape 91"/>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4" name="Text 92"/>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5" name="Text 93"/>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6" name="Shape 94"/>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8" name="Shape 96"/>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2" name="Shape 100"/>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6" name="Shape 104"/>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0" name="Shape 108"/>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4" name="Shape 112"/>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8" name="Shape 116"/>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9372600" y="804672"/>
            <a:ext cx="2834640" cy="6071616"/>
          </a:xfrm>
          <a:prstGeom prst="rect">
            <a:avLst/>
          </a:prstGeom>
          <a:solidFill>
            <a:srgbClr val="F8FAFB"/>
          </a:solidFill>
          <a:ln w="12700">
            <a:solidFill>
              <a:srgbClr val="DDE1E6"/>
            </a:solidFill>
            <a:prstDash val="solid"/>
          </a:ln>
        </p:spPr>
      </p:sp>
      <p:sp>
        <p:nvSpPr>
          <p:cNvPr id="121" name="Text 119"/>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2" name="Shape 120"/>
          <p:cNvSpPr/>
          <p:nvPr/>
        </p:nvSpPr>
        <p:spPr>
          <a:xfrm>
            <a:off x="9464040" y="1225296"/>
            <a:ext cx="2670048" cy="420624"/>
          </a:xfrm>
          <a:prstGeom prst="rect">
            <a:avLst/>
          </a:prstGeom>
          <a:solidFill>
            <a:srgbClr val="FFFFFF"/>
          </a:solidFill>
          <a:ln w="6350">
            <a:solidFill>
              <a:srgbClr val="E5E7EB"/>
            </a:solidFill>
            <a:prstDash val="solid"/>
          </a:ln>
        </p:spPr>
      </p:sp>
      <p:sp>
        <p:nvSpPr>
          <p:cNvPr id="123" name="Shape 121"/>
          <p:cNvSpPr/>
          <p:nvPr/>
        </p:nvSpPr>
        <p:spPr>
          <a:xfrm>
            <a:off x="9537192" y="1316736"/>
            <a:ext cx="109728" cy="109728"/>
          </a:xfrm>
          <a:prstGeom prst="ellipse">
            <a:avLst/>
          </a:prstGeom>
          <a:solidFill>
            <a:srgbClr val="16A34A"/>
          </a:solidFill>
          <a:ln w="12700">
            <a:solidFill>
              <a:srgbClr val="16A34A"/>
            </a:solidFill>
            <a:prstDash val="solid"/>
          </a:ln>
        </p:spPr>
      </p:sp>
      <p:sp>
        <p:nvSpPr>
          <p:cNvPr id="124" name="Text 122"/>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5" name="Text 123"/>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6" name="Shape 124"/>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7" name="Text 125"/>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8" name="Shape 126"/>
          <p:cNvSpPr/>
          <p:nvPr/>
        </p:nvSpPr>
        <p:spPr>
          <a:xfrm>
            <a:off x="9464040" y="1700784"/>
            <a:ext cx="2670048" cy="420624"/>
          </a:xfrm>
          <a:prstGeom prst="rect">
            <a:avLst/>
          </a:prstGeom>
          <a:solidFill>
            <a:srgbClr val="FFFFFF"/>
          </a:solidFill>
          <a:ln w="6350">
            <a:solidFill>
              <a:srgbClr val="E5E7EB"/>
            </a:solidFill>
            <a:prstDash val="solid"/>
          </a:ln>
        </p:spPr>
      </p:sp>
      <p:sp>
        <p:nvSpPr>
          <p:cNvPr id="129" name="Shape 127"/>
          <p:cNvSpPr/>
          <p:nvPr/>
        </p:nvSpPr>
        <p:spPr>
          <a:xfrm>
            <a:off x="9537192" y="1792224"/>
            <a:ext cx="109728" cy="109728"/>
          </a:xfrm>
          <a:prstGeom prst="ellipse">
            <a:avLst/>
          </a:prstGeom>
          <a:solidFill>
            <a:srgbClr val="1558A8"/>
          </a:solidFill>
          <a:ln w="12700">
            <a:solidFill>
              <a:srgbClr val="1558A8"/>
            </a:solidFill>
            <a:prstDash val="solid"/>
          </a:ln>
        </p:spPr>
      </p:sp>
      <p:sp>
        <p:nvSpPr>
          <p:cNvPr id="130" name="Text 128"/>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1" name="Text 129"/>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2" name="Shape 130"/>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3" name="Text 131"/>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4" name="Shape 132"/>
          <p:cNvSpPr/>
          <p:nvPr/>
        </p:nvSpPr>
        <p:spPr>
          <a:xfrm>
            <a:off x="9464040" y="2176272"/>
            <a:ext cx="2670048" cy="420624"/>
          </a:xfrm>
          <a:prstGeom prst="rect">
            <a:avLst/>
          </a:prstGeom>
          <a:solidFill>
            <a:srgbClr val="FFFFFF"/>
          </a:solidFill>
          <a:ln w="6350">
            <a:solidFill>
              <a:srgbClr val="E5E7EB"/>
            </a:solidFill>
            <a:prstDash val="solid"/>
          </a:ln>
        </p:spPr>
      </p:sp>
      <p:sp>
        <p:nvSpPr>
          <p:cNvPr id="135" name="Shape 133"/>
          <p:cNvSpPr/>
          <p:nvPr/>
        </p:nvSpPr>
        <p:spPr>
          <a:xfrm>
            <a:off x="9537192" y="2267712"/>
            <a:ext cx="109728" cy="109728"/>
          </a:xfrm>
          <a:prstGeom prst="ellipse">
            <a:avLst/>
          </a:prstGeom>
          <a:solidFill>
            <a:srgbClr val="9CA3AF"/>
          </a:solidFill>
          <a:ln w="12700">
            <a:solidFill>
              <a:srgbClr val="9CA3AF"/>
            </a:solidFill>
            <a:prstDash val="solid"/>
          </a:ln>
        </p:spPr>
      </p:sp>
      <p:sp>
        <p:nvSpPr>
          <p:cNvPr id="136" name="Text 134"/>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7" name="Text 135"/>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8" name="Shape 136"/>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9" name="Text 137"/>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0" name="Shape 138"/>
          <p:cNvSpPr/>
          <p:nvPr/>
        </p:nvSpPr>
        <p:spPr>
          <a:xfrm>
            <a:off x="9464040" y="2651760"/>
            <a:ext cx="2670048" cy="420624"/>
          </a:xfrm>
          <a:prstGeom prst="rect">
            <a:avLst/>
          </a:prstGeom>
          <a:solidFill>
            <a:srgbClr val="FFFFFF"/>
          </a:solidFill>
          <a:ln w="6350">
            <a:solidFill>
              <a:srgbClr val="E5E7EB"/>
            </a:solidFill>
            <a:prstDash val="solid"/>
          </a:ln>
        </p:spPr>
      </p:sp>
      <p:sp>
        <p:nvSpPr>
          <p:cNvPr id="141" name="Shape 139"/>
          <p:cNvSpPr/>
          <p:nvPr/>
        </p:nvSpPr>
        <p:spPr>
          <a:xfrm>
            <a:off x="9537192" y="2743200"/>
            <a:ext cx="109728" cy="109728"/>
          </a:xfrm>
          <a:prstGeom prst="ellipse">
            <a:avLst/>
          </a:prstGeom>
          <a:solidFill>
            <a:srgbClr val="9CA3AF"/>
          </a:solidFill>
          <a:ln w="12700">
            <a:solidFill>
              <a:srgbClr val="9CA3AF"/>
            </a:solidFill>
            <a:prstDash val="solid"/>
          </a:ln>
        </p:spPr>
      </p:sp>
      <p:sp>
        <p:nvSpPr>
          <p:cNvPr id="142" name="Text 140"/>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3" name="Text 141"/>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4" name="Shape 142"/>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5" name="Text 143"/>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6" name="Shape 144"/>
          <p:cNvSpPr/>
          <p:nvPr/>
        </p:nvSpPr>
        <p:spPr>
          <a:xfrm>
            <a:off x="9482328" y="3200400"/>
            <a:ext cx="2633472" cy="0"/>
          </a:xfrm>
          <a:prstGeom prst="line">
            <a:avLst/>
          </a:prstGeom>
          <a:noFill/>
          <a:ln w="9525">
            <a:solidFill>
              <a:srgbClr val="DDE1E6"/>
            </a:solidFill>
            <a:prstDash val="solid"/>
          </a:ln>
        </p:spPr>
      </p:sp>
      <p:sp>
        <p:nvSpPr>
          <p:cNvPr id="147" name="Text 145"/>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8" name="Shape 146"/>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9" name="Text 147"/>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0" name="Shape 148"/>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1" name="Text 149"/>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2" name="Shape 150"/>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3" name="Text 151"/>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4" name="Shape 152"/>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5" name="Text 153"/>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Android Phone · Tablet  ·  Jul 15,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17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76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6" name="Text 44"/>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8" name="Text 56"/>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83" name="Text 81"/>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91" name="Text 89"/>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8" name="Text 96"/>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9372600" y="804672"/>
            <a:ext cx="2834640" cy="6071616"/>
          </a:xfrm>
          <a:prstGeom prst="rect">
            <a:avLst/>
          </a:prstGeom>
          <a:solidFill>
            <a:srgbClr val="F8FAFB"/>
          </a:solidFill>
          <a:ln w="12700">
            <a:solidFill>
              <a:srgbClr val="DDE1E6"/>
            </a:solidFill>
            <a:prstDash val="solid"/>
          </a:ln>
        </p:spPr>
      </p:sp>
      <p:sp>
        <p:nvSpPr>
          <p:cNvPr id="125" name="Text 12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6" name="Shape 124"/>
          <p:cNvSpPr/>
          <p:nvPr/>
        </p:nvSpPr>
        <p:spPr>
          <a:xfrm>
            <a:off x="9464040" y="1225296"/>
            <a:ext cx="2670048" cy="420624"/>
          </a:xfrm>
          <a:prstGeom prst="rect">
            <a:avLst/>
          </a:prstGeom>
          <a:solidFill>
            <a:srgbClr val="FFFFFF"/>
          </a:solidFill>
          <a:ln w="6350">
            <a:solidFill>
              <a:srgbClr val="E5E7EB"/>
            </a:solidFill>
            <a:prstDash val="solid"/>
          </a:ln>
        </p:spPr>
      </p:sp>
      <p:sp>
        <p:nvSpPr>
          <p:cNvPr id="127" name="Shape 125"/>
          <p:cNvSpPr/>
          <p:nvPr/>
        </p:nvSpPr>
        <p:spPr>
          <a:xfrm>
            <a:off x="9537192" y="1316736"/>
            <a:ext cx="109728" cy="109728"/>
          </a:xfrm>
          <a:prstGeom prst="ellipse">
            <a:avLst/>
          </a:prstGeom>
          <a:solidFill>
            <a:srgbClr val="16A34A"/>
          </a:solidFill>
          <a:ln w="12700">
            <a:solidFill>
              <a:srgbClr val="16A34A"/>
            </a:solidFill>
            <a:prstDash val="solid"/>
          </a:ln>
        </p:spPr>
      </p:sp>
      <p:sp>
        <p:nvSpPr>
          <p:cNvPr id="128" name="Text 12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9" name="Text 12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0" name="Shape 12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1" name="Text 12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32" name="Shape 130"/>
          <p:cNvSpPr/>
          <p:nvPr/>
        </p:nvSpPr>
        <p:spPr>
          <a:xfrm>
            <a:off x="9464040" y="1700784"/>
            <a:ext cx="2670048" cy="420624"/>
          </a:xfrm>
          <a:prstGeom prst="rect">
            <a:avLst/>
          </a:prstGeom>
          <a:solidFill>
            <a:srgbClr val="FFFFFF"/>
          </a:solidFill>
          <a:ln w="6350">
            <a:solidFill>
              <a:srgbClr val="E5E7EB"/>
            </a:solidFill>
            <a:prstDash val="solid"/>
          </a:ln>
        </p:spPr>
      </p:sp>
      <p:sp>
        <p:nvSpPr>
          <p:cNvPr id="133" name="Shape 131"/>
          <p:cNvSpPr/>
          <p:nvPr/>
        </p:nvSpPr>
        <p:spPr>
          <a:xfrm>
            <a:off x="9537192" y="1792224"/>
            <a:ext cx="109728" cy="109728"/>
          </a:xfrm>
          <a:prstGeom prst="ellipse">
            <a:avLst/>
          </a:prstGeom>
          <a:solidFill>
            <a:srgbClr val="1558A8"/>
          </a:solidFill>
          <a:ln w="12700">
            <a:solidFill>
              <a:srgbClr val="1558A8"/>
            </a:solidFill>
            <a:prstDash val="solid"/>
          </a:ln>
        </p:spPr>
      </p:sp>
      <p:sp>
        <p:nvSpPr>
          <p:cNvPr id="134" name="Text 13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5" name="Text 13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6" name="Shape 13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7" name="Text 13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8" name="Shape 136"/>
          <p:cNvSpPr/>
          <p:nvPr/>
        </p:nvSpPr>
        <p:spPr>
          <a:xfrm>
            <a:off x="9464040" y="2176272"/>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2267712"/>
            <a:ext cx="109728" cy="109728"/>
          </a:xfrm>
          <a:prstGeom prst="ellipse">
            <a:avLst/>
          </a:prstGeom>
          <a:solidFill>
            <a:srgbClr val="9CA3AF"/>
          </a:solidFill>
          <a:ln w="12700">
            <a:solidFill>
              <a:srgbClr val="9CA3AF"/>
            </a:solidFill>
            <a:prstDash val="solid"/>
          </a:ln>
        </p:spPr>
      </p:sp>
      <p:sp>
        <p:nvSpPr>
          <p:cNvPr id="140" name="Text 13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1" name="Text 13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42" name="Shape 14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43" name="Text 14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4" name="Shape 142"/>
          <p:cNvSpPr/>
          <p:nvPr/>
        </p:nvSpPr>
        <p:spPr>
          <a:xfrm>
            <a:off x="9464040" y="2651760"/>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2743200"/>
            <a:ext cx="109728" cy="109728"/>
          </a:xfrm>
          <a:prstGeom prst="ellipse">
            <a:avLst/>
          </a:prstGeom>
          <a:solidFill>
            <a:srgbClr val="9CA3AF"/>
          </a:solidFill>
          <a:ln w="12700">
            <a:solidFill>
              <a:srgbClr val="9CA3AF"/>
            </a:solidFill>
            <a:prstDash val="solid"/>
          </a:ln>
        </p:spPr>
      </p:sp>
      <p:sp>
        <p:nvSpPr>
          <p:cNvPr id="146" name="Text 14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7" name="Text 14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8" name="Shape 14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9" name="Text 14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0" name="Shape 148"/>
          <p:cNvSpPr/>
          <p:nvPr/>
        </p:nvSpPr>
        <p:spPr>
          <a:xfrm>
            <a:off x="9482328" y="3200400"/>
            <a:ext cx="2633472" cy="0"/>
          </a:xfrm>
          <a:prstGeom prst="line">
            <a:avLst/>
          </a:prstGeom>
          <a:noFill/>
          <a:ln w="9525">
            <a:solidFill>
              <a:srgbClr val="DDE1E6"/>
            </a:solidFill>
            <a:prstDash val="solid"/>
          </a:ln>
        </p:spPr>
      </p:sp>
      <p:sp>
        <p:nvSpPr>
          <p:cNvPr id="151" name="Text 14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52" name="Shape 150"/>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53" name="Text 151"/>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4" name="Shape 152"/>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5" name="Text 153"/>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6" name="Shape 154"/>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7" name="Text 155"/>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8" name="Shape 156"/>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9" name="Text 157"/>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Roku · Fire TV · Samsung · tvOS  ·  Jul 15,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algn="l" indent="0" marL="0">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sp>
      <p:sp>
        <p:nvSpPr>
          <p:cNvPr id="18" name="Text 16"/>
          <p:cNvSpPr/>
          <p:nvPr/>
        </p:nvSpPr>
        <p:spPr>
          <a:xfrm>
            <a:off x="861364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sp>
      <p:sp>
        <p:nvSpPr>
          <p:cNvPr id="20" name="Text 18"/>
          <p:cNvSpPr/>
          <p:nvPr/>
        </p:nvSpPr>
        <p:spPr>
          <a:xfrm>
            <a:off x="9272016" y="512064"/>
            <a:ext cx="658368" cy="237744"/>
          </a:xfrm>
          <a:prstGeom prst="rect">
            <a:avLst/>
          </a:prstGeom>
          <a:noFill/>
          <a:ln/>
        </p:spPr>
        <p:txBody>
          <a:bodyPr wrap="square" lIns="0" tIns="0" rIns="0" bIns="0" rtlCol="0" anchor="ctr"/>
          <a:lstStyle/>
          <a:p>
            <a:pPr algn="ctr" indent="0" marL="0">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sp>
      <p:sp>
        <p:nvSpPr>
          <p:cNvPr id="22" name="Text 20"/>
          <p:cNvSpPr/>
          <p:nvPr/>
        </p:nvSpPr>
        <p:spPr>
          <a:xfrm>
            <a:off x="10003536" y="512064"/>
            <a:ext cx="731520" cy="237744"/>
          </a:xfrm>
          <a:prstGeom prst="rect">
            <a:avLst/>
          </a:prstGeom>
          <a:noFill/>
          <a:ln/>
        </p:spPr>
        <p:txBody>
          <a:bodyPr wrap="square" lIns="0" tIns="0" rIns="0" bIns="0" rtlCol="0" anchor="ctr"/>
          <a:lstStyle/>
          <a:p>
            <a:pPr algn="ctr" indent="0" marL="0">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sp>
      <p:sp>
        <p:nvSpPr>
          <p:cNvPr id="24" name="Text 22"/>
          <p:cNvSpPr/>
          <p:nvPr/>
        </p:nvSpPr>
        <p:spPr>
          <a:xfrm>
            <a:off x="1080820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sp>
      <p:sp>
        <p:nvSpPr>
          <p:cNvPr id="26" name="Text 24"/>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76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8%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31" name="Text 29"/>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34" name="Text 32"/>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36" name="Text 34"/>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38" name="Text 36"/>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40" name="Text 38"/>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42" name="Text 40"/>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44" name="Text 42"/>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46" name="Text 44"/>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48" name="Text 46"/>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50" name="Text 48"/>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52" name="Text 50"/>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54" name="Text 52"/>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56" name="Text 54"/>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9" name="Text 57"/>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62" name="Text 60"/>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64" name="Text 62"/>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66" name="Text 64"/>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68" name="Text 66"/>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70" name="Text 68"/>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sp>
      <p:sp>
        <p:nvSpPr>
          <p:cNvPr id="72" name="Text 70"/>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3" name="Shape 71"/>
          <p:cNvSpPr/>
          <p:nvPr/>
        </p:nvSpPr>
        <p:spPr>
          <a:xfrm>
            <a:off x="164592" y="3867912"/>
            <a:ext cx="9116568" cy="1476756"/>
          </a:xfrm>
          <a:prstGeom prst="rect">
            <a:avLst/>
          </a:prstGeom>
          <a:solidFill>
            <a:srgbClr val="FAFBFC"/>
          </a:solidFill>
          <a:ln w="6350">
            <a:solidFill>
              <a:srgbClr val="E5E7EB"/>
            </a:solidFill>
            <a:prstDash val="solid"/>
          </a:ln>
        </p:spPr>
      </p:sp>
      <p:sp>
        <p:nvSpPr>
          <p:cNvPr id="74" name="Shape 72"/>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75" name="Text 73"/>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76" name="Text 74"/>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77" name="Shape 75"/>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78" name="Text 76"/>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79" name="Shape 77"/>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80" name="Text 78"/>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1" name="Shape 79"/>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82" name="Text 80"/>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83" name="Shape 81"/>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84" name="Text 82"/>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5" name="Shape 83"/>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86" name="Text 84"/>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87" name="Shape 85"/>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88" name="Text 86"/>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9" name="Shape 87"/>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90" name="Text 88"/>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91" name="Shape 89"/>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92" name="Text 90"/>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3" name="Shape 91"/>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94" name="Text 92"/>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95" name="Shape 93"/>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96" name="Text 94"/>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7" name="Shape 95"/>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98" name="Text 96"/>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99" name="Shape 97"/>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100" name="Text 98"/>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1" name="Shape 99"/>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102" name="Text 100"/>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03" name="Shape 101"/>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104" name="Text 102"/>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5" name="Shape 103"/>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06" name="Text 104"/>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07" name="Shape 105"/>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108" name="Text 106"/>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9" name="Shape 107"/>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10" name="Text 108"/>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11" name="Shape 109"/>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12" name="Text 110"/>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3" name="Shape 111"/>
          <p:cNvSpPr/>
          <p:nvPr/>
        </p:nvSpPr>
        <p:spPr>
          <a:xfrm>
            <a:off x="164592" y="5399532"/>
            <a:ext cx="9116568" cy="1476756"/>
          </a:xfrm>
          <a:prstGeom prst="rect">
            <a:avLst/>
          </a:prstGeom>
          <a:solidFill>
            <a:srgbClr val="FFFFFF"/>
          </a:solidFill>
          <a:ln w="6350">
            <a:solidFill>
              <a:srgbClr val="E5E7EB"/>
            </a:solidFill>
            <a:prstDash val="solid"/>
          </a:ln>
        </p:spPr>
      </p:sp>
      <p:sp>
        <p:nvSpPr>
          <p:cNvPr id="114" name="Shape 112"/>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15" name="Text 113"/>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16" name="Text 114"/>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17" name="Shape 115"/>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18" name="Text 116"/>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19" name="Shape 117"/>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20" name="Text 118"/>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1" name="Shape 119"/>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22" name="Text 120"/>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23" name="Shape 121"/>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24" name="Text 122"/>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5" name="Shape 123"/>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26" name="Text 124"/>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27" name="Shape 125"/>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28" name="Text 126"/>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9" name="Shape 127"/>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30" name="Text 128"/>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31" name="Shape 129"/>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32" name="Text 130"/>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3" name="Shape 131"/>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34" name="Text 132"/>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35" name="Shape 133"/>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36" name="Text 134"/>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7" name="Shape 135"/>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38" name="Text 136"/>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39" name="Shape 137"/>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40" name="Text 138"/>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1" name="Shape 139"/>
          <p:cNvSpPr/>
          <p:nvPr/>
        </p:nvSpPr>
        <p:spPr>
          <a:xfrm>
            <a:off x="9372600" y="804672"/>
            <a:ext cx="2834640" cy="6071616"/>
          </a:xfrm>
          <a:prstGeom prst="rect">
            <a:avLst/>
          </a:prstGeom>
          <a:solidFill>
            <a:srgbClr val="F8FAFB"/>
          </a:solidFill>
          <a:ln w="12700">
            <a:solidFill>
              <a:srgbClr val="DDE1E6"/>
            </a:solidFill>
            <a:prstDash val="solid"/>
          </a:ln>
        </p:spPr>
      </p:sp>
      <p:sp>
        <p:nvSpPr>
          <p:cNvPr id="142" name="Text 140"/>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43" name="Shape 141"/>
          <p:cNvSpPr/>
          <p:nvPr/>
        </p:nvSpPr>
        <p:spPr>
          <a:xfrm>
            <a:off x="9464040" y="1225296"/>
            <a:ext cx="2670048" cy="420624"/>
          </a:xfrm>
          <a:prstGeom prst="rect">
            <a:avLst/>
          </a:prstGeom>
          <a:solidFill>
            <a:srgbClr val="FFFFFF"/>
          </a:solidFill>
          <a:ln w="6350">
            <a:solidFill>
              <a:srgbClr val="E5E7EB"/>
            </a:solidFill>
            <a:prstDash val="solid"/>
          </a:ln>
        </p:spPr>
      </p:sp>
      <p:sp>
        <p:nvSpPr>
          <p:cNvPr id="144" name="Shape 142"/>
          <p:cNvSpPr/>
          <p:nvPr/>
        </p:nvSpPr>
        <p:spPr>
          <a:xfrm>
            <a:off x="9537192" y="1316736"/>
            <a:ext cx="109728" cy="109728"/>
          </a:xfrm>
          <a:prstGeom prst="ellipse">
            <a:avLst/>
          </a:prstGeom>
          <a:solidFill>
            <a:srgbClr val="16A34A"/>
          </a:solidFill>
          <a:ln w="12700">
            <a:solidFill>
              <a:srgbClr val="16A34A"/>
            </a:solidFill>
            <a:prstDash val="solid"/>
          </a:ln>
        </p:spPr>
      </p:sp>
      <p:sp>
        <p:nvSpPr>
          <p:cNvPr id="145" name="Text 143"/>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6" name="Text 144"/>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7" name="Shape 145"/>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8" name="Text 146"/>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9" name="Shape 147"/>
          <p:cNvSpPr/>
          <p:nvPr/>
        </p:nvSpPr>
        <p:spPr>
          <a:xfrm>
            <a:off x="9464040" y="1700784"/>
            <a:ext cx="2670048" cy="420624"/>
          </a:xfrm>
          <a:prstGeom prst="rect">
            <a:avLst/>
          </a:prstGeom>
          <a:solidFill>
            <a:srgbClr val="FFFFFF"/>
          </a:solidFill>
          <a:ln w="6350">
            <a:solidFill>
              <a:srgbClr val="E5E7EB"/>
            </a:solidFill>
            <a:prstDash val="solid"/>
          </a:ln>
        </p:spPr>
      </p:sp>
      <p:sp>
        <p:nvSpPr>
          <p:cNvPr id="150" name="Shape 148"/>
          <p:cNvSpPr/>
          <p:nvPr/>
        </p:nvSpPr>
        <p:spPr>
          <a:xfrm>
            <a:off x="9537192" y="1792224"/>
            <a:ext cx="109728" cy="109728"/>
          </a:xfrm>
          <a:prstGeom prst="ellipse">
            <a:avLst/>
          </a:prstGeom>
          <a:solidFill>
            <a:srgbClr val="1558A8"/>
          </a:solidFill>
          <a:ln w="12700">
            <a:solidFill>
              <a:srgbClr val="1558A8"/>
            </a:solidFill>
            <a:prstDash val="solid"/>
          </a:ln>
        </p:spPr>
      </p:sp>
      <p:sp>
        <p:nvSpPr>
          <p:cNvPr id="151" name="Text 149"/>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52" name="Text 150"/>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53" name="Shape 151"/>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54" name="Text 152"/>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5" name="Shape 153"/>
          <p:cNvSpPr/>
          <p:nvPr/>
        </p:nvSpPr>
        <p:spPr>
          <a:xfrm>
            <a:off x="9464040" y="2176272"/>
            <a:ext cx="2670048" cy="420624"/>
          </a:xfrm>
          <a:prstGeom prst="rect">
            <a:avLst/>
          </a:prstGeom>
          <a:solidFill>
            <a:srgbClr val="FFFFFF"/>
          </a:solidFill>
          <a:ln w="6350">
            <a:solidFill>
              <a:srgbClr val="E5E7EB"/>
            </a:solidFill>
            <a:prstDash val="solid"/>
          </a:ln>
        </p:spPr>
      </p:sp>
      <p:sp>
        <p:nvSpPr>
          <p:cNvPr id="156" name="Shape 154"/>
          <p:cNvSpPr/>
          <p:nvPr/>
        </p:nvSpPr>
        <p:spPr>
          <a:xfrm>
            <a:off x="9537192" y="2267712"/>
            <a:ext cx="109728" cy="109728"/>
          </a:xfrm>
          <a:prstGeom prst="ellipse">
            <a:avLst/>
          </a:prstGeom>
          <a:solidFill>
            <a:srgbClr val="9CA3AF"/>
          </a:solidFill>
          <a:ln w="12700">
            <a:solidFill>
              <a:srgbClr val="9CA3AF"/>
            </a:solidFill>
            <a:prstDash val="solid"/>
          </a:ln>
        </p:spPr>
      </p:sp>
      <p:sp>
        <p:nvSpPr>
          <p:cNvPr id="157" name="Text 155"/>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8" name="Text 156"/>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9" name="Shape 157"/>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60" name="Text 158"/>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1" name="Shape 159"/>
          <p:cNvSpPr/>
          <p:nvPr/>
        </p:nvSpPr>
        <p:spPr>
          <a:xfrm>
            <a:off x="9464040" y="2651760"/>
            <a:ext cx="2670048" cy="420624"/>
          </a:xfrm>
          <a:prstGeom prst="rect">
            <a:avLst/>
          </a:prstGeom>
          <a:solidFill>
            <a:srgbClr val="FFFFFF"/>
          </a:solidFill>
          <a:ln w="6350">
            <a:solidFill>
              <a:srgbClr val="E5E7EB"/>
            </a:solidFill>
            <a:prstDash val="solid"/>
          </a:ln>
        </p:spPr>
      </p:sp>
      <p:sp>
        <p:nvSpPr>
          <p:cNvPr id="162" name="Shape 160"/>
          <p:cNvSpPr/>
          <p:nvPr/>
        </p:nvSpPr>
        <p:spPr>
          <a:xfrm>
            <a:off x="9537192" y="2743200"/>
            <a:ext cx="109728" cy="109728"/>
          </a:xfrm>
          <a:prstGeom prst="ellipse">
            <a:avLst/>
          </a:prstGeom>
          <a:solidFill>
            <a:srgbClr val="9CA3AF"/>
          </a:solidFill>
          <a:ln w="12700">
            <a:solidFill>
              <a:srgbClr val="9CA3AF"/>
            </a:solidFill>
            <a:prstDash val="solid"/>
          </a:ln>
        </p:spPr>
      </p:sp>
      <p:sp>
        <p:nvSpPr>
          <p:cNvPr id="163" name="Text 161"/>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64" name="Text 162"/>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5" name="Shape 163"/>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6" name="Text 164"/>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7" name="Shape 165"/>
          <p:cNvSpPr/>
          <p:nvPr/>
        </p:nvSpPr>
        <p:spPr>
          <a:xfrm>
            <a:off x="9482328" y="3200400"/>
            <a:ext cx="2633472" cy="0"/>
          </a:xfrm>
          <a:prstGeom prst="line">
            <a:avLst/>
          </a:prstGeom>
          <a:noFill/>
          <a:ln w="9525">
            <a:solidFill>
              <a:srgbClr val="DDE1E6"/>
            </a:solidFill>
            <a:prstDash val="solid"/>
          </a:ln>
        </p:spPr>
      </p:sp>
      <p:sp>
        <p:nvSpPr>
          <p:cNvPr id="168" name="Text 166"/>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9" name="Shape 167"/>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70" name="Text 168"/>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71" name="Shape 169"/>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72" name="Text 170"/>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73" name="Shape 171"/>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74" name="Text 172"/>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5" name="Shape 173"/>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6" name="Text 174"/>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1190</Words>
  <Application>Microsoft Macintosh PowerPoint</Application>
  <PresentationFormat>Custom</PresentationFormat>
  <Paragraphs>191</Paragraphs>
  <Slides>3</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Aptos</vt:lpstr>
      <vt:lpstr>Aptos Display</vt:lpstr>
      <vt:lpstr>Arial</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Juan Valdes</dc:creator>
  <cp:lastModifiedBy>Juan Valdes</cp:lastModifiedBy>
  <cp:revision>63</cp:revision>
  <cp:lastPrinted>2026-04-23T15:50:00Z</cp:lastPrinted>
  <dcterms:created xsi:type="dcterms:W3CDTF">2025-09-04T21:24:03Z</dcterms:created>
  <dcterms:modified xsi:type="dcterms:W3CDTF">2026-07-06T19:43:22Z</dcterms:modified>
</cp:coreProperties>
</file>