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Aug 5,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8/5/2026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55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800" dirty="0">
                <a:solidFill>
                  <a:srgbClr val="1F2937"/>
                </a:solidFill>
              </a:rPr>
              <a:t>PROJECT SABR CURRENT PROGRAM REVIEW</a:t>
            </a:r>
            <a:endParaRPr lang="en-US" sz="800" dirty="0"/>
          </a:p>
          <a:p>
            <a:pPr algn="l" indent="0" marL="0">
              <a:buNone/>
            </a:pPr>
            <a:r>
              <a:rPr lang="en-US" sz="800" dirty="0">
                <a:solidFill>
                  <a:srgbClr val="1F2937"/>
                </a:solidFill>
              </a:rPr>
              <a:t>Week of August 5, 2026</a:t>
            </a:r>
            <a:endParaRPr lang="en-US" sz="800" dirty="0"/>
          </a:p>
          <a:p>
            <a:pPr algn="l" indent="0" marL="0">
              <a:buNone/>
            </a:pPr>
            <a:endParaRPr lang="en-US" sz="800" dirty="0"/>
          </a:p>
          <a:p>
            <a:pPr algn="l" indent="0" marL="0">
              <a:buNone/>
            </a:pPr>
            <a:r>
              <a:rPr lang="en-US" sz="800" dirty="0">
                <a:solidFill>
                  <a:srgbClr val="1F2937"/>
                </a:solidFill>
              </a:rPr>
              <a:t>Project SABR continues progressing toward Beta (September 30) and Launch (December 1) with meaningful advances in multiple workstreams this week, though process discipline around feature scoping and engineering communication requires immediate attention. Most backend infrastructure is moving well, mobile and web engineering have delivered working builds and new partnership integrations are advancing, but tension is rising between rapid prototyping velocity and controlled product definition, particularly around frontend UX decisions being implemented before stakeholder alignment.</a:t>
            </a:r>
            <a:endParaRPr lang="en-US" sz="800" dirty="0"/>
          </a:p>
          <a:p>
            <a:pPr algn="l" indent="0" marL="0">
              <a:buNone/>
            </a:pPr>
            <a:endParaRPr lang="en-US" sz="800" dirty="0"/>
          </a:p>
          <a:p>
            <a:pPr algn="l" indent="0" marL="0">
              <a:buNone/>
            </a:pPr>
            <a:r>
              <a:rPr lang="en-US" sz="800" b="1" dirty="0">
                <a:solidFill>
                  <a:srgbClr val="1B5E20"/>
                </a:solidFill>
              </a:rPr>
              <a:t>INTEGRATION AND PARTNERSHIPS:</a:t>
            </a:r>
            <a:pPr algn="l" indent="0" marL="0">
              <a:buNone/>
            </a:pPr>
            <a:r>
              <a:rPr lang="en-US" sz="800" dirty="0">
                <a:solidFill>
                  <a:srgbClr val="1F2937"/>
                </a:solidFill>
              </a:rPr>
              <a:t> Amagi finalized ad operations macro requirements and confirmed a significant DVR/VOD architecture redesign using per-match manifest URLs with automatic live-to-VOD transition, replacing the previous single-stream approach. EPG deliverables for T2 and Pickleball are in production; Tennis Channel-specific EPG feed is pending. Production events on Tennis 1 confirmed healthy. Roku trick-play thumbnail requirement (640x480 every 6 seconds) was newly flagged as a certification blocker, with transcoder settings requiring confirmation. Continuous automated VOD replay delivery is targeted for second week of August post-Axon launch. VAST tag for Tennis 29 SSAI remains blocked and pending from Ad Ops.</a:t>
            </a:r>
            <a:endParaRPr lang="en-US" sz="800" dirty="0"/>
          </a:p>
          <a:p>
            <a:pPr algn="l" indent="0" marL="0">
              <a:buNone/>
            </a:pPr>
            <a:endParaRPr lang="en-US" sz="800" dirty="0"/>
          </a:p>
          <a:p>
            <a:pPr algn="l" indent="0" marL="0">
              <a:buNone/>
            </a:pPr>
            <a:r>
              <a:rPr lang="en-US" sz="800" b="1" dirty="0">
                <a:solidFill>
                  <a:srgbClr val="1B5E20"/>
                </a:solidFill>
              </a:rPr>
              <a:t>MOBILE DEVELOPMENT:</a:t>
            </a:r>
            <a:pPr algn="l" indent="0" marL="0">
              <a:buNone/>
            </a:pPr>
            <a:r>
              <a:rPr lang="en-US" sz="800" dirty="0">
                <a:solidFill>
                  <a:srgbClr val="1F2937"/>
                </a:solidFill>
              </a:rPr>
              <a:t> iOS and Android video playback with DRM and picture-in-picture functionality confirmed working on device. CI/CD automation for iOS and Android builds is underway with plans for consistent multi-weekly builds feeding to TestFlight and Google Play. Login functionality for Android test build is being remedied. Yisake shared profile decoupling demo and email-change backend endpoint is ready for front-end integration.</a:t>
            </a:r>
            <a:endParaRPr lang="en-US" sz="800" dirty="0"/>
          </a:p>
          <a:p>
            <a:pPr algn="l" indent="0" marL="0">
              <a:buNone/>
            </a:pPr>
            <a:endParaRPr lang="en-US" sz="800" dirty="0"/>
          </a:p>
          <a:p>
            <a:pPr algn="l" indent="0" marL="0">
              <a:buNone/>
            </a:pPr>
            <a:r>
              <a:rPr lang="en-US" sz="800" b="1" dirty="0">
                <a:solidFill>
                  <a:srgbClr val="1B5E20"/>
                </a:solidFill>
              </a:rPr>
              <a:t>WEB AND CMS:</a:t>
            </a:r>
            <a:pPr algn="l" indent="0" marL="0">
              <a:buNone/>
            </a:pPr>
            <a:r>
              <a:rPr lang="en-US" sz="800" dirty="0">
                <a:solidFill>
                  <a:srgbClr val="1F2937"/>
                </a:solidFill>
              </a:rPr>
              <a:t> Navigation configuration for both Tennis Channel and Foxam clients now live in CMS. Artwork template editor back-end landed yesterday with front-end deployed today, enabling configurable match card and hero card templates. Show-more carousel buttons and remaining widget implementations (notification banner, plan selection) in progress. Galen estimated artwork availability for team review within one hour.</a:t>
            </a:r>
            <a:endParaRPr lang="en-US" sz="800" dirty="0"/>
          </a:p>
          <a:p>
            <a:pPr algn="l" indent="0" marL="0">
              <a:buNone/>
            </a:pPr>
            <a:endParaRPr lang="en-US" sz="800" dirty="0"/>
          </a:p>
          <a:p>
            <a:pPr algn="l" indent="0" marL="0">
              <a:buNone/>
            </a:pPr>
            <a:r>
              <a:rPr lang="en-US" sz="800" b="1" dirty="0">
                <a:solidFill>
                  <a:srgbClr val="1B5E20"/>
                </a:solidFill>
              </a:rPr>
              <a:t>MERCHANDISING AND CAROUSEL:</a:t>
            </a:r>
            <a:pPr algn="l" indent="0" marL="0">
              <a:buNone/>
            </a:pPr>
            <a:r>
              <a:rPr lang="en-US" sz="800" dirty="0">
                <a:solidFill>
                  <a:srgbClr val="1F2937"/>
                </a:solidFill>
              </a:rPr>
              <a:t> Carousel show-more link behavior finalized with three configurable states (always show, default show until limit exceeded, never show) and 20-item default limit, with ability to override both on per-carousel basis. Show-more placement defaults to in-line with carousel title on web, with device-specific adaptations for TV and mobile. Team agreed to document specifications in Confluence and defer advanced limit-by-device logic to Foxam.</a:t>
            </a:r>
            <a:endParaRPr lang="en-US" sz="800" dirty="0"/>
          </a:p>
          <a:p>
            <a:pPr algn="l" indent="0" marL="0">
              <a:buNone/>
            </a:pPr>
            <a:endParaRPr lang="en-US" sz="800" dirty="0"/>
          </a:p>
          <a:p>
            <a:pPr algn="l" indent="0" marL="0">
              <a:buNone/>
            </a:pPr>
            <a:r>
              <a:rPr lang="en-US" sz="800" b="1" dirty="0">
                <a:solidFill>
                  <a:srgbClr val="1B5E20"/>
                </a:solidFill>
              </a:rPr>
              <a:t>CONTENT OPERATIONS:</a:t>
            </a:r>
            <a:pPr algn="l" indent="0" marL="0">
              <a:buNone/>
            </a:pPr>
            <a:r>
              <a:rPr lang="en-US" sz="800" dirty="0">
                <a:solidFill>
                  <a:srgbClr val="1F2937"/>
                </a:solidFill>
              </a:rPr>
              <a:t> Bobo reported WSC content (HLS/DASH) in production processing and replays turned up in development. Blog upload process now live in CMS dev environment (avoiding long uploads due to processing cost). Email-change backend complete; front-end implementation pending. Auth0 migration to dev account (matching Sport Radar) is in progress, with all existing test accounts needing replacement on new tenant once migration is active.</a:t>
            </a:r>
            <a:endParaRPr lang="en-US" sz="800" dirty="0"/>
          </a:p>
          <a:p>
            <a:pPr algn="l" indent="0" marL="0">
              <a:buNone/>
            </a:pPr>
            <a:endParaRPr lang="en-US" sz="800" dirty="0"/>
          </a:p>
          <a:p>
            <a:pPr algn="l" indent="0" marL="0">
              <a:buNone/>
            </a:pPr>
            <a:r>
              <a:rPr lang="en-US" sz="800" b="1" dirty="0">
                <a:solidFill>
                  <a:srgbClr val="1B5E20"/>
                </a:solidFill>
              </a:rPr>
              <a:t>PRODUCT AND ENGINEERING CULTURE:</a:t>
            </a:r>
            <a:pPr algn="l" indent="0" marL="0">
              <a:buNone/>
            </a:pPr>
            <a:r>
              <a:rPr lang="en-US" sz="800" dirty="0">
                <a:solidFill>
                  <a:srgbClr val="1F2937"/>
                </a:solidFill>
              </a:rPr>
              <a:t> Benjamin Kessler and product team announced twice-weekly design jam sessions (Tuesdays and Thursdays) starting August 6 to manage rapid iteration feedback, acknowledge that engineering has been moving "fast, cheap, and out of control," and align on feature priorities and UX changes before full implementation. Concern was raised that features like the live page redesign and tournaments page changes are being built and integrated ahead of stakeholder approval, then presented as fait accompli, rather than scoped collaboratively first. Team acknowledged engineering exuberance is positive but cavalierness about process is not; feedback and rejections of proposed changes must be accepted without stubbornness. Leadership confirmed that Santa Monica product team will not be a "gain factor" slowing innovation and committed to matching engineering velocity while maintaining design rigor.</a:t>
            </a:r>
            <a:endParaRPr lang="en-US" sz="800" dirty="0"/>
          </a:p>
          <a:p>
            <a:pPr algn="l" indent="0" marL="0">
              <a:buNone/>
            </a:pPr>
            <a:endParaRPr lang="en-US" sz="800" dirty="0"/>
          </a:p>
          <a:p>
            <a:pPr algn="l" indent="0" marL="0">
              <a:buNone/>
            </a:pPr>
            <a:r>
              <a:rPr lang="en-US" sz="800" b="1" dirty="0">
                <a:solidFill>
                  <a:srgbClr val="1B5E20"/>
                </a:solidFill>
              </a:rPr>
              <a:t>KEY DECISIONS:</a:t>
            </a:r>
            <a:pPr algn="l" indent="0" marL="0">
              <a:buNone/>
            </a:pPr>
            <a:endParaRPr lang="en-US" sz="800" dirty="0"/>
          </a:p>
          <a:p>
            <a:pPr algn="l" indent="0" marL="0">
              <a:buNone/>
            </a:pPr>
            <a:endParaRPr lang="en-US" sz="800" dirty="0"/>
          </a:p>
          <a:p>
            <a:pPr algn="l" indent="0" marL="0">
              <a:buNone/>
            </a:pPr>
            <a:r>
              <a:rPr lang="en-US" sz="800" dirty="0">
                <a:solidFill>
                  <a:srgbClr val="1F2937"/>
                </a:solidFill>
              </a:rPr>
              <a:t>• Amagi DVR/VOD architecture will use unique, predictable per-match manifest URLs with automatic live-to-VOD transition rather than single continuously-reset stream.</a:t>
            </a:r>
            <a:endParaRPr lang="en-US" sz="800" dirty="0"/>
          </a:p>
          <a:p>
            <a:pPr algn="l" indent="0" marL="0">
              <a:buNone/>
            </a:pPr>
            <a:endParaRPr lang="en-US" sz="800" dirty="0"/>
          </a:p>
          <a:p>
            <a:pPr algn="l" indent="0" marL="0">
              <a:buNone/>
            </a:pPr>
            <a:r>
              <a:rPr lang="en-US" sz="800" dirty="0">
                <a:solidFill>
                  <a:srgbClr val="1F2937"/>
                </a:solidFill>
              </a:rPr>
              <a:t>• Match Central start/end times remain the single source of truth; VOD-specific trimming will use a separate operator-configurable field in Amagi Axon UI.</a:t>
            </a:r>
            <a:endParaRPr lang="en-US" sz="800" dirty="0"/>
          </a:p>
          <a:p>
            <a:pPr algn="l" indent="0" marL="0">
              <a:buNone/>
            </a:pPr>
            <a:endParaRPr lang="en-US" sz="800" dirty="0"/>
          </a:p>
          <a:p>
            <a:pPr algn="l" indent="0" marL="0">
              <a:buNone/>
            </a:pPr>
            <a:r>
              <a:rPr lang="en-US" sz="800" dirty="0">
                <a:solidFill>
                  <a:srgbClr val="1F2937"/>
                </a:solidFill>
              </a:rPr>
              <a:t>• Carousel show-more links default to on with 20-item limit; device-specific threshold variations will be managed by Foxam client rather than centrally configured.</a:t>
            </a:r>
            <a:endParaRPr lang="en-US" sz="800" dirty="0"/>
          </a:p>
          <a:p>
            <a:pPr algn="l" indent="0" marL="0">
              <a:buNone/>
            </a:pPr>
            <a:endParaRPr lang="en-US" sz="800" dirty="0"/>
          </a:p>
          <a:p>
            <a:pPr algn="l" indent="0" marL="0">
              <a:buNone/>
            </a:pPr>
            <a:r>
              <a:rPr lang="en-US" sz="800" dirty="0">
                <a:solidFill>
                  <a:srgbClr val="1F2937"/>
                </a:solidFill>
              </a:rPr>
              <a:t>• Design jam sessions piloting Tuesdays and Thursdays to provide rapid feedback loop on in-flight UX prototypes and align on feature priorities before full implementation.</a:t>
            </a:r>
            <a:endParaRPr lang="en-US" sz="800" dirty="0"/>
          </a:p>
          <a:p>
            <a:pPr algn="l" indent="0" marL="0">
              <a:buNone/>
            </a:pPr>
            <a:endParaRPr lang="en-US" sz="800" dirty="0"/>
          </a:p>
          <a:p>
            <a:pPr algn="l" indent="0" marL="0">
              <a:buNone/>
            </a:pPr>
            <a:r>
              <a:rPr lang="en-US" sz="800" dirty="0">
                <a:solidFill>
                  <a:srgbClr val="1F2937"/>
                </a:solidFill>
              </a:rPr>
              <a:t>• Engineering will continue moving at high velocity; product and design will work to match that pace without becoming a bottleneck, contingent on restored collaborative scoping process.</a:t>
            </a:r>
            <a:endParaRPr lang="en-US" sz="8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Aug 5,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378823"/>
          </a:xfrm>
          <a:prstGeom prst="rect">
            <a:avLst/>
          </a:prstGeom>
          <a:solidFill>
            <a:srgbClr val="FFFFFF"/>
          </a:solidFill>
          <a:ln w="3175">
            <a:solidFill>
              <a:srgbClr val="E5E7EB"/>
            </a:solidFill>
            <a:prstDash val="solid"/>
          </a:ln>
        </p:spPr>
      </p:sp>
      <p:sp>
        <p:nvSpPr>
          <p:cNvPr id="9" name="Text 7"/>
          <p:cNvSpPr/>
          <p:nvPr/>
        </p:nvSpPr>
        <p:spPr>
          <a:xfrm>
            <a:off x="164592" y="795528"/>
            <a:ext cx="777240" cy="342247"/>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323959"/>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879783"/>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879783"/>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156063"/>
            <a:ext cx="6016752" cy="0"/>
          </a:xfrm>
          <a:prstGeom prst="line">
            <a:avLst/>
          </a:prstGeom>
          <a:noFill/>
          <a:ln w="6350">
            <a:solidFill>
              <a:srgbClr val="E5E7EB"/>
            </a:solidFill>
            <a:prstDash val="solid"/>
          </a:ln>
        </p:spPr>
      </p:sp>
      <p:sp>
        <p:nvSpPr>
          <p:cNvPr id="14" name="Text 12"/>
          <p:cNvSpPr/>
          <p:nvPr/>
        </p:nvSpPr>
        <p:spPr>
          <a:xfrm>
            <a:off x="164592" y="1174351"/>
            <a:ext cx="777240" cy="342247"/>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183495"/>
            <a:ext cx="4178808" cy="323959"/>
          </a:xfrm>
          <a:prstGeom prst="rect">
            <a:avLst/>
          </a:prstGeom>
          <a:noFill/>
          <a:ln/>
        </p:spPr>
        <p:txBody>
          <a:bodyPr wrap="square" lIns="0" tIns="0" rIns="0" bIns="0" rtlCol="0" anchor="t"/>
          <a:lstStyle/>
          <a:p>
            <a:pPr indent="0" marL="0">
              <a:buNone/>
            </a:pPr>
            <a:r>
              <a:rPr lang="en-US" sz="650" dirty="0">
                <a:solidFill>
                  <a:srgbClr val="374151"/>
                </a:solidFill>
              </a:rPr>
              <a:t>We are good.</a:t>
            </a:r>
            <a:endParaRPr lang="en-US" sz="650" dirty="0"/>
          </a:p>
        </p:txBody>
      </p:sp>
      <p:sp>
        <p:nvSpPr>
          <p:cNvPr id="16" name="Shape 14"/>
          <p:cNvSpPr/>
          <p:nvPr/>
        </p:nvSpPr>
        <p:spPr>
          <a:xfrm>
            <a:off x="5230368" y="1258606"/>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258606"/>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534886"/>
            <a:ext cx="6016752" cy="378823"/>
          </a:xfrm>
          <a:prstGeom prst="rect">
            <a:avLst/>
          </a:prstGeom>
          <a:solidFill>
            <a:srgbClr val="FFFFFF"/>
          </a:solidFill>
          <a:ln w="3175">
            <a:solidFill>
              <a:srgbClr val="E5E7EB"/>
            </a:solidFill>
            <a:prstDash val="solid"/>
          </a:ln>
        </p:spPr>
      </p:sp>
      <p:sp>
        <p:nvSpPr>
          <p:cNvPr id="19" name="Shape 17"/>
          <p:cNvSpPr/>
          <p:nvPr/>
        </p:nvSpPr>
        <p:spPr>
          <a:xfrm>
            <a:off x="91440" y="1534886"/>
            <a:ext cx="6016752" cy="0"/>
          </a:xfrm>
          <a:prstGeom prst="line">
            <a:avLst/>
          </a:prstGeom>
          <a:noFill/>
          <a:ln w="6350">
            <a:solidFill>
              <a:srgbClr val="E5E7EB"/>
            </a:solidFill>
            <a:prstDash val="solid"/>
          </a:ln>
        </p:spPr>
      </p:sp>
      <p:sp>
        <p:nvSpPr>
          <p:cNvPr id="20" name="Text 18"/>
          <p:cNvSpPr/>
          <p:nvPr/>
        </p:nvSpPr>
        <p:spPr>
          <a:xfrm>
            <a:off x="164592" y="1553174"/>
            <a:ext cx="777240" cy="342247"/>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562318"/>
            <a:ext cx="4178808" cy="323959"/>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1637429"/>
            <a:ext cx="822960" cy="173736"/>
          </a:xfrm>
          <a:prstGeom prst="roundRect">
            <a:avLst>
              <a:gd name="adj" fmla="val 15789"/>
            </a:avLst>
          </a:prstGeom>
          <a:solidFill>
            <a:srgbClr val="CFFAFE"/>
          </a:solidFill>
          <a:ln w="12700">
            <a:solidFill>
              <a:srgbClr val="0E7490"/>
            </a:solidFill>
            <a:prstDash val="solid"/>
          </a:ln>
        </p:spPr>
      </p:sp>
      <p:sp>
        <p:nvSpPr>
          <p:cNvPr id="23" name="Text 21"/>
          <p:cNvSpPr/>
          <p:nvPr/>
        </p:nvSpPr>
        <p:spPr>
          <a:xfrm>
            <a:off x="5230368" y="1637429"/>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24" name="Shape 22"/>
          <p:cNvSpPr/>
          <p:nvPr/>
        </p:nvSpPr>
        <p:spPr>
          <a:xfrm>
            <a:off x="91440" y="1913709"/>
            <a:ext cx="6016752" cy="0"/>
          </a:xfrm>
          <a:prstGeom prst="line">
            <a:avLst/>
          </a:prstGeom>
          <a:noFill/>
          <a:ln w="6350">
            <a:solidFill>
              <a:srgbClr val="E5E7EB"/>
            </a:solidFill>
            <a:prstDash val="solid"/>
          </a:ln>
        </p:spPr>
      </p:sp>
      <p:sp>
        <p:nvSpPr>
          <p:cNvPr id="25" name="Text 23"/>
          <p:cNvSpPr/>
          <p:nvPr/>
        </p:nvSpPr>
        <p:spPr>
          <a:xfrm>
            <a:off x="164592" y="1931997"/>
            <a:ext cx="777240" cy="342247"/>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1941141"/>
            <a:ext cx="4178808" cy="323959"/>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292531"/>
            <a:ext cx="6016752" cy="378823"/>
          </a:xfrm>
          <a:prstGeom prst="rect">
            <a:avLst/>
          </a:prstGeom>
          <a:solidFill>
            <a:srgbClr val="FFFFFF"/>
          </a:solidFill>
          <a:ln w="3175">
            <a:solidFill>
              <a:srgbClr val="E5E7EB"/>
            </a:solidFill>
            <a:prstDash val="solid"/>
          </a:ln>
        </p:spPr>
      </p:sp>
      <p:sp>
        <p:nvSpPr>
          <p:cNvPr id="30" name="Shape 28"/>
          <p:cNvSpPr/>
          <p:nvPr/>
        </p:nvSpPr>
        <p:spPr>
          <a:xfrm>
            <a:off x="91440" y="2292531"/>
            <a:ext cx="6016752" cy="0"/>
          </a:xfrm>
          <a:prstGeom prst="line">
            <a:avLst/>
          </a:prstGeom>
          <a:noFill/>
          <a:ln w="6350">
            <a:solidFill>
              <a:srgbClr val="E5E7EB"/>
            </a:solidFill>
            <a:prstDash val="solid"/>
          </a:ln>
        </p:spPr>
      </p:sp>
      <p:sp>
        <p:nvSpPr>
          <p:cNvPr id="31" name="Text 29"/>
          <p:cNvSpPr/>
          <p:nvPr/>
        </p:nvSpPr>
        <p:spPr>
          <a:xfrm>
            <a:off x="164592" y="2310819"/>
            <a:ext cx="777240" cy="342247"/>
          </a:xfrm>
          <a:prstGeom prst="rect">
            <a:avLst/>
          </a:prstGeom>
          <a:noFill/>
          <a:ln/>
        </p:spPr>
        <p:txBody>
          <a:bodyPr wrap="square" lIns="0" tIns="0" rIns="0" bIns="0" rtlCol="0" anchor="ctr"/>
          <a:lstStyle/>
          <a:p>
            <a:pPr indent="0" marL="0">
              <a:buNone/>
            </a:pPr>
            <a:r>
              <a:rPr lang="en-US" sz="750" b="1" dirty="0">
                <a:solidFill>
                  <a:srgbClr val="1F2937"/>
                </a:solidFill>
              </a:rPr>
              <a:t>Amplitude</a:t>
            </a:r>
            <a:endParaRPr lang="en-US" sz="750" dirty="0"/>
          </a:p>
        </p:txBody>
      </p:sp>
      <p:sp>
        <p:nvSpPr>
          <p:cNvPr id="32" name="Text 30"/>
          <p:cNvSpPr/>
          <p:nvPr/>
        </p:nvSpPr>
        <p:spPr>
          <a:xfrm>
            <a:off x="960120" y="2319963"/>
            <a:ext cx="4178808" cy="323959"/>
          </a:xfrm>
          <a:prstGeom prst="rect">
            <a:avLst/>
          </a:prstGeom>
          <a:noFill/>
          <a:ln/>
        </p:spPr>
        <p:txBody>
          <a:bodyPr wrap="square" lIns="0" tIns="0" rIns="0" bIns="0" rtlCol="0" anchor="t"/>
          <a:lstStyle/>
          <a:p>
            <a:pPr indent="0" marL="0">
              <a:buNone/>
            </a:pPr>
            <a:r>
              <a:rPr lang="en-US" sz="650" dirty="0">
                <a:solidFill>
                  <a:srgbClr val="374151"/>
                </a:solidFill>
              </a:rPr>
              <a:t>Decided, moving forward. Pricing confirmed at roughly half their initial offer (cheaper than what Wealthfront charged for similar volume), setup fee waived, and the team confirmed they want it, including integrating with Foxxum. Ari is proceeding to get the contract signed.</a:t>
            </a:r>
            <a:endParaRPr lang="en-US" sz="650" dirty="0"/>
          </a:p>
        </p:txBody>
      </p:sp>
      <p:sp>
        <p:nvSpPr>
          <p:cNvPr id="33" name="Shape 31"/>
          <p:cNvSpPr/>
          <p:nvPr/>
        </p:nvSpPr>
        <p:spPr>
          <a:xfrm>
            <a:off x="5230368" y="2395075"/>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2395075"/>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91440" y="2671354"/>
            <a:ext cx="6016752" cy="0"/>
          </a:xfrm>
          <a:prstGeom prst="line">
            <a:avLst/>
          </a:prstGeom>
          <a:noFill/>
          <a:ln w="6350">
            <a:solidFill>
              <a:srgbClr val="E5E7EB"/>
            </a:solidFill>
            <a:prstDash val="solid"/>
          </a:ln>
        </p:spPr>
      </p:sp>
      <p:sp>
        <p:nvSpPr>
          <p:cNvPr id="36" name="Text 34"/>
          <p:cNvSpPr/>
          <p:nvPr/>
        </p:nvSpPr>
        <p:spPr>
          <a:xfrm>
            <a:off x="164592" y="2689642"/>
            <a:ext cx="777240" cy="342247"/>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7" name="Text 35"/>
          <p:cNvSpPr/>
          <p:nvPr/>
        </p:nvSpPr>
        <p:spPr>
          <a:xfrm>
            <a:off x="960120" y="2698786"/>
            <a:ext cx="4178808" cy="323959"/>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8" name="Shape 36"/>
          <p:cNvSpPr/>
          <p:nvPr/>
        </p:nvSpPr>
        <p:spPr>
          <a:xfrm>
            <a:off x="5230368" y="2773898"/>
            <a:ext cx="822960" cy="173736"/>
          </a:xfrm>
          <a:prstGeom prst="roundRect">
            <a:avLst>
              <a:gd name="adj" fmla="val 15789"/>
            </a:avLst>
          </a:prstGeom>
          <a:solidFill>
            <a:srgbClr val="1558A8"/>
          </a:solidFill>
          <a:ln w="12700">
            <a:solidFill>
              <a:srgbClr val="1558A8"/>
            </a:solidFill>
            <a:prstDash val="solid"/>
          </a:ln>
        </p:spPr>
      </p:sp>
      <p:sp>
        <p:nvSpPr>
          <p:cNvPr id="39" name="Text 37"/>
          <p:cNvSpPr/>
          <p:nvPr/>
        </p:nvSpPr>
        <p:spPr>
          <a:xfrm>
            <a:off x="5230368" y="277389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0" name="Shape 38"/>
          <p:cNvSpPr/>
          <p:nvPr/>
        </p:nvSpPr>
        <p:spPr>
          <a:xfrm>
            <a:off x="91440" y="3050177"/>
            <a:ext cx="6016752" cy="378823"/>
          </a:xfrm>
          <a:prstGeom prst="rect">
            <a:avLst/>
          </a:prstGeom>
          <a:solidFill>
            <a:srgbClr val="FFFFFF"/>
          </a:solidFill>
          <a:ln w="3175">
            <a:solidFill>
              <a:srgbClr val="E5E7EB"/>
            </a:solidFill>
            <a:prstDash val="solid"/>
          </a:ln>
        </p:spPr>
      </p:sp>
      <p:sp>
        <p:nvSpPr>
          <p:cNvPr id="41" name="Shape 39"/>
          <p:cNvSpPr/>
          <p:nvPr/>
        </p:nvSpPr>
        <p:spPr>
          <a:xfrm>
            <a:off x="91440" y="3050177"/>
            <a:ext cx="6016752" cy="0"/>
          </a:xfrm>
          <a:prstGeom prst="line">
            <a:avLst/>
          </a:prstGeom>
          <a:noFill/>
          <a:ln w="6350">
            <a:solidFill>
              <a:srgbClr val="E5E7EB"/>
            </a:solidFill>
            <a:prstDash val="solid"/>
          </a:ln>
        </p:spPr>
      </p:sp>
      <p:sp>
        <p:nvSpPr>
          <p:cNvPr id="42" name="Text 40"/>
          <p:cNvSpPr/>
          <p:nvPr/>
        </p:nvSpPr>
        <p:spPr>
          <a:xfrm>
            <a:off x="164592" y="3068465"/>
            <a:ext cx="777240" cy="342247"/>
          </a:xfrm>
          <a:prstGeom prst="rect">
            <a:avLst/>
          </a:prstGeom>
          <a:noFill/>
          <a:ln/>
        </p:spPr>
        <p:txBody>
          <a:bodyPr wrap="square" lIns="0" tIns="0" rIns="0" bIns="0" rtlCol="0" anchor="ctr"/>
          <a:lstStyle/>
          <a:p>
            <a:pPr indent="0" marL="0">
              <a:buNone/>
            </a:pPr>
            <a:r>
              <a:rPr lang="en-US" sz="750" b="1" dirty="0">
                <a:solidFill>
                  <a:srgbClr val="1F2937"/>
                </a:solidFill>
              </a:rPr>
              <a:t>Recurly</a:t>
            </a:r>
            <a:endParaRPr lang="en-US" sz="750" dirty="0"/>
          </a:p>
        </p:txBody>
      </p:sp>
      <p:sp>
        <p:nvSpPr>
          <p:cNvPr id="43" name="Text 41"/>
          <p:cNvSpPr/>
          <p:nvPr/>
        </p:nvSpPr>
        <p:spPr>
          <a:xfrm>
            <a:off x="960120" y="3077609"/>
            <a:ext cx="4178808" cy="323959"/>
          </a:xfrm>
          <a:prstGeom prst="rect">
            <a:avLst/>
          </a:prstGeom>
          <a:noFill/>
          <a:ln/>
        </p:spPr>
        <p:txBody>
          <a:bodyPr wrap="square" lIns="0" tIns="0" rIns="0" bIns="0" rtlCol="0" anchor="t"/>
          <a:lstStyle/>
          <a:p>
            <a:pPr indent="0" marL="0">
              <a:buNone/>
            </a:pPr>
            <a:endParaRPr lang="en-US" sz="650" dirty="0"/>
          </a:p>
        </p:txBody>
      </p:sp>
      <p:sp>
        <p:nvSpPr>
          <p:cNvPr id="44" name="Shape 42"/>
          <p:cNvSpPr/>
          <p:nvPr/>
        </p:nvSpPr>
        <p:spPr>
          <a:xfrm>
            <a:off x="5230368" y="3152721"/>
            <a:ext cx="822960" cy="173736"/>
          </a:xfrm>
          <a:prstGeom prst="roundRect">
            <a:avLst>
              <a:gd name="adj" fmla="val 15789"/>
            </a:avLst>
          </a:prstGeom>
          <a:solidFill>
            <a:srgbClr val="1558A8"/>
          </a:solidFill>
          <a:ln w="12700">
            <a:solidFill>
              <a:srgbClr val="1558A8"/>
            </a:solidFill>
            <a:prstDash val="solid"/>
          </a:ln>
        </p:spPr>
      </p:sp>
      <p:sp>
        <p:nvSpPr>
          <p:cNvPr id="45" name="Text 43"/>
          <p:cNvSpPr/>
          <p:nvPr/>
        </p:nvSpPr>
        <p:spPr>
          <a:xfrm>
            <a:off x="5230368" y="3152721"/>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6" name="Shape 44"/>
          <p:cNvSpPr/>
          <p:nvPr/>
        </p:nvSpPr>
        <p:spPr>
          <a:xfrm>
            <a:off x="6236208" y="502920"/>
            <a:ext cx="6016752" cy="2926080"/>
          </a:xfrm>
          <a:prstGeom prst="rect">
            <a:avLst/>
          </a:prstGeom>
          <a:solidFill>
            <a:srgbClr val="FAFBFC"/>
          </a:solidFill>
          <a:ln w="9525">
            <a:solidFill>
              <a:srgbClr val="D1D5DB"/>
            </a:solidFill>
            <a:prstDash val="solid"/>
          </a:ln>
        </p:spPr>
      </p:sp>
      <p:sp>
        <p:nvSpPr>
          <p:cNvPr id="47" name="Shape 45"/>
          <p:cNvSpPr/>
          <p:nvPr/>
        </p:nvSpPr>
        <p:spPr>
          <a:xfrm>
            <a:off x="6236208" y="502920"/>
            <a:ext cx="6016752" cy="274320"/>
          </a:xfrm>
          <a:prstGeom prst="rect">
            <a:avLst/>
          </a:prstGeom>
          <a:solidFill>
            <a:srgbClr val="8ED973"/>
          </a:solidFill>
          <a:ln w="12700">
            <a:solidFill>
              <a:srgbClr val="8ED973"/>
            </a:solidFill>
            <a:prstDash val="solid"/>
          </a:ln>
        </p:spPr>
      </p:sp>
      <p:sp>
        <p:nvSpPr>
          <p:cNvPr id="48" name="Text 46"/>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49" name="Shape 47"/>
          <p:cNvSpPr/>
          <p:nvPr/>
        </p:nvSpPr>
        <p:spPr>
          <a:xfrm>
            <a:off x="6236208" y="777240"/>
            <a:ext cx="6016752" cy="530352"/>
          </a:xfrm>
          <a:prstGeom prst="rect">
            <a:avLst/>
          </a:prstGeom>
          <a:solidFill>
            <a:srgbClr val="FFFFFF"/>
          </a:solidFill>
          <a:ln w="3175">
            <a:solidFill>
              <a:srgbClr val="E5E7EB"/>
            </a:solidFill>
            <a:prstDash val="solid"/>
          </a:ln>
        </p:spPr>
      </p:sp>
      <p:sp>
        <p:nvSpPr>
          <p:cNvPr id="50" name="Text 48"/>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51" name="Text 49"/>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52" name="Shape 50"/>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1307592"/>
            <a:ext cx="6016752" cy="0"/>
          </a:xfrm>
          <a:prstGeom prst="line">
            <a:avLst/>
          </a:prstGeom>
          <a:noFill/>
          <a:ln w="6350">
            <a:solidFill>
              <a:srgbClr val="E5E7EB"/>
            </a:solidFill>
            <a:prstDash val="solid"/>
          </a:ln>
        </p:spPr>
      </p:sp>
      <p:sp>
        <p:nvSpPr>
          <p:cNvPr id="55" name="Text 53"/>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56" name="Text 54"/>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57" name="Shape 55"/>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1837944"/>
            <a:ext cx="6016752" cy="530352"/>
          </a:xfrm>
          <a:prstGeom prst="rect">
            <a:avLst/>
          </a:prstGeom>
          <a:solidFill>
            <a:srgbClr val="FFFFFF"/>
          </a:solidFill>
          <a:ln w="3175">
            <a:solidFill>
              <a:srgbClr val="E5E7EB"/>
            </a:solidFill>
            <a:prstDash val="solid"/>
          </a:ln>
        </p:spPr>
      </p:sp>
      <p:sp>
        <p:nvSpPr>
          <p:cNvPr id="60" name="Shape 58"/>
          <p:cNvSpPr/>
          <p:nvPr/>
        </p:nvSpPr>
        <p:spPr>
          <a:xfrm>
            <a:off x="6236208" y="1837944"/>
            <a:ext cx="6016752" cy="0"/>
          </a:xfrm>
          <a:prstGeom prst="line">
            <a:avLst/>
          </a:prstGeom>
          <a:noFill/>
          <a:ln w="6350">
            <a:solidFill>
              <a:srgbClr val="E5E7EB"/>
            </a:solidFill>
            <a:prstDash val="solid"/>
          </a:ln>
        </p:spPr>
      </p:sp>
      <p:sp>
        <p:nvSpPr>
          <p:cNvPr id="61" name="Text 59"/>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62" name="Text 60"/>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63" name="Shape 61"/>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6236208" y="2368296"/>
            <a:ext cx="6016752" cy="0"/>
          </a:xfrm>
          <a:prstGeom prst="line">
            <a:avLst/>
          </a:prstGeom>
          <a:noFill/>
          <a:ln w="6350">
            <a:solidFill>
              <a:srgbClr val="E5E7EB"/>
            </a:solidFill>
            <a:prstDash val="solid"/>
          </a:ln>
        </p:spPr>
      </p:sp>
      <p:sp>
        <p:nvSpPr>
          <p:cNvPr id="66" name="Text 64"/>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67" name="Text 65"/>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68" name="Shape 66"/>
          <p:cNvSpPr/>
          <p:nvPr/>
        </p:nvSpPr>
        <p:spPr>
          <a:xfrm>
            <a:off x="11375136" y="2546604"/>
            <a:ext cx="822960" cy="173736"/>
          </a:xfrm>
          <a:prstGeom prst="roundRect">
            <a:avLst>
              <a:gd name="adj" fmla="val 15789"/>
            </a:avLst>
          </a:prstGeom>
          <a:solidFill>
            <a:srgbClr val="CFFAFE"/>
          </a:solidFill>
          <a:ln w="12700">
            <a:solidFill>
              <a:srgbClr val="0E7490"/>
            </a:solidFill>
            <a:prstDash val="solid"/>
          </a:ln>
        </p:spPr>
      </p:sp>
      <p:sp>
        <p:nvSpPr>
          <p:cNvPr id="69" name="Text 67"/>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70" name="Shape 68"/>
          <p:cNvSpPr/>
          <p:nvPr/>
        </p:nvSpPr>
        <p:spPr>
          <a:xfrm>
            <a:off x="6236208" y="2898648"/>
            <a:ext cx="6016752" cy="530352"/>
          </a:xfrm>
          <a:prstGeom prst="rect">
            <a:avLst/>
          </a:prstGeom>
          <a:solidFill>
            <a:srgbClr val="FFFFFF"/>
          </a:solidFill>
          <a:ln w="3175">
            <a:solidFill>
              <a:srgbClr val="E5E7EB"/>
            </a:solidFill>
            <a:prstDash val="solid"/>
          </a:ln>
        </p:spPr>
      </p:sp>
      <p:sp>
        <p:nvSpPr>
          <p:cNvPr id="71" name="Shape 69"/>
          <p:cNvSpPr/>
          <p:nvPr/>
        </p:nvSpPr>
        <p:spPr>
          <a:xfrm>
            <a:off x="6236208" y="2898648"/>
            <a:ext cx="6016752" cy="0"/>
          </a:xfrm>
          <a:prstGeom prst="line">
            <a:avLst/>
          </a:prstGeom>
          <a:noFill/>
          <a:ln w="6350">
            <a:solidFill>
              <a:srgbClr val="E5E7EB"/>
            </a:solidFill>
            <a:prstDash val="solid"/>
          </a:ln>
        </p:spPr>
      </p:sp>
      <p:sp>
        <p:nvSpPr>
          <p:cNvPr id="72" name="Text 70"/>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73" name="Text 71"/>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74" name="Shape 72"/>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75" name="Text 73"/>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6" name="Shape 74"/>
          <p:cNvSpPr/>
          <p:nvPr/>
        </p:nvSpPr>
        <p:spPr>
          <a:xfrm>
            <a:off x="91440" y="3502152"/>
            <a:ext cx="6016752" cy="3749040"/>
          </a:xfrm>
          <a:prstGeom prst="rect">
            <a:avLst/>
          </a:prstGeom>
          <a:solidFill>
            <a:srgbClr val="FAFBFC"/>
          </a:solidFill>
          <a:ln w="9525">
            <a:solidFill>
              <a:srgbClr val="D1D5DB"/>
            </a:solidFill>
            <a:prstDash val="solid"/>
          </a:ln>
        </p:spPr>
      </p:sp>
      <p:sp>
        <p:nvSpPr>
          <p:cNvPr id="77" name="Shape 75"/>
          <p:cNvSpPr/>
          <p:nvPr/>
        </p:nvSpPr>
        <p:spPr>
          <a:xfrm>
            <a:off x="91440" y="3502152"/>
            <a:ext cx="6016752" cy="274320"/>
          </a:xfrm>
          <a:prstGeom prst="rect">
            <a:avLst/>
          </a:prstGeom>
          <a:solidFill>
            <a:srgbClr val="8ED973"/>
          </a:solidFill>
          <a:ln w="12700">
            <a:solidFill>
              <a:srgbClr val="8ED973"/>
            </a:solidFill>
            <a:prstDash val="solid"/>
          </a:ln>
        </p:spPr>
      </p:sp>
      <p:sp>
        <p:nvSpPr>
          <p:cNvPr id="78" name="Text 76"/>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79" name="Shape 77"/>
          <p:cNvSpPr/>
          <p:nvPr/>
        </p:nvSpPr>
        <p:spPr>
          <a:xfrm>
            <a:off x="91440" y="3776472"/>
            <a:ext cx="6016752" cy="1158240"/>
          </a:xfrm>
          <a:prstGeom prst="rect">
            <a:avLst/>
          </a:prstGeom>
          <a:solidFill>
            <a:srgbClr val="FFFFFF"/>
          </a:solidFill>
          <a:ln w="3175">
            <a:solidFill>
              <a:srgbClr val="E5E7EB"/>
            </a:solidFill>
            <a:prstDash val="solid"/>
          </a:ln>
        </p:spPr>
      </p:sp>
      <p:sp>
        <p:nvSpPr>
          <p:cNvPr id="80" name="Text 78"/>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81" name="Text 79"/>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82" name="Shape 80"/>
          <p:cNvSpPr/>
          <p:nvPr/>
        </p:nvSpPr>
        <p:spPr>
          <a:xfrm>
            <a:off x="5230368" y="4268724"/>
            <a:ext cx="822960" cy="173736"/>
          </a:xfrm>
          <a:prstGeom prst="roundRect">
            <a:avLst>
              <a:gd name="adj" fmla="val 15789"/>
            </a:avLst>
          </a:prstGeom>
          <a:solidFill>
            <a:srgbClr val="F3F4F6"/>
          </a:solidFill>
          <a:ln w="9525">
            <a:solidFill>
              <a:srgbClr val="D1D5DB"/>
            </a:solidFill>
            <a:prstDash val="solid"/>
          </a:ln>
        </p:spPr>
      </p:sp>
      <p:sp>
        <p:nvSpPr>
          <p:cNvPr id="83" name="Text 81"/>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84" name="Shape 82"/>
          <p:cNvSpPr/>
          <p:nvPr/>
        </p:nvSpPr>
        <p:spPr>
          <a:xfrm>
            <a:off x="91440" y="4934712"/>
            <a:ext cx="6016752" cy="0"/>
          </a:xfrm>
          <a:prstGeom prst="line">
            <a:avLst/>
          </a:prstGeom>
          <a:noFill/>
          <a:ln w="6350">
            <a:solidFill>
              <a:srgbClr val="E5E7EB"/>
            </a:solidFill>
            <a:prstDash val="solid"/>
          </a:ln>
        </p:spPr>
      </p:sp>
      <p:sp>
        <p:nvSpPr>
          <p:cNvPr id="85" name="Text 83"/>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86" name="Text 84"/>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87" name="Shape 85"/>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88" name="Text 86"/>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9" name="Shape 87"/>
          <p:cNvSpPr/>
          <p:nvPr/>
        </p:nvSpPr>
        <p:spPr>
          <a:xfrm>
            <a:off x="91440" y="6092952"/>
            <a:ext cx="6016752" cy="1158240"/>
          </a:xfrm>
          <a:prstGeom prst="rect">
            <a:avLst/>
          </a:prstGeom>
          <a:solidFill>
            <a:srgbClr val="FFFFFF"/>
          </a:solidFill>
          <a:ln w="3175">
            <a:solidFill>
              <a:srgbClr val="E5E7EB"/>
            </a:solidFill>
            <a:prstDash val="solid"/>
          </a:ln>
        </p:spPr>
      </p:sp>
      <p:sp>
        <p:nvSpPr>
          <p:cNvPr id="90" name="Shape 88"/>
          <p:cNvSpPr/>
          <p:nvPr/>
        </p:nvSpPr>
        <p:spPr>
          <a:xfrm>
            <a:off x="91440" y="6092952"/>
            <a:ext cx="6016752" cy="0"/>
          </a:xfrm>
          <a:prstGeom prst="line">
            <a:avLst/>
          </a:prstGeom>
          <a:noFill/>
          <a:ln w="6350">
            <a:solidFill>
              <a:srgbClr val="E5E7EB"/>
            </a:solidFill>
            <a:prstDash val="solid"/>
          </a:ln>
        </p:spPr>
      </p:sp>
      <p:sp>
        <p:nvSpPr>
          <p:cNvPr id="91" name="Text 89"/>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92" name="Text 90"/>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93" name="Shape 91"/>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94" name="Text 92"/>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5" name="Shape 93"/>
          <p:cNvSpPr/>
          <p:nvPr/>
        </p:nvSpPr>
        <p:spPr>
          <a:xfrm>
            <a:off x="6236208" y="3502152"/>
            <a:ext cx="6016752" cy="3749040"/>
          </a:xfrm>
          <a:prstGeom prst="rect">
            <a:avLst/>
          </a:prstGeom>
          <a:solidFill>
            <a:srgbClr val="FAFBFC"/>
          </a:solidFill>
          <a:ln w="9525">
            <a:solidFill>
              <a:srgbClr val="D1D5DB"/>
            </a:solidFill>
            <a:prstDash val="solid"/>
          </a:ln>
        </p:spPr>
      </p:sp>
      <p:sp>
        <p:nvSpPr>
          <p:cNvPr id="96" name="Shape 94"/>
          <p:cNvSpPr/>
          <p:nvPr/>
        </p:nvSpPr>
        <p:spPr>
          <a:xfrm>
            <a:off x="6236208" y="3502152"/>
            <a:ext cx="6016752" cy="274320"/>
          </a:xfrm>
          <a:prstGeom prst="rect">
            <a:avLst/>
          </a:prstGeom>
          <a:solidFill>
            <a:srgbClr val="8ED973"/>
          </a:solidFill>
          <a:ln w="12700">
            <a:solidFill>
              <a:srgbClr val="8ED973"/>
            </a:solidFill>
            <a:prstDash val="solid"/>
          </a:ln>
        </p:spPr>
      </p:sp>
      <p:sp>
        <p:nvSpPr>
          <p:cNvPr id="97" name="Text 95"/>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98" name="Shape 96"/>
          <p:cNvSpPr/>
          <p:nvPr/>
        </p:nvSpPr>
        <p:spPr>
          <a:xfrm>
            <a:off x="6236208" y="3776472"/>
            <a:ext cx="6016752" cy="868680"/>
          </a:xfrm>
          <a:prstGeom prst="rect">
            <a:avLst/>
          </a:prstGeom>
          <a:solidFill>
            <a:srgbClr val="FFFFFF"/>
          </a:solidFill>
          <a:ln w="3175">
            <a:solidFill>
              <a:srgbClr val="E5E7EB"/>
            </a:solidFill>
            <a:prstDash val="solid"/>
          </a:ln>
        </p:spPr>
      </p:sp>
      <p:sp>
        <p:nvSpPr>
          <p:cNvPr id="99" name="Text 97"/>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100" name="Text 98"/>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101" name="Shape 99"/>
          <p:cNvSpPr/>
          <p:nvPr/>
        </p:nvSpPr>
        <p:spPr>
          <a:xfrm>
            <a:off x="11375136" y="4123944"/>
            <a:ext cx="822960" cy="173736"/>
          </a:xfrm>
          <a:prstGeom prst="roundRect">
            <a:avLst>
              <a:gd name="adj" fmla="val 15789"/>
            </a:avLst>
          </a:prstGeom>
          <a:solidFill>
            <a:srgbClr val="F3F4F6"/>
          </a:solidFill>
          <a:ln w="9525">
            <a:solidFill>
              <a:srgbClr val="D1D5DB"/>
            </a:solidFill>
            <a:prstDash val="solid"/>
          </a:ln>
        </p:spPr>
      </p:sp>
      <p:sp>
        <p:nvSpPr>
          <p:cNvPr id="102" name="Text 100"/>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103" name="Shape 101"/>
          <p:cNvSpPr/>
          <p:nvPr/>
        </p:nvSpPr>
        <p:spPr>
          <a:xfrm>
            <a:off x="6236208" y="4645152"/>
            <a:ext cx="6016752" cy="0"/>
          </a:xfrm>
          <a:prstGeom prst="line">
            <a:avLst/>
          </a:prstGeom>
          <a:noFill/>
          <a:ln w="6350">
            <a:solidFill>
              <a:srgbClr val="E5E7EB"/>
            </a:solidFill>
            <a:prstDash val="solid"/>
          </a:ln>
        </p:spPr>
      </p:sp>
      <p:sp>
        <p:nvSpPr>
          <p:cNvPr id="104" name="Text 102"/>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105" name="Text 103"/>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106" name="Shape 104"/>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8" name="Shape 106"/>
          <p:cNvSpPr/>
          <p:nvPr/>
        </p:nvSpPr>
        <p:spPr>
          <a:xfrm>
            <a:off x="6236208" y="5513832"/>
            <a:ext cx="6016752" cy="868680"/>
          </a:xfrm>
          <a:prstGeom prst="rect">
            <a:avLst/>
          </a:prstGeom>
          <a:solidFill>
            <a:srgbClr val="FFFFFF"/>
          </a:solidFill>
          <a:ln w="3175">
            <a:solidFill>
              <a:srgbClr val="E5E7EB"/>
            </a:solidFill>
            <a:prstDash val="solid"/>
          </a:ln>
        </p:spPr>
      </p:sp>
      <p:sp>
        <p:nvSpPr>
          <p:cNvPr id="109" name="Shape 107"/>
          <p:cNvSpPr/>
          <p:nvPr/>
        </p:nvSpPr>
        <p:spPr>
          <a:xfrm>
            <a:off x="6236208" y="5513832"/>
            <a:ext cx="6016752" cy="0"/>
          </a:xfrm>
          <a:prstGeom prst="line">
            <a:avLst/>
          </a:prstGeom>
          <a:noFill/>
          <a:ln w="6350">
            <a:solidFill>
              <a:srgbClr val="E5E7EB"/>
            </a:solidFill>
            <a:prstDash val="solid"/>
          </a:ln>
        </p:spPr>
      </p:sp>
      <p:sp>
        <p:nvSpPr>
          <p:cNvPr id="110" name="Text 108"/>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11" name="Text 109"/>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12" name="Shape 110"/>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13" name="Text 111"/>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14" name="Shape 112"/>
          <p:cNvSpPr/>
          <p:nvPr/>
        </p:nvSpPr>
        <p:spPr>
          <a:xfrm>
            <a:off x="6236208" y="6382512"/>
            <a:ext cx="6016752" cy="0"/>
          </a:xfrm>
          <a:prstGeom prst="line">
            <a:avLst/>
          </a:prstGeom>
          <a:noFill/>
          <a:ln w="6350">
            <a:solidFill>
              <a:srgbClr val="E5E7EB"/>
            </a:solidFill>
            <a:prstDash val="solid"/>
          </a:ln>
        </p:spPr>
      </p:sp>
      <p:sp>
        <p:nvSpPr>
          <p:cNvPr id="115" name="Text 113"/>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16" name="Text 114"/>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17" name="Shape 115"/>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18" name="Text 116"/>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DCFCE7"/>
          </a:solidFill>
          <a:ln w="12700">
            <a:solidFill>
              <a:srgbClr val="15803D"/>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15%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13%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2026-08-06T03:33:11Z</dcterms:created>
  <dcterms:modified xsi:type="dcterms:W3CDTF">2026-08-06T03:33:11Z</dcterms:modified>
</cp:coreProperties>
</file>