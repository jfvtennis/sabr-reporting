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344400" cy="7315200"/>
  <p:notesSz cx="7315200" cy="12344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68580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7315200" y="0"/>
            <a:ext cx="4754880" cy="457200"/>
          </a:xfrm>
          <a:prstGeom prst="rect">
            <a:avLst/>
          </a:prstGeom>
          <a:noFill/>
          <a:ln/>
        </p:spPr>
        <p:txBody>
          <a:bodyPr wrap="square" lIns="0" tIns="0" rIns="0" bIns="0" rtlCol="0" anchor="ctr"/>
          <a:lstStyle/>
          <a:p>
            <a:pPr algn="r" indent="0" marL="0">
              <a:buNone/>
            </a:pPr>
            <a:r>
              <a:rPr lang="en-US" sz="1100" dirty="0">
                <a:solidFill>
                  <a:srgbClr val="388849"/>
                </a:solidFill>
              </a:rPr>
              <a:t>This Week  ·  Jul 17, 2026</a:t>
            </a:r>
            <a:endParaRPr lang="en-US" sz="1100" dirty="0"/>
          </a:p>
        </p:txBody>
      </p:sp>
      <p:sp>
        <p:nvSpPr>
          <p:cNvPr id="5" name="Shape 3"/>
          <p:cNvSpPr/>
          <p:nvPr/>
        </p:nvSpPr>
        <p:spPr>
          <a:xfrm>
            <a:off x="0" y="457200"/>
            <a:ext cx="12344400" cy="274320"/>
          </a:xfrm>
          <a:prstGeom prst="rect">
            <a:avLst/>
          </a:prstGeom>
          <a:solidFill>
            <a:srgbClr val="EFF7F3"/>
          </a:solidFill>
          <a:ln w="12700">
            <a:solidFill>
              <a:srgbClr val="CCE4D8"/>
            </a:solidFill>
            <a:prstDash val="solid"/>
          </a:ln>
        </p:spPr>
      </p:sp>
      <p:sp>
        <p:nvSpPr>
          <p:cNvPr id="6" name="Text 4"/>
          <p:cNvSpPr/>
          <p:nvPr/>
        </p:nvSpPr>
        <p:spPr>
          <a:xfrm>
            <a:off x="201168" y="457200"/>
            <a:ext cx="5486400" cy="274320"/>
          </a:xfrm>
          <a:prstGeom prst="rect">
            <a:avLst/>
          </a:prstGeom>
          <a:noFill/>
          <a:ln/>
        </p:spPr>
        <p:txBody>
          <a:bodyPr wrap="square" lIns="0" tIns="0" rIns="0" bIns="0" rtlCol="0" anchor="ctr"/>
          <a:lstStyle/>
          <a:p>
            <a:pPr algn="l" indent="0" marL="0">
              <a:buNone/>
            </a:pPr>
            <a:r>
              <a:rPr lang="en-US" sz="1100" b="1" dirty="0">
                <a:solidFill>
                  <a:srgbClr val="388849"/>
                </a:solidFill>
              </a:rPr>
              <a:t>Jul 17, 2026 Update</a:t>
            </a:r>
            <a:endParaRPr lang="en-US" sz="1100" dirty="0"/>
          </a:p>
        </p:txBody>
      </p:sp>
      <p:sp>
        <p:nvSpPr>
          <p:cNvPr id="7" name="Text 5"/>
          <p:cNvSpPr/>
          <p:nvPr/>
        </p:nvSpPr>
        <p:spPr>
          <a:xfrm>
            <a:off x="5943600" y="457200"/>
            <a:ext cx="5943600" cy="274320"/>
          </a:xfrm>
          <a:prstGeom prst="rect">
            <a:avLst/>
          </a:prstGeom>
          <a:noFill/>
          <a:ln/>
        </p:spPr>
        <p:txBody>
          <a:bodyPr wrap="square" lIns="0" tIns="0" rIns="0" bIns="0" rtlCol="0" anchor="ctr"/>
          <a:lstStyle/>
          <a:p>
            <a:pPr algn="r" indent="0" marL="0">
              <a:buNone/>
            </a:pPr>
            <a:r>
              <a:rPr lang="en-US" sz="900" dirty="0">
                <a:solidFill>
                  <a:srgbClr val="374151"/>
                </a:solidFill>
              </a:rPr>
              <a:t>Beta: Sep 30, 2026  ·  75 days remaining</a:t>
            </a:r>
            <a:endParaRPr lang="en-US" sz="900" dirty="0"/>
          </a:p>
        </p:txBody>
      </p:sp>
      <p:sp>
        <p:nvSpPr>
          <p:cNvPr id="8" name="Shape 6"/>
          <p:cNvSpPr/>
          <p:nvPr/>
        </p:nvSpPr>
        <p:spPr>
          <a:xfrm>
            <a:off x="164592" y="822960"/>
            <a:ext cx="12015216" cy="6035040"/>
          </a:xfrm>
          <a:prstGeom prst="rect">
            <a:avLst/>
          </a:prstGeom>
          <a:solidFill>
            <a:srgbClr val="FAFCFB"/>
          </a:solidFill>
          <a:ln w="9525">
            <a:solidFill>
              <a:srgbClr val="D8EDE3"/>
            </a:solidFill>
            <a:prstDash val="solid"/>
          </a:ln>
        </p:spPr>
      </p:sp>
      <p:sp>
        <p:nvSpPr>
          <p:cNvPr id="9" name="Text 7"/>
          <p:cNvSpPr/>
          <p:nvPr/>
        </p:nvSpPr>
        <p:spPr>
          <a:xfrm>
            <a:off x="274320" y="896112"/>
            <a:ext cx="11795760" cy="5888736"/>
          </a:xfrm>
          <a:prstGeom prst="rect">
            <a:avLst/>
          </a:prstGeom>
          <a:noFill/>
          <a:ln/>
        </p:spPr>
        <p:txBody>
          <a:bodyPr wrap="square" lIns="101600" tIns="101600" rIns="101600" bIns="101600" rtlCol="0" anchor="t"/>
          <a:lstStyle/>
          <a:p>
            <a:pPr algn="l" indent="0" marL="0">
              <a:buNone/>
            </a:pPr>
            <a:r>
              <a:rPr lang="en-US" sz="900" i="1" dirty="0">
                <a:solidFill>
                  <a:srgbClr val="9CA3AF"/>
                </a:solidFill>
              </a:rPr>
              <a:t>(No narrative for this week — run generate_cpr_narrative.py to populate from meeting notes)</a:t>
            </a:r>
            <a:endParaRPr lang="en-US" sz="900" dirty="0"/>
          </a:p>
        </p:txBody>
      </p:sp>
      <p:sp>
        <p:nvSpPr>
          <p:cNvPr id="10" name="Shape 8"/>
          <p:cNvSpPr/>
          <p:nvPr/>
        </p:nvSpPr>
        <p:spPr>
          <a:xfrm>
            <a:off x="0" y="6876288"/>
            <a:ext cx="12344400" cy="438912"/>
          </a:xfrm>
          <a:prstGeom prst="rect">
            <a:avLst/>
          </a:prstGeom>
          <a:solidFill>
            <a:srgbClr val="F4F6F8"/>
          </a:solidFill>
          <a:ln w="12700">
            <a:solidFill>
              <a:srgbClr val="D1D5DB"/>
            </a:solidFill>
            <a:prstDash val="solid"/>
          </a:ln>
        </p:spPr>
      </p:sp>
      <p:sp>
        <p:nvSpPr>
          <p:cNvPr id="11" name="Text 9"/>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2" name="Text 10"/>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6% Ready</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68580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7315200" y="0"/>
            <a:ext cx="4754880" cy="457200"/>
          </a:xfrm>
          <a:prstGeom prst="rect">
            <a:avLst/>
          </a:prstGeom>
          <a:noFill/>
          <a:ln/>
        </p:spPr>
        <p:txBody>
          <a:bodyPr wrap="square" lIns="0" tIns="0" rIns="0" bIns="0" rtlCol="0" anchor="ctr"/>
          <a:lstStyle/>
          <a:p>
            <a:pPr algn="r" indent="0" marL="0">
              <a:buNone/>
            </a:pPr>
            <a:r>
              <a:rPr lang="en-US" sz="1100" dirty="0">
                <a:solidFill>
                  <a:srgbClr val="388849"/>
                </a:solidFill>
              </a:rPr>
              <a:t>Critical Gates  ·  Jul 17, 2026</a:t>
            </a:r>
            <a:endParaRPr lang="en-US" sz="1100" dirty="0"/>
          </a:p>
        </p:txBody>
      </p:sp>
      <p:sp>
        <p:nvSpPr>
          <p:cNvPr id="5" name="Shape 3"/>
          <p:cNvSpPr/>
          <p:nvPr/>
        </p:nvSpPr>
        <p:spPr>
          <a:xfrm>
            <a:off x="91440" y="502920"/>
            <a:ext cx="6016752" cy="2926080"/>
          </a:xfrm>
          <a:prstGeom prst="rect">
            <a:avLst/>
          </a:prstGeom>
          <a:solidFill>
            <a:srgbClr val="FAFBFC"/>
          </a:solidFill>
          <a:ln w="9525">
            <a:solidFill>
              <a:srgbClr val="D1D5DB"/>
            </a:solidFill>
            <a:prstDash val="solid"/>
          </a:ln>
        </p:spPr>
      </p:sp>
      <p:sp>
        <p:nvSpPr>
          <p:cNvPr id="6" name="Shape 4"/>
          <p:cNvSpPr/>
          <p:nvPr/>
        </p:nvSpPr>
        <p:spPr>
          <a:xfrm>
            <a:off x="91440" y="502920"/>
            <a:ext cx="6016752" cy="274320"/>
          </a:xfrm>
          <a:prstGeom prst="rect">
            <a:avLst/>
          </a:prstGeom>
          <a:solidFill>
            <a:srgbClr val="8ED973"/>
          </a:solidFill>
          <a:ln w="12700">
            <a:solidFill>
              <a:srgbClr val="8ED973"/>
            </a:solidFill>
            <a:prstDash val="solid"/>
          </a:ln>
        </p:spPr>
      </p:sp>
      <p:sp>
        <p:nvSpPr>
          <p:cNvPr id="7" name="Text 5"/>
          <p:cNvSpPr/>
          <p:nvPr/>
        </p:nvSpPr>
        <p:spPr>
          <a:xfrm>
            <a:off x="201168"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Vendor / Contract</a:t>
            </a:r>
            <a:endParaRPr lang="en-US" sz="900" dirty="0"/>
          </a:p>
        </p:txBody>
      </p:sp>
      <p:sp>
        <p:nvSpPr>
          <p:cNvPr id="8" name="Shape 6"/>
          <p:cNvSpPr/>
          <p:nvPr/>
        </p:nvSpPr>
        <p:spPr>
          <a:xfrm>
            <a:off x="91440" y="777240"/>
            <a:ext cx="6016752" cy="530352"/>
          </a:xfrm>
          <a:prstGeom prst="rect">
            <a:avLst/>
          </a:prstGeom>
          <a:solidFill>
            <a:srgbClr val="FFFFFF"/>
          </a:solidFill>
          <a:ln w="3175">
            <a:solidFill>
              <a:srgbClr val="E5E7EB"/>
            </a:solidFill>
            <a:prstDash val="solid"/>
          </a:ln>
        </p:spPr>
      </p:sp>
      <p:sp>
        <p:nvSpPr>
          <p:cNvPr id="9" name="Text 7"/>
          <p:cNvSpPr/>
          <p:nvPr/>
        </p:nvSpPr>
        <p:spPr>
          <a:xfrm>
            <a:off x="164592" y="795528"/>
            <a:ext cx="777240" cy="493776"/>
          </a:xfrm>
          <a:prstGeom prst="rect">
            <a:avLst/>
          </a:prstGeom>
          <a:noFill/>
          <a:ln/>
        </p:spPr>
        <p:txBody>
          <a:bodyPr wrap="square" lIns="0" tIns="0" rIns="0" bIns="0" rtlCol="0" anchor="ctr"/>
          <a:lstStyle/>
          <a:p>
            <a:pPr indent="0" marL="0">
              <a:buNone/>
            </a:pPr>
            <a:r>
              <a:rPr lang="en-US" sz="750" b="1" dirty="0">
                <a:solidFill>
                  <a:srgbClr val="1F2937"/>
                </a:solidFill>
              </a:rPr>
              <a:t>Bitmovin</a:t>
            </a:r>
            <a:endParaRPr lang="en-US" sz="750" dirty="0"/>
          </a:p>
        </p:txBody>
      </p:sp>
      <p:sp>
        <p:nvSpPr>
          <p:cNvPr id="10" name="Text 8"/>
          <p:cNvSpPr/>
          <p:nvPr/>
        </p:nvSpPr>
        <p:spPr>
          <a:xfrm>
            <a:off x="960120" y="804672"/>
            <a:ext cx="4178808" cy="475488"/>
          </a:xfrm>
          <a:prstGeom prst="rect">
            <a:avLst/>
          </a:prstGeom>
          <a:noFill/>
          <a:ln/>
        </p:spPr>
        <p:txBody>
          <a:bodyPr wrap="square" lIns="0" tIns="0" rIns="0" bIns="0" rtlCol="0" anchor="t"/>
          <a:lstStyle/>
          <a:p>
            <a:pPr indent="0" marL="0">
              <a:buNone/>
            </a:pPr>
            <a:r>
              <a:rPr lang="en-US" sz="650" dirty="0">
                <a:solidFill>
                  <a:srgbClr val="374151"/>
                </a:solidFill>
              </a:rPr>
              <a:t>Contract signed 7/15.</a:t>
            </a:r>
            <a:endParaRPr lang="en-US" sz="650" dirty="0"/>
          </a:p>
        </p:txBody>
      </p:sp>
      <p:sp>
        <p:nvSpPr>
          <p:cNvPr id="11" name="Shape 9"/>
          <p:cNvSpPr/>
          <p:nvPr/>
        </p:nvSpPr>
        <p:spPr>
          <a:xfrm>
            <a:off x="5230368" y="955548"/>
            <a:ext cx="822960" cy="173736"/>
          </a:xfrm>
          <a:prstGeom prst="roundRect">
            <a:avLst>
              <a:gd name="adj" fmla="val 15789"/>
            </a:avLst>
          </a:prstGeom>
          <a:solidFill>
            <a:srgbClr val="CFFAFE"/>
          </a:solidFill>
          <a:ln w="12700">
            <a:solidFill>
              <a:srgbClr val="0E7490"/>
            </a:solidFill>
            <a:prstDash val="solid"/>
          </a:ln>
        </p:spPr>
      </p:sp>
      <p:sp>
        <p:nvSpPr>
          <p:cNvPr id="12" name="Text 10"/>
          <p:cNvSpPr/>
          <p:nvPr/>
        </p:nvSpPr>
        <p:spPr>
          <a:xfrm>
            <a:off x="5230368" y="955548"/>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13" name="Shape 11"/>
          <p:cNvSpPr/>
          <p:nvPr/>
        </p:nvSpPr>
        <p:spPr>
          <a:xfrm>
            <a:off x="91440" y="1307592"/>
            <a:ext cx="6016752" cy="0"/>
          </a:xfrm>
          <a:prstGeom prst="line">
            <a:avLst/>
          </a:prstGeom>
          <a:noFill/>
          <a:ln w="6350">
            <a:solidFill>
              <a:srgbClr val="E5E7EB"/>
            </a:solidFill>
            <a:prstDash val="solid"/>
          </a:ln>
        </p:spPr>
      </p:sp>
      <p:sp>
        <p:nvSpPr>
          <p:cNvPr id="14" name="Text 12"/>
          <p:cNvSpPr/>
          <p:nvPr/>
        </p:nvSpPr>
        <p:spPr>
          <a:xfrm>
            <a:off x="164592" y="1325880"/>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Adobe</a:t>
            </a:r>
            <a:endParaRPr lang="en-US" sz="750" dirty="0"/>
          </a:p>
        </p:txBody>
      </p:sp>
      <p:sp>
        <p:nvSpPr>
          <p:cNvPr id="15" name="Text 13"/>
          <p:cNvSpPr/>
          <p:nvPr/>
        </p:nvSpPr>
        <p:spPr>
          <a:xfrm>
            <a:off x="960120" y="1335024"/>
            <a:ext cx="4178808" cy="475488"/>
          </a:xfrm>
          <a:prstGeom prst="rect">
            <a:avLst/>
          </a:prstGeom>
          <a:noFill/>
          <a:ln/>
        </p:spPr>
        <p:txBody>
          <a:bodyPr wrap="square" lIns="0" tIns="0" rIns="0" bIns="0" rtlCol="0" anchor="t"/>
          <a:lstStyle/>
          <a:p>
            <a:pPr indent="0" marL="0">
              <a:buNone/>
            </a:pPr>
            <a:r>
              <a:rPr lang="en-US" sz="650" dirty="0">
                <a:solidFill>
                  <a:srgbClr val="374151"/>
                </a:solidFill>
              </a:rPr>
              <a:t>We are good. Just need to find out who owns the original contract and review renewal dates. Keff owns.</a:t>
            </a:r>
            <a:endParaRPr lang="en-US" sz="650" dirty="0"/>
          </a:p>
        </p:txBody>
      </p:sp>
      <p:sp>
        <p:nvSpPr>
          <p:cNvPr id="16" name="Shape 14"/>
          <p:cNvSpPr/>
          <p:nvPr/>
        </p:nvSpPr>
        <p:spPr>
          <a:xfrm>
            <a:off x="5230368" y="1485900"/>
            <a:ext cx="822960" cy="173736"/>
          </a:xfrm>
          <a:prstGeom prst="roundRect">
            <a:avLst>
              <a:gd name="adj" fmla="val 15789"/>
            </a:avLst>
          </a:prstGeom>
          <a:solidFill>
            <a:srgbClr val="CFFAFE"/>
          </a:solidFill>
          <a:ln w="12700">
            <a:solidFill>
              <a:srgbClr val="0E7490"/>
            </a:solidFill>
            <a:prstDash val="solid"/>
          </a:ln>
        </p:spPr>
      </p:sp>
      <p:sp>
        <p:nvSpPr>
          <p:cNvPr id="17" name="Text 15"/>
          <p:cNvSpPr/>
          <p:nvPr/>
        </p:nvSpPr>
        <p:spPr>
          <a:xfrm>
            <a:off x="5230368" y="1485900"/>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18" name="Shape 16"/>
          <p:cNvSpPr/>
          <p:nvPr/>
        </p:nvSpPr>
        <p:spPr>
          <a:xfrm>
            <a:off x="91440" y="1837944"/>
            <a:ext cx="6016752" cy="530352"/>
          </a:xfrm>
          <a:prstGeom prst="rect">
            <a:avLst/>
          </a:prstGeom>
          <a:solidFill>
            <a:srgbClr val="FFFFFF"/>
          </a:solidFill>
          <a:ln w="3175">
            <a:solidFill>
              <a:srgbClr val="E5E7EB"/>
            </a:solidFill>
            <a:prstDash val="solid"/>
          </a:ln>
        </p:spPr>
      </p:sp>
      <p:sp>
        <p:nvSpPr>
          <p:cNvPr id="19" name="Shape 17"/>
          <p:cNvSpPr/>
          <p:nvPr/>
        </p:nvSpPr>
        <p:spPr>
          <a:xfrm>
            <a:off x="91440" y="1837944"/>
            <a:ext cx="6016752" cy="0"/>
          </a:xfrm>
          <a:prstGeom prst="line">
            <a:avLst/>
          </a:prstGeom>
          <a:noFill/>
          <a:ln w="6350">
            <a:solidFill>
              <a:srgbClr val="E5E7EB"/>
            </a:solidFill>
            <a:prstDash val="solid"/>
          </a:ln>
        </p:spPr>
      </p:sp>
      <p:sp>
        <p:nvSpPr>
          <p:cNvPr id="20" name="Text 18"/>
          <p:cNvSpPr/>
          <p:nvPr/>
        </p:nvSpPr>
        <p:spPr>
          <a:xfrm>
            <a:off x="164592" y="1856232"/>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Amagi SOW</a:t>
            </a:r>
            <a:endParaRPr lang="en-US" sz="750" dirty="0"/>
          </a:p>
        </p:txBody>
      </p:sp>
      <p:sp>
        <p:nvSpPr>
          <p:cNvPr id="21" name="Text 19"/>
          <p:cNvSpPr/>
          <p:nvPr/>
        </p:nvSpPr>
        <p:spPr>
          <a:xfrm>
            <a:off x="960120" y="1865376"/>
            <a:ext cx="4178808" cy="475488"/>
          </a:xfrm>
          <a:prstGeom prst="rect">
            <a:avLst/>
          </a:prstGeom>
          <a:noFill/>
          <a:ln/>
        </p:spPr>
        <p:txBody>
          <a:bodyPr wrap="square" lIns="0" tIns="0" rIns="0" bIns="0" rtlCol="0" anchor="t"/>
          <a:lstStyle/>
          <a:p>
            <a:pPr indent="0" marL="0">
              <a:buNone/>
            </a:pPr>
            <a:r>
              <a:rPr lang="en-US" sz="650" dirty="0">
                <a:solidFill>
                  <a:srgbClr val="374151"/>
                </a:solidFill>
              </a:rPr>
              <a:t>M15 and Highlights will deliver via Amagi. Back-catalog VOD through Aspera; newer content (S3) handled separately. Amagi generating public key for Roku credential exchange.</a:t>
            </a:r>
            <a:endParaRPr lang="en-US" sz="650" dirty="0"/>
          </a:p>
        </p:txBody>
      </p:sp>
      <p:sp>
        <p:nvSpPr>
          <p:cNvPr id="22" name="Shape 20"/>
          <p:cNvSpPr/>
          <p:nvPr/>
        </p:nvSpPr>
        <p:spPr>
          <a:xfrm>
            <a:off x="5230368" y="2016252"/>
            <a:ext cx="822960" cy="173736"/>
          </a:xfrm>
          <a:prstGeom prst="roundRect">
            <a:avLst>
              <a:gd name="adj" fmla="val 15789"/>
            </a:avLst>
          </a:prstGeom>
          <a:solidFill>
            <a:srgbClr val="1558A8"/>
          </a:solidFill>
          <a:ln w="12700">
            <a:solidFill>
              <a:srgbClr val="1558A8"/>
            </a:solidFill>
            <a:prstDash val="solid"/>
          </a:ln>
        </p:spPr>
      </p:sp>
      <p:sp>
        <p:nvSpPr>
          <p:cNvPr id="23" name="Text 21"/>
          <p:cNvSpPr/>
          <p:nvPr/>
        </p:nvSpPr>
        <p:spPr>
          <a:xfrm>
            <a:off x="5230368" y="201625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24" name="Shape 22"/>
          <p:cNvSpPr/>
          <p:nvPr/>
        </p:nvSpPr>
        <p:spPr>
          <a:xfrm>
            <a:off x="91440" y="2368296"/>
            <a:ext cx="6016752" cy="0"/>
          </a:xfrm>
          <a:prstGeom prst="line">
            <a:avLst/>
          </a:prstGeom>
          <a:noFill/>
          <a:ln w="6350">
            <a:solidFill>
              <a:srgbClr val="E5E7EB"/>
            </a:solidFill>
            <a:prstDash val="solid"/>
          </a:ln>
        </p:spPr>
      </p:sp>
      <p:sp>
        <p:nvSpPr>
          <p:cNvPr id="25" name="Text 23"/>
          <p:cNvSpPr/>
          <p:nvPr/>
        </p:nvSpPr>
        <p:spPr>
          <a:xfrm>
            <a:off x="164592" y="2386584"/>
            <a:ext cx="777240" cy="493776"/>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26" name="Text 24"/>
          <p:cNvSpPr/>
          <p:nvPr/>
        </p:nvSpPr>
        <p:spPr>
          <a:xfrm>
            <a:off x="960120" y="2395728"/>
            <a:ext cx="4178808" cy="475488"/>
          </a:xfrm>
          <a:prstGeom prst="rect">
            <a:avLst/>
          </a:prstGeom>
          <a:noFill/>
          <a:ln/>
        </p:spPr>
        <p:txBody>
          <a:bodyPr wrap="square" lIns="0" tIns="0" rIns="0" bIns="0" rtlCol="0" anchor="t"/>
          <a:lstStyle/>
          <a:p>
            <a:pPr indent="0" marL="0">
              <a:buNone/>
            </a:pPr>
            <a:r>
              <a:rPr lang="en-US" sz="650" dirty="0">
                <a:solidFill>
                  <a:srgbClr val="374151"/>
                </a:solidFill>
              </a:rPr>
              <a:t>Integration ongoing. TV cert submission tied to November 1 deadline. UX change catalog being drafted for Foxxum coordination. Contract signature unconfirmed as of 7/15.</a:t>
            </a:r>
            <a:endParaRPr lang="en-US" sz="650" dirty="0"/>
          </a:p>
        </p:txBody>
      </p:sp>
      <p:sp>
        <p:nvSpPr>
          <p:cNvPr id="27" name="Shape 25"/>
          <p:cNvSpPr/>
          <p:nvPr/>
        </p:nvSpPr>
        <p:spPr>
          <a:xfrm>
            <a:off x="5230368" y="2546604"/>
            <a:ext cx="822960" cy="173736"/>
          </a:xfrm>
          <a:prstGeom prst="roundRect">
            <a:avLst>
              <a:gd name="adj" fmla="val 15789"/>
            </a:avLst>
          </a:prstGeom>
          <a:solidFill>
            <a:srgbClr val="1558A8"/>
          </a:solidFill>
          <a:ln w="12700">
            <a:solidFill>
              <a:srgbClr val="1558A8"/>
            </a:solidFill>
            <a:prstDash val="solid"/>
          </a:ln>
        </p:spPr>
      </p:sp>
      <p:sp>
        <p:nvSpPr>
          <p:cNvPr id="28" name="Text 26"/>
          <p:cNvSpPr/>
          <p:nvPr/>
        </p:nvSpPr>
        <p:spPr>
          <a:xfrm>
            <a:off x="5230368" y="25466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29" name="Shape 27"/>
          <p:cNvSpPr/>
          <p:nvPr/>
        </p:nvSpPr>
        <p:spPr>
          <a:xfrm>
            <a:off x="91440" y="2898648"/>
            <a:ext cx="6016752" cy="530352"/>
          </a:xfrm>
          <a:prstGeom prst="rect">
            <a:avLst/>
          </a:prstGeom>
          <a:solidFill>
            <a:srgbClr val="FFFFFF"/>
          </a:solidFill>
          <a:ln w="3175">
            <a:solidFill>
              <a:srgbClr val="E5E7EB"/>
            </a:solidFill>
            <a:prstDash val="solid"/>
          </a:ln>
        </p:spPr>
      </p:sp>
      <p:sp>
        <p:nvSpPr>
          <p:cNvPr id="30" name="Shape 28"/>
          <p:cNvSpPr/>
          <p:nvPr/>
        </p:nvSpPr>
        <p:spPr>
          <a:xfrm>
            <a:off x="91440" y="2898648"/>
            <a:ext cx="6016752" cy="0"/>
          </a:xfrm>
          <a:prstGeom prst="line">
            <a:avLst/>
          </a:prstGeom>
          <a:noFill/>
          <a:ln w="6350">
            <a:solidFill>
              <a:srgbClr val="E5E7EB"/>
            </a:solidFill>
            <a:prstDash val="solid"/>
          </a:ln>
        </p:spPr>
      </p:sp>
      <p:sp>
        <p:nvSpPr>
          <p:cNvPr id="31" name="Text 29"/>
          <p:cNvSpPr/>
          <p:nvPr/>
        </p:nvSpPr>
        <p:spPr>
          <a:xfrm>
            <a:off x="164592" y="2916936"/>
            <a:ext cx="777240" cy="493776"/>
          </a:xfrm>
          <a:prstGeom prst="rect">
            <a:avLst/>
          </a:prstGeom>
          <a:noFill/>
          <a:ln/>
        </p:spPr>
        <p:txBody>
          <a:bodyPr wrap="square" lIns="0" tIns="0" rIns="0" bIns="0" rtlCol="0" anchor="ctr"/>
          <a:lstStyle/>
          <a:p>
            <a:pPr indent="0" marL="0">
              <a:buNone/>
            </a:pPr>
            <a:r>
              <a:rPr lang="en-US" sz="750" b="1" dirty="0">
                <a:solidFill>
                  <a:srgbClr val="1F2937"/>
                </a:solidFill>
              </a:rPr>
              <a:t>SR Data</a:t>
            </a:r>
            <a:endParaRPr lang="en-US" sz="750" dirty="0"/>
          </a:p>
        </p:txBody>
      </p:sp>
      <p:sp>
        <p:nvSpPr>
          <p:cNvPr id="32" name="Text 30"/>
          <p:cNvSpPr/>
          <p:nvPr/>
        </p:nvSpPr>
        <p:spPr>
          <a:xfrm>
            <a:off x="960120" y="2926080"/>
            <a:ext cx="4178808" cy="475488"/>
          </a:xfrm>
          <a:prstGeom prst="rect">
            <a:avLst/>
          </a:prstGeom>
          <a:noFill/>
          <a:ln/>
        </p:spPr>
        <p:txBody>
          <a:bodyPr wrap="square" lIns="0" tIns="0" rIns="0" bIns="0" rtlCol="0" anchor="t"/>
          <a:lstStyle/>
          <a:p>
            <a:pPr indent="0" marL="0">
              <a:buNone/>
            </a:pPr>
            <a:r>
              <a:rPr lang="en-US" sz="650" dirty="0">
                <a:solidFill>
                  <a:srgbClr val="374151"/>
                </a:solidFill>
              </a:rPr>
              <a:t>Bulk VOD ingest of 30,000+ assets planned. Manual media ingest workflow for content team (non-bulk uploads). VOD replace/hide workaround in place as interim solution.</a:t>
            </a:r>
            <a:endParaRPr lang="en-US" sz="650" dirty="0"/>
          </a:p>
        </p:txBody>
      </p:sp>
      <p:sp>
        <p:nvSpPr>
          <p:cNvPr id="33" name="Shape 31"/>
          <p:cNvSpPr/>
          <p:nvPr/>
        </p:nvSpPr>
        <p:spPr>
          <a:xfrm>
            <a:off x="5230368" y="3076956"/>
            <a:ext cx="822960" cy="173736"/>
          </a:xfrm>
          <a:prstGeom prst="roundRect">
            <a:avLst>
              <a:gd name="adj" fmla="val 15789"/>
            </a:avLst>
          </a:prstGeom>
          <a:solidFill>
            <a:srgbClr val="1558A8"/>
          </a:solidFill>
          <a:ln w="12700">
            <a:solidFill>
              <a:srgbClr val="1558A8"/>
            </a:solidFill>
            <a:prstDash val="solid"/>
          </a:ln>
        </p:spPr>
      </p:sp>
      <p:sp>
        <p:nvSpPr>
          <p:cNvPr id="34" name="Text 32"/>
          <p:cNvSpPr/>
          <p:nvPr/>
        </p:nvSpPr>
        <p:spPr>
          <a:xfrm>
            <a:off x="5230368" y="3076956"/>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35" name="Shape 33"/>
          <p:cNvSpPr/>
          <p:nvPr/>
        </p:nvSpPr>
        <p:spPr>
          <a:xfrm>
            <a:off x="6236208" y="502920"/>
            <a:ext cx="6016752" cy="2926080"/>
          </a:xfrm>
          <a:prstGeom prst="rect">
            <a:avLst/>
          </a:prstGeom>
          <a:solidFill>
            <a:srgbClr val="FAFBFC"/>
          </a:solidFill>
          <a:ln w="9525">
            <a:solidFill>
              <a:srgbClr val="D1D5DB"/>
            </a:solidFill>
            <a:prstDash val="solid"/>
          </a:ln>
        </p:spPr>
      </p:sp>
      <p:sp>
        <p:nvSpPr>
          <p:cNvPr id="36" name="Shape 34"/>
          <p:cNvSpPr/>
          <p:nvPr/>
        </p:nvSpPr>
        <p:spPr>
          <a:xfrm>
            <a:off x="6236208" y="502920"/>
            <a:ext cx="6016752" cy="274320"/>
          </a:xfrm>
          <a:prstGeom prst="rect">
            <a:avLst/>
          </a:prstGeom>
          <a:solidFill>
            <a:srgbClr val="8ED973"/>
          </a:solidFill>
          <a:ln w="12700">
            <a:solidFill>
              <a:srgbClr val="8ED973"/>
            </a:solidFill>
            <a:prstDash val="solid"/>
          </a:ln>
        </p:spPr>
      </p:sp>
      <p:sp>
        <p:nvSpPr>
          <p:cNvPr id="37" name="Text 35"/>
          <p:cNvSpPr/>
          <p:nvPr/>
        </p:nvSpPr>
        <p:spPr>
          <a:xfrm>
            <a:off x="6345936"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Shared Infrastructure &amp; Dev Tooling</a:t>
            </a:r>
            <a:endParaRPr lang="en-US" sz="900" dirty="0"/>
          </a:p>
        </p:txBody>
      </p:sp>
      <p:sp>
        <p:nvSpPr>
          <p:cNvPr id="38" name="Shape 36"/>
          <p:cNvSpPr/>
          <p:nvPr/>
        </p:nvSpPr>
        <p:spPr>
          <a:xfrm>
            <a:off x="6236208" y="777240"/>
            <a:ext cx="6016752" cy="530352"/>
          </a:xfrm>
          <a:prstGeom prst="rect">
            <a:avLst/>
          </a:prstGeom>
          <a:solidFill>
            <a:srgbClr val="FFFFFF"/>
          </a:solidFill>
          <a:ln w="3175">
            <a:solidFill>
              <a:srgbClr val="E5E7EB"/>
            </a:solidFill>
            <a:prstDash val="solid"/>
          </a:ln>
        </p:spPr>
      </p:sp>
      <p:sp>
        <p:nvSpPr>
          <p:cNvPr id="39" name="Text 37"/>
          <p:cNvSpPr/>
          <p:nvPr/>
        </p:nvSpPr>
        <p:spPr>
          <a:xfrm>
            <a:off x="6309360" y="795528"/>
            <a:ext cx="777240" cy="493776"/>
          </a:xfrm>
          <a:prstGeom prst="rect">
            <a:avLst/>
          </a:prstGeom>
          <a:noFill/>
          <a:ln/>
        </p:spPr>
        <p:txBody>
          <a:bodyPr wrap="square" lIns="0" tIns="0" rIns="0" bIns="0" rtlCol="0" anchor="ctr"/>
          <a:lstStyle/>
          <a:p>
            <a:pPr indent="0" marL="0">
              <a:buNone/>
            </a:pPr>
            <a:r>
              <a:rPr lang="en-US" sz="750" b="1" dirty="0">
                <a:solidFill>
                  <a:srgbClr val="1F2937"/>
                </a:solidFill>
              </a:rPr>
              <a:t>Monitoring &amp; Error Tracking</a:t>
            </a:r>
            <a:endParaRPr lang="en-US" sz="750" dirty="0"/>
          </a:p>
        </p:txBody>
      </p:sp>
      <p:sp>
        <p:nvSpPr>
          <p:cNvPr id="40" name="Text 38"/>
          <p:cNvSpPr/>
          <p:nvPr/>
        </p:nvSpPr>
        <p:spPr>
          <a:xfrm>
            <a:off x="7104888" y="804672"/>
            <a:ext cx="4178808" cy="475488"/>
          </a:xfrm>
          <a:prstGeom prst="rect">
            <a:avLst/>
          </a:prstGeom>
          <a:noFill/>
          <a:ln/>
        </p:spPr>
        <p:txBody>
          <a:bodyPr wrap="square" lIns="0" tIns="0" rIns="0" bIns="0" rtlCol="0" anchor="t"/>
          <a:lstStyle/>
          <a:p>
            <a:pPr indent="0" marL="0">
              <a:buNone/>
            </a:pPr>
            <a:r>
              <a:rPr lang="en-US" sz="650" dirty="0">
                <a:solidFill>
                  <a:srgbClr val="374151"/>
                </a:solidFill>
              </a:rPr>
              <a:t>Added automatic tracking of what users do in the app (screens viewed, buttons tapped) and instant alerts when something breaks, so issues get caught and fixed faster instead of relying on user reports.</a:t>
            </a:r>
            <a:endParaRPr lang="en-US" sz="650" dirty="0"/>
          </a:p>
        </p:txBody>
      </p:sp>
      <p:sp>
        <p:nvSpPr>
          <p:cNvPr id="41" name="Shape 39"/>
          <p:cNvSpPr/>
          <p:nvPr/>
        </p:nvSpPr>
        <p:spPr>
          <a:xfrm>
            <a:off x="11375136" y="955548"/>
            <a:ext cx="822960" cy="173736"/>
          </a:xfrm>
          <a:prstGeom prst="roundRect">
            <a:avLst>
              <a:gd name="adj" fmla="val 15789"/>
            </a:avLst>
          </a:prstGeom>
          <a:solidFill>
            <a:srgbClr val="1558A8"/>
          </a:solidFill>
          <a:ln w="12700">
            <a:solidFill>
              <a:srgbClr val="1558A8"/>
            </a:solidFill>
            <a:prstDash val="solid"/>
          </a:ln>
        </p:spPr>
      </p:sp>
      <p:sp>
        <p:nvSpPr>
          <p:cNvPr id="42" name="Text 40"/>
          <p:cNvSpPr/>
          <p:nvPr/>
        </p:nvSpPr>
        <p:spPr>
          <a:xfrm>
            <a:off x="11375136" y="955548"/>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43" name="Shape 41"/>
          <p:cNvSpPr/>
          <p:nvPr/>
        </p:nvSpPr>
        <p:spPr>
          <a:xfrm>
            <a:off x="6236208" y="1307592"/>
            <a:ext cx="6016752" cy="0"/>
          </a:xfrm>
          <a:prstGeom prst="line">
            <a:avLst/>
          </a:prstGeom>
          <a:noFill/>
          <a:ln w="6350">
            <a:solidFill>
              <a:srgbClr val="E5E7EB"/>
            </a:solidFill>
            <a:prstDash val="solid"/>
          </a:ln>
        </p:spPr>
      </p:sp>
      <p:sp>
        <p:nvSpPr>
          <p:cNvPr id="44" name="Text 42"/>
          <p:cNvSpPr/>
          <p:nvPr/>
        </p:nvSpPr>
        <p:spPr>
          <a:xfrm>
            <a:off x="6309360" y="1325880"/>
            <a:ext cx="777240" cy="493776"/>
          </a:xfrm>
          <a:prstGeom prst="rect">
            <a:avLst/>
          </a:prstGeom>
          <a:noFill/>
          <a:ln/>
        </p:spPr>
        <p:txBody>
          <a:bodyPr wrap="square" lIns="0" tIns="0" rIns="0" bIns="0" rtlCol="0" anchor="ctr"/>
          <a:lstStyle/>
          <a:p>
            <a:pPr indent="0" marL="0">
              <a:buNone/>
            </a:pPr>
            <a:r>
              <a:rPr lang="en-US" sz="750" b="1" dirty="0">
                <a:solidFill>
                  <a:srgbClr val="1F2937"/>
                </a:solidFill>
              </a:rPr>
              <a:t>New Mobile App</a:t>
            </a:r>
            <a:endParaRPr lang="en-US" sz="750" dirty="0"/>
          </a:p>
        </p:txBody>
      </p:sp>
      <p:sp>
        <p:nvSpPr>
          <p:cNvPr id="45" name="Text 43"/>
          <p:cNvSpPr/>
          <p:nvPr/>
        </p:nvSpPr>
        <p:spPr>
          <a:xfrm>
            <a:off x="7104888" y="1335024"/>
            <a:ext cx="4178808" cy="475488"/>
          </a:xfrm>
          <a:prstGeom prst="rect">
            <a:avLst/>
          </a:prstGeom>
          <a:noFill/>
          <a:ln/>
        </p:spPr>
        <p:txBody>
          <a:bodyPr wrap="square" lIns="0" tIns="0" rIns="0" bIns="0" rtlCol="0" anchor="t"/>
          <a:lstStyle/>
          <a:p>
            <a:pPr indent="0" marL="0">
              <a:buNone/>
            </a:pPr>
            <a:r>
              <a:rPr lang="en-US" sz="650" dirty="0">
                <a:solidFill>
                  <a:srgbClr val="374151"/>
                </a:solidFill>
              </a:rPr>
              <a:t>Sign-in, sign-up, and TV-provider sign-in working on TestFlight (edge cases remain). Demo prep complete (app icons, splash screen, aligned iOS/Android playback). Focus: ACE data for new widget types, real schedule data, force-upgrade via AWS App Config.</a:t>
            </a:r>
            <a:endParaRPr lang="en-US" sz="650" dirty="0"/>
          </a:p>
        </p:txBody>
      </p:sp>
      <p:sp>
        <p:nvSpPr>
          <p:cNvPr id="46" name="Shape 44"/>
          <p:cNvSpPr/>
          <p:nvPr/>
        </p:nvSpPr>
        <p:spPr>
          <a:xfrm>
            <a:off x="11375136" y="1485900"/>
            <a:ext cx="822960" cy="173736"/>
          </a:xfrm>
          <a:prstGeom prst="roundRect">
            <a:avLst>
              <a:gd name="adj" fmla="val 15789"/>
            </a:avLst>
          </a:prstGeom>
          <a:solidFill>
            <a:srgbClr val="1558A8"/>
          </a:solidFill>
          <a:ln w="12700">
            <a:solidFill>
              <a:srgbClr val="1558A8"/>
            </a:solidFill>
            <a:prstDash val="solid"/>
          </a:ln>
        </p:spPr>
      </p:sp>
      <p:sp>
        <p:nvSpPr>
          <p:cNvPr id="47" name="Text 45"/>
          <p:cNvSpPr/>
          <p:nvPr/>
        </p:nvSpPr>
        <p:spPr>
          <a:xfrm>
            <a:off x="11375136" y="1485900"/>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48" name="Shape 46"/>
          <p:cNvSpPr/>
          <p:nvPr/>
        </p:nvSpPr>
        <p:spPr>
          <a:xfrm>
            <a:off x="6236208" y="1837944"/>
            <a:ext cx="6016752" cy="530352"/>
          </a:xfrm>
          <a:prstGeom prst="rect">
            <a:avLst/>
          </a:prstGeom>
          <a:solidFill>
            <a:srgbClr val="FFFFFF"/>
          </a:solidFill>
          <a:ln w="3175">
            <a:solidFill>
              <a:srgbClr val="E5E7EB"/>
            </a:solidFill>
            <a:prstDash val="solid"/>
          </a:ln>
        </p:spPr>
      </p:sp>
      <p:sp>
        <p:nvSpPr>
          <p:cNvPr id="49" name="Shape 47"/>
          <p:cNvSpPr/>
          <p:nvPr/>
        </p:nvSpPr>
        <p:spPr>
          <a:xfrm>
            <a:off x="6236208" y="1837944"/>
            <a:ext cx="6016752" cy="0"/>
          </a:xfrm>
          <a:prstGeom prst="line">
            <a:avLst/>
          </a:prstGeom>
          <a:noFill/>
          <a:ln w="6350">
            <a:solidFill>
              <a:srgbClr val="E5E7EB"/>
            </a:solidFill>
            <a:prstDash val="solid"/>
          </a:ln>
        </p:spPr>
      </p:sp>
      <p:sp>
        <p:nvSpPr>
          <p:cNvPr id="50" name="Text 48"/>
          <p:cNvSpPr/>
          <p:nvPr/>
        </p:nvSpPr>
        <p:spPr>
          <a:xfrm>
            <a:off x="6309360" y="1856232"/>
            <a:ext cx="777240" cy="493776"/>
          </a:xfrm>
          <a:prstGeom prst="rect">
            <a:avLst/>
          </a:prstGeom>
          <a:noFill/>
          <a:ln/>
        </p:spPr>
        <p:txBody>
          <a:bodyPr wrap="square" lIns="0" tIns="0" rIns="0" bIns="0" rtlCol="0" anchor="ctr"/>
          <a:lstStyle/>
          <a:p>
            <a:pPr indent="0" marL="0">
              <a:buNone/>
            </a:pPr>
            <a:r>
              <a:rPr lang="en-US" sz="750" b="1" dirty="0">
                <a:solidFill>
                  <a:srgbClr val="1F2937"/>
                </a:solidFill>
              </a:rPr>
              <a:t>New Website</a:t>
            </a:r>
            <a:endParaRPr lang="en-US" sz="750" dirty="0"/>
          </a:p>
        </p:txBody>
      </p:sp>
      <p:sp>
        <p:nvSpPr>
          <p:cNvPr id="51" name="Text 49"/>
          <p:cNvSpPr/>
          <p:nvPr/>
        </p:nvSpPr>
        <p:spPr>
          <a:xfrm>
            <a:off x="7104888" y="1865376"/>
            <a:ext cx="4178808" cy="475488"/>
          </a:xfrm>
          <a:prstGeom prst="rect">
            <a:avLst/>
          </a:prstGeom>
          <a:noFill/>
          <a:ln/>
        </p:spPr>
        <p:txBody>
          <a:bodyPr wrap="square" lIns="0" tIns="0" rIns="0" bIns="0" rtlCol="0" anchor="t"/>
          <a:lstStyle/>
          <a:p>
            <a:pPr indent="0" marL="0">
              <a:buNone/>
            </a:pPr>
            <a:r>
              <a:rPr lang="en-US" sz="650" dirty="0">
                <a:solidFill>
                  <a:srgbClr val="374151"/>
                </a:solidFill>
              </a:rPr>
              <a:t>Video player page and EPG layout in progress. P0 scope decision needed: EPG shows months of no-schedule data, tournament page ordering inconsistent, league logos fail contrast standards. Decision: no full rebuild — follow Tennis.com iterative pattern. UX change catalog being drafted for Foxxum coordination (Nov 1 TV cert deadline).</a:t>
            </a:r>
            <a:endParaRPr lang="en-US" sz="650" dirty="0"/>
          </a:p>
        </p:txBody>
      </p:sp>
      <p:sp>
        <p:nvSpPr>
          <p:cNvPr id="52" name="Shape 50"/>
          <p:cNvSpPr/>
          <p:nvPr/>
        </p:nvSpPr>
        <p:spPr>
          <a:xfrm>
            <a:off x="11375136" y="2016252"/>
            <a:ext cx="822960" cy="173736"/>
          </a:xfrm>
          <a:prstGeom prst="roundRect">
            <a:avLst>
              <a:gd name="adj" fmla="val 15789"/>
            </a:avLst>
          </a:prstGeom>
          <a:solidFill>
            <a:srgbClr val="1558A8"/>
          </a:solidFill>
          <a:ln w="12700">
            <a:solidFill>
              <a:srgbClr val="1558A8"/>
            </a:solidFill>
            <a:prstDash val="solid"/>
          </a:ln>
        </p:spPr>
      </p:sp>
      <p:sp>
        <p:nvSpPr>
          <p:cNvPr id="53" name="Text 51"/>
          <p:cNvSpPr/>
          <p:nvPr/>
        </p:nvSpPr>
        <p:spPr>
          <a:xfrm>
            <a:off x="11375136" y="201625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54" name="Shape 52"/>
          <p:cNvSpPr/>
          <p:nvPr/>
        </p:nvSpPr>
        <p:spPr>
          <a:xfrm>
            <a:off x="6236208" y="2368296"/>
            <a:ext cx="6016752" cy="0"/>
          </a:xfrm>
          <a:prstGeom prst="line">
            <a:avLst/>
          </a:prstGeom>
          <a:noFill/>
          <a:ln w="6350">
            <a:solidFill>
              <a:srgbClr val="E5E7EB"/>
            </a:solidFill>
            <a:prstDash val="solid"/>
          </a:ln>
        </p:spPr>
      </p:sp>
      <p:sp>
        <p:nvSpPr>
          <p:cNvPr id="55" name="Text 53"/>
          <p:cNvSpPr/>
          <p:nvPr/>
        </p:nvSpPr>
        <p:spPr>
          <a:xfrm>
            <a:off x="6309360" y="2386584"/>
            <a:ext cx="777240" cy="493776"/>
          </a:xfrm>
          <a:prstGeom prst="rect">
            <a:avLst/>
          </a:prstGeom>
          <a:noFill/>
          <a:ln/>
        </p:spPr>
        <p:txBody>
          <a:bodyPr wrap="square" lIns="0" tIns="0" rIns="0" bIns="0" rtlCol="0" anchor="ctr"/>
          <a:lstStyle/>
          <a:p>
            <a:pPr indent="0" marL="0">
              <a:buNone/>
            </a:pPr>
            <a:r>
              <a:rPr lang="en-US" sz="750" b="1" dirty="0">
                <a:solidFill>
                  <a:srgbClr val="1F2937"/>
                </a:solidFill>
              </a:rPr>
              <a:t>Hosting</a:t>
            </a:r>
            <a:endParaRPr lang="en-US" sz="750" dirty="0"/>
          </a:p>
        </p:txBody>
      </p:sp>
      <p:sp>
        <p:nvSpPr>
          <p:cNvPr id="56" name="Text 54"/>
          <p:cNvSpPr/>
          <p:nvPr/>
        </p:nvSpPr>
        <p:spPr>
          <a:xfrm>
            <a:off x="7104888" y="2395728"/>
            <a:ext cx="4178808" cy="475488"/>
          </a:xfrm>
          <a:prstGeom prst="rect">
            <a:avLst/>
          </a:prstGeom>
          <a:noFill/>
          <a:ln/>
        </p:spPr>
        <p:txBody>
          <a:bodyPr wrap="square" lIns="0" tIns="0" rIns="0" bIns="0" rtlCol="0" anchor="t"/>
          <a:lstStyle/>
          <a:p>
            <a:pPr indent="0" marL="0">
              <a:buNone/>
            </a:pPr>
            <a:r>
              <a:rPr lang="en-US" sz="650" dirty="0">
                <a:solidFill>
                  <a:srgbClr val="374151"/>
                </a:solidFill>
              </a:rPr>
              <a:t>Production DNS hosted zones migrating from Sinclair exports into TC's own AWS account. Expected to complete same day (7/15).</a:t>
            </a:r>
            <a:endParaRPr lang="en-US" sz="650" dirty="0"/>
          </a:p>
        </p:txBody>
      </p:sp>
      <p:sp>
        <p:nvSpPr>
          <p:cNvPr id="57" name="Shape 55"/>
          <p:cNvSpPr/>
          <p:nvPr/>
        </p:nvSpPr>
        <p:spPr>
          <a:xfrm>
            <a:off x="11375136" y="2546604"/>
            <a:ext cx="822960" cy="173736"/>
          </a:xfrm>
          <a:prstGeom prst="roundRect">
            <a:avLst>
              <a:gd name="adj" fmla="val 15789"/>
            </a:avLst>
          </a:prstGeom>
          <a:solidFill>
            <a:srgbClr val="1558A8"/>
          </a:solidFill>
          <a:ln w="12700">
            <a:solidFill>
              <a:srgbClr val="1558A8"/>
            </a:solidFill>
            <a:prstDash val="solid"/>
          </a:ln>
        </p:spPr>
      </p:sp>
      <p:sp>
        <p:nvSpPr>
          <p:cNvPr id="58" name="Text 56"/>
          <p:cNvSpPr/>
          <p:nvPr/>
        </p:nvSpPr>
        <p:spPr>
          <a:xfrm>
            <a:off x="11375136" y="25466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59" name="Shape 57"/>
          <p:cNvSpPr/>
          <p:nvPr/>
        </p:nvSpPr>
        <p:spPr>
          <a:xfrm>
            <a:off x="6236208" y="2898648"/>
            <a:ext cx="6016752" cy="530352"/>
          </a:xfrm>
          <a:prstGeom prst="rect">
            <a:avLst/>
          </a:prstGeom>
          <a:solidFill>
            <a:srgbClr val="FFFFFF"/>
          </a:solidFill>
          <a:ln w="3175">
            <a:solidFill>
              <a:srgbClr val="E5E7EB"/>
            </a:solidFill>
            <a:prstDash val="solid"/>
          </a:ln>
        </p:spPr>
      </p:sp>
      <p:sp>
        <p:nvSpPr>
          <p:cNvPr id="60" name="Shape 58"/>
          <p:cNvSpPr/>
          <p:nvPr/>
        </p:nvSpPr>
        <p:spPr>
          <a:xfrm>
            <a:off x="6236208" y="2898648"/>
            <a:ext cx="6016752" cy="0"/>
          </a:xfrm>
          <a:prstGeom prst="line">
            <a:avLst/>
          </a:prstGeom>
          <a:noFill/>
          <a:ln w="6350">
            <a:solidFill>
              <a:srgbClr val="E5E7EB"/>
            </a:solidFill>
            <a:prstDash val="solid"/>
          </a:ln>
        </p:spPr>
      </p:sp>
      <p:sp>
        <p:nvSpPr>
          <p:cNvPr id="61" name="Text 59"/>
          <p:cNvSpPr/>
          <p:nvPr/>
        </p:nvSpPr>
        <p:spPr>
          <a:xfrm>
            <a:off x="6309360" y="2916936"/>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Analytics Data Warehouse</a:t>
            </a:r>
            <a:endParaRPr lang="en-US" sz="750" dirty="0"/>
          </a:p>
        </p:txBody>
      </p:sp>
      <p:sp>
        <p:nvSpPr>
          <p:cNvPr id="62" name="Text 60"/>
          <p:cNvSpPr/>
          <p:nvPr/>
        </p:nvSpPr>
        <p:spPr>
          <a:xfrm>
            <a:off x="7104888" y="2926080"/>
            <a:ext cx="4178808" cy="475488"/>
          </a:xfrm>
          <a:prstGeom prst="rect">
            <a:avLst/>
          </a:prstGeom>
          <a:noFill/>
          <a:ln/>
        </p:spPr>
        <p:txBody>
          <a:bodyPr wrap="square" lIns="0" tIns="0" rIns="0" bIns="0" rtlCol="0" anchor="t"/>
          <a:lstStyle/>
          <a:p>
            <a:pPr indent="0" marL="0">
              <a:buNone/>
            </a:pPr>
            <a:r>
              <a:rPr lang="en-US" sz="650" dirty="0">
                <a:solidFill>
                  <a:srgbClr val="374151"/>
                </a:solidFill>
              </a:rPr>
              <a:t>Amplitude negotiating lower rate (~$50-60K/year, down from original quote). Sinclair running data-flow security review of Project SABR; Aditya, Aaron, Bobo to be added directly to that email thread.</a:t>
            </a:r>
            <a:endParaRPr lang="en-US" sz="650" dirty="0"/>
          </a:p>
        </p:txBody>
      </p:sp>
      <p:sp>
        <p:nvSpPr>
          <p:cNvPr id="63" name="Shape 61"/>
          <p:cNvSpPr/>
          <p:nvPr/>
        </p:nvSpPr>
        <p:spPr>
          <a:xfrm>
            <a:off x="11375136" y="3076956"/>
            <a:ext cx="822960" cy="173736"/>
          </a:xfrm>
          <a:prstGeom prst="roundRect">
            <a:avLst>
              <a:gd name="adj" fmla="val 15789"/>
            </a:avLst>
          </a:prstGeom>
          <a:solidFill>
            <a:srgbClr val="1558A8"/>
          </a:solidFill>
          <a:ln w="12700">
            <a:solidFill>
              <a:srgbClr val="1558A8"/>
            </a:solidFill>
            <a:prstDash val="solid"/>
          </a:ln>
        </p:spPr>
      </p:sp>
      <p:sp>
        <p:nvSpPr>
          <p:cNvPr id="64" name="Text 62"/>
          <p:cNvSpPr/>
          <p:nvPr/>
        </p:nvSpPr>
        <p:spPr>
          <a:xfrm>
            <a:off x="11375136" y="3076956"/>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65" name="Shape 63"/>
          <p:cNvSpPr/>
          <p:nvPr/>
        </p:nvSpPr>
        <p:spPr>
          <a:xfrm>
            <a:off x="91440" y="3502152"/>
            <a:ext cx="6016752" cy="3749040"/>
          </a:xfrm>
          <a:prstGeom prst="rect">
            <a:avLst/>
          </a:prstGeom>
          <a:solidFill>
            <a:srgbClr val="FAFBFC"/>
          </a:solidFill>
          <a:ln w="9525">
            <a:solidFill>
              <a:srgbClr val="D1D5DB"/>
            </a:solidFill>
            <a:prstDash val="solid"/>
          </a:ln>
        </p:spPr>
      </p:sp>
      <p:sp>
        <p:nvSpPr>
          <p:cNvPr id="66" name="Shape 64"/>
          <p:cNvSpPr/>
          <p:nvPr/>
        </p:nvSpPr>
        <p:spPr>
          <a:xfrm>
            <a:off x="91440" y="3502152"/>
            <a:ext cx="6016752" cy="274320"/>
          </a:xfrm>
          <a:prstGeom prst="rect">
            <a:avLst/>
          </a:prstGeom>
          <a:solidFill>
            <a:srgbClr val="8ED973"/>
          </a:solidFill>
          <a:ln w="12700">
            <a:solidFill>
              <a:srgbClr val="8ED973"/>
            </a:solidFill>
            <a:prstDash val="solid"/>
          </a:ln>
        </p:spPr>
      </p:sp>
      <p:sp>
        <p:nvSpPr>
          <p:cNvPr id="67" name="Text 65"/>
          <p:cNvSpPr/>
          <p:nvPr/>
        </p:nvSpPr>
        <p:spPr>
          <a:xfrm>
            <a:off x="201168"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Partner / Platform Integrations</a:t>
            </a:r>
            <a:endParaRPr lang="en-US" sz="900" dirty="0"/>
          </a:p>
        </p:txBody>
      </p:sp>
      <p:sp>
        <p:nvSpPr>
          <p:cNvPr id="68" name="Shape 66"/>
          <p:cNvSpPr/>
          <p:nvPr/>
        </p:nvSpPr>
        <p:spPr>
          <a:xfrm>
            <a:off x="91440" y="3776472"/>
            <a:ext cx="6016752" cy="1158240"/>
          </a:xfrm>
          <a:prstGeom prst="rect">
            <a:avLst/>
          </a:prstGeom>
          <a:solidFill>
            <a:srgbClr val="FFFFFF"/>
          </a:solidFill>
          <a:ln w="3175">
            <a:solidFill>
              <a:srgbClr val="E5E7EB"/>
            </a:solidFill>
            <a:prstDash val="solid"/>
          </a:ln>
        </p:spPr>
      </p:sp>
      <p:sp>
        <p:nvSpPr>
          <p:cNvPr id="69" name="Text 67"/>
          <p:cNvSpPr/>
          <p:nvPr/>
        </p:nvSpPr>
        <p:spPr>
          <a:xfrm>
            <a:off x="164592" y="379476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MVPD</a:t>
            </a:r>
            <a:endParaRPr lang="en-US" sz="750" dirty="0"/>
          </a:p>
        </p:txBody>
      </p:sp>
      <p:sp>
        <p:nvSpPr>
          <p:cNvPr id="70" name="Text 68"/>
          <p:cNvSpPr/>
          <p:nvPr/>
        </p:nvSpPr>
        <p:spPr>
          <a:xfrm>
            <a:off x="960120" y="3803904"/>
            <a:ext cx="4178808" cy="1103376"/>
          </a:xfrm>
          <a:prstGeom prst="rect">
            <a:avLst/>
          </a:prstGeom>
          <a:noFill/>
          <a:ln/>
        </p:spPr>
        <p:txBody>
          <a:bodyPr wrap="square" lIns="0" tIns="0" rIns="0" bIns="0" rtlCol="0" anchor="t"/>
          <a:lstStyle/>
          <a:p>
            <a:pPr indent="0" marL="0">
              <a:buNone/>
            </a:pPr>
            <a:r>
              <a:rPr lang="en-US" sz="650" dirty="0">
                <a:solidFill>
                  <a:srgbClr val="374151"/>
                </a:solidFill>
              </a:rPr>
              <a:t>Login/logout working on web; in progress on mobile/TV. Open items: (1) AuthC error message standardization for Spectrum, (2) account swap/logout session clearing (Adobe-side fix, affects all except Hulu), (3) confirm signed session GUID as stable personalization identifier — Adobe to confirm. Adobe to provide TTL report by provider. TC coordinating proxy MVPD test accounts for partial-auth testing.</a:t>
            </a:r>
            <a:endParaRPr lang="en-US" sz="650" dirty="0"/>
          </a:p>
        </p:txBody>
      </p:sp>
      <p:sp>
        <p:nvSpPr>
          <p:cNvPr id="71" name="Shape 69"/>
          <p:cNvSpPr/>
          <p:nvPr/>
        </p:nvSpPr>
        <p:spPr>
          <a:xfrm>
            <a:off x="5230368" y="4268724"/>
            <a:ext cx="822960" cy="173736"/>
          </a:xfrm>
          <a:prstGeom prst="roundRect">
            <a:avLst>
              <a:gd name="adj" fmla="val 15789"/>
            </a:avLst>
          </a:prstGeom>
          <a:solidFill>
            <a:srgbClr val="1558A8"/>
          </a:solidFill>
          <a:ln w="12700">
            <a:solidFill>
              <a:srgbClr val="1558A8"/>
            </a:solidFill>
            <a:prstDash val="solid"/>
          </a:ln>
        </p:spPr>
      </p:sp>
      <p:sp>
        <p:nvSpPr>
          <p:cNvPr id="72" name="Text 70"/>
          <p:cNvSpPr/>
          <p:nvPr/>
        </p:nvSpPr>
        <p:spPr>
          <a:xfrm>
            <a:off x="5230368" y="426872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73" name="Shape 71"/>
          <p:cNvSpPr/>
          <p:nvPr/>
        </p:nvSpPr>
        <p:spPr>
          <a:xfrm>
            <a:off x="91440" y="4934712"/>
            <a:ext cx="6016752" cy="0"/>
          </a:xfrm>
          <a:prstGeom prst="line">
            <a:avLst/>
          </a:prstGeom>
          <a:noFill/>
          <a:ln w="6350">
            <a:solidFill>
              <a:srgbClr val="E5E7EB"/>
            </a:solidFill>
            <a:prstDash val="solid"/>
          </a:ln>
        </p:spPr>
      </p:sp>
      <p:sp>
        <p:nvSpPr>
          <p:cNvPr id="74" name="Text 72"/>
          <p:cNvSpPr/>
          <p:nvPr/>
        </p:nvSpPr>
        <p:spPr>
          <a:xfrm>
            <a:off x="164592" y="495300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DRM</a:t>
            </a:r>
            <a:endParaRPr lang="en-US" sz="750" dirty="0"/>
          </a:p>
        </p:txBody>
      </p:sp>
      <p:sp>
        <p:nvSpPr>
          <p:cNvPr id="75" name="Text 73"/>
          <p:cNvSpPr/>
          <p:nvPr/>
        </p:nvSpPr>
        <p:spPr>
          <a:xfrm>
            <a:off x="960120" y="4962144"/>
            <a:ext cx="4178808" cy="1103376"/>
          </a:xfrm>
          <a:prstGeom prst="rect">
            <a:avLst/>
          </a:prstGeom>
          <a:noFill/>
          <a:ln/>
        </p:spPr>
        <p:txBody>
          <a:bodyPr wrap="square" lIns="0" tIns="0" rIns="0" bIns="0" rtlCol="0" anchor="t"/>
          <a:lstStyle/>
          <a:p>
            <a:pPr indent="0" marL="0">
              <a:buNone/>
            </a:pPr>
            <a:r>
              <a:rPr lang="en-US" sz="650" dirty="0">
                <a:solidFill>
                  <a:srgbClr val="374151"/>
                </a:solidFill>
              </a:rPr>
              <a:t>Dedicated DRM auth service launched, with license flows stubbed for FairPlay, Widevine, and PlayReady, and handed off to Amagi for EZDRM integration testing.</a:t>
            </a:r>
            <a:endParaRPr lang="en-US" sz="650" dirty="0"/>
          </a:p>
        </p:txBody>
      </p:sp>
      <p:sp>
        <p:nvSpPr>
          <p:cNvPr id="76" name="Shape 74"/>
          <p:cNvSpPr/>
          <p:nvPr/>
        </p:nvSpPr>
        <p:spPr>
          <a:xfrm>
            <a:off x="5230368" y="5426964"/>
            <a:ext cx="822960" cy="173736"/>
          </a:xfrm>
          <a:prstGeom prst="roundRect">
            <a:avLst>
              <a:gd name="adj" fmla="val 15789"/>
            </a:avLst>
          </a:prstGeom>
          <a:solidFill>
            <a:srgbClr val="1558A8"/>
          </a:solidFill>
          <a:ln w="12700">
            <a:solidFill>
              <a:srgbClr val="1558A8"/>
            </a:solidFill>
            <a:prstDash val="solid"/>
          </a:ln>
        </p:spPr>
      </p:sp>
      <p:sp>
        <p:nvSpPr>
          <p:cNvPr id="77" name="Text 75"/>
          <p:cNvSpPr/>
          <p:nvPr/>
        </p:nvSpPr>
        <p:spPr>
          <a:xfrm>
            <a:off x="5230368" y="542696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78" name="Shape 76"/>
          <p:cNvSpPr/>
          <p:nvPr/>
        </p:nvSpPr>
        <p:spPr>
          <a:xfrm>
            <a:off x="91440" y="6092952"/>
            <a:ext cx="6016752" cy="1158240"/>
          </a:xfrm>
          <a:prstGeom prst="rect">
            <a:avLst/>
          </a:prstGeom>
          <a:solidFill>
            <a:srgbClr val="FFFFFF"/>
          </a:solidFill>
          <a:ln w="3175">
            <a:solidFill>
              <a:srgbClr val="E5E7EB"/>
            </a:solidFill>
            <a:prstDash val="solid"/>
          </a:ln>
        </p:spPr>
      </p:sp>
      <p:sp>
        <p:nvSpPr>
          <p:cNvPr id="79" name="Shape 77"/>
          <p:cNvSpPr/>
          <p:nvPr/>
        </p:nvSpPr>
        <p:spPr>
          <a:xfrm>
            <a:off x="91440" y="6092952"/>
            <a:ext cx="6016752" cy="0"/>
          </a:xfrm>
          <a:prstGeom prst="line">
            <a:avLst/>
          </a:prstGeom>
          <a:noFill/>
          <a:ln w="6350">
            <a:solidFill>
              <a:srgbClr val="E5E7EB"/>
            </a:solidFill>
            <a:prstDash val="solid"/>
          </a:ln>
        </p:spPr>
      </p:sp>
      <p:sp>
        <p:nvSpPr>
          <p:cNvPr id="80" name="Text 78"/>
          <p:cNvSpPr/>
          <p:nvPr/>
        </p:nvSpPr>
        <p:spPr>
          <a:xfrm>
            <a:off x="164592" y="611124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81" name="Text 79"/>
          <p:cNvSpPr/>
          <p:nvPr/>
        </p:nvSpPr>
        <p:spPr>
          <a:xfrm>
            <a:off x="960120" y="6120384"/>
            <a:ext cx="4178808" cy="1103376"/>
          </a:xfrm>
          <a:prstGeom prst="rect">
            <a:avLst/>
          </a:prstGeom>
          <a:noFill/>
          <a:ln/>
        </p:spPr>
        <p:txBody>
          <a:bodyPr wrap="square" lIns="0" tIns="0" rIns="0" bIns="0" rtlCol="0" anchor="t"/>
          <a:lstStyle/>
          <a:p>
            <a:pPr indent="0" marL="0">
              <a:buNone/>
            </a:pPr>
            <a:r>
              <a:rPr lang="en-US" sz="650" dirty="0">
                <a:solidFill>
                  <a:srgbClr val="374151"/>
                </a:solidFill>
              </a:rPr>
              <a:t>Integration packet produced and workshop collaboration ongoing with Foxxum; no schema-stability specifics called out in this update.</a:t>
            </a:r>
            <a:endParaRPr lang="en-US" sz="650" dirty="0"/>
          </a:p>
        </p:txBody>
      </p:sp>
      <p:sp>
        <p:nvSpPr>
          <p:cNvPr id="82" name="Shape 80"/>
          <p:cNvSpPr/>
          <p:nvPr/>
        </p:nvSpPr>
        <p:spPr>
          <a:xfrm>
            <a:off x="5230368" y="6585204"/>
            <a:ext cx="822960" cy="173736"/>
          </a:xfrm>
          <a:prstGeom prst="roundRect">
            <a:avLst>
              <a:gd name="adj" fmla="val 15789"/>
            </a:avLst>
          </a:prstGeom>
          <a:solidFill>
            <a:srgbClr val="1558A8"/>
          </a:solidFill>
          <a:ln w="12700">
            <a:solidFill>
              <a:srgbClr val="1558A8"/>
            </a:solidFill>
            <a:prstDash val="solid"/>
          </a:ln>
        </p:spPr>
      </p:sp>
      <p:sp>
        <p:nvSpPr>
          <p:cNvPr id="83" name="Text 81"/>
          <p:cNvSpPr/>
          <p:nvPr/>
        </p:nvSpPr>
        <p:spPr>
          <a:xfrm>
            <a:off x="5230368" y="65852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84" name="Shape 82"/>
          <p:cNvSpPr/>
          <p:nvPr/>
        </p:nvSpPr>
        <p:spPr>
          <a:xfrm>
            <a:off x="6236208" y="3502152"/>
            <a:ext cx="6016752" cy="3749040"/>
          </a:xfrm>
          <a:prstGeom prst="rect">
            <a:avLst/>
          </a:prstGeom>
          <a:solidFill>
            <a:srgbClr val="FAFBFC"/>
          </a:solidFill>
          <a:ln w="9525">
            <a:solidFill>
              <a:srgbClr val="D1D5DB"/>
            </a:solidFill>
            <a:prstDash val="solid"/>
          </a:ln>
        </p:spPr>
      </p:sp>
      <p:sp>
        <p:nvSpPr>
          <p:cNvPr id="85" name="Shape 83"/>
          <p:cNvSpPr/>
          <p:nvPr/>
        </p:nvSpPr>
        <p:spPr>
          <a:xfrm>
            <a:off x="6236208" y="3502152"/>
            <a:ext cx="6016752" cy="274320"/>
          </a:xfrm>
          <a:prstGeom prst="rect">
            <a:avLst/>
          </a:prstGeom>
          <a:solidFill>
            <a:srgbClr val="8ED973"/>
          </a:solidFill>
          <a:ln w="12700">
            <a:solidFill>
              <a:srgbClr val="8ED973"/>
            </a:solidFill>
            <a:prstDash val="solid"/>
          </a:ln>
        </p:spPr>
      </p:sp>
      <p:sp>
        <p:nvSpPr>
          <p:cNvPr id="86" name="Text 84"/>
          <p:cNvSpPr/>
          <p:nvPr/>
        </p:nvSpPr>
        <p:spPr>
          <a:xfrm>
            <a:off x="6345936"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Platform Capabilities</a:t>
            </a:r>
            <a:endParaRPr lang="en-US" sz="900" dirty="0"/>
          </a:p>
        </p:txBody>
      </p:sp>
      <p:sp>
        <p:nvSpPr>
          <p:cNvPr id="87" name="Shape 85"/>
          <p:cNvSpPr/>
          <p:nvPr/>
        </p:nvSpPr>
        <p:spPr>
          <a:xfrm>
            <a:off x="6236208" y="3776472"/>
            <a:ext cx="6016752" cy="868680"/>
          </a:xfrm>
          <a:prstGeom prst="rect">
            <a:avLst/>
          </a:prstGeom>
          <a:solidFill>
            <a:srgbClr val="FFFFFF"/>
          </a:solidFill>
          <a:ln w="3175">
            <a:solidFill>
              <a:srgbClr val="E5E7EB"/>
            </a:solidFill>
            <a:prstDash val="solid"/>
          </a:ln>
        </p:spPr>
      </p:sp>
      <p:sp>
        <p:nvSpPr>
          <p:cNvPr id="88" name="Text 86"/>
          <p:cNvSpPr/>
          <p:nvPr/>
        </p:nvSpPr>
        <p:spPr>
          <a:xfrm>
            <a:off x="6309360" y="379476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Platform POC</a:t>
            </a:r>
            <a:endParaRPr lang="en-US" sz="750" dirty="0"/>
          </a:p>
        </p:txBody>
      </p:sp>
      <p:sp>
        <p:nvSpPr>
          <p:cNvPr id="89" name="Text 87"/>
          <p:cNvSpPr/>
          <p:nvPr/>
        </p:nvSpPr>
        <p:spPr>
          <a:xfrm>
            <a:off x="7104888" y="3803904"/>
            <a:ext cx="4178808" cy="813816"/>
          </a:xfrm>
          <a:prstGeom prst="rect">
            <a:avLst/>
          </a:prstGeom>
          <a:noFill/>
          <a:ln/>
        </p:spPr>
        <p:txBody>
          <a:bodyPr wrap="square" lIns="0" tIns="0" rIns="0" bIns="0" rtlCol="0" anchor="t"/>
          <a:lstStyle/>
          <a:p>
            <a:pPr indent="0" marL="0">
              <a:buNone/>
            </a:pPr>
            <a:r>
              <a:rPr lang="en-US" sz="650" dirty="0">
                <a:solidFill>
                  <a:srgbClr val="374151"/>
                </a:solidFill>
              </a:rPr>
              <a:t>Mobile login gate placeholder: first login gate for anonymous viewers built with placeholder UI ahead of the real Auth0 flow. Entitlement simulator: mobile tool simulating any account state to test flows.</a:t>
            </a:r>
            <a:endParaRPr lang="en-US" sz="650" dirty="0"/>
          </a:p>
        </p:txBody>
      </p:sp>
      <p:sp>
        <p:nvSpPr>
          <p:cNvPr id="90" name="Shape 88"/>
          <p:cNvSpPr/>
          <p:nvPr/>
        </p:nvSpPr>
        <p:spPr>
          <a:xfrm>
            <a:off x="11375136" y="4123944"/>
            <a:ext cx="822960" cy="173736"/>
          </a:xfrm>
          <a:prstGeom prst="roundRect">
            <a:avLst>
              <a:gd name="adj" fmla="val 15789"/>
            </a:avLst>
          </a:prstGeom>
          <a:solidFill>
            <a:srgbClr val="1558A8"/>
          </a:solidFill>
          <a:ln w="12700">
            <a:solidFill>
              <a:srgbClr val="1558A8"/>
            </a:solidFill>
            <a:prstDash val="solid"/>
          </a:ln>
        </p:spPr>
      </p:sp>
      <p:sp>
        <p:nvSpPr>
          <p:cNvPr id="91" name="Text 89"/>
          <p:cNvSpPr/>
          <p:nvPr/>
        </p:nvSpPr>
        <p:spPr>
          <a:xfrm>
            <a:off x="11375136" y="412394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92" name="Shape 90"/>
          <p:cNvSpPr/>
          <p:nvPr/>
        </p:nvSpPr>
        <p:spPr>
          <a:xfrm>
            <a:off x="6236208" y="4645152"/>
            <a:ext cx="6016752" cy="0"/>
          </a:xfrm>
          <a:prstGeom prst="line">
            <a:avLst/>
          </a:prstGeom>
          <a:noFill/>
          <a:ln w="6350">
            <a:solidFill>
              <a:srgbClr val="E5E7EB"/>
            </a:solidFill>
            <a:prstDash val="solid"/>
          </a:ln>
        </p:spPr>
      </p:sp>
      <p:sp>
        <p:nvSpPr>
          <p:cNvPr id="93" name="Text 91"/>
          <p:cNvSpPr/>
          <p:nvPr/>
        </p:nvSpPr>
        <p:spPr>
          <a:xfrm>
            <a:off x="6309360" y="466344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UI/UX</a:t>
            </a:r>
            <a:endParaRPr lang="en-US" sz="750" dirty="0"/>
          </a:p>
        </p:txBody>
      </p:sp>
      <p:sp>
        <p:nvSpPr>
          <p:cNvPr id="94" name="Text 92"/>
          <p:cNvSpPr/>
          <p:nvPr/>
        </p:nvSpPr>
        <p:spPr>
          <a:xfrm>
            <a:off x="7104888" y="4672584"/>
            <a:ext cx="4178808" cy="813816"/>
          </a:xfrm>
          <a:prstGeom prst="rect">
            <a:avLst/>
          </a:prstGeom>
          <a:noFill/>
          <a:ln/>
        </p:spPr>
        <p:txBody>
          <a:bodyPr wrap="square" lIns="0" tIns="0" rIns="0" bIns="0" rtlCol="0" anchor="t"/>
          <a:lstStyle/>
          <a:p>
            <a:pPr indent="0" marL="0">
              <a:buNone/>
            </a:pPr>
            <a:r>
              <a:rPr lang="en-US" sz="650" dirty="0">
                <a:solidFill>
                  <a:srgbClr val="374151"/>
                </a:solidFill>
              </a:rPr>
              <a:t>Built the front-end foundation (design system, left sidebar navigation, footer, and page shell). Built the page engine and styled the merchandising carousels.</a:t>
            </a:r>
            <a:endParaRPr lang="en-US" sz="650" dirty="0"/>
          </a:p>
        </p:txBody>
      </p:sp>
      <p:sp>
        <p:nvSpPr>
          <p:cNvPr id="95" name="Shape 93"/>
          <p:cNvSpPr/>
          <p:nvPr/>
        </p:nvSpPr>
        <p:spPr>
          <a:xfrm>
            <a:off x="11375136" y="4992624"/>
            <a:ext cx="822960" cy="173736"/>
          </a:xfrm>
          <a:prstGeom prst="roundRect">
            <a:avLst>
              <a:gd name="adj" fmla="val 15789"/>
            </a:avLst>
          </a:prstGeom>
          <a:solidFill>
            <a:srgbClr val="1558A8"/>
          </a:solidFill>
          <a:ln w="12700">
            <a:solidFill>
              <a:srgbClr val="1558A8"/>
            </a:solidFill>
            <a:prstDash val="solid"/>
          </a:ln>
        </p:spPr>
      </p:sp>
      <p:sp>
        <p:nvSpPr>
          <p:cNvPr id="96" name="Text 94"/>
          <p:cNvSpPr/>
          <p:nvPr/>
        </p:nvSpPr>
        <p:spPr>
          <a:xfrm>
            <a:off x="11375136" y="499262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97" name="Shape 95"/>
          <p:cNvSpPr/>
          <p:nvPr/>
        </p:nvSpPr>
        <p:spPr>
          <a:xfrm>
            <a:off x="6236208" y="5513832"/>
            <a:ext cx="6016752" cy="868680"/>
          </a:xfrm>
          <a:prstGeom prst="rect">
            <a:avLst/>
          </a:prstGeom>
          <a:solidFill>
            <a:srgbClr val="FFFFFF"/>
          </a:solidFill>
          <a:ln w="3175">
            <a:solidFill>
              <a:srgbClr val="E5E7EB"/>
            </a:solidFill>
            <a:prstDash val="solid"/>
          </a:ln>
        </p:spPr>
      </p:sp>
      <p:sp>
        <p:nvSpPr>
          <p:cNvPr id="98" name="Shape 96"/>
          <p:cNvSpPr/>
          <p:nvPr/>
        </p:nvSpPr>
        <p:spPr>
          <a:xfrm>
            <a:off x="6236208" y="5513832"/>
            <a:ext cx="6016752" cy="0"/>
          </a:xfrm>
          <a:prstGeom prst="line">
            <a:avLst/>
          </a:prstGeom>
          <a:noFill/>
          <a:ln w="6350">
            <a:solidFill>
              <a:srgbClr val="E5E7EB"/>
            </a:solidFill>
            <a:prstDash val="solid"/>
          </a:ln>
        </p:spPr>
      </p:sp>
      <p:sp>
        <p:nvSpPr>
          <p:cNvPr id="99" name="Text 97"/>
          <p:cNvSpPr/>
          <p:nvPr/>
        </p:nvSpPr>
        <p:spPr>
          <a:xfrm>
            <a:off x="6309360" y="553212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Video Player</a:t>
            </a:r>
            <a:endParaRPr lang="en-US" sz="750" dirty="0"/>
          </a:p>
        </p:txBody>
      </p:sp>
      <p:sp>
        <p:nvSpPr>
          <p:cNvPr id="100" name="Text 98"/>
          <p:cNvSpPr/>
          <p:nvPr/>
        </p:nvSpPr>
        <p:spPr>
          <a:xfrm>
            <a:off x="7104888" y="5541264"/>
            <a:ext cx="4178808" cy="813816"/>
          </a:xfrm>
          <a:prstGeom prst="rect">
            <a:avLst/>
          </a:prstGeom>
          <a:noFill/>
          <a:ln/>
        </p:spPr>
        <p:txBody>
          <a:bodyPr wrap="square" lIns="0" tIns="0" rIns="0" bIns="0" rtlCol="0" anchor="t"/>
          <a:lstStyle/>
          <a:p>
            <a:pPr indent="0" marL="0">
              <a:buNone/>
            </a:pPr>
            <a:r>
              <a:rPr lang="en-US" sz="650" dirty="0">
                <a:solidFill>
                  <a:srgbClr val="374151"/>
                </a:solidFill>
              </a:rPr>
              <a:t>Video player page features in progress. BitMovin player SDK integration underway (moved beyond initial POC). BitMovin contract now signed.</a:t>
            </a:r>
            <a:endParaRPr lang="en-US" sz="650" dirty="0"/>
          </a:p>
        </p:txBody>
      </p:sp>
      <p:sp>
        <p:nvSpPr>
          <p:cNvPr id="101" name="Shape 99"/>
          <p:cNvSpPr/>
          <p:nvPr/>
        </p:nvSpPr>
        <p:spPr>
          <a:xfrm>
            <a:off x="11375136" y="5861304"/>
            <a:ext cx="822960" cy="173736"/>
          </a:xfrm>
          <a:prstGeom prst="roundRect">
            <a:avLst>
              <a:gd name="adj" fmla="val 15789"/>
            </a:avLst>
          </a:prstGeom>
          <a:solidFill>
            <a:srgbClr val="1558A8"/>
          </a:solidFill>
          <a:ln w="12700">
            <a:solidFill>
              <a:srgbClr val="1558A8"/>
            </a:solidFill>
            <a:prstDash val="solid"/>
          </a:ln>
        </p:spPr>
      </p:sp>
      <p:sp>
        <p:nvSpPr>
          <p:cNvPr id="102" name="Text 100"/>
          <p:cNvSpPr/>
          <p:nvPr/>
        </p:nvSpPr>
        <p:spPr>
          <a:xfrm>
            <a:off x="11375136" y="58613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103" name="Shape 101"/>
          <p:cNvSpPr/>
          <p:nvPr/>
        </p:nvSpPr>
        <p:spPr>
          <a:xfrm>
            <a:off x="6236208" y="6382512"/>
            <a:ext cx="6016752" cy="0"/>
          </a:xfrm>
          <a:prstGeom prst="line">
            <a:avLst/>
          </a:prstGeom>
          <a:noFill/>
          <a:ln w="6350">
            <a:solidFill>
              <a:srgbClr val="E5E7EB"/>
            </a:solidFill>
            <a:prstDash val="solid"/>
          </a:ln>
        </p:spPr>
      </p:sp>
      <p:sp>
        <p:nvSpPr>
          <p:cNvPr id="104" name="Text 102"/>
          <p:cNvSpPr/>
          <p:nvPr/>
        </p:nvSpPr>
        <p:spPr>
          <a:xfrm>
            <a:off x="6309360" y="640080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Testing</a:t>
            </a:r>
            <a:endParaRPr lang="en-US" sz="750" dirty="0"/>
          </a:p>
        </p:txBody>
      </p:sp>
      <p:sp>
        <p:nvSpPr>
          <p:cNvPr id="105" name="Text 103"/>
          <p:cNvSpPr/>
          <p:nvPr/>
        </p:nvSpPr>
        <p:spPr>
          <a:xfrm>
            <a:off x="7104888" y="6409944"/>
            <a:ext cx="4178808" cy="813816"/>
          </a:xfrm>
          <a:prstGeom prst="rect">
            <a:avLst/>
          </a:prstGeom>
          <a:noFill/>
          <a:ln/>
        </p:spPr>
        <p:txBody>
          <a:bodyPr wrap="square" lIns="0" tIns="0" rIns="0" bIns="0" rtlCol="0" anchor="t"/>
          <a:lstStyle/>
          <a:p>
            <a:pPr indent="0" marL="0">
              <a:buNone/>
            </a:pPr>
            <a:r>
              <a:rPr lang="en-US" sz="650" dirty="0">
                <a:solidFill>
                  <a:srgbClr val="374151"/>
                </a:solidFill>
              </a:rPr>
              <a:t>E2E testing scope: Merchandising, sign-in, MVPD, Cleeng, replays. Two new engineers onboarded (Jared and Ian). Demo cadence: ~twice/month, next tentatively following Wednesday.</a:t>
            </a:r>
            <a:endParaRPr lang="en-US" sz="650" dirty="0"/>
          </a:p>
        </p:txBody>
      </p:sp>
      <p:sp>
        <p:nvSpPr>
          <p:cNvPr id="106" name="Shape 104"/>
          <p:cNvSpPr/>
          <p:nvPr/>
        </p:nvSpPr>
        <p:spPr>
          <a:xfrm>
            <a:off x="11375136" y="6729984"/>
            <a:ext cx="822960" cy="173736"/>
          </a:xfrm>
          <a:prstGeom prst="roundRect">
            <a:avLst>
              <a:gd name="adj" fmla="val 15789"/>
            </a:avLst>
          </a:prstGeom>
          <a:solidFill>
            <a:srgbClr val="1558A8"/>
          </a:solidFill>
          <a:ln w="12700">
            <a:solidFill>
              <a:srgbClr val="1558A8"/>
            </a:solidFill>
            <a:prstDash val="solid"/>
          </a:ln>
        </p:spPr>
      </p:sp>
      <p:sp>
        <p:nvSpPr>
          <p:cNvPr id="107" name="Text 105"/>
          <p:cNvSpPr/>
          <p:nvPr/>
        </p:nvSpPr>
        <p:spPr>
          <a:xfrm>
            <a:off x="11375136" y="672998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CPR  ·  Jul 17,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28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5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6% Ready</a:t>
            </a:r>
            <a:endParaRPr lang="en-US" sz="1100" dirty="0"/>
          </a:p>
        </p:txBody>
      </p:sp>
      <p:sp>
        <p:nvSpPr>
          <p:cNvPr id="20" name="Shape 18"/>
          <p:cNvSpPr/>
          <p:nvPr/>
        </p:nvSpPr>
        <p:spPr>
          <a:xfrm>
            <a:off x="164592" y="804672"/>
            <a:ext cx="9116568" cy="966216"/>
          </a:xfrm>
          <a:prstGeom prst="rect">
            <a:avLst/>
          </a:prstGeom>
          <a:solidFill>
            <a:srgbClr val="FAFBFC"/>
          </a:solidFill>
          <a:ln w="6350">
            <a:solidFill>
              <a:srgbClr val="E5E7EB"/>
            </a:solidFill>
            <a:prstDash val="solid"/>
          </a:ln>
        </p:spPr>
      </p:sp>
      <p:sp>
        <p:nvSpPr>
          <p:cNvPr id="21" name="Shape 19"/>
          <p:cNvSpPr/>
          <p:nvPr/>
        </p:nvSpPr>
        <p:spPr>
          <a:xfrm>
            <a:off x="182880" y="877824"/>
            <a:ext cx="859536" cy="819912"/>
          </a:xfrm>
          <a:prstGeom prst="roundRect">
            <a:avLst>
              <a:gd name="adj" fmla="val 5576"/>
            </a:avLst>
          </a:prstGeom>
          <a:solidFill>
            <a:srgbClr val="9CA3AF"/>
          </a:solidFill>
          <a:ln w="12700">
            <a:solidFill>
              <a:srgbClr val="9CA3AF"/>
            </a:solidFill>
            <a:prstDash val="solid"/>
          </a:ln>
        </p:spPr>
      </p:sp>
      <p:sp>
        <p:nvSpPr>
          <p:cNvPr id="22" name="Text 20"/>
          <p:cNvSpPr/>
          <p:nvPr/>
        </p:nvSpPr>
        <p:spPr>
          <a:xfrm>
            <a:off x="182880" y="87782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Platforms</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7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TC.com</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Roku</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Fire TV</a:t>
            </a:r>
            <a:endParaRPr lang="en-US" sz="750" dirty="0"/>
          </a:p>
        </p:txBody>
      </p:sp>
      <p:sp>
        <p:nvSpPr>
          <p:cNvPr id="42" name="Shape 40"/>
          <p:cNvSpPr/>
          <p:nvPr/>
        </p:nvSpPr>
        <p:spPr>
          <a:xfrm>
            <a:off x="5230368" y="1280160"/>
            <a:ext cx="932688" cy="155448"/>
          </a:xfrm>
          <a:prstGeom prst="roundRect">
            <a:avLst>
              <a:gd name="adj" fmla="val 17647"/>
            </a:avLst>
          </a:prstGeom>
          <a:solidFill>
            <a:srgbClr val="F3F4F6"/>
          </a:solidFill>
          <a:ln w="9525">
            <a:solidFill>
              <a:srgbClr val="D1D5DB"/>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44" name="Shape 42"/>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Samsung</a:t>
            </a:r>
            <a:endParaRPr lang="en-US" sz="750" dirty="0"/>
          </a:p>
        </p:txBody>
      </p:sp>
      <p:sp>
        <p:nvSpPr>
          <p:cNvPr id="46" name="Shape 44"/>
          <p:cNvSpPr/>
          <p:nvPr/>
        </p:nvSpPr>
        <p:spPr>
          <a:xfrm>
            <a:off x="6245352" y="128016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7260336" y="106984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726033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tvOS</a:t>
            </a:r>
            <a:endParaRPr lang="en-US" sz="750" dirty="0"/>
          </a:p>
        </p:txBody>
      </p:sp>
      <p:sp>
        <p:nvSpPr>
          <p:cNvPr id="50" name="Shape 48"/>
          <p:cNvSpPr/>
          <p:nvPr/>
        </p:nvSpPr>
        <p:spPr>
          <a:xfrm>
            <a:off x="7260336" y="1280160"/>
            <a:ext cx="932688" cy="155448"/>
          </a:xfrm>
          <a:prstGeom prst="roundRect">
            <a:avLst>
              <a:gd name="adj" fmla="val 17647"/>
            </a:avLst>
          </a:prstGeom>
          <a:solidFill>
            <a:srgbClr val="F3F4F6"/>
          </a:solidFill>
          <a:ln w="9525">
            <a:solidFill>
              <a:srgbClr val="D1D5DB"/>
            </a:solidFill>
            <a:prstDash val="solid"/>
          </a:ln>
        </p:spPr>
      </p:sp>
      <p:sp>
        <p:nvSpPr>
          <p:cNvPr id="51" name="Text 49"/>
          <p:cNvSpPr/>
          <p:nvPr/>
        </p:nvSpPr>
        <p:spPr>
          <a:xfrm>
            <a:off x="7260336"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52" name="Shape 50"/>
          <p:cNvSpPr/>
          <p:nvPr/>
        </p:nvSpPr>
        <p:spPr>
          <a:xfrm>
            <a:off x="164592" y="1825752"/>
            <a:ext cx="9116568" cy="966216"/>
          </a:xfrm>
          <a:prstGeom prst="rect">
            <a:avLst/>
          </a:prstGeom>
          <a:solidFill>
            <a:srgbClr val="FFFFFF"/>
          </a:solidFill>
          <a:ln w="6350">
            <a:solidFill>
              <a:srgbClr val="E5E7EB"/>
            </a:solidFill>
            <a:prstDash val="solid"/>
          </a:ln>
        </p:spPr>
      </p:sp>
      <p:sp>
        <p:nvSpPr>
          <p:cNvPr id="53" name="Shape 51"/>
          <p:cNvSpPr/>
          <p:nvPr/>
        </p:nvSpPr>
        <p:spPr>
          <a:xfrm>
            <a:off x="182880" y="1898904"/>
            <a:ext cx="859536" cy="819912"/>
          </a:xfrm>
          <a:prstGeom prst="roundRect">
            <a:avLst>
              <a:gd name="adj" fmla="val 5576"/>
            </a:avLst>
          </a:prstGeom>
          <a:solidFill>
            <a:srgbClr val="9CA3AF"/>
          </a:solidFill>
          <a:ln w="12700">
            <a:solidFill>
              <a:srgbClr val="9CA3AF"/>
            </a:solidFill>
            <a:prstDash val="solid"/>
          </a:ln>
        </p:spPr>
      </p:sp>
      <p:sp>
        <p:nvSpPr>
          <p:cNvPr id="54" name="Text 52"/>
          <p:cNvSpPr/>
          <p:nvPr/>
        </p:nvSpPr>
        <p:spPr>
          <a:xfrm>
            <a:off x="182880" y="189890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55" name="Text 53"/>
          <p:cNvSpPr/>
          <p:nvPr/>
        </p:nvSpPr>
        <p:spPr>
          <a:xfrm>
            <a:off x="1170432" y="187147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6 In Progress</a:t>
            </a:r>
            <a:endParaRPr lang="en-US" sz="750" dirty="0"/>
          </a:p>
        </p:txBody>
      </p:sp>
      <p:sp>
        <p:nvSpPr>
          <p:cNvPr id="56" name="Shape 54"/>
          <p:cNvSpPr/>
          <p:nvPr/>
        </p:nvSpPr>
        <p:spPr>
          <a:xfrm>
            <a:off x="1170432" y="209092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1170432"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58" name="Shape 56"/>
          <p:cNvSpPr/>
          <p:nvPr/>
        </p:nvSpPr>
        <p:spPr>
          <a:xfrm>
            <a:off x="1170432" y="230124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1170432"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2185416" y="209092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2185416"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62" name="Shape 60"/>
          <p:cNvSpPr/>
          <p:nvPr/>
        </p:nvSpPr>
        <p:spPr>
          <a:xfrm>
            <a:off x="2185416" y="230124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2185416"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3200400" y="209092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3200400"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66" name="Shape 64"/>
          <p:cNvSpPr/>
          <p:nvPr/>
        </p:nvSpPr>
        <p:spPr>
          <a:xfrm>
            <a:off x="3200400" y="230124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3200400"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4215384" y="209092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4215384"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70" name="Shape 68"/>
          <p:cNvSpPr/>
          <p:nvPr/>
        </p:nvSpPr>
        <p:spPr>
          <a:xfrm>
            <a:off x="4215384" y="230124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4215384"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5230368" y="209092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5230368"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74" name="Shape 72"/>
          <p:cNvSpPr/>
          <p:nvPr/>
        </p:nvSpPr>
        <p:spPr>
          <a:xfrm>
            <a:off x="5230368" y="230124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5230368"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6245352" y="209092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6245352"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78" name="Shape 76"/>
          <p:cNvSpPr/>
          <p:nvPr/>
        </p:nvSpPr>
        <p:spPr>
          <a:xfrm>
            <a:off x="6245352" y="2301240"/>
            <a:ext cx="932688" cy="155448"/>
          </a:xfrm>
          <a:prstGeom prst="roundRect">
            <a:avLst>
              <a:gd name="adj" fmla="val 17647"/>
            </a:avLst>
          </a:prstGeom>
          <a:solidFill>
            <a:srgbClr val="1558A8"/>
          </a:solidFill>
          <a:ln w="12700">
            <a:solidFill>
              <a:srgbClr val="1558A8"/>
            </a:solidFill>
            <a:prstDash val="solid"/>
          </a:ln>
        </p:spPr>
      </p:sp>
      <p:sp>
        <p:nvSpPr>
          <p:cNvPr id="79" name="Text 77"/>
          <p:cNvSpPr/>
          <p:nvPr/>
        </p:nvSpPr>
        <p:spPr>
          <a:xfrm>
            <a:off x="6245352"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0" name="Shape 78"/>
          <p:cNvSpPr/>
          <p:nvPr/>
        </p:nvSpPr>
        <p:spPr>
          <a:xfrm>
            <a:off x="164592" y="2846832"/>
            <a:ext cx="9116568" cy="966216"/>
          </a:xfrm>
          <a:prstGeom prst="rect">
            <a:avLst/>
          </a:prstGeom>
          <a:solidFill>
            <a:srgbClr val="FAFBFC"/>
          </a:solidFill>
          <a:ln w="6350">
            <a:solidFill>
              <a:srgbClr val="E5E7EB"/>
            </a:solidFill>
            <a:prstDash val="solid"/>
          </a:ln>
        </p:spPr>
      </p:sp>
      <p:sp>
        <p:nvSpPr>
          <p:cNvPr id="81" name="Shape 79"/>
          <p:cNvSpPr/>
          <p:nvPr/>
        </p:nvSpPr>
        <p:spPr>
          <a:xfrm>
            <a:off x="182880" y="2919984"/>
            <a:ext cx="859536" cy="819912"/>
          </a:xfrm>
          <a:prstGeom prst="roundRect">
            <a:avLst>
              <a:gd name="adj" fmla="val 5576"/>
            </a:avLst>
          </a:prstGeom>
          <a:solidFill>
            <a:srgbClr val="9CA3AF"/>
          </a:solidFill>
          <a:ln w="12700">
            <a:solidFill>
              <a:srgbClr val="9CA3AF"/>
            </a:solidFill>
            <a:prstDash val="solid"/>
          </a:ln>
        </p:spPr>
      </p:sp>
      <p:sp>
        <p:nvSpPr>
          <p:cNvPr id="82" name="Text 80"/>
          <p:cNvSpPr/>
          <p:nvPr/>
        </p:nvSpPr>
        <p:spPr>
          <a:xfrm>
            <a:off x="182880" y="291998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83" name="Text 81"/>
          <p:cNvSpPr/>
          <p:nvPr/>
        </p:nvSpPr>
        <p:spPr>
          <a:xfrm>
            <a:off x="1170432" y="28925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5 In Progress</a:t>
            </a:r>
            <a:endParaRPr lang="en-US" sz="750" dirty="0"/>
          </a:p>
        </p:txBody>
      </p:sp>
      <p:sp>
        <p:nvSpPr>
          <p:cNvPr id="84" name="Shape 82"/>
          <p:cNvSpPr/>
          <p:nvPr/>
        </p:nvSpPr>
        <p:spPr>
          <a:xfrm>
            <a:off x="1170432" y="311200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1170432"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86" name="Shape 84"/>
          <p:cNvSpPr/>
          <p:nvPr/>
        </p:nvSpPr>
        <p:spPr>
          <a:xfrm>
            <a:off x="1170432" y="3322320"/>
            <a:ext cx="932688" cy="155448"/>
          </a:xfrm>
          <a:prstGeom prst="roundRect">
            <a:avLst>
              <a:gd name="adj" fmla="val 17647"/>
            </a:avLst>
          </a:prstGeom>
          <a:solidFill>
            <a:srgbClr val="1558A8"/>
          </a:solidFill>
          <a:ln w="12700">
            <a:solidFill>
              <a:srgbClr val="1558A8"/>
            </a:solidFill>
            <a:prstDash val="solid"/>
          </a:ln>
        </p:spPr>
      </p:sp>
      <p:sp>
        <p:nvSpPr>
          <p:cNvPr id="87" name="Text 85"/>
          <p:cNvSpPr/>
          <p:nvPr/>
        </p:nvSpPr>
        <p:spPr>
          <a:xfrm>
            <a:off x="1170432"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8" name="Shape 86"/>
          <p:cNvSpPr/>
          <p:nvPr/>
        </p:nvSpPr>
        <p:spPr>
          <a:xfrm>
            <a:off x="2185416" y="311200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2185416"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90" name="Shape 88"/>
          <p:cNvSpPr/>
          <p:nvPr/>
        </p:nvSpPr>
        <p:spPr>
          <a:xfrm>
            <a:off x="2185416" y="3322320"/>
            <a:ext cx="932688" cy="155448"/>
          </a:xfrm>
          <a:prstGeom prst="roundRect">
            <a:avLst>
              <a:gd name="adj" fmla="val 17647"/>
            </a:avLst>
          </a:prstGeom>
          <a:solidFill>
            <a:srgbClr val="1558A8"/>
          </a:solidFill>
          <a:ln w="12700">
            <a:solidFill>
              <a:srgbClr val="1558A8"/>
            </a:solidFill>
            <a:prstDash val="solid"/>
          </a:ln>
        </p:spPr>
      </p:sp>
      <p:sp>
        <p:nvSpPr>
          <p:cNvPr id="91" name="Text 89"/>
          <p:cNvSpPr/>
          <p:nvPr/>
        </p:nvSpPr>
        <p:spPr>
          <a:xfrm>
            <a:off x="2185416"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2" name="Shape 90"/>
          <p:cNvSpPr/>
          <p:nvPr/>
        </p:nvSpPr>
        <p:spPr>
          <a:xfrm>
            <a:off x="3200400" y="311200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3200400"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94" name="Shape 92"/>
          <p:cNvSpPr/>
          <p:nvPr/>
        </p:nvSpPr>
        <p:spPr>
          <a:xfrm>
            <a:off x="3200400" y="332232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3200400"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4215384" y="31120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4215384"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98" name="Shape 96"/>
          <p:cNvSpPr/>
          <p:nvPr/>
        </p:nvSpPr>
        <p:spPr>
          <a:xfrm>
            <a:off x="4215384" y="33223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4215384"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5230368" y="31120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5230368"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Bitmovin QOE</a:t>
            </a:r>
            <a:endParaRPr lang="en-US" sz="750" dirty="0"/>
          </a:p>
        </p:txBody>
      </p:sp>
      <p:sp>
        <p:nvSpPr>
          <p:cNvPr id="102" name="Shape 100"/>
          <p:cNvSpPr/>
          <p:nvPr/>
        </p:nvSpPr>
        <p:spPr>
          <a:xfrm>
            <a:off x="5230368" y="33223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5230368"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164592" y="3867912"/>
            <a:ext cx="9116568" cy="966216"/>
          </a:xfrm>
          <a:prstGeom prst="rect">
            <a:avLst/>
          </a:prstGeom>
          <a:solidFill>
            <a:srgbClr val="FFFFFF"/>
          </a:solidFill>
          <a:ln w="6350">
            <a:solidFill>
              <a:srgbClr val="E5E7EB"/>
            </a:solidFill>
            <a:prstDash val="solid"/>
          </a:ln>
        </p:spPr>
      </p:sp>
      <p:sp>
        <p:nvSpPr>
          <p:cNvPr id="105" name="Shape 103"/>
          <p:cNvSpPr/>
          <p:nvPr/>
        </p:nvSpPr>
        <p:spPr>
          <a:xfrm>
            <a:off x="182880" y="3941064"/>
            <a:ext cx="859536" cy="819912"/>
          </a:xfrm>
          <a:prstGeom prst="roundRect">
            <a:avLst>
              <a:gd name="adj" fmla="val 5576"/>
            </a:avLst>
          </a:prstGeom>
          <a:solidFill>
            <a:srgbClr val="9CA3AF"/>
          </a:solidFill>
          <a:ln w="12700">
            <a:solidFill>
              <a:srgbClr val="9CA3AF"/>
            </a:solidFill>
            <a:prstDash val="solid"/>
          </a:ln>
        </p:spPr>
      </p:sp>
      <p:sp>
        <p:nvSpPr>
          <p:cNvPr id="106" name="Text 104"/>
          <p:cNvSpPr/>
          <p:nvPr/>
        </p:nvSpPr>
        <p:spPr>
          <a:xfrm>
            <a:off x="182880" y="394106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107" name="Text 105"/>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108" name="Shape 106"/>
          <p:cNvSpPr/>
          <p:nvPr/>
        </p:nvSpPr>
        <p:spPr>
          <a:xfrm>
            <a:off x="1170432" y="4032504"/>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1170432"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110" name="Shape 108"/>
          <p:cNvSpPr/>
          <p:nvPr/>
        </p:nvSpPr>
        <p:spPr>
          <a:xfrm>
            <a:off x="1170432" y="4242816"/>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1170432"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2185416" y="4032504"/>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2185416"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114" name="Shape 112"/>
          <p:cNvSpPr/>
          <p:nvPr/>
        </p:nvSpPr>
        <p:spPr>
          <a:xfrm>
            <a:off x="2185416" y="4242816"/>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2185416"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3200400" y="4032504"/>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3200400"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118" name="Shape 116"/>
          <p:cNvSpPr/>
          <p:nvPr/>
        </p:nvSpPr>
        <p:spPr>
          <a:xfrm>
            <a:off x="3200400" y="4242816"/>
            <a:ext cx="932688" cy="155448"/>
          </a:xfrm>
          <a:prstGeom prst="roundRect">
            <a:avLst>
              <a:gd name="adj" fmla="val 17647"/>
            </a:avLst>
          </a:prstGeom>
          <a:solidFill>
            <a:srgbClr val="1558A8"/>
          </a:solidFill>
          <a:ln w="12700">
            <a:solidFill>
              <a:srgbClr val="1558A8"/>
            </a:solidFill>
            <a:prstDash val="solid"/>
          </a:ln>
        </p:spPr>
      </p:sp>
      <p:sp>
        <p:nvSpPr>
          <p:cNvPr id="119" name="Text 117"/>
          <p:cNvSpPr/>
          <p:nvPr/>
        </p:nvSpPr>
        <p:spPr>
          <a:xfrm>
            <a:off x="3200400"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0" name="Shape 118"/>
          <p:cNvSpPr/>
          <p:nvPr/>
        </p:nvSpPr>
        <p:spPr>
          <a:xfrm>
            <a:off x="4215384" y="4032504"/>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4215384"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122" name="Shape 120"/>
          <p:cNvSpPr/>
          <p:nvPr/>
        </p:nvSpPr>
        <p:spPr>
          <a:xfrm>
            <a:off x="4215384" y="4242816"/>
            <a:ext cx="932688" cy="155448"/>
          </a:xfrm>
          <a:prstGeom prst="roundRect">
            <a:avLst>
              <a:gd name="adj" fmla="val 17647"/>
            </a:avLst>
          </a:prstGeom>
          <a:solidFill>
            <a:srgbClr val="1558A8"/>
          </a:solidFill>
          <a:ln w="12700">
            <a:solidFill>
              <a:srgbClr val="1558A8"/>
            </a:solidFill>
            <a:prstDash val="solid"/>
          </a:ln>
        </p:spPr>
      </p:sp>
      <p:sp>
        <p:nvSpPr>
          <p:cNvPr id="123" name="Text 121"/>
          <p:cNvSpPr/>
          <p:nvPr/>
        </p:nvSpPr>
        <p:spPr>
          <a:xfrm>
            <a:off x="4215384"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4" name="Shape 122"/>
          <p:cNvSpPr/>
          <p:nvPr/>
        </p:nvSpPr>
        <p:spPr>
          <a:xfrm>
            <a:off x="5230368" y="4032504"/>
            <a:ext cx="932688" cy="182880"/>
          </a:xfrm>
          <a:prstGeom prst="roundRect">
            <a:avLst>
              <a:gd name="adj" fmla="val 15000"/>
            </a:avLst>
          </a:prstGeom>
          <a:solidFill>
            <a:srgbClr val="FFFFFF"/>
          </a:solidFill>
          <a:ln w="9525">
            <a:solidFill>
              <a:srgbClr val="CBD5E1"/>
            </a:solidFill>
            <a:prstDash val="solid"/>
          </a:ln>
        </p:spPr>
      </p:sp>
      <p:sp>
        <p:nvSpPr>
          <p:cNvPr id="125" name="Text 123"/>
          <p:cNvSpPr/>
          <p:nvPr/>
        </p:nvSpPr>
        <p:spPr>
          <a:xfrm>
            <a:off x="5230368"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126" name="Shape 124"/>
          <p:cNvSpPr/>
          <p:nvPr/>
        </p:nvSpPr>
        <p:spPr>
          <a:xfrm>
            <a:off x="5230368" y="4242816"/>
            <a:ext cx="932688" cy="155448"/>
          </a:xfrm>
          <a:prstGeom prst="roundRect">
            <a:avLst>
              <a:gd name="adj" fmla="val 17647"/>
            </a:avLst>
          </a:prstGeom>
          <a:solidFill>
            <a:srgbClr val="F3F4F6"/>
          </a:solidFill>
          <a:ln w="9525">
            <a:solidFill>
              <a:srgbClr val="D1D5DB"/>
            </a:solidFill>
            <a:prstDash val="solid"/>
          </a:ln>
        </p:spPr>
      </p:sp>
      <p:sp>
        <p:nvSpPr>
          <p:cNvPr id="127" name="Text 125"/>
          <p:cNvSpPr/>
          <p:nvPr/>
        </p:nvSpPr>
        <p:spPr>
          <a:xfrm>
            <a:off x="5230368" y="4242816"/>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8" name="Shape 126"/>
          <p:cNvSpPr/>
          <p:nvPr/>
        </p:nvSpPr>
        <p:spPr>
          <a:xfrm>
            <a:off x="6245352" y="4032504"/>
            <a:ext cx="932688" cy="182880"/>
          </a:xfrm>
          <a:prstGeom prst="roundRect">
            <a:avLst>
              <a:gd name="adj" fmla="val 15000"/>
            </a:avLst>
          </a:prstGeom>
          <a:solidFill>
            <a:srgbClr val="FFFFFF"/>
          </a:solidFill>
          <a:ln w="9525">
            <a:solidFill>
              <a:srgbClr val="CBD5E1"/>
            </a:solidFill>
            <a:prstDash val="solid"/>
          </a:ln>
        </p:spPr>
      </p:sp>
      <p:sp>
        <p:nvSpPr>
          <p:cNvPr id="129" name="Text 127"/>
          <p:cNvSpPr/>
          <p:nvPr/>
        </p:nvSpPr>
        <p:spPr>
          <a:xfrm>
            <a:off x="6245352"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130" name="Shape 128"/>
          <p:cNvSpPr/>
          <p:nvPr/>
        </p:nvSpPr>
        <p:spPr>
          <a:xfrm>
            <a:off x="6245352" y="4242816"/>
            <a:ext cx="932688" cy="155448"/>
          </a:xfrm>
          <a:prstGeom prst="roundRect">
            <a:avLst>
              <a:gd name="adj" fmla="val 17647"/>
            </a:avLst>
          </a:prstGeom>
          <a:solidFill>
            <a:srgbClr val="F3F4F6"/>
          </a:solidFill>
          <a:ln w="9525">
            <a:solidFill>
              <a:srgbClr val="D1D5DB"/>
            </a:solidFill>
            <a:prstDash val="solid"/>
          </a:ln>
        </p:spPr>
      </p:sp>
      <p:sp>
        <p:nvSpPr>
          <p:cNvPr id="131" name="Text 129"/>
          <p:cNvSpPr/>
          <p:nvPr/>
        </p:nvSpPr>
        <p:spPr>
          <a:xfrm>
            <a:off x="6245352" y="4242816"/>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32" name="Shape 130"/>
          <p:cNvSpPr/>
          <p:nvPr/>
        </p:nvSpPr>
        <p:spPr>
          <a:xfrm>
            <a:off x="7260336" y="4032504"/>
            <a:ext cx="932688" cy="182880"/>
          </a:xfrm>
          <a:prstGeom prst="roundRect">
            <a:avLst>
              <a:gd name="adj" fmla="val 15000"/>
            </a:avLst>
          </a:prstGeom>
          <a:solidFill>
            <a:srgbClr val="FFFFFF"/>
          </a:solidFill>
          <a:ln w="9525">
            <a:solidFill>
              <a:srgbClr val="CBD5E1"/>
            </a:solidFill>
            <a:prstDash val="solid"/>
          </a:ln>
        </p:spPr>
      </p:sp>
      <p:sp>
        <p:nvSpPr>
          <p:cNvPr id="133" name="Text 131"/>
          <p:cNvSpPr/>
          <p:nvPr/>
        </p:nvSpPr>
        <p:spPr>
          <a:xfrm>
            <a:off x="7260336"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134" name="Shape 132"/>
          <p:cNvSpPr/>
          <p:nvPr/>
        </p:nvSpPr>
        <p:spPr>
          <a:xfrm>
            <a:off x="7260336" y="4242816"/>
            <a:ext cx="932688" cy="155448"/>
          </a:xfrm>
          <a:prstGeom prst="roundRect">
            <a:avLst>
              <a:gd name="adj" fmla="val 17647"/>
            </a:avLst>
          </a:prstGeom>
          <a:solidFill>
            <a:srgbClr val="DCFCE7"/>
          </a:solidFill>
          <a:ln w="12700">
            <a:solidFill>
              <a:srgbClr val="15803D"/>
            </a:solidFill>
            <a:prstDash val="solid"/>
          </a:ln>
        </p:spPr>
      </p:sp>
      <p:sp>
        <p:nvSpPr>
          <p:cNvPr id="135" name="Text 133"/>
          <p:cNvSpPr/>
          <p:nvPr/>
        </p:nvSpPr>
        <p:spPr>
          <a:xfrm>
            <a:off x="7260336" y="4242816"/>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36" name="Shape 134"/>
          <p:cNvSpPr/>
          <p:nvPr/>
        </p:nvSpPr>
        <p:spPr>
          <a:xfrm>
            <a:off x="8275320" y="4032504"/>
            <a:ext cx="932688" cy="182880"/>
          </a:xfrm>
          <a:prstGeom prst="roundRect">
            <a:avLst>
              <a:gd name="adj" fmla="val 15000"/>
            </a:avLst>
          </a:prstGeom>
          <a:solidFill>
            <a:srgbClr val="FFFFFF"/>
          </a:solidFill>
          <a:ln w="9525">
            <a:solidFill>
              <a:srgbClr val="CBD5E1"/>
            </a:solidFill>
            <a:prstDash val="solid"/>
          </a:ln>
        </p:spPr>
      </p:sp>
      <p:sp>
        <p:nvSpPr>
          <p:cNvPr id="137" name="Text 135"/>
          <p:cNvSpPr/>
          <p:nvPr/>
        </p:nvSpPr>
        <p:spPr>
          <a:xfrm>
            <a:off x="8275320"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38" name="Shape 136"/>
          <p:cNvSpPr/>
          <p:nvPr/>
        </p:nvSpPr>
        <p:spPr>
          <a:xfrm>
            <a:off x="8275320" y="4242816"/>
            <a:ext cx="932688" cy="155448"/>
          </a:xfrm>
          <a:prstGeom prst="roundRect">
            <a:avLst>
              <a:gd name="adj" fmla="val 17647"/>
            </a:avLst>
          </a:prstGeom>
          <a:solidFill>
            <a:srgbClr val="DCFCE7"/>
          </a:solidFill>
          <a:ln w="12700">
            <a:solidFill>
              <a:srgbClr val="15803D"/>
            </a:solidFill>
            <a:prstDash val="solid"/>
          </a:ln>
        </p:spPr>
      </p:sp>
      <p:sp>
        <p:nvSpPr>
          <p:cNvPr id="139" name="Text 137"/>
          <p:cNvSpPr/>
          <p:nvPr/>
        </p:nvSpPr>
        <p:spPr>
          <a:xfrm>
            <a:off x="8275320" y="4242816"/>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40" name="Shape 138"/>
          <p:cNvSpPr/>
          <p:nvPr/>
        </p:nvSpPr>
        <p:spPr>
          <a:xfrm>
            <a:off x="1170432" y="4431792"/>
            <a:ext cx="932688" cy="182880"/>
          </a:xfrm>
          <a:prstGeom prst="roundRect">
            <a:avLst>
              <a:gd name="adj" fmla="val 15000"/>
            </a:avLst>
          </a:prstGeom>
          <a:solidFill>
            <a:srgbClr val="FFFFFF"/>
          </a:solidFill>
          <a:ln w="9525">
            <a:solidFill>
              <a:srgbClr val="CBD5E1"/>
            </a:solidFill>
            <a:prstDash val="solid"/>
          </a:ln>
        </p:spPr>
      </p:sp>
      <p:sp>
        <p:nvSpPr>
          <p:cNvPr id="141" name="Text 139"/>
          <p:cNvSpPr/>
          <p:nvPr/>
        </p:nvSpPr>
        <p:spPr>
          <a:xfrm>
            <a:off x="1170432" y="443179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42" name="Shape 140"/>
          <p:cNvSpPr/>
          <p:nvPr/>
        </p:nvSpPr>
        <p:spPr>
          <a:xfrm>
            <a:off x="1170432" y="4642104"/>
            <a:ext cx="932688" cy="155448"/>
          </a:xfrm>
          <a:prstGeom prst="roundRect">
            <a:avLst>
              <a:gd name="adj" fmla="val 17647"/>
            </a:avLst>
          </a:prstGeom>
          <a:solidFill>
            <a:srgbClr val="1558A8"/>
          </a:solidFill>
          <a:ln w="12700">
            <a:solidFill>
              <a:srgbClr val="1558A8"/>
            </a:solidFill>
            <a:prstDash val="solid"/>
          </a:ln>
        </p:spPr>
      </p:sp>
      <p:sp>
        <p:nvSpPr>
          <p:cNvPr id="143" name="Text 141"/>
          <p:cNvSpPr/>
          <p:nvPr/>
        </p:nvSpPr>
        <p:spPr>
          <a:xfrm>
            <a:off x="1170432" y="4642104"/>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44" name="Shape 142"/>
          <p:cNvSpPr/>
          <p:nvPr/>
        </p:nvSpPr>
        <p:spPr>
          <a:xfrm>
            <a:off x="164592" y="4888992"/>
            <a:ext cx="9116568" cy="966216"/>
          </a:xfrm>
          <a:prstGeom prst="rect">
            <a:avLst/>
          </a:prstGeom>
          <a:solidFill>
            <a:srgbClr val="FAFBFC"/>
          </a:solidFill>
          <a:ln w="6350">
            <a:solidFill>
              <a:srgbClr val="E5E7EB"/>
            </a:solidFill>
            <a:prstDash val="solid"/>
          </a:ln>
        </p:spPr>
      </p:sp>
      <p:sp>
        <p:nvSpPr>
          <p:cNvPr id="145" name="Shape 143"/>
          <p:cNvSpPr/>
          <p:nvPr/>
        </p:nvSpPr>
        <p:spPr>
          <a:xfrm>
            <a:off x="182880" y="4962144"/>
            <a:ext cx="859536" cy="819912"/>
          </a:xfrm>
          <a:prstGeom prst="roundRect">
            <a:avLst>
              <a:gd name="adj" fmla="val 5576"/>
            </a:avLst>
          </a:prstGeom>
          <a:solidFill>
            <a:srgbClr val="9CA3AF"/>
          </a:solidFill>
          <a:ln w="12700">
            <a:solidFill>
              <a:srgbClr val="9CA3AF"/>
            </a:solidFill>
            <a:prstDash val="solid"/>
          </a:ln>
        </p:spPr>
      </p:sp>
      <p:sp>
        <p:nvSpPr>
          <p:cNvPr id="146" name="Text 144"/>
          <p:cNvSpPr/>
          <p:nvPr/>
        </p:nvSpPr>
        <p:spPr>
          <a:xfrm>
            <a:off x="182880" y="496214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147" name="Text 145"/>
          <p:cNvSpPr/>
          <p:nvPr/>
        </p:nvSpPr>
        <p:spPr>
          <a:xfrm>
            <a:off x="1170432" y="49347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148" name="Shape 146"/>
          <p:cNvSpPr/>
          <p:nvPr/>
        </p:nvSpPr>
        <p:spPr>
          <a:xfrm>
            <a:off x="1170432" y="5154168"/>
            <a:ext cx="932688" cy="182880"/>
          </a:xfrm>
          <a:prstGeom prst="roundRect">
            <a:avLst>
              <a:gd name="adj" fmla="val 15000"/>
            </a:avLst>
          </a:prstGeom>
          <a:solidFill>
            <a:srgbClr val="FFFFFF"/>
          </a:solidFill>
          <a:ln w="9525">
            <a:solidFill>
              <a:srgbClr val="CBD5E1"/>
            </a:solidFill>
            <a:prstDash val="solid"/>
          </a:ln>
        </p:spPr>
      </p:sp>
      <p:sp>
        <p:nvSpPr>
          <p:cNvPr id="149" name="Text 147"/>
          <p:cNvSpPr/>
          <p:nvPr/>
        </p:nvSpPr>
        <p:spPr>
          <a:xfrm>
            <a:off x="1170432"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50" name="Shape 148"/>
          <p:cNvSpPr/>
          <p:nvPr/>
        </p:nvSpPr>
        <p:spPr>
          <a:xfrm>
            <a:off x="1170432" y="5364480"/>
            <a:ext cx="932688" cy="155448"/>
          </a:xfrm>
          <a:prstGeom prst="roundRect">
            <a:avLst>
              <a:gd name="adj" fmla="val 17647"/>
            </a:avLst>
          </a:prstGeom>
          <a:solidFill>
            <a:srgbClr val="1558A8"/>
          </a:solidFill>
          <a:ln w="12700">
            <a:solidFill>
              <a:srgbClr val="1558A8"/>
            </a:solidFill>
            <a:prstDash val="solid"/>
          </a:ln>
        </p:spPr>
      </p:sp>
      <p:sp>
        <p:nvSpPr>
          <p:cNvPr id="151" name="Text 149"/>
          <p:cNvSpPr/>
          <p:nvPr/>
        </p:nvSpPr>
        <p:spPr>
          <a:xfrm>
            <a:off x="1170432"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52" name="Shape 150"/>
          <p:cNvSpPr/>
          <p:nvPr/>
        </p:nvSpPr>
        <p:spPr>
          <a:xfrm>
            <a:off x="2185416" y="5154168"/>
            <a:ext cx="932688" cy="182880"/>
          </a:xfrm>
          <a:prstGeom prst="roundRect">
            <a:avLst>
              <a:gd name="adj" fmla="val 15000"/>
            </a:avLst>
          </a:prstGeom>
          <a:solidFill>
            <a:srgbClr val="FFFFFF"/>
          </a:solidFill>
          <a:ln w="9525">
            <a:solidFill>
              <a:srgbClr val="CBD5E1"/>
            </a:solidFill>
            <a:prstDash val="solid"/>
          </a:ln>
        </p:spPr>
      </p:sp>
      <p:sp>
        <p:nvSpPr>
          <p:cNvPr id="153" name="Text 151"/>
          <p:cNvSpPr/>
          <p:nvPr/>
        </p:nvSpPr>
        <p:spPr>
          <a:xfrm>
            <a:off x="2185416"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54" name="Shape 152"/>
          <p:cNvSpPr/>
          <p:nvPr/>
        </p:nvSpPr>
        <p:spPr>
          <a:xfrm>
            <a:off x="2185416" y="5364480"/>
            <a:ext cx="932688" cy="155448"/>
          </a:xfrm>
          <a:prstGeom prst="roundRect">
            <a:avLst>
              <a:gd name="adj" fmla="val 17647"/>
            </a:avLst>
          </a:prstGeom>
          <a:solidFill>
            <a:srgbClr val="1558A8"/>
          </a:solidFill>
          <a:ln w="12700">
            <a:solidFill>
              <a:srgbClr val="1558A8"/>
            </a:solidFill>
            <a:prstDash val="solid"/>
          </a:ln>
        </p:spPr>
      </p:sp>
      <p:sp>
        <p:nvSpPr>
          <p:cNvPr id="155" name="Text 153"/>
          <p:cNvSpPr/>
          <p:nvPr/>
        </p:nvSpPr>
        <p:spPr>
          <a:xfrm>
            <a:off x="2185416"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56" name="Shape 154"/>
          <p:cNvSpPr/>
          <p:nvPr/>
        </p:nvSpPr>
        <p:spPr>
          <a:xfrm>
            <a:off x="3200400" y="5154168"/>
            <a:ext cx="932688" cy="182880"/>
          </a:xfrm>
          <a:prstGeom prst="roundRect">
            <a:avLst>
              <a:gd name="adj" fmla="val 15000"/>
            </a:avLst>
          </a:prstGeom>
          <a:solidFill>
            <a:srgbClr val="FFFFFF"/>
          </a:solidFill>
          <a:ln w="9525">
            <a:solidFill>
              <a:srgbClr val="CBD5E1"/>
            </a:solidFill>
            <a:prstDash val="solid"/>
          </a:ln>
        </p:spPr>
      </p:sp>
      <p:sp>
        <p:nvSpPr>
          <p:cNvPr id="157" name="Text 155"/>
          <p:cNvSpPr/>
          <p:nvPr/>
        </p:nvSpPr>
        <p:spPr>
          <a:xfrm>
            <a:off x="3200400"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58" name="Shape 156"/>
          <p:cNvSpPr/>
          <p:nvPr/>
        </p:nvSpPr>
        <p:spPr>
          <a:xfrm>
            <a:off x="3200400" y="5364480"/>
            <a:ext cx="932688" cy="155448"/>
          </a:xfrm>
          <a:prstGeom prst="roundRect">
            <a:avLst>
              <a:gd name="adj" fmla="val 17647"/>
            </a:avLst>
          </a:prstGeom>
          <a:solidFill>
            <a:srgbClr val="1558A8"/>
          </a:solidFill>
          <a:ln w="12700">
            <a:solidFill>
              <a:srgbClr val="1558A8"/>
            </a:solidFill>
            <a:prstDash val="solid"/>
          </a:ln>
        </p:spPr>
      </p:sp>
      <p:sp>
        <p:nvSpPr>
          <p:cNvPr id="159" name="Text 157"/>
          <p:cNvSpPr/>
          <p:nvPr/>
        </p:nvSpPr>
        <p:spPr>
          <a:xfrm>
            <a:off x="3200400"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0" name="Shape 158"/>
          <p:cNvSpPr/>
          <p:nvPr/>
        </p:nvSpPr>
        <p:spPr>
          <a:xfrm>
            <a:off x="4215384" y="5154168"/>
            <a:ext cx="932688" cy="182880"/>
          </a:xfrm>
          <a:prstGeom prst="roundRect">
            <a:avLst>
              <a:gd name="adj" fmla="val 15000"/>
            </a:avLst>
          </a:prstGeom>
          <a:solidFill>
            <a:srgbClr val="FFFFFF"/>
          </a:solidFill>
          <a:ln w="9525">
            <a:solidFill>
              <a:srgbClr val="CBD5E1"/>
            </a:solidFill>
            <a:prstDash val="solid"/>
          </a:ln>
        </p:spPr>
      </p:sp>
      <p:sp>
        <p:nvSpPr>
          <p:cNvPr id="161" name="Text 159"/>
          <p:cNvSpPr/>
          <p:nvPr/>
        </p:nvSpPr>
        <p:spPr>
          <a:xfrm>
            <a:off x="4215384"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62" name="Shape 160"/>
          <p:cNvSpPr/>
          <p:nvPr/>
        </p:nvSpPr>
        <p:spPr>
          <a:xfrm>
            <a:off x="4215384" y="5364480"/>
            <a:ext cx="932688" cy="155448"/>
          </a:xfrm>
          <a:prstGeom prst="roundRect">
            <a:avLst>
              <a:gd name="adj" fmla="val 17647"/>
            </a:avLst>
          </a:prstGeom>
          <a:solidFill>
            <a:srgbClr val="1558A8"/>
          </a:solidFill>
          <a:ln w="12700">
            <a:solidFill>
              <a:srgbClr val="1558A8"/>
            </a:solidFill>
            <a:prstDash val="solid"/>
          </a:ln>
        </p:spPr>
      </p:sp>
      <p:sp>
        <p:nvSpPr>
          <p:cNvPr id="163" name="Text 161"/>
          <p:cNvSpPr/>
          <p:nvPr/>
        </p:nvSpPr>
        <p:spPr>
          <a:xfrm>
            <a:off x="4215384"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4" name="Shape 162"/>
          <p:cNvSpPr/>
          <p:nvPr/>
        </p:nvSpPr>
        <p:spPr>
          <a:xfrm>
            <a:off x="5230368" y="5154168"/>
            <a:ext cx="932688" cy="182880"/>
          </a:xfrm>
          <a:prstGeom prst="roundRect">
            <a:avLst>
              <a:gd name="adj" fmla="val 15000"/>
            </a:avLst>
          </a:prstGeom>
          <a:solidFill>
            <a:srgbClr val="FFFFFF"/>
          </a:solidFill>
          <a:ln w="9525">
            <a:solidFill>
              <a:srgbClr val="CBD5E1"/>
            </a:solidFill>
            <a:prstDash val="solid"/>
          </a:ln>
        </p:spPr>
      </p:sp>
      <p:sp>
        <p:nvSpPr>
          <p:cNvPr id="165" name="Text 163"/>
          <p:cNvSpPr/>
          <p:nvPr/>
        </p:nvSpPr>
        <p:spPr>
          <a:xfrm>
            <a:off x="5230368"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66" name="Shape 164"/>
          <p:cNvSpPr/>
          <p:nvPr/>
        </p:nvSpPr>
        <p:spPr>
          <a:xfrm>
            <a:off x="5230368" y="5364480"/>
            <a:ext cx="932688" cy="155448"/>
          </a:xfrm>
          <a:prstGeom prst="roundRect">
            <a:avLst>
              <a:gd name="adj" fmla="val 17647"/>
            </a:avLst>
          </a:prstGeom>
          <a:solidFill>
            <a:srgbClr val="1558A8"/>
          </a:solidFill>
          <a:ln w="12700">
            <a:solidFill>
              <a:srgbClr val="1558A8"/>
            </a:solidFill>
            <a:prstDash val="solid"/>
          </a:ln>
        </p:spPr>
      </p:sp>
      <p:sp>
        <p:nvSpPr>
          <p:cNvPr id="167" name="Text 165"/>
          <p:cNvSpPr/>
          <p:nvPr/>
        </p:nvSpPr>
        <p:spPr>
          <a:xfrm>
            <a:off x="5230368"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8" name="Shape 166"/>
          <p:cNvSpPr/>
          <p:nvPr/>
        </p:nvSpPr>
        <p:spPr>
          <a:xfrm>
            <a:off x="6245352" y="5154168"/>
            <a:ext cx="932688" cy="182880"/>
          </a:xfrm>
          <a:prstGeom prst="roundRect">
            <a:avLst>
              <a:gd name="adj" fmla="val 15000"/>
            </a:avLst>
          </a:prstGeom>
          <a:solidFill>
            <a:srgbClr val="FFFFFF"/>
          </a:solidFill>
          <a:ln w="9525">
            <a:solidFill>
              <a:srgbClr val="CBD5E1"/>
            </a:solidFill>
            <a:prstDash val="solid"/>
          </a:ln>
        </p:spPr>
      </p:sp>
      <p:sp>
        <p:nvSpPr>
          <p:cNvPr id="169" name="Text 167"/>
          <p:cNvSpPr/>
          <p:nvPr/>
        </p:nvSpPr>
        <p:spPr>
          <a:xfrm>
            <a:off x="6245352"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70" name="Shape 168"/>
          <p:cNvSpPr/>
          <p:nvPr/>
        </p:nvSpPr>
        <p:spPr>
          <a:xfrm>
            <a:off x="6245352" y="5364480"/>
            <a:ext cx="932688" cy="155448"/>
          </a:xfrm>
          <a:prstGeom prst="roundRect">
            <a:avLst>
              <a:gd name="adj" fmla="val 17647"/>
            </a:avLst>
          </a:prstGeom>
          <a:solidFill>
            <a:srgbClr val="F3F4F6"/>
          </a:solidFill>
          <a:ln w="9525">
            <a:solidFill>
              <a:srgbClr val="D1D5DB"/>
            </a:solidFill>
            <a:prstDash val="solid"/>
          </a:ln>
        </p:spPr>
      </p:sp>
      <p:sp>
        <p:nvSpPr>
          <p:cNvPr id="171" name="Text 169"/>
          <p:cNvSpPr/>
          <p:nvPr/>
        </p:nvSpPr>
        <p:spPr>
          <a:xfrm>
            <a:off x="6245352" y="536448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72" name="Shape 170"/>
          <p:cNvSpPr/>
          <p:nvPr/>
        </p:nvSpPr>
        <p:spPr>
          <a:xfrm>
            <a:off x="164592" y="5910072"/>
            <a:ext cx="9116568" cy="966216"/>
          </a:xfrm>
          <a:prstGeom prst="rect">
            <a:avLst/>
          </a:prstGeom>
          <a:solidFill>
            <a:srgbClr val="FFFFFF"/>
          </a:solidFill>
          <a:ln w="6350">
            <a:solidFill>
              <a:srgbClr val="E5E7EB"/>
            </a:solidFill>
            <a:prstDash val="solid"/>
          </a:ln>
        </p:spPr>
      </p:sp>
      <p:sp>
        <p:nvSpPr>
          <p:cNvPr id="173" name="Shape 171"/>
          <p:cNvSpPr/>
          <p:nvPr/>
        </p:nvSpPr>
        <p:spPr>
          <a:xfrm>
            <a:off x="182880" y="5983224"/>
            <a:ext cx="859536" cy="819912"/>
          </a:xfrm>
          <a:prstGeom prst="roundRect">
            <a:avLst>
              <a:gd name="adj" fmla="val 5576"/>
            </a:avLst>
          </a:prstGeom>
          <a:solidFill>
            <a:srgbClr val="64748B"/>
          </a:solidFill>
          <a:ln w="12700">
            <a:solidFill>
              <a:srgbClr val="64748B"/>
            </a:solidFill>
            <a:prstDash val="solid"/>
          </a:ln>
        </p:spPr>
      </p:sp>
      <p:sp>
        <p:nvSpPr>
          <p:cNvPr id="174" name="Text 172"/>
          <p:cNvSpPr/>
          <p:nvPr/>
        </p:nvSpPr>
        <p:spPr>
          <a:xfrm>
            <a:off x="182880" y="598322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Data</a:t>
            </a:r>
            <a:endParaRPr lang="en-US" sz="800" dirty="0"/>
          </a:p>
          <a:p>
            <a:pPr algn="ctr" indent="0" marL="0">
              <a:buNone/>
            </a:pPr>
            <a:r>
              <a:rPr lang="en-US" sz="800" b="1" dirty="0">
                <a:solidFill>
                  <a:srgbClr val="FFFFFF"/>
                </a:solidFill>
              </a:rPr>
              <a:t>&amp; Analytics</a:t>
            </a:r>
            <a:endParaRPr lang="en-US" sz="800" dirty="0"/>
          </a:p>
        </p:txBody>
      </p:sp>
      <p:sp>
        <p:nvSpPr>
          <p:cNvPr id="175" name="Text 173"/>
          <p:cNvSpPr/>
          <p:nvPr/>
        </p:nvSpPr>
        <p:spPr>
          <a:xfrm>
            <a:off x="1170432" y="59557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176" name="Shape 174"/>
          <p:cNvSpPr/>
          <p:nvPr/>
        </p:nvSpPr>
        <p:spPr>
          <a:xfrm>
            <a:off x="1170432" y="6175248"/>
            <a:ext cx="932688" cy="182880"/>
          </a:xfrm>
          <a:prstGeom prst="roundRect">
            <a:avLst>
              <a:gd name="adj" fmla="val 15000"/>
            </a:avLst>
          </a:prstGeom>
          <a:solidFill>
            <a:srgbClr val="FFFFFF"/>
          </a:solidFill>
          <a:ln w="9525">
            <a:solidFill>
              <a:srgbClr val="CBD5E1"/>
            </a:solidFill>
            <a:prstDash val="solid"/>
          </a:ln>
        </p:spPr>
      </p:sp>
      <p:sp>
        <p:nvSpPr>
          <p:cNvPr id="177" name="Text 175"/>
          <p:cNvSpPr/>
          <p:nvPr/>
        </p:nvSpPr>
        <p:spPr>
          <a:xfrm>
            <a:off x="1170432" y="61752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NPAW Historical</a:t>
            </a:r>
            <a:endParaRPr lang="en-US" sz="750" dirty="0"/>
          </a:p>
        </p:txBody>
      </p:sp>
      <p:sp>
        <p:nvSpPr>
          <p:cNvPr id="178" name="Shape 176"/>
          <p:cNvSpPr/>
          <p:nvPr/>
        </p:nvSpPr>
        <p:spPr>
          <a:xfrm>
            <a:off x="1170432" y="6385560"/>
            <a:ext cx="932688" cy="155448"/>
          </a:xfrm>
          <a:prstGeom prst="roundRect">
            <a:avLst>
              <a:gd name="adj" fmla="val 17647"/>
            </a:avLst>
          </a:prstGeom>
          <a:solidFill>
            <a:srgbClr val="1558A8"/>
          </a:solidFill>
          <a:ln w="12700">
            <a:solidFill>
              <a:srgbClr val="1558A8"/>
            </a:solidFill>
            <a:prstDash val="solid"/>
          </a:ln>
        </p:spPr>
      </p:sp>
      <p:sp>
        <p:nvSpPr>
          <p:cNvPr id="179" name="Text 177"/>
          <p:cNvSpPr/>
          <p:nvPr/>
        </p:nvSpPr>
        <p:spPr>
          <a:xfrm>
            <a:off x="1170432" y="63855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80" name="Shape 178"/>
          <p:cNvSpPr/>
          <p:nvPr/>
        </p:nvSpPr>
        <p:spPr>
          <a:xfrm>
            <a:off x="2185416" y="6175248"/>
            <a:ext cx="932688" cy="182880"/>
          </a:xfrm>
          <a:prstGeom prst="roundRect">
            <a:avLst>
              <a:gd name="adj" fmla="val 15000"/>
            </a:avLst>
          </a:prstGeom>
          <a:solidFill>
            <a:srgbClr val="FFFFFF"/>
          </a:solidFill>
          <a:ln w="9525">
            <a:solidFill>
              <a:srgbClr val="CBD5E1"/>
            </a:solidFill>
            <a:prstDash val="solid"/>
          </a:ln>
        </p:spPr>
      </p:sp>
      <p:sp>
        <p:nvSpPr>
          <p:cNvPr id="181" name="Text 179"/>
          <p:cNvSpPr/>
          <p:nvPr/>
        </p:nvSpPr>
        <p:spPr>
          <a:xfrm>
            <a:off x="2185416" y="61752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 Historical</a:t>
            </a:r>
            <a:endParaRPr lang="en-US" sz="750" dirty="0"/>
          </a:p>
        </p:txBody>
      </p:sp>
      <p:sp>
        <p:nvSpPr>
          <p:cNvPr id="182" name="Shape 180"/>
          <p:cNvSpPr/>
          <p:nvPr/>
        </p:nvSpPr>
        <p:spPr>
          <a:xfrm>
            <a:off x="2185416" y="6385560"/>
            <a:ext cx="932688" cy="155448"/>
          </a:xfrm>
          <a:prstGeom prst="roundRect">
            <a:avLst>
              <a:gd name="adj" fmla="val 17647"/>
            </a:avLst>
          </a:prstGeom>
          <a:solidFill>
            <a:srgbClr val="1558A8"/>
          </a:solidFill>
          <a:ln w="12700">
            <a:solidFill>
              <a:srgbClr val="1558A8"/>
            </a:solidFill>
            <a:prstDash val="solid"/>
          </a:ln>
        </p:spPr>
      </p:sp>
      <p:sp>
        <p:nvSpPr>
          <p:cNvPr id="183" name="Text 181"/>
          <p:cNvSpPr/>
          <p:nvPr/>
        </p:nvSpPr>
        <p:spPr>
          <a:xfrm>
            <a:off x="2185416" y="63855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84" name="Shape 182"/>
          <p:cNvSpPr/>
          <p:nvPr/>
        </p:nvSpPr>
        <p:spPr>
          <a:xfrm>
            <a:off x="9372600" y="804672"/>
            <a:ext cx="2834640" cy="6071616"/>
          </a:xfrm>
          <a:prstGeom prst="rect">
            <a:avLst/>
          </a:prstGeom>
          <a:solidFill>
            <a:srgbClr val="F8FAFB"/>
          </a:solidFill>
          <a:ln w="12700">
            <a:solidFill>
              <a:srgbClr val="DDE1E6"/>
            </a:solidFill>
            <a:prstDash val="solid"/>
          </a:ln>
        </p:spPr>
      </p:sp>
      <p:sp>
        <p:nvSpPr>
          <p:cNvPr id="185" name="Text 183"/>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86" name="Shape 184"/>
          <p:cNvSpPr/>
          <p:nvPr/>
        </p:nvSpPr>
        <p:spPr>
          <a:xfrm>
            <a:off x="9464040" y="1225296"/>
            <a:ext cx="2670048" cy="420624"/>
          </a:xfrm>
          <a:prstGeom prst="rect">
            <a:avLst/>
          </a:prstGeom>
          <a:solidFill>
            <a:srgbClr val="FFFFFF"/>
          </a:solidFill>
          <a:ln w="6350">
            <a:solidFill>
              <a:srgbClr val="E5E7EB"/>
            </a:solidFill>
            <a:prstDash val="solid"/>
          </a:ln>
        </p:spPr>
      </p:sp>
      <p:sp>
        <p:nvSpPr>
          <p:cNvPr id="187" name="Shape 185"/>
          <p:cNvSpPr/>
          <p:nvPr/>
        </p:nvSpPr>
        <p:spPr>
          <a:xfrm>
            <a:off x="9537192" y="1316736"/>
            <a:ext cx="109728" cy="109728"/>
          </a:xfrm>
          <a:prstGeom prst="ellipse">
            <a:avLst/>
          </a:prstGeom>
          <a:solidFill>
            <a:srgbClr val="16A34A"/>
          </a:solidFill>
          <a:ln w="12700">
            <a:solidFill>
              <a:srgbClr val="16A34A"/>
            </a:solidFill>
            <a:prstDash val="solid"/>
          </a:ln>
        </p:spPr>
      </p:sp>
      <p:sp>
        <p:nvSpPr>
          <p:cNvPr id="188" name="Text 186"/>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89" name="Text 187"/>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90" name="Shape 188"/>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91" name="Text 189"/>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92" name="Shape 190"/>
          <p:cNvSpPr/>
          <p:nvPr/>
        </p:nvSpPr>
        <p:spPr>
          <a:xfrm>
            <a:off x="9464040" y="1700784"/>
            <a:ext cx="2670048" cy="420624"/>
          </a:xfrm>
          <a:prstGeom prst="rect">
            <a:avLst/>
          </a:prstGeom>
          <a:solidFill>
            <a:srgbClr val="FFFFFF"/>
          </a:solidFill>
          <a:ln w="6350">
            <a:solidFill>
              <a:srgbClr val="E5E7EB"/>
            </a:solidFill>
            <a:prstDash val="solid"/>
          </a:ln>
        </p:spPr>
      </p:sp>
      <p:sp>
        <p:nvSpPr>
          <p:cNvPr id="193" name="Shape 191"/>
          <p:cNvSpPr/>
          <p:nvPr/>
        </p:nvSpPr>
        <p:spPr>
          <a:xfrm>
            <a:off x="9537192" y="1792224"/>
            <a:ext cx="109728" cy="109728"/>
          </a:xfrm>
          <a:prstGeom prst="ellipse">
            <a:avLst/>
          </a:prstGeom>
          <a:solidFill>
            <a:srgbClr val="1558A8"/>
          </a:solidFill>
          <a:ln w="12700">
            <a:solidFill>
              <a:srgbClr val="1558A8"/>
            </a:solidFill>
            <a:prstDash val="solid"/>
          </a:ln>
        </p:spPr>
      </p:sp>
      <p:sp>
        <p:nvSpPr>
          <p:cNvPr id="194" name="Text 192"/>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95" name="Text 193"/>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96" name="Shape 194"/>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97" name="Text 195"/>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98" name="Shape 196"/>
          <p:cNvSpPr/>
          <p:nvPr/>
        </p:nvSpPr>
        <p:spPr>
          <a:xfrm>
            <a:off x="9464040" y="2176272"/>
            <a:ext cx="2670048" cy="420624"/>
          </a:xfrm>
          <a:prstGeom prst="rect">
            <a:avLst/>
          </a:prstGeom>
          <a:solidFill>
            <a:srgbClr val="FFFFFF"/>
          </a:solidFill>
          <a:ln w="6350">
            <a:solidFill>
              <a:srgbClr val="E5E7EB"/>
            </a:solidFill>
            <a:prstDash val="solid"/>
          </a:ln>
        </p:spPr>
      </p:sp>
      <p:sp>
        <p:nvSpPr>
          <p:cNvPr id="199" name="Shape 197"/>
          <p:cNvSpPr/>
          <p:nvPr/>
        </p:nvSpPr>
        <p:spPr>
          <a:xfrm>
            <a:off x="9537192" y="2267712"/>
            <a:ext cx="109728" cy="109728"/>
          </a:xfrm>
          <a:prstGeom prst="ellipse">
            <a:avLst/>
          </a:prstGeom>
          <a:solidFill>
            <a:srgbClr val="9CA3AF"/>
          </a:solidFill>
          <a:ln w="12700">
            <a:solidFill>
              <a:srgbClr val="9CA3AF"/>
            </a:solidFill>
            <a:prstDash val="solid"/>
          </a:ln>
        </p:spPr>
      </p:sp>
      <p:sp>
        <p:nvSpPr>
          <p:cNvPr id="200" name="Text 198"/>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201" name="Text 199"/>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202" name="Shape 200"/>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203" name="Text 201"/>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204" name="Shape 202"/>
          <p:cNvSpPr/>
          <p:nvPr/>
        </p:nvSpPr>
        <p:spPr>
          <a:xfrm>
            <a:off x="9464040" y="2651760"/>
            <a:ext cx="2670048" cy="420624"/>
          </a:xfrm>
          <a:prstGeom prst="rect">
            <a:avLst/>
          </a:prstGeom>
          <a:solidFill>
            <a:srgbClr val="FFFFFF"/>
          </a:solidFill>
          <a:ln w="6350">
            <a:solidFill>
              <a:srgbClr val="E5E7EB"/>
            </a:solidFill>
            <a:prstDash val="solid"/>
          </a:ln>
        </p:spPr>
      </p:sp>
      <p:sp>
        <p:nvSpPr>
          <p:cNvPr id="205" name="Shape 203"/>
          <p:cNvSpPr/>
          <p:nvPr/>
        </p:nvSpPr>
        <p:spPr>
          <a:xfrm>
            <a:off x="9537192" y="2743200"/>
            <a:ext cx="109728" cy="109728"/>
          </a:xfrm>
          <a:prstGeom prst="ellipse">
            <a:avLst/>
          </a:prstGeom>
          <a:solidFill>
            <a:srgbClr val="9CA3AF"/>
          </a:solidFill>
          <a:ln w="12700">
            <a:solidFill>
              <a:srgbClr val="9CA3AF"/>
            </a:solidFill>
            <a:prstDash val="solid"/>
          </a:ln>
        </p:spPr>
      </p:sp>
      <p:sp>
        <p:nvSpPr>
          <p:cNvPr id="206" name="Text 204"/>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207" name="Text 205"/>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208" name="Shape 206"/>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209" name="Text 207"/>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210" name="Shape 208"/>
          <p:cNvSpPr/>
          <p:nvPr/>
        </p:nvSpPr>
        <p:spPr>
          <a:xfrm>
            <a:off x="9482328" y="3200400"/>
            <a:ext cx="2633472" cy="0"/>
          </a:xfrm>
          <a:prstGeom prst="line">
            <a:avLst/>
          </a:prstGeom>
          <a:noFill/>
          <a:ln w="9525">
            <a:solidFill>
              <a:srgbClr val="DDE1E6"/>
            </a:solidFill>
            <a:prstDash val="solid"/>
          </a:ln>
        </p:spPr>
      </p:sp>
      <p:sp>
        <p:nvSpPr>
          <p:cNvPr id="211" name="Text 209"/>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212" name="Shape 210"/>
          <p:cNvSpPr/>
          <p:nvPr/>
        </p:nvSpPr>
        <p:spPr>
          <a:xfrm>
            <a:off x="9500616" y="3584448"/>
            <a:ext cx="749808" cy="173736"/>
          </a:xfrm>
          <a:prstGeom prst="roundRect">
            <a:avLst>
              <a:gd name="adj" fmla="val 15789"/>
            </a:avLst>
          </a:prstGeom>
          <a:solidFill>
            <a:srgbClr val="F3F4F6"/>
          </a:solidFill>
          <a:ln w="9525">
            <a:solidFill>
              <a:srgbClr val="D1D5DB"/>
            </a:solidFill>
            <a:prstDash val="solid"/>
          </a:ln>
        </p:spPr>
      </p:sp>
      <p:sp>
        <p:nvSpPr>
          <p:cNvPr id="213" name="Text 211"/>
          <p:cNvSpPr/>
          <p:nvPr/>
        </p:nvSpPr>
        <p:spPr>
          <a:xfrm>
            <a:off x="9500616" y="3584448"/>
            <a:ext cx="749808"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214" name="Text 212"/>
          <p:cNvSpPr/>
          <p:nvPr/>
        </p:nvSpPr>
        <p:spPr>
          <a:xfrm>
            <a:off x="10305288" y="35844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Work has not begun</a:t>
            </a:r>
            <a:endParaRPr lang="en-US" sz="700" dirty="0"/>
          </a:p>
        </p:txBody>
      </p:sp>
      <p:sp>
        <p:nvSpPr>
          <p:cNvPr id="215" name="Shape 213"/>
          <p:cNvSpPr/>
          <p:nvPr/>
        </p:nvSpPr>
        <p:spPr>
          <a:xfrm>
            <a:off x="9500616" y="3813048"/>
            <a:ext cx="749808" cy="173736"/>
          </a:xfrm>
          <a:prstGeom prst="roundRect">
            <a:avLst>
              <a:gd name="adj" fmla="val 15789"/>
            </a:avLst>
          </a:prstGeom>
          <a:solidFill>
            <a:srgbClr val="1558A8"/>
          </a:solidFill>
          <a:ln w="12700">
            <a:solidFill>
              <a:srgbClr val="1558A8"/>
            </a:solidFill>
            <a:prstDash val="solid"/>
          </a:ln>
        </p:spPr>
      </p:sp>
      <p:sp>
        <p:nvSpPr>
          <p:cNvPr id="216" name="Text 214"/>
          <p:cNvSpPr/>
          <p:nvPr/>
        </p:nvSpPr>
        <p:spPr>
          <a:xfrm>
            <a:off x="9500616" y="3813048"/>
            <a:ext cx="749808"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217" name="Text 215"/>
          <p:cNvSpPr/>
          <p:nvPr/>
        </p:nvSpPr>
        <p:spPr>
          <a:xfrm>
            <a:off x="10305288" y="38130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Active development underway</a:t>
            </a:r>
            <a:endParaRPr lang="en-US" sz="700" dirty="0"/>
          </a:p>
        </p:txBody>
      </p:sp>
      <p:sp>
        <p:nvSpPr>
          <p:cNvPr id="218" name="Shape 216"/>
          <p:cNvSpPr/>
          <p:nvPr/>
        </p:nvSpPr>
        <p:spPr>
          <a:xfrm>
            <a:off x="9500616" y="4041648"/>
            <a:ext cx="749808" cy="173736"/>
          </a:xfrm>
          <a:prstGeom prst="roundRect">
            <a:avLst>
              <a:gd name="adj" fmla="val 15789"/>
            </a:avLst>
          </a:prstGeom>
          <a:solidFill>
            <a:srgbClr val="FEE2E2"/>
          </a:solidFill>
          <a:ln w="19050">
            <a:solidFill>
              <a:srgbClr val="DC2626"/>
            </a:solidFill>
            <a:prstDash val="solid"/>
          </a:ln>
        </p:spPr>
      </p:sp>
      <p:sp>
        <p:nvSpPr>
          <p:cNvPr id="219" name="Text 217"/>
          <p:cNvSpPr/>
          <p:nvPr/>
        </p:nvSpPr>
        <p:spPr>
          <a:xfrm>
            <a:off x="9500616" y="4041648"/>
            <a:ext cx="749808"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220" name="Text 218"/>
          <p:cNvSpPr/>
          <p:nvPr/>
        </p:nvSpPr>
        <p:spPr>
          <a:xfrm>
            <a:off x="10305288" y="40416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Blocked by dependency</a:t>
            </a:r>
            <a:endParaRPr lang="en-US" sz="700" dirty="0"/>
          </a:p>
        </p:txBody>
      </p:sp>
      <p:sp>
        <p:nvSpPr>
          <p:cNvPr id="221" name="Shape 219"/>
          <p:cNvSpPr/>
          <p:nvPr/>
        </p:nvSpPr>
        <p:spPr>
          <a:xfrm>
            <a:off x="9500616" y="4270248"/>
            <a:ext cx="749808" cy="173736"/>
          </a:xfrm>
          <a:prstGeom prst="roundRect">
            <a:avLst>
              <a:gd name="adj" fmla="val 15789"/>
            </a:avLst>
          </a:prstGeom>
          <a:solidFill>
            <a:srgbClr val="DCFCE7"/>
          </a:solidFill>
          <a:ln w="12700">
            <a:solidFill>
              <a:srgbClr val="15803D"/>
            </a:solidFill>
            <a:prstDash val="solid"/>
          </a:ln>
        </p:spPr>
      </p:sp>
      <p:sp>
        <p:nvSpPr>
          <p:cNvPr id="222" name="Text 220"/>
          <p:cNvSpPr/>
          <p:nvPr/>
        </p:nvSpPr>
        <p:spPr>
          <a:xfrm>
            <a:off x="9500616" y="4270248"/>
            <a:ext cx="749808"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
        <p:nvSpPr>
          <p:cNvPr id="223" name="Text 221"/>
          <p:cNvSpPr/>
          <p:nvPr/>
        </p:nvSpPr>
        <p:spPr>
          <a:xfrm>
            <a:off x="10305288" y="42702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Complete ✓</a:t>
            </a:r>
            <a:endParaRPr lang="en-US" sz="700" dirty="0"/>
          </a:p>
        </p:txBody>
      </p:sp>
      <p:sp>
        <p:nvSpPr>
          <p:cNvPr id="224" name="Shape 222"/>
          <p:cNvSpPr/>
          <p:nvPr/>
        </p:nvSpPr>
        <p:spPr>
          <a:xfrm>
            <a:off x="9500616" y="4498848"/>
            <a:ext cx="749808" cy="173736"/>
          </a:xfrm>
          <a:prstGeom prst="roundRect">
            <a:avLst>
              <a:gd name="adj" fmla="val 15789"/>
            </a:avLst>
          </a:prstGeom>
          <a:solidFill>
            <a:srgbClr val="FEF3C7"/>
          </a:solidFill>
          <a:ln w="19050">
            <a:solidFill>
              <a:srgbClr val="D97706"/>
            </a:solidFill>
            <a:prstDash val="solid"/>
          </a:ln>
        </p:spPr>
      </p:sp>
      <p:sp>
        <p:nvSpPr>
          <p:cNvPr id="225" name="Text 223"/>
          <p:cNvSpPr/>
          <p:nvPr/>
        </p:nvSpPr>
        <p:spPr>
          <a:xfrm>
            <a:off x="9500616" y="4498848"/>
            <a:ext cx="749808" cy="173736"/>
          </a:xfrm>
          <a:prstGeom prst="rect">
            <a:avLst/>
          </a:prstGeom>
          <a:noFill/>
          <a:ln/>
        </p:spPr>
        <p:txBody>
          <a:bodyPr wrap="square" lIns="0" tIns="0" rIns="0" bIns="0" rtlCol="0" anchor="ctr"/>
          <a:lstStyle/>
          <a:p>
            <a:pPr algn="ctr" indent="0" marL="0">
              <a:buNone/>
            </a:pPr>
            <a:r>
              <a:rPr lang="en-US" sz="700" b="1" dirty="0">
                <a:solidFill>
                  <a:srgbClr val="78350F"/>
                </a:solidFill>
              </a:rPr>
              <a:t>At Risk</a:t>
            </a:r>
            <a:endParaRPr lang="en-US" sz="700" dirty="0"/>
          </a:p>
        </p:txBody>
      </p:sp>
      <p:sp>
        <p:nvSpPr>
          <p:cNvPr id="226" name="Text 224"/>
          <p:cNvSpPr/>
          <p:nvPr/>
        </p:nvSpPr>
        <p:spPr>
          <a:xfrm>
            <a:off x="10305288" y="44988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NS with unmet dependencies</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TC.com</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Web Browser  ·  Jul 17,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15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3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10%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3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164592" y="2336292"/>
            <a:ext cx="9116568" cy="1476756"/>
          </a:xfrm>
          <a:prstGeom prst="rect">
            <a:avLst/>
          </a:prstGeom>
          <a:solidFill>
            <a:srgbClr val="FFFFFF"/>
          </a:solidFill>
          <a:ln w="6350">
            <a:solidFill>
              <a:srgbClr val="E5E7EB"/>
            </a:solidFill>
            <a:prstDash val="solid"/>
          </a:ln>
        </p:spPr>
      </p:sp>
      <p:sp>
        <p:nvSpPr>
          <p:cNvPr id="37" name="Shape 35"/>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38" name="Text 36"/>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39" name="Text 37"/>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0" name="Shape 38"/>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42" name="Shape 40"/>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43" name="Text 41"/>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4" name="Shape 42"/>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46" name="Shape 44"/>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164592" y="3867912"/>
            <a:ext cx="9116568" cy="1476756"/>
          </a:xfrm>
          <a:prstGeom prst="rect">
            <a:avLst/>
          </a:prstGeom>
          <a:solidFill>
            <a:srgbClr val="FAFBFC"/>
          </a:solidFill>
          <a:ln w="6350">
            <a:solidFill>
              <a:srgbClr val="E5E7EB"/>
            </a:solidFill>
            <a:prstDash val="solid"/>
          </a:ln>
        </p:spPr>
      </p:sp>
      <p:sp>
        <p:nvSpPr>
          <p:cNvPr id="49" name="Shape 47"/>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0" name="Text 48"/>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1" name="Text 49"/>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52" name="Shape 50"/>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53" name="Text 51"/>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54" name="Shape 52"/>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55" name="Text 53"/>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6" name="Shape 54"/>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58" name="Shape 56"/>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62" name="Shape 60"/>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66" name="Shape 64"/>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0" name="Shape 68"/>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1" name="Text 69"/>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2" name="Shape 70"/>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74" name="Shape 72"/>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75" name="Text 73"/>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6" name="Shape 74"/>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78" name="Shape 76"/>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79" name="Text 77"/>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0" name="Shape 78"/>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82" name="Shape 80"/>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83" name="Text 81"/>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4" name="Shape 82"/>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86" name="Shape 84"/>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87" name="Text 85"/>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8" name="Shape 86"/>
          <p:cNvSpPr/>
          <p:nvPr/>
        </p:nvSpPr>
        <p:spPr>
          <a:xfrm>
            <a:off x="164592" y="5399532"/>
            <a:ext cx="9116568" cy="1476756"/>
          </a:xfrm>
          <a:prstGeom prst="rect">
            <a:avLst/>
          </a:prstGeom>
          <a:solidFill>
            <a:srgbClr val="FFFFFF"/>
          </a:solidFill>
          <a:ln w="6350">
            <a:solidFill>
              <a:srgbClr val="E5E7EB"/>
            </a:solidFill>
            <a:prstDash val="solid"/>
          </a:ln>
        </p:spPr>
      </p:sp>
      <p:sp>
        <p:nvSpPr>
          <p:cNvPr id="89" name="Shape 87"/>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0" name="Text 88"/>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1" name="Text 89"/>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92" name="Shape 90"/>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94" name="Shape 92"/>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98" name="Shape 96"/>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02" name="Shape 100"/>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06" name="Shape 104"/>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0" name="Shape 108"/>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14" name="Shape 112"/>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15" name="Text 113"/>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16" name="Shape 114"/>
          <p:cNvSpPr/>
          <p:nvPr/>
        </p:nvSpPr>
        <p:spPr>
          <a:xfrm>
            <a:off x="9372600" y="804672"/>
            <a:ext cx="2834640" cy="6071616"/>
          </a:xfrm>
          <a:prstGeom prst="rect">
            <a:avLst/>
          </a:prstGeom>
          <a:solidFill>
            <a:srgbClr val="F8FAFB"/>
          </a:solidFill>
          <a:ln w="12700">
            <a:solidFill>
              <a:srgbClr val="DDE1E6"/>
            </a:solidFill>
            <a:prstDash val="solid"/>
          </a:ln>
        </p:spPr>
      </p:sp>
      <p:sp>
        <p:nvSpPr>
          <p:cNvPr id="117" name="Text 115"/>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18" name="Shape 116"/>
          <p:cNvSpPr/>
          <p:nvPr/>
        </p:nvSpPr>
        <p:spPr>
          <a:xfrm>
            <a:off x="9464040" y="1225296"/>
            <a:ext cx="2670048" cy="420624"/>
          </a:xfrm>
          <a:prstGeom prst="rect">
            <a:avLst/>
          </a:prstGeom>
          <a:solidFill>
            <a:srgbClr val="FFFFFF"/>
          </a:solidFill>
          <a:ln w="6350">
            <a:solidFill>
              <a:srgbClr val="E5E7EB"/>
            </a:solidFill>
            <a:prstDash val="solid"/>
          </a:ln>
        </p:spPr>
      </p:sp>
      <p:sp>
        <p:nvSpPr>
          <p:cNvPr id="119" name="Shape 117"/>
          <p:cNvSpPr/>
          <p:nvPr/>
        </p:nvSpPr>
        <p:spPr>
          <a:xfrm>
            <a:off x="9537192" y="1316736"/>
            <a:ext cx="109728" cy="109728"/>
          </a:xfrm>
          <a:prstGeom prst="ellipse">
            <a:avLst/>
          </a:prstGeom>
          <a:solidFill>
            <a:srgbClr val="16A34A"/>
          </a:solidFill>
          <a:ln w="12700">
            <a:solidFill>
              <a:srgbClr val="16A34A"/>
            </a:solidFill>
            <a:prstDash val="solid"/>
          </a:ln>
        </p:spPr>
      </p:sp>
      <p:sp>
        <p:nvSpPr>
          <p:cNvPr id="120" name="Text 118"/>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1" name="Text 119"/>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22" name="Shape 120"/>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23" name="Text 121"/>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24" name="Shape 122"/>
          <p:cNvSpPr/>
          <p:nvPr/>
        </p:nvSpPr>
        <p:spPr>
          <a:xfrm>
            <a:off x="9464040" y="1700784"/>
            <a:ext cx="2670048" cy="420624"/>
          </a:xfrm>
          <a:prstGeom prst="rect">
            <a:avLst/>
          </a:prstGeom>
          <a:solidFill>
            <a:srgbClr val="FFFFFF"/>
          </a:solidFill>
          <a:ln w="6350">
            <a:solidFill>
              <a:srgbClr val="E5E7EB"/>
            </a:solidFill>
            <a:prstDash val="solid"/>
          </a:ln>
        </p:spPr>
      </p:sp>
      <p:sp>
        <p:nvSpPr>
          <p:cNvPr id="125" name="Shape 123"/>
          <p:cNvSpPr/>
          <p:nvPr/>
        </p:nvSpPr>
        <p:spPr>
          <a:xfrm>
            <a:off x="9537192" y="1792224"/>
            <a:ext cx="109728" cy="109728"/>
          </a:xfrm>
          <a:prstGeom prst="ellipse">
            <a:avLst/>
          </a:prstGeom>
          <a:solidFill>
            <a:srgbClr val="1558A8"/>
          </a:solidFill>
          <a:ln w="12700">
            <a:solidFill>
              <a:srgbClr val="1558A8"/>
            </a:solidFill>
            <a:prstDash val="solid"/>
          </a:ln>
        </p:spPr>
      </p:sp>
      <p:sp>
        <p:nvSpPr>
          <p:cNvPr id="126" name="Text 124"/>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27" name="Text 125"/>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28" name="Shape 126"/>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29" name="Text 127"/>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0" name="Shape 128"/>
          <p:cNvSpPr/>
          <p:nvPr/>
        </p:nvSpPr>
        <p:spPr>
          <a:xfrm>
            <a:off x="9464040" y="2176272"/>
            <a:ext cx="2670048" cy="420624"/>
          </a:xfrm>
          <a:prstGeom prst="rect">
            <a:avLst/>
          </a:prstGeom>
          <a:solidFill>
            <a:srgbClr val="FFFFFF"/>
          </a:solidFill>
          <a:ln w="6350">
            <a:solidFill>
              <a:srgbClr val="E5E7EB"/>
            </a:solidFill>
            <a:prstDash val="solid"/>
          </a:ln>
        </p:spPr>
      </p:sp>
      <p:sp>
        <p:nvSpPr>
          <p:cNvPr id="131" name="Shape 129"/>
          <p:cNvSpPr/>
          <p:nvPr/>
        </p:nvSpPr>
        <p:spPr>
          <a:xfrm>
            <a:off x="9537192" y="2267712"/>
            <a:ext cx="109728" cy="109728"/>
          </a:xfrm>
          <a:prstGeom prst="ellipse">
            <a:avLst/>
          </a:prstGeom>
          <a:solidFill>
            <a:srgbClr val="9CA3AF"/>
          </a:solidFill>
          <a:ln w="12700">
            <a:solidFill>
              <a:srgbClr val="9CA3AF"/>
            </a:solidFill>
            <a:prstDash val="solid"/>
          </a:ln>
        </p:spPr>
      </p:sp>
      <p:sp>
        <p:nvSpPr>
          <p:cNvPr id="132" name="Text 130"/>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33" name="Text 131"/>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34" name="Shape 132"/>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35" name="Text 133"/>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36" name="Shape 134"/>
          <p:cNvSpPr/>
          <p:nvPr/>
        </p:nvSpPr>
        <p:spPr>
          <a:xfrm>
            <a:off x="9464040" y="2651760"/>
            <a:ext cx="2670048" cy="420624"/>
          </a:xfrm>
          <a:prstGeom prst="rect">
            <a:avLst/>
          </a:prstGeom>
          <a:solidFill>
            <a:srgbClr val="FFFFFF"/>
          </a:solidFill>
          <a:ln w="6350">
            <a:solidFill>
              <a:srgbClr val="E5E7EB"/>
            </a:solidFill>
            <a:prstDash val="solid"/>
          </a:ln>
        </p:spPr>
      </p:sp>
      <p:sp>
        <p:nvSpPr>
          <p:cNvPr id="137" name="Shape 135"/>
          <p:cNvSpPr/>
          <p:nvPr/>
        </p:nvSpPr>
        <p:spPr>
          <a:xfrm>
            <a:off x="9537192" y="2743200"/>
            <a:ext cx="109728" cy="109728"/>
          </a:xfrm>
          <a:prstGeom prst="ellipse">
            <a:avLst/>
          </a:prstGeom>
          <a:solidFill>
            <a:srgbClr val="9CA3AF"/>
          </a:solidFill>
          <a:ln w="12700">
            <a:solidFill>
              <a:srgbClr val="9CA3AF"/>
            </a:solidFill>
            <a:prstDash val="solid"/>
          </a:ln>
        </p:spPr>
      </p:sp>
      <p:sp>
        <p:nvSpPr>
          <p:cNvPr id="138" name="Text 136"/>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39" name="Text 137"/>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0" name="Shape 138"/>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1" name="Text 139"/>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2" name="Shape 140"/>
          <p:cNvSpPr/>
          <p:nvPr/>
        </p:nvSpPr>
        <p:spPr>
          <a:xfrm>
            <a:off x="9482328" y="3200400"/>
            <a:ext cx="2633472" cy="0"/>
          </a:xfrm>
          <a:prstGeom prst="line">
            <a:avLst/>
          </a:prstGeom>
          <a:noFill/>
          <a:ln w="9525">
            <a:solidFill>
              <a:srgbClr val="DDE1E6"/>
            </a:solidFill>
            <a:prstDash val="solid"/>
          </a:ln>
        </p:spPr>
      </p:sp>
      <p:sp>
        <p:nvSpPr>
          <p:cNvPr id="143" name="Text 141"/>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44" name="Shape 142"/>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45" name="Text 143"/>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46" name="Shape 144"/>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47" name="Text 145"/>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48" name="Shape 146"/>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49" name="Text 147"/>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0" name="Shape 148"/>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1" name="Text 149"/>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iOS</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iPhone · iPad  ·  Jul 17,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16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3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10%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4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164592" y="2336292"/>
            <a:ext cx="9116568" cy="1476756"/>
          </a:xfrm>
          <a:prstGeom prst="rect">
            <a:avLst/>
          </a:prstGeom>
          <a:solidFill>
            <a:srgbClr val="FFFFFF"/>
          </a:solidFill>
          <a:ln w="6350">
            <a:solidFill>
              <a:srgbClr val="E5E7EB"/>
            </a:solidFill>
            <a:prstDash val="solid"/>
          </a:ln>
        </p:spPr>
      </p:sp>
      <p:sp>
        <p:nvSpPr>
          <p:cNvPr id="41" name="Shape 39"/>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42" name="Text 40"/>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43" name="Text 41"/>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4" name="Shape 42"/>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46" name="Shape 44"/>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50" name="Shape 48"/>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51" name="Text 49"/>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2" name="Shape 50"/>
          <p:cNvSpPr/>
          <p:nvPr/>
        </p:nvSpPr>
        <p:spPr>
          <a:xfrm>
            <a:off x="164592" y="3867912"/>
            <a:ext cx="9116568" cy="1476756"/>
          </a:xfrm>
          <a:prstGeom prst="rect">
            <a:avLst/>
          </a:prstGeom>
          <a:solidFill>
            <a:srgbClr val="FAFBFC"/>
          </a:solidFill>
          <a:ln w="6350">
            <a:solidFill>
              <a:srgbClr val="E5E7EB"/>
            </a:solidFill>
            <a:prstDash val="solid"/>
          </a:ln>
        </p:spPr>
      </p:sp>
      <p:sp>
        <p:nvSpPr>
          <p:cNvPr id="53" name="Shape 51"/>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4" name="Text 52"/>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5" name="Text 53"/>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56" name="Shape 54"/>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58" name="Shape 56"/>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62" name="Shape 60"/>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66" name="Shape 64"/>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70" name="Shape 68"/>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4" name="Shape 72"/>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5" name="Text 73"/>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6" name="Shape 74"/>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78" name="Shape 76"/>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79" name="Text 77"/>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0" name="Shape 78"/>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82" name="Shape 80"/>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83" name="Text 81"/>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4" name="Shape 82"/>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86" name="Shape 84"/>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87" name="Text 85"/>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8" name="Shape 86"/>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90" name="Shape 88"/>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91" name="Text 89"/>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2" name="Shape 90"/>
          <p:cNvSpPr/>
          <p:nvPr/>
        </p:nvSpPr>
        <p:spPr>
          <a:xfrm>
            <a:off x="164592" y="5399532"/>
            <a:ext cx="9116568" cy="1476756"/>
          </a:xfrm>
          <a:prstGeom prst="rect">
            <a:avLst/>
          </a:prstGeom>
          <a:solidFill>
            <a:srgbClr val="FFFFFF"/>
          </a:solidFill>
          <a:ln w="6350">
            <a:solidFill>
              <a:srgbClr val="E5E7EB"/>
            </a:solidFill>
            <a:prstDash val="solid"/>
          </a:ln>
        </p:spPr>
      </p:sp>
      <p:sp>
        <p:nvSpPr>
          <p:cNvPr id="93" name="Shape 91"/>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4" name="Text 92"/>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5" name="Text 93"/>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96" name="Shape 94"/>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98" name="Shape 96"/>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02" name="Shape 100"/>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06" name="Shape 104"/>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10" name="Shape 108"/>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4" name="Shape 112"/>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18" name="Shape 116"/>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19" name="Text 117"/>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0" name="Shape 118"/>
          <p:cNvSpPr/>
          <p:nvPr/>
        </p:nvSpPr>
        <p:spPr>
          <a:xfrm>
            <a:off x="9372600" y="804672"/>
            <a:ext cx="2834640" cy="6071616"/>
          </a:xfrm>
          <a:prstGeom prst="rect">
            <a:avLst/>
          </a:prstGeom>
          <a:solidFill>
            <a:srgbClr val="F8FAFB"/>
          </a:solidFill>
          <a:ln w="12700">
            <a:solidFill>
              <a:srgbClr val="DDE1E6"/>
            </a:solidFill>
            <a:prstDash val="solid"/>
          </a:ln>
        </p:spPr>
      </p:sp>
      <p:sp>
        <p:nvSpPr>
          <p:cNvPr id="121" name="Text 119"/>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22" name="Shape 120"/>
          <p:cNvSpPr/>
          <p:nvPr/>
        </p:nvSpPr>
        <p:spPr>
          <a:xfrm>
            <a:off x="9464040" y="1225296"/>
            <a:ext cx="2670048" cy="420624"/>
          </a:xfrm>
          <a:prstGeom prst="rect">
            <a:avLst/>
          </a:prstGeom>
          <a:solidFill>
            <a:srgbClr val="FFFFFF"/>
          </a:solidFill>
          <a:ln w="6350">
            <a:solidFill>
              <a:srgbClr val="E5E7EB"/>
            </a:solidFill>
            <a:prstDash val="solid"/>
          </a:ln>
        </p:spPr>
      </p:sp>
      <p:sp>
        <p:nvSpPr>
          <p:cNvPr id="123" name="Shape 121"/>
          <p:cNvSpPr/>
          <p:nvPr/>
        </p:nvSpPr>
        <p:spPr>
          <a:xfrm>
            <a:off x="9537192" y="1316736"/>
            <a:ext cx="109728" cy="109728"/>
          </a:xfrm>
          <a:prstGeom prst="ellipse">
            <a:avLst/>
          </a:prstGeom>
          <a:solidFill>
            <a:srgbClr val="16A34A"/>
          </a:solidFill>
          <a:ln w="12700">
            <a:solidFill>
              <a:srgbClr val="16A34A"/>
            </a:solidFill>
            <a:prstDash val="solid"/>
          </a:ln>
        </p:spPr>
      </p:sp>
      <p:sp>
        <p:nvSpPr>
          <p:cNvPr id="124" name="Text 122"/>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5" name="Text 123"/>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26" name="Shape 124"/>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27" name="Text 125"/>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28" name="Shape 126"/>
          <p:cNvSpPr/>
          <p:nvPr/>
        </p:nvSpPr>
        <p:spPr>
          <a:xfrm>
            <a:off x="9464040" y="1700784"/>
            <a:ext cx="2670048" cy="420624"/>
          </a:xfrm>
          <a:prstGeom prst="rect">
            <a:avLst/>
          </a:prstGeom>
          <a:solidFill>
            <a:srgbClr val="FFFFFF"/>
          </a:solidFill>
          <a:ln w="6350">
            <a:solidFill>
              <a:srgbClr val="E5E7EB"/>
            </a:solidFill>
            <a:prstDash val="solid"/>
          </a:ln>
        </p:spPr>
      </p:sp>
      <p:sp>
        <p:nvSpPr>
          <p:cNvPr id="129" name="Shape 127"/>
          <p:cNvSpPr/>
          <p:nvPr/>
        </p:nvSpPr>
        <p:spPr>
          <a:xfrm>
            <a:off x="9537192" y="1792224"/>
            <a:ext cx="109728" cy="109728"/>
          </a:xfrm>
          <a:prstGeom prst="ellipse">
            <a:avLst/>
          </a:prstGeom>
          <a:solidFill>
            <a:srgbClr val="1558A8"/>
          </a:solidFill>
          <a:ln w="12700">
            <a:solidFill>
              <a:srgbClr val="1558A8"/>
            </a:solidFill>
            <a:prstDash val="solid"/>
          </a:ln>
        </p:spPr>
      </p:sp>
      <p:sp>
        <p:nvSpPr>
          <p:cNvPr id="130" name="Text 128"/>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31" name="Text 129"/>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32" name="Shape 130"/>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33" name="Text 131"/>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4" name="Shape 132"/>
          <p:cNvSpPr/>
          <p:nvPr/>
        </p:nvSpPr>
        <p:spPr>
          <a:xfrm>
            <a:off x="9464040" y="2176272"/>
            <a:ext cx="2670048" cy="420624"/>
          </a:xfrm>
          <a:prstGeom prst="rect">
            <a:avLst/>
          </a:prstGeom>
          <a:solidFill>
            <a:srgbClr val="FFFFFF"/>
          </a:solidFill>
          <a:ln w="6350">
            <a:solidFill>
              <a:srgbClr val="E5E7EB"/>
            </a:solidFill>
            <a:prstDash val="solid"/>
          </a:ln>
        </p:spPr>
      </p:sp>
      <p:sp>
        <p:nvSpPr>
          <p:cNvPr id="135" name="Shape 133"/>
          <p:cNvSpPr/>
          <p:nvPr/>
        </p:nvSpPr>
        <p:spPr>
          <a:xfrm>
            <a:off x="9537192" y="2267712"/>
            <a:ext cx="109728" cy="109728"/>
          </a:xfrm>
          <a:prstGeom prst="ellipse">
            <a:avLst/>
          </a:prstGeom>
          <a:solidFill>
            <a:srgbClr val="9CA3AF"/>
          </a:solidFill>
          <a:ln w="12700">
            <a:solidFill>
              <a:srgbClr val="9CA3AF"/>
            </a:solidFill>
            <a:prstDash val="solid"/>
          </a:ln>
        </p:spPr>
      </p:sp>
      <p:sp>
        <p:nvSpPr>
          <p:cNvPr id="136" name="Text 134"/>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37" name="Text 135"/>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38" name="Shape 136"/>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39" name="Text 137"/>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0" name="Shape 138"/>
          <p:cNvSpPr/>
          <p:nvPr/>
        </p:nvSpPr>
        <p:spPr>
          <a:xfrm>
            <a:off x="9464040" y="2651760"/>
            <a:ext cx="2670048" cy="420624"/>
          </a:xfrm>
          <a:prstGeom prst="rect">
            <a:avLst/>
          </a:prstGeom>
          <a:solidFill>
            <a:srgbClr val="FFFFFF"/>
          </a:solidFill>
          <a:ln w="6350">
            <a:solidFill>
              <a:srgbClr val="E5E7EB"/>
            </a:solidFill>
            <a:prstDash val="solid"/>
          </a:ln>
        </p:spPr>
      </p:sp>
      <p:sp>
        <p:nvSpPr>
          <p:cNvPr id="141" name="Shape 139"/>
          <p:cNvSpPr/>
          <p:nvPr/>
        </p:nvSpPr>
        <p:spPr>
          <a:xfrm>
            <a:off x="9537192" y="2743200"/>
            <a:ext cx="109728" cy="109728"/>
          </a:xfrm>
          <a:prstGeom prst="ellipse">
            <a:avLst/>
          </a:prstGeom>
          <a:solidFill>
            <a:srgbClr val="9CA3AF"/>
          </a:solidFill>
          <a:ln w="12700">
            <a:solidFill>
              <a:srgbClr val="9CA3AF"/>
            </a:solidFill>
            <a:prstDash val="solid"/>
          </a:ln>
        </p:spPr>
      </p:sp>
      <p:sp>
        <p:nvSpPr>
          <p:cNvPr id="142" name="Text 140"/>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43" name="Text 141"/>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4" name="Shape 142"/>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5" name="Text 143"/>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6" name="Shape 144"/>
          <p:cNvSpPr/>
          <p:nvPr/>
        </p:nvSpPr>
        <p:spPr>
          <a:xfrm>
            <a:off x="9482328" y="3200400"/>
            <a:ext cx="2633472" cy="0"/>
          </a:xfrm>
          <a:prstGeom prst="line">
            <a:avLst/>
          </a:prstGeom>
          <a:noFill/>
          <a:ln w="9525">
            <a:solidFill>
              <a:srgbClr val="DDE1E6"/>
            </a:solidFill>
            <a:prstDash val="solid"/>
          </a:ln>
        </p:spPr>
      </p:sp>
      <p:sp>
        <p:nvSpPr>
          <p:cNvPr id="147" name="Text 145"/>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48" name="Shape 146"/>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49" name="Text 147"/>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50" name="Shape 148"/>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51" name="Text 149"/>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52" name="Shape 150"/>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53" name="Text 151"/>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4" name="Shape 152"/>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5" name="Text 153"/>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Android</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Android Phone · Tablet  ·  Jul 17,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17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3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9%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5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42" name="Shape 40"/>
          <p:cNvSpPr/>
          <p:nvPr/>
        </p:nvSpPr>
        <p:spPr>
          <a:xfrm>
            <a:off x="5230368" y="1280160"/>
            <a:ext cx="932688" cy="155448"/>
          </a:xfrm>
          <a:prstGeom prst="roundRect">
            <a:avLst>
              <a:gd name="adj" fmla="val 17647"/>
            </a:avLst>
          </a:prstGeom>
          <a:solidFill>
            <a:srgbClr val="1558A8"/>
          </a:solidFill>
          <a:ln w="12700">
            <a:solidFill>
              <a:srgbClr val="1558A8"/>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4" name="Shape 42"/>
          <p:cNvSpPr/>
          <p:nvPr/>
        </p:nvSpPr>
        <p:spPr>
          <a:xfrm>
            <a:off x="164592" y="2336292"/>
            <a:ext cx="9116568" cy="1476756"/>
          </a:xfrm>
          <a:prstGeom prst="rect">
            <a:avLst/>
          </a:prstGeom>
          <a:solidFill>
            <a:srgbClr val="FFFFFF"/>
          </a:solidFill>
          <a:ln w="6350">
            <a:solidFill>
              <a:srgbClr val="E5E7EB"/>
            </a:solidFill>
            <a:prstDash val="solid"/>
          </a:ln>
        </p:spPr>
      </p:sp>
      <p:sp>
        <p:nvSpPr>
          <p:cNvPr id="45" name="Shape 43"/>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46" name="Text 44"/>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47" name="Text 45"/>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8" name="Shape 46"/>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50" name="Shape 48"/>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51" name="Text 49"/>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2" name="Shape 50"/>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53" name="Text 51"/>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54" name="Shape 52"/>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55" name="Text 53"/>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6" name="Shape 54"/>
          <p:cNvSpPr/>
          <p:nvPr/>
        </p:nvSpPr>
        <p:spPr>
          <a:xfrm>
            <a:off x="164592" y="3867912"/>
            <a:ext cx="9116568" cy="1476756"/>
          </a:xfrm>
          <a:prstGeom prst="rect">
            <a:avLst/>
          </a:prstGeom>
          <a:solidFill>
            <a:srgbClr val="FAFBFC"/>
          </a:solidFill>
          <a:ln w="6350">
            <a:solidFill>
              <a:srgbClr val="E5E7EB"/>
            </a:solidFill>
            <a:prstDash val="solid"/>
          </a:ln>
        </p:spPr>
      </p:sp>
      <p:sp>
        <p:nvSpPr>
          <p:cNvPr id="57" name="Shape 55"/>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8" name="Text 56"/>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9" name="Text 57"/>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60" name="Shape 58"/>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62" name="Shape 60"/>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66" name="Shape 64"/>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70" name="Shape 68"/>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74" name="Shape 72"/>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8" name="Shape 76"/>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9" name="Text 77"/>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0" name="Shape 78"/>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82" name="Shape 80"/>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83" name="Text 81"/>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4" name="Shape 82"/>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86" name="Shape 84"/>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87" name="Text 85"/>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8" name="Shape 86"/>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90" name="Shape 88"/>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91" name="Text 89"/>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92" name="Shape 90"/>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94" name="Shape 92"/>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164592" y="5399532"/>
            <a:ext cx="9116568" cy="1476756"/>
          </a:xfrm>
          <a:prstGeom prst="rect">
            <a:avLst/>
          </a:prstGeom>
          <a:solidFill>
            <a:srgbClr val="FFFFFF"/>
          </a:solidFill>
          <a:ln w="6350">
            <a:solidFill>
              <a:srgbClr val="E5E7EB"/>
            </a:solidFill>
            <a:prstDash val="solid"/>
          </a:ln>
        </p:spPr>
      </p:sp>
      <p:sp>
        <p:nvSpPr>
          <p:cNvPr id="97" name="Shape 95"/>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8" name="Text 96"/>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9" name="Text 97"/>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100" name="Shape 98"/>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02" name="Shape 100"/>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06" name="Shape 104"/>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10" name="Shape 108"/>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14" name="Shape 112"/>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8" name="Shape 116"/>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9" name="Text 117"/>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0" name="Shape 118"/>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22" name="Shape 120"/>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23" name="Text 121"/>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4" name="Shape 122"/>
          <p:cNvSpPr/>
          <p:nvPr/>
        </p:nvSpPr>
        <p:spPr>
          <a:xfrm>
            <a:off x="9372600" y="804672"/>
            <a:ext cx="2834640" cy="6071616"/>
          </a:xfrm>
          <a:prstGeom prst="rect">
            <a:avLst/>
          </a:prstGeom>
          <a:solidFill>
            <a:srgbClr val="F8FAFB"/>
          </a:solidFill>
          <a:ln w="12700">
            <a:solidFill>
              <a:srgbClr val="DDE1E6"/>
            </a:solidFill>
            <a:prstDash val="solid"/>
          </a:ln>
        </p:spPr>
      </p:sp>
      <p:sp>
        <p:nvSpPr>
          <p:cNvPr id="125" name="Text 123"/>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26" name="Shape 124"/>
          <p:cNvSpPr/>
          <p:nvPr/>
        </p:nvSpPr>
        <p:spPr>
          <a:xfrm>
            <a:off x="9464040" y="1225296"/>
            <a:ext cx="2670048" cy="420624"/>
          </a:xfrm>
          <a:prstGeom prst="rect">
            <a:avLst/>
          </a:prstGeom>
          <a:solidFill>
            <a:srgbClr val="FFFFFF"/>
          </a:solidFill>
          <a:ln w="6350">
            <a:solidFill>
              <a:srgbClr val="E5E7EB"/>
            </a:solidFill>
            <a:prstDash val="solid"/>
          </a:ln>
        </p:spPr>
      </p:sp>
      <p:sp>
        <p:nvSpPr>
          <p:cNvPr id="127" name="Shape 125"/>
          <p:cNvSpPr/>
          <p:nvPr/>
        </p:nvSpPr>
        <p:spPr>
          <a:xfrm>
            <a:off x="9537192" y="1316736"/>
            <a:ext cx="109728" cy="109728"/>
          </a:xfrm>
          <a:prstGeom prst="ellipse">
            <a:avLst/>
          </a:prstGeom>
          <a:solidFill>
            <a:srgbClr val="16A34A"/>
          </a:solidFill>
          <a:ln w="12700">
            <a:solidFill>
              <a:srgbClr val="16A34A"/>
            </a:solidFill>
            <a:prstDash val="solid"/>
          </a:ln>
        </p:spPr>
      </p:sp>
      <p:sp>
        <p:nvSpPr>
          <p:cNvPr id="128" name="Text 126"/>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9" name="Text 127"/>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30" name="Shape 128"/>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31" name="Text 129"/>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32" name="Shape 130"/>
          <p:cNvSpPr/>
          <p:nvPr/>
        </p:nvSpPr>
        <p:spPr>
          <a:xfrm>
            <a:off x="9464040" y="1700784"/>
            <a:ext cx="2670048" cy="420624"/>
          </a:xfrm>
          <a:prstGeom prst="rect">
            <a:avLst/>
          </a:prstGeom>
          <a:solidFill>
            <a:srgbClr val="FFFFFF"/>
          </a:solidFill>
          <a:ln w="6350">
            <a:solidFill>
              <a:srgbClr val="E5E7EB"/>
            </a:solidFill>
            <a:prstDash val="solid"/>
          </a:ln>
        </p:spPr>
      </p:sp>
      <p:sp>
        <p:nvSpPr>
          <p:cNvPr id="133" name="Shape 131"/>
          <p:cNvSpPr/>
          <p:nvPr/>
        </p:nvSpPr>
        <p:spPr>
          <a:xfrm>
            <a:off x="9537192" y="1792224"/>
            <a:ext cx="109728" cy="109728"/>
          </a:xfrm>
          <a:prstGeom prst="ellipse">
            <a:avLst/>
          </a:prstGeom>
          <a:solidFill>
            <a:srgbClr val="1558A8"/>
          </a:solidFill>
          <a:ln w="12700">
            <a:solidFill>
              <a:srgbClr val="1558A8"/>
            </a:solidFill>
            <a:prstDash val="solid"/>
          </a:ln>
        </p:spPr>
      </p:sp>
      <p:sp>
        <p:nvSpPr>
          <p:cNvPr id="134" name="Text 132"/>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35" name="Text 133"/>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36" name="Shape 134"/>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37" name="Text 135"/>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8" name="Shape 136"/>
          <p:cNvSpPr/>
          <p:nvPr/>
        </p:nvSpPr>
        <p:spPr>
          <a:xfrm>
            <a:off x="9464040" y="2176272"/>
            <a:ext cx="2670048" cy="420624"/>
          </a:xfrm>
          <a:prstGeom prst="rect">
            <a:avLst/>
          </a:prstGeom>
          <a:solidFill>
            <a:srgbClr val="FFFFFF"/>
          </a:solidFill>
          <a:ln w="6350">
            <a:solidFill>
              <a:srgbClr val="E5E7EB"/>
            </a:solidFill>
            <a:prstDash val="solid"/>
          </a:ln>
        </p:spPr>
      </p:sp>
      <p:sp>
        <p:nvSpPr>
          <p:cNvPr id="139" name="Shape 137"/>
          <p:cNvSpPr/>
          <p:nvPr/>
        </p:nvSpPr>
        <p:spPr>
          <a:xfrm>
            <a:off x="9537192" y="2267712"/>
            <a:ext cx="109728" cy="109728"/>
          </a:xfrm>
          <a:prstGeom prst="ellipse">
            <a:avLst/>
          </a:prstGeom>
          <a:solidFill>
            <a:srgbClr val="9CA3AF"/>
          </a:solidFill>
          <a:ln w="12700">
            <a:solidFill>
              <a:srgbClr val="9CA3AF"/>
            </a:solidFill>
            <a:prstDash val="solid"/>
          </a:ln>
        </p:spPr>
      </p:sp>
      <p:sp>
        <p:nvSpPr>
          <p:cNvPr id="140" name="Text 138"/>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41" name="Text 139"/>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42" name="Shape 140"/>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43" name="Text 141"/>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4" name="Shape 142"/>
          <p:cNvSpPr/>
          <p:nvPr/>
        </p:nvSpPr>
        <p:spPr>
          <a:xfrm>
            <a:off x="9464040" y="2651760"/>
            <a:ext cx="2670048" cy="420624"/>
          </a:xfrm>
          <a:prstGeom prst="rect">
            <a:avLst/>
          </a:prstGeom>
          <a:solidFill>
            <a:srgbClr val="FFFFFF"/>
          </a:solidFill>
          <a:ln w="6350">
            <a:solidFill>
              <a:srgbClr val="E5E7EB"/>
            </a:solidFill>
            <a:prstDash val="solid"/>
          </a:ln>
        </p:spPr>
      </p:sp>
      <p:sp>
        <p:nvSpPr>
          <p:cNvPr id="145" name="Shape 143"/>
          <p:cNvSpPr/>
          <p:nvPr/>
        </p:nvSpPr>
        <p:spPr>
          <a:xfrm>
            <a:off x="9537192" y="2743200"/>
            <a:ext cx="109728" cy="109728"/>
          </a:xfrm>
          <a:prstGeom prst="ellipse">
            <a:avLst/>
          </a:prstGeom>
          <a:solidFill>
            <a:srgbClr val="9CA3AF"/>
          </a:solidFill>
          <a:ln w="12700">
            <a:solidFill>
              <a:srgbClr val="9CA3AF"/>
            </a:solidFill>
            <a:prstDash val="solid"/>
          </a:ln>
        </p:spPr>
      </p:sp>
      <p:sp>
        <p:nvSpPr>
          <p:cNvPr id="146" name="Text 144"/>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47" name="Text 145"/>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8" name="Shape 146"/>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9" name="Text 147"/>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50" name="Shape 148"/>
          <p:cNvSpPr/>
          <p:nvPr/>
        </p:nvSpPr>
        <p:spPr>
          <a:xfrm>
            <a:off x="9482328" y="3200400"/>
            <a:ext cx="2633472" cy="0"/>
          </a:xfrm>
          <a:prstGeom prst="line">
            <a:avLst/>
          </a:prstGeom>
          <a:noFill/>
          <a:ln w="9525">
            <a:solidFill>
              <a:srgbClr val="DDE1E6"/>
            </a:solidFill>
            <a:prstDash val="solid"/>
          </a:ln>
        </p:spPr>
      </p:sp>
      <p:sp>
        <p:nvSpPr>
          <p:cNvPr id="151" name="Text 149"/>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52" name="Shape 150"/>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53" name="Text 151"/>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54" name="Shape 152"/>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55" name="Text 153"/>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56" name="Shape 154"/>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57" name="Text 155"/>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8" name="Shape 156"/>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9" name="Text 157"/>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FOXXUM</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Roku · Fire TV · Samsung · tvOS  ·  Jul 17,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2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19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3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Text 14"/>
          <p:cNvSpPr/>
          <p:nvPr/>
        </p:nvSpPr>
        <p:spPr>
          <a:xfrm>
            <a:off x="8028432" y="521208"/>
            <a:ext cx="548640" cy="219456"/>
          </a:xfrm>
          <a:prstGeom prst="rect">
            <a:avLst/>
          </a:prstGeom>
          <a:noFill/>
          <a:ln/>
        </p:spPr>
        <p:txBody>
          <a:bodyPr wrap="square" lIns="0" tIns="0" rIns="0" bIns="0" rtlCol="0" anchor="ctr"/>
          <a:lstStyle/>
          <a:p>
            <a:pPr algn="l" indent="0" marL="0">
              <a:buNone/>
            </a:pPr>
            <a:r>
              <a:rPr lang="en-US" sz="800" b="1" dirty="0">
                <a:solidFill>
                  <a:srgbClr val="374151"/>
                </a:solidFill>
              </a:rPr>
              <a:t>Covers:</a:t>
            </a:r>
            <a:endParaRPr lang="en-US" sz="800" dirty="0"/>
          </a:p>
        </p:txBody>
      </p:sp>
      <p:sp>
        <p:nvSpPr>
          <p:cNvPr id="17" name="Shape 15"/>
          <p:cNvSpPr/>
          <p:nvPr/>
        </p:nvSpPr>
        <p:spPr>
          <a:xfrm>
            <a:off x="8613648" y="512064"/>
            <a:ext cx="585216" cy="237744"/>
          </a:xfrm>
          <a:prstGeom prst="roundRect">
            <a:avLst>
              <a:gd name="adj" fmla="val 15385"/>
            </a:avLst>
          </a:prstGeom>
          <a:solidFill>
            <a:srgbClr val="F0FDF4"/>
          </a:solidFill>
          <a:ln w="12700">
            <a:solidFill>
              <a:srgbClr val="8ED973"/>
            </a:solidFill>
            <a:prstDash val="solid"/>
          </a:ln>
        </p:spPr>
      </p:sp>
      <p:sp>
        <p:nvSpPr>
          <p:cNvPr id="18" name="Text 16"/>
          <p:cNvSpPr/>
          <p:nvPr/>
        </p:nvSpPr>
        <p:spPr>
          <a:xfrm>
            <a:off x="8613648" y="512064"/>
            <a:ext cx="585216" cy="237744"/>
          </a:xfrm>
          <a:prstGeom prst="rect">
            <a:avLst/>
          </a:prstGeom>
          <a:noFill/>
          <a:ln/>
        </p:spPr>
        <p:txBody>
          <a:bodyPr wrap="square" lIns="0" tIns="0" rIns="0" bIns="0" rtlCol="0" anchor="ctr"/>
          <a:lstStyle/>
          <a:p>
            <a:pPr algn="ctr" indent="0" marL="0">
              <a:buNone/>
            </a:pPr>
            <a:r>
              <a:rPr lang="en-US" sz="800" b="1" dirty="0">
                <a:solidFill>
                  <a:srgbClr val="388849"/>
                </a:solidFill>
              </a:rPr>
              <a:t>Roku</a:t>
            </a:r>
            <a:endParaRPr lang="en-US" sz="800" dirty="0"/>
          </a:p>
        </p:txBody>
      </p:sp>
      <p:sp>
        <p:nvSpPr>
          <p:cNvPr id="19" name="Shape 17"/>
          <p:cNvSpPr/>
          <p:nvPr/>
        </p:nvSpPr>
        <p:spPr>
          <a:xfrm>
            <a:off x="9272016" y="512064"/>
            <a:ext cx="658368" cy="237744"/>
          </a:xfrm>
          <a:prstGeom prst="roundRect">
            <a:avLst>
              <a:gd name="adj" fmla="val 15385"/>
            </a:avLst>
          </a:prstGeom>
          <a:solidFill>
            <a:srgbClr val="F0FDF4"/>
          </a:solidFill>
          <a:ln w="12700">
            <a:solidFill>
              <a:srgbClr val="8ED973"/>
            </a:solidFill>
            <a:prstDash val="solid"/>
          </a:ln>
        </p:spPr>
      </p:sp>
      <p:sp>
        <p:nvSpPr>
          <p:cNvPr id="20" name="Text 18"/>
          <p:cNvSpPr/>
          <p:nvPr/>
        </p:nvSpPr>
        <p:spPr>
          <a:xfrm>
            <a:off x="9272016" y="512064"/>
            <a:ext cx="658368" cy="237744"/>
          </a:xfrm>
          <a:prstGeom prst="rect">
            <a:avLst/>
          </a:prstGeom>
          <a:noFill/>
          <a:ln/>
        </p:spPr>
        <p:txBody>
          <a:bodyPr wrap="square" lIns="0" tIns="0" rIns="0" bIns="0" rtlCol="0" anchor="ctr"/>
          <a:lstStyle/>
          <a:p>
            <a:pPr algn="ctr" indent="0" marL="0">
              <a:buNone/>
            </a:pPr>
            <a:r>
              <a:rPr lang="en-US" sz="800" b="1" dirty="0">
                <a:solidFill>
                  <a:srgbClr val="388849"/>
                </a:solidFill>
              </a:rPr>
              <a:t>Fire TV</a:t>
            </a:r>
            <a:endParaRPr lang="en-US" sz="800" dirty="0"/>
          </a:p>
        </p:txBody>
      </p:sp>
      <p:sp>
        <p:nvSpPr>
          <p:cNvPr id="21" name="Shape 19"/>
          <p:cNvSpPr/>
          <p:nvPr/>
        </p:nvSpPr>
        <p:spPr>
          <a:xfrm>
            <a:off x="10003536" y="512064"/>
            <a:ext cx="731520" cy="237744"/>
          </a:xfrm>
          <a:prstGeom prst="roundRect">
            <a:avLst>
              <a:gd name="adj" fmla="val 15385"/>
            </a:avLst>
          </a:prstGeom>
          <a:solidFill>
            <a:srgbClr val="F0FDF4"/>
          </a:solidFill>
          <a:ln w="12700">
            <a:solidFill>
              <a:srgbClr val="8ED973"/>
            </a:solidFill>
            <a:prstDash val="solid"/>
          </a:ln>
        </p:spPr>
      </p:sp>
      <p:sp>
        <p:nvSpPr>
          <p:cNvPr id="22" name="Text 20"/>
          <p:cNvSpPr/>
          <p:nvPr/>
        </p:nvSpPr>
        <p:spPr>
          <a:xfrm>
            <a:off x="10003536" y="512064"/>
            <a:ext cx="731520" cy="237744"/>
          </a:xfrm>
          <a:prstGeom prst="rect">
            <a:avLst/>
          </a:prstGeom>
          <a:noFill/>
          <a:ln/>
        </p:spPr>
        <p:txBody>
          <a:bodyPr wrap="square" lIns="0" tIns="0" rIns="0" bIns="0" rtlCol="0" anchor="ctr"/>
          <a:lstStyle/>
          <a:p>
            <a:pPr algn="ctr" indent="0" marL="0">
              <a:buNone/>
            </a:pPr>
            <a:r>
              <a:rPr lang="en-US" sz="800" b="1" dirty="0">
                <a:solidFill>
                  <a:srgbClr val="388849"/>
                </a:solidFill>
              </a:rPr>
              <a:t>Samsung</a:t>
            </a:r>
            <a:endParaRPr lang="en-US" sz="800" dirty="0"/>
          </a:p>
        </p:txBody>
      </p:sp>
      <p:sp>
        <p:nvSpPr>
          <p:cNvPr id="23" name="Shape 21"/>
          <p:cNvSpPr/>
          <p:nvPr/>
        </p:nvSpPr>
        <p:spPr>
          <a:xfrm>
            <a:off x="10808208" y="512064"/>
            <a:ext cx="585216" cy="237744"/>
          </a:xfrm>
          <a:prstGeom prst="roundRect">
            <a:avLst>
              <a:gd name="adj" fmla="val 15385"/>
            </a:avLst>
          </a:prstGeom>
          <a:solidFill>
            <a:srgbClr val="F0FDF4"/>
          </a:solidFill>
          <a:ln w="12700">
            <a:solidFill>
              <a:srgbClr val="8ED973"/>
            </a:solidFill>
            <a:prstDash val="solid"/>
          </a:ln>
        </p:spPr>
      </p:sp>
      <p:sp>
        <p:nvSpPr>
          <p:cNvPr id="24" name="Text 22"/>
          <p:cNvSpPr/>
          <p:nvPr/>
        </p:nvSpPr>
        <p:spPr>
          <a:xfrm>
            <a:off x="10808208" y="512064"/>
            <a:ext cx="585216" cy="237744"/>
          </a:xfrm>
          <a:prstGeom prst="rect">
            <a:avLst/>
          </a:prstGeom>
          <a:noFill/>
          <a:ln/>
        </p:spPr>
        <p:txBody>
          <a:bodyPr wrap="square" lIns="0" tIns="0" rIns="0" bIns="0" rtlCol="0" anchor="ctr"/>
          <a:lstStyle/>
          <a:p>
            <a:pPr algn="ctr" indent="0" marL="0">
              <a:buNone/>
            </a:pPr>
            <a:r>
              <a:rPr lang="en-US" sz="800" b="1" dirty="0">
                <a:solidFill>
                  <a:srgbClr val="388849"/>
                </a:solidFill>
              </a:rPr>
              <a:t>tvOS</a:t>
            </a:r>
            <a:endParaRPr lang="en-US" sz="800" dirty="0"/>
          </a:p>
        </p:txBody>
      </p:sp>
      <p:sp>
        <p:nvSpPr>
          <p:cNvPr id="25" name="Shape 23"/>
          <p:cNvSpPr/>
          <p:nvPr/>
        </p:nvSpPr>
        <p:spPr>
          <a:xfrm>
            <a:off x="0" y="6876288"/>
            <a:ext cx="12344400" cy="438912"/>
          </a:xfrm>
          <a:prstGeom prst="rect">
            <a:avLst/>
          </a:prstGeom>
          <a:solidFill>
            <a:srgbClr val="F4F6F8"/>
          </a:solidFill>
          <a:ln w="12700">
            <a:solidFill>
              <a:srgbClr val="D1D5DB"/>
            </a:solidFill>
            <a:prstDash val="solid"/>
          </a:ln>
        </p:spPr>
      </p:sp>
      <p:sp>
        <p:nvSpPr>
          <p:cNvPr id="26" name="Text 24"/>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27" name="Text 25"/>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75 days remaining</a:t>
            </a:r>
            <a:endParaRPr lang="en-US" sz="800" dirty="0"/>
          </a:p>
        </p:txBody>
      </p:sp>
      <p:sp>
        <p:nvSpPr>
          <p:cNvPr id="28" name="Text 26"/>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8% Ready</a:t>
            </a:r>
            <a:endParaRPr lang="en-US" sz="1100" dirty="0"/>
          </a:p>
        </p:txBody>
      </p:sp>
      <p:sp>
        <p:nvSpPr>
          <p:cNvPr id="29" name="Shape 27"/>
          <p:cNvSpPr/>
          <p:nvPr/>
        </p:nvSpPr>
        <p:spPr>
          <a:xfrm>
            <a:off x="164592" y="804672"/>
            <a:ext cx="9116568" cy="1476756"/>
          </a:xfrm>
          <a:prstGeom prst="rect">
            <a:avLst/>
          </a:prstGeom>
          <a:solidFill>
            <a:srgbClr val="FAFBFC"/>
          </a:solidFill>
          <a:ln w="6350">
            <a:solidFill>
              <a:srgbClr val="E5E7EB"/>
            </a:solidFill>
            <a:prstDash val="solid"/>
          </a:ln>
        </p:spPr>
      </p:sp>
      <p:sp>
        <p:nvSpPr>
          <p:cNvPr id="30" name="Shape 28"/>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31" name="Text 29"/>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32" name="Text 30"/>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6 In Progress</a:t>
            </a:r>
            <a:endParaRPr lang="en-US" sz="750" dirty="0"/>
          </a:p>
        </p:txBody>
      </p:sp>
      <p:sp>
        <p:nvSpPr>
          <p:cNvPr id="33" name="Shape 31"/>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34" name="Text 32"/>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35" name="Shape 33"/>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36" name="Text 34"/>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7" name="Shape 35"/>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38" name="Text 36"/>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39" name="Shape 37"/>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40" name="Text 38"/>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1" name="Shape 39"/>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42" name="Text 40"/>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43" name="Shape 41"/>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44" name="Text 42"/>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5" name="Shape 43"/>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46" name="Text 44"/>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47" name="Shape 45"/>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48" name="Text 46"/>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9" name="Shape 47"/>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50" name="Text 48"/>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51" name="Shape 49"/>
          <p:cNvSpPr/>
          <p:nvPr/>
        </p:nvSpPr>
        <p:spPr>
          <a:xfrm>
            <a:off x="5230368" y="1280160"/>
            <a:ext cx="932688" cy="155448"/>
          </a:xfrm>
          <a:prstGeom prst="roundRect">
            <a:avLst>
              <a:gd name="adj" fmla="val 17647"/>
            </a:avLst>
          </a:prstGeom>
          <a:solidFill>
            <a:srgbClr val="1558A8"/>
          </a:solidFill>
          <a:ln w="12700">
            <a:solidFill>
              <a:srgbClr val="1558A8"/>
            </a:solidFill>
            <a:prstDash val="solid"/>
          </a:ln>
        </p:spPr>
      </p:sp>
      <p:sp>
        <p:nvSpPr>
          <p:cNvPr id="52" name="Text 50"/>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3" name="Shape 51"/>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54" name="Text 52"/>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55" name="Shape 53"/>
          <p:cNvSpPr/>
          <p:nvPr/>
        </p:nvSpPr>
        <p:spPr>
          <a:xfrm>
            <a:off x="6245352" y="1280160"/>
            <a:ext cx="932688" cy="155448"/>
          </a:xfrm>
          <a:prstGeom prst="roundRect">
            <a:avLst>
              <a:gd name="adj" fmla="val 17647"/>
            </a:avLst>
          </a:prstGeom>
          <a:solidFill>
            <a:srgbClr val="1558A8"/>
          </a:solidFill>
          <a:ln w="12700">
            <a:solidFill>
              <a:srgbClr val="1558A8"/>
            </a:solidFill>
            <a:prstDash val="solid"/>
          </a:ln>
        </p:spPr>
      </p:sp>
      <p:sp>
        <p:nvSpPr>
          <p:cNvPr id="56" name="Text 54"/>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7" name="Shape 55"/>
          <p:cNvSpPr/>
          <p:nvPr/>
        </p:nvSpPr>
        <p:spPr>
          <a:xfrm>
            <a:off x="164592" y="2336292"/>
            <a:ext cx="9116568" cy="1476756"/>
          </a:xfrm>
          <a:prstGeom prst="rect">
            <a:avLst/>
          </a:prstGeom>
          <a:solidFill>
            <a:srgbClr val="FFFFFF"/>
          </a:solidFill>
          <a:ln w="6350">
            <a:solidFill>
              <a:srgbClr val="E5E7EB"/>
            </a:solidFill>
            <a:prstDash val="solid"/>
          </a:ln>
        </p:spPr>
      </p:sp>
      <p:sp>
        <p:nvSpPr>
          <p:cNvPr id="58" name="Shape 56"/>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59" name="Text 57"/>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60" name="Text 58"/>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3 In Progress</a:t>
            </a:r>
            <a:endParaRPr lang="en-US" sz="750" dirty="0"/>
          </a:p>
        </p:txBody>
      </p:sp>
      <p:sp>
        <p:nvSpPr>
          <p:cNvPr id="61" name="Shape 59"/>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62" name="Text 60"/>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63" name="Shape 61"/>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64" name="Text 62"/>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5" name="Shape 63"/>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66" name="Text 64"/>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67" name="Shape 65"/>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68" name="Text 66"/>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9" name="Shape 67"/>
          <p:cNvSpPr/>
          <p:nvPr/>
        </p:nvSpPr>
        <p:spPr>
          <a:xfrm>
            <a:off x="3200400" y="2601468"/>
            <a:ext cx="932688" cy="182880"/>
          </a:xfrm>
          <a:prstGeom prst="roundRect">
            <a:avLst>
              <a:gd name="adj" fmla="val 15000"/>
            </a:avLst>
          </a:prstGeom>
          <a:solidFill>
            <a:srgbClr val="FFFFFF"/>
          </a:solidFill>
          <a:ln w="9525">
            <a:solidFill>
              <a:srgbClr val="CBD5E1"/>
            </a:solidFill>
            <a:prstDash val="solid"/>
          </a:ln>
        </p:spPr>
      </p:sp>
      <p:sp>
        <p:nvSpPr>
          <p:cNvPr id="70" name="Text 68"/>
          <p:cNvSpPr/>
          <p:nvPr/>
        </p:nvSpPr>
        <p:spPr>
          <a:xfrm>
            <a:off x="3200400"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71" name="Shape 69"/>
          <p:cNvSpPr/>
          <p:nvPr/>
        </p:nvSpPr>
        <p:spPr>
          <a:xfrm>
            <a:off x="3200400" y="2811780"/>
            <a:ext cx="932688" cy="155448"/>
          </a:xfrm>
          <a:prstGeom prst="roundRect">
            <a:avLst>
              <a:gd name="adj" fmla="val 17647"/>
            </a:avLst>
          </a:prstGeom>
          <a:solidFill>
            <a:srgbClr val="1558A8"/>
          </a:solidFill>
          <a:ln w="12700">
            <a:solidFill>
              <a:srgbClr val="1558A8"/>
            </a:solidFill>
            <a:prstDash val="solid"/>
          </a:ln>
        </p:spPr>
      </p:sp>
      <p:sp>
        <p:nvSpPr>
          <p:cNvPr id="72" name="Text 70"/>
          <p:cNvSpPr/>
          <p:nvPr/>
        </p:nvSpPr>
        <p:spPr>
          <a:xfrm>
            <a:off x="3200400"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3" name="Shape 71"/>
          <p:cNvSpPr/>
          <p:nvPr/>
        </p:nvSpPr>
        <p:spPr>
          <a:xfrm>
            <a:off x="164592" y="3867912"/>
            <a:ext cx="9116568" cy="1476756"/>
          </a:xfrm>
          <a:prstGeom prst="rect">
            <a:avLst/>
          </a:prstGeom>
          <a:solidFill>
            <a:srgbClr val="FAFBFC"/>
          </a:solidFill>
          <a:ln w="6350">
            <a:solidFill>
              <a:srgbClr val="E5E7EB"/>
            </a:solidFill>
            <a:prstDash val="solid"/>
          </a:ln>
        </p:spPr>
      </p:sp>
      <p:sp>
        <p:nvSpPr>
          <p:cNvPr id="74" name="Shape 72"/>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75" name="Text 73"/>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76" name="Text 74"/>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 · 2 Done</a:t>
            </a:r>
            <a:endParaRPr lang="en-US" sz="750" dirty="0"/>
          </a:p>
        </p:txBody>
      </p:sp>
      <p:sp>
        <p:nvSpPr>
          <p:cNvPr id="77" name="Shape 75"/>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78" name="Text 76"/>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79" name="Shape 77"/>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80" name="Text 78"/>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1" name="Shape 79"/>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82" name="Text 80"/>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83" name="Shape 81"/>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84" name="Text 82"/>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5" name="Shape 83"/>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86" name="Text 84"/>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87" name="Shape 85"/>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88" name="Text 86"/>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9" name="Shape 87"/>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90" name="Text 88"/>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91" name="Shape 89"/>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92" name="Text 90"/>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3" name="Shape 91"/>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94" name="Text 92"/>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95" name="Shape 93"/>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96" name="Text 94"/>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97" name="Shape 95"/>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98" name="Text 96"/>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99" name="Shape 97"/>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100" name="Text 98"/>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01" name="Shape 99"/>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102" name="Text 100"/>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103" name="Shape 101"/>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104" name="Text 102"/>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05" name="Shape 103"/>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106" name="Text 104"/>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07" name="Shape 105"/>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108" name="Text 106"/>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09" name="Shape 107"/>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110" name="Text 108"/>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11" name="Shape 109"/>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112" name="Text 110"/>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3" name="Shape 111"/>
          <p:cNvSpPr/>
          <p:nvPr/>
        </p:nvSpPr>
        <p:spPr>
          <a:xfrm>
            <a:off x="164592" y="5399532"/>
            <a:ext cx="9116568" cy="1476756"/>
          </a:xfrm>
          <a:prstGeom prst="rect">
            <a:avLst/>
          </a:prstGeom>
          <a:solidFill>
            <a:srgbClr val="FFFFFF"/>
          </a:solidFill>
          <a:ln w="6350">
            <a:solidFill>
              <a:srgbClr val="E5E7EB"/>
            </a:solidFill>
            <a:prstDash val="solid"/>
          </a:ln>
        </p:spPr>
      </p:sp>
      <p:sp>
        <p:nvSpPr>
          <p:cNvPr id="114" name="Shape 112"/>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115" name="Text 113"/>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116" name="Text 114"/>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6 In Progress</a:t>
            </a:r>
            <a:endParaRPr lang="en-US" sz="750" dirty="0"/>
          </a:p>
        </p:txBody>
      </p:sp>
      <p:sp>
        <p:nvSpPr>
          <p:cNvPr id="117" name="Shape 115"/>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118" name="Text 116"/>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19" name="Shape 117"/>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120" name="Text 118"/>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1" name="Shape 119"/>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22" name="Text 120"/>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23" name="Shape 121"/>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24" name="Text 122"/>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5" name="Shape 123"/>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26" name="Text 124"/>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27" name="Shape 125"/>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28" name="Text 126"/>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9" name="Shape 127"/>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30" name="Text 128"/>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31" name="Shape 129"/>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32" name="Text 130"/>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33" name="Shape 131"/>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34" name="Text 132"/>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35" name="Shape 133"/>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36" name="Text 134"/>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37" name="Shape 135"/>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38" name="Text 136"/>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39" name="Shape 137"/>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40" name="Text 138"/>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41" name="Shape 139"/>
          <p:cNvSpPr/>
          <p:nvPr/>
        </p:nvSpPr>
        <p:spPr>
          <a:xfrm>
            <a:off x="9372600" y="804672"/>
            <a:ext cx="2834640" cy="6071616"/>
          </a:xfrm>
          <a:prstGeom prst="rect">
            <a:avLst/>
          </a:prstGeom>
          <a:solidFill>
            <a:srgbClr val="F8FAFB"/>
          </a:solidFill>
          <a:ln w="12700">
            <a:solidFill>
              <a:srgbClr val="DDE1E6"/>
            </a:solidFill>
            <a:prstDash val="solid"/>
          </a:ln>
        </p:spPr>
      </p:sp>
      <p:sp>
        <p:nvSpPr>
          <p:cNvPr id="142" name="Text 140"/>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43" name="Shape 141"/>
          <p:cNvSpPr/>
          <p:nvPr/>
        </p:nvSpPr>
        <p:spPr>
          <a:xfrm>
            <a:off x="9464040" y="1225296"/>
            <a:ext cx="2670048" cy="420624"/>
          </a:xfrm>
          <a:prstGeom prst="rect">
            <a:avLst/>
          </a:prstGeom>
          <a:solidFill>
            <a:srgbClr val="FFFFFF"/>
          </a:solidFill>
          <a:ln w="6350">
            <a:solidFill>
              <a:srgbClr val="E5E7EB"/>
            </a:solidFill>
            <a:prstDash val="solid"/>
          </a:ln>
        </p:spPr>
      </p:sp>
      <p:sp>
        <p:nvSpPr>
          <p:cNvPr id="144" name="Shape 142"/>
          <p:cNvSpPr/>
          <p:nvPr/>
        </p:nvSpPr>
        <p:spPr>
          <a:xfrm>
            <a:off x="9537192" y="1316736"/>
            <a:ext cx="109728" cy="109728"/>
          </a:xfrm>
          <a:prstGeom prst="ellipse">
            <a:avLst/>
          </a:prstGeom>
          <a:solidFill>
            <a:srgbClr val="16A34A"/>
          </a:solidFill>
          <a:ln w="12700">
            <a:solidFill>
              <a:srgbClr val="16A34A"/>
            </a:solidFill>
            <a:prstDash val="solid"/>
          </a:ln>
        </p:spPr>
      </p:sp>
      <p:sp>
        <p:nvSpPr>
          <p:cNvPr id="145" name="Text 143"/>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46" name="Text 144"/>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47" name="Shape 145"/>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48" name="Text 146"/>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49" name="Shape 147"/>
          <p:cNvSpPr/>
          <p:nvPr/>
        </p:nvSpPr>
        <p:spPr>
          <a:xfrm>
            <a:off x="9464040" y="1700784"/>
            <a:ext cx="2670048" cy="420624"/>
          </a:xfrm>
          <a:prstGeom prst="rect">
            <a:avLst/>
          </a:prstGeom>
          <a:solidFill>
            <a:srgbClr val="FFFFFF"/>
          </a:solidFill>
          <a:ln w="6350">
            <a:solidFill>
              <a:srgbClr val="E5E7EB"/>
            </a:solidFill>
            <a:prstDash val="solid"/>
          </a:ln>
        </p:spPr>
      </p:sp>
      <p:sp>
        <p:nvSpPr>
          <p:cNvPr id="150" name="Shape 148"/>
          <p:cNvSpPr/>
          <p:nvPr/>
        </p:nvSpPr>
        <p:spPr>
          <a:xfrm>
            <a:off x="9537192" y="1792224"/>
            <a:ext cx="109728" cy="109728"/>
          </a:xfrm>
          <a:prstGeom prst="ellipse">
            <a:avLst/>
          </a:prstGeom>
          <a:solidFill>
            <a:srgbClr val="1558A8"/>
          </a:solidFill>
          <a:ln w="12700">
            <a:solidFill>
              <a:srgbClr val="1558A8"/>
            </a:solidFill>
            <a:prstDash val="solid"/>
          </a:ln>
        </p:spPr>
      </p:sp>
      <p:sp>
        <p:nvSpPr>
          <p:cNvPr id="151" name="Text 149"/>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52" name="Text 150"/>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53" name="Shape 151"/>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54" name="Text 152"/>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55" name="Shape 153"/>
          <p:cNvSpPr/>
          <p:nvPr/>
        </p:nvSpPr>
        <p:spPr>
          <a:xfrm>
            <a:off x="9464040" y="2176272"/>
            <a:ext cx="2670048" cy="420624"/>
          </a:xfrm>
          <a:prstGeom prst="rect">
            <a:avLst/>
          </a:prstGeom>
          <a:solidFill>
            <a:srgbClr val="FFFFFF"/>
          </a:solidFill>
          <a:ln w="6350">
            <a:solidFill>
              <a:srgbClr val="E5E7EB"/>
            </a:solidFill>
            <a:prstDash val="solid"/>
          </a:ln>
        </p:spPr>
      </p:sp>
      <p:sp>
        <p:nvSpPr>
          <p:cNvPr id="156" name="Shape 154"/>
          <p:cNvSpPr/>
          <p:nvPr/>
        </p:nvSpPr>
        <p:spPr>
          <a:xfrm>
            <a:off x="9537192" y="2267712"/>
            <a:ext cx="109728" cy="109728"/>
          </a:xfrm>
          <a:prstGeom prst="ellipse">
            <a:avLst/>
          </a:prstGeom>
          <a:solidFill>
            <a:srgbClr val="9CA3AF"/>
          </a:solidFill>
          <a:ln w="12700">
            <a:solidFill>
              <a:srgbClr val="9CA3AF"/>
            </a:solidFill>
            <a:prstDash val="solid"/>
          </a:ln>
        </p:spPr>
      </p:sp>
      <p:sp>
        <p:nvSpPr>
          <p:cNvPr id="157" name="Text 155"/>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58" name="Text 156"/>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59" name="Shape 157"/>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60" name="Text 158"/>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61" name="Shape 159"/>
          <p:cNvSpPr/>
          <p:nvPr/>
        </p:nvSpPr>
        <p:spPr>
          <a:xfrm>
            <a:off x="9464040" y="2651760"/>
            <a:ext cx="2670048" cy="420624"/>
          </a:xfrm>
          <a:prstGeom prst="rect">
            <a:avLst/>
          </a:prstGeom>
          <a:solidFill>
            <a:srgbClr val="FFFFFF"/>
          </a:solidFill>
          <a:ln w="6350">
            <a:solidFill>
              <a:srgbClr val="E5E7EB"/>
            </a:solidFill>
            <a:prstDash val="solid"/>
          </a:ln>
        </p:spPr>
      </p:sp>
      <p:sp>
        <p:nvSpPr>
          <p:cNvPr id="162" name="Shape 160"/>
          <p:cNvSpPr/>
          <p:nvPr/>
        </p:nvSpPr>
        <p:spPr>
          <a:xfrm>
            <a:off x="9537192" y="2743200"/>
            <a:ext cx="109728" cy="109728"/>
          </a:xfrm>
          <a:prstGeom prst="ellipse">
            <a:avLst/>
          </a:prstGeom>
          <a:solidFill>
            <a:srgbClr val="9CA3AF"/>
          </a:solidFill>
          <a:ln w="12700">
            <a:solidFill>
              <a:srgbClr val="9CA3AF"/>
            </a:solidFill>
            <a:prstDash val="solid"/>
          </a:ln>
        </p:spPr>
      </p:sp>
      <p:sp>
        <p:nvSpPr>
          <p:cNvPr id="163" name="Text 161"/>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64" name="Text 162"/>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65" name="Shape 163"/>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66" name="Text 164"/>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67" name="Shape 165"/>
          <p:cNvSpPr/>
          <p:nvPr/>
        </p:nvSpPr>
        <p:spPr>
          <a:xfrm>
            <a:off x="9482328" y="3200400"/>
            <a:ext cx="2633472" cy="0"/>
          </a:xfrm>
          <a:prstGeom prst="line">
            <a:avLst/>
          </a:prstGeom>
          <a:noFill/>
          <a:ln w="9525">
            <a:solidFill>
              <a:srgbClr val="DDE1E6"/>
            </a:solidFill>
            <a:prstDash val="solid"/>
          </a:ln>
        </p:spPr>
      </p:sp>
      <p:sp>
        <p:nvSpPr>
          <p:cNvPr id="168" name="Text 166"/>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69" name="Shape 167"/>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70" name="Text 168"/>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71" name="Shape 169"/>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72" name="Text 170"/>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73" name="Shape 171"/>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74" name="Text 172"/>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75" name="Shape 173"/>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76" name="Text 174"/>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SABR Component Status</dc:title>
  <dc:subject>PptxGenJS Presentation</dc:subject>
  <dc:creator>SABR Reporting</dc:creator>
  <cp:lastModifiedBy>SABR Reporting</cp:lastModifiedBy>
  <cp:revision>1</cp:revision>
  <dcterms:created xsi:type="dcterms:W3CDTF">2026-07-17T18:37:56Z</dcterms:created>
  <dcterms:modified xsi:type="dcterms:W3CDTF">2026-07-17T18:37:56Z</dcterms:modified>
</cp:coreProperties>
</file>