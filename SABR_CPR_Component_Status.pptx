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344400" cy="7315200"/>
  <p:notesSz cx="7315200" cy="12344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This Week  ·  Aug 5, 2026</a:t>
            </a:r>
            <a:endParaRPr lang="en-US" sz="1100" dirty="0"/>
          </a:p>
        </p:txBody>
      </p:sp>
      <p:sp>
        <p:nvSpPr>
          <p:cNvPr id="5" name="Shape 3"/>
          <p:cNvSpPr/>
          <p:nvPr/>
        </p:nvSpPr>
        <p:spPr>
          <a:xfrm>
            <a:off x="0" y="457200"/>
            <a:ext cx="12344400" cy="274320"/>
          </a:xfrm>
          <a:prstGeom prst="rect">
            <a:avLst/>
          </a:prstGeom>
          <a:solidFill>
            <a:srgbClr val="EFF7F3"/>
          </a:solidFill>
          <a:ln w="12700">
            <a:solidFill>
              <a:srgbClr val="CCE4D8"/>
            </a:solidFill>
            <a:prstDash val="solid"/>
          </a:ln>
        </p:spPr>
      </p:sp>
      <p:sp>
        <p:nvSpPr>
          <p:cNvPr id="6" name="Text 4"/>
          <p:cNvSpPr/>
          <p:nvPr/>
        </p:nvSpPr>
        <p:spPr>
          <a:xfrm>
            <a:off x="201168" y="457200"/>
            <a:ext cx="5486400" cy="274320"/>
          </a:xfrm>
          <a:prstGeom prst="rect">
            <a:avLst/>
          </a:prstGeom>
          <a:noFill/>
          <a:ln/>
        </p:spPr>
        <p:txBody>
          <a:bodyPr wrap="square" lIns="0" tIns="0" rIns="0" bIns="0" rtlCol="0" anchor="ctr"/>
          <a:lstStyle/>
          <a:p>
            <a:pPr algn="l" indent="0" marL="0">
              <a:buNone/>
            </a:pPr>
            <a:r>
              <a:rPr lang="en-US" sz="1100" b="1" dirty="0">
                <a:solidFill>
                  <a:srgbClr val="388849"/>
                </a:solidFill>
              </a:rPr>
              <a:t>8/5/2026 Update</a:t>
            </a:r>
            <a:endParaRPr lang="en-US" sz="1100" dirty="0"/>
          </a:p>
        </p:txBody>
      </p:sp>
      <p:sp>
        <p:nvSpPr>
          <p:cNvPr id="7" name="Text 5"/>
          <p:cNvSpPr/>
          <p:nvPr/>
        </p:nvSpPr>
        <p:spPr>
          <a:xfrm>
            <a:off x="5943600" y="457200"/>
            <a:ext cx="5943600" cy="274320"/>
          </a:xfrm>
          <a:prstGeom prst="rect">
            <a:avLst/>
          </a:prstGeom>
          <a:noFill/>
          <a:ln/>
        </p:spPr>
        <p:txBody>
          <a:bodyPr wrap="square" lIns="0" tIns="0" rIns="0" bIns="0" rtlCol="0" anchor="ctr"/>
          <a:lstStyle/>
          <a:p>
            <a:pPr algn="r" indent="0" marL="0">
              <a:buNone/>
            </a:pPr>
            <a:r>
              <a:rPr lang="en-US" sz="900" dirty="0">
                <a:solidFill>
                  <a:srgbClr val="374151"/>
                </a:solidFill>
              </a:rPr>
              <a:t>Beta: Sep 30, 2026  ·  55 days remaining</a:t>
            </a:r>
            <a:endParaRPr lang="en-US" sz="900" dirty="0"/>
          </a:p>
        </p:txBody>
      </p:sp>
      <p:sp>
        <p:nvSpPr>
          <p:cNvPr id="8" name="Shape 6"/>
          <p:cNvSpPr/>
          <p:nvPr/>
        </p:nvSpPr>
        <p:spPr>
          <a:xfrm>
            <a:off x="164592" y="822960"/>
            <a:ext cx="12015216" cy="6035040"/>
          </a:xfrm>
          <a:prstGeom prst="rect">
            <a:avLst/>
          </a:prstGeom>
          <a:solidFill>
            <a:srgbClr val="FAFCFB"/>
          </a:solidFill>
          <a:ln w="9525">
            <a:solidFill>
              <a:srgbClr val="D8EDE3"/>
            </a:solidFill>
            <a:prstDash val="solid"/>
          </a:ln>
        </p:spPr>
      </p:sp>
      <p:sp>
        <p:nvSpPr>
          <p:cNvPr id="9" name="Text 7"/>
          <p:cNvSpPr/>
          <p:nvPr/>
        </p:nvSpPr>
        <p:spPr>
          <a:xfrm>
            <a:off x="274320" y="896112"/>
            <a:ext cx="11795760" cy="5888736"/>
          </a:xfrm>
          <a:prstGeom prst="rect">
            <a:avLst/>
          </a:prstGeom>
          <a:noFill/>
          <a:ln/>
        </p:spPr>
        <p:txBody>
          <a:bodyPr wrap="square" lIns="101600" tIns="101600" rIns="101600" bIns="101600" rtlCol="0" anchor="t"/>
          <a:lstStyle/>
          <a:p>
            <a:pPr algn="l" indent="0" marL="0">
              <a:buNone/>
            </a:pPr>
            <a:r>
              <a:rPr lang="en-US" sz="800" dirty="0">
                <a:solidFill>
                  <a:srgbClr val="1F2937"/>
                </a:solidFill>
              </a:rPr>
              <a:t>PROJECT SABR — CURRENT PROGRAM REVIEW</a:t>
            </a:r>
            <a:endParaRPr lang="en-US" sz="800" dirty="0"/>
          </a:p>
          <a:p>
            <a:pPr algn="l" indent="0" marL="0">
              <a:buNone/>
            </a:pPr>
            <a:r>
              <a:rPr lang="en-US" sz="800" dirty="0">
                <a:solidFill>
                  <a:srgbClr val="1F2937"/>
                </a:solidFill>
              </a:rPr>
              <a:t>Week of August 5, 2026</a:t>
            </a:r>
            <a:endParaRPr lang="en-US" sz="800" dirty="0"/>
          </a:p>
          <a:p>
            <a:pPr algn="l" indent="0" marL="0">
              <a:buNone/>
            </a:pPr>
            <a:endParaRPr lang="en-US" sz="800" dirty="0"/>
          </a:p>
          <a:p>
            <a:pPr algn="l" indent="0" marL="0">
              <a:buNone/>
            </a:pPr>
            <a:r>
              <a:rPr lang="en-US" sz="800" dirty="0">
                <a:solidFill>
                  <a:srgbClr val="1F2937"/>
                </a:solidFill>
              </a:rPr>
              <a:t>The program continues to advance across all workstreams with meaningful progress in backend architecture, content delivery, and platform integrations. The primary focus this week centered on finalizing ad operations requirements with Amagi, confirming a significant DVR/VOD redesign based on per-match manifest URLs, and resolving critical path items for Roku certification ahead of the September 8 beta launch.</a:t>
            </a:r>
            <a:endParaRPr lang="en-US" sz="800" dirty="0"/>
          </a:p>
          <a:p>
            <a:pPr algn="l" indent="0" marL="0">
              <a:buNone/>
            </a:pPr>
            <a:endParaRPr lang="en-US" sz="800" dirty="0"/>
          </a:p>
          <a:p>
            <a:pPr algn="l" indent="0" marL="0">
              <a:buNone/>
            </a:pPr>
            <a:r>
              <a:rPr lang="en-US" sz="800" b="1" dirty="0">
                <a:solidFill>
                  <a:srgbClr val="1B5E20"/>
                </a:solidFill>
              </a:rPr>
              <a:t>ROKU INTEGRATION:</a:t>
            </a:r>
            <a:pPr algn="l" indent="0" marL="0">
              <a:buNone/>
            </a:pPr>
            <a:r>
              <a:rPr lang="en-US" sz="800" dirty="0">
                <a:solidFill>
                  <a:srgbClr val="1F2937"/>
                </a:solidFill>
              </a:rPr>
              <a:t> Resolved a metadata conflict between Sport Radar event classification and Premium Subscriptions feeds by deciding to remove the Sport Radar feed from OTT and standardize on Premium Subscriptions data. Tournament spreadsheet requirements clarified: Roku will use the Amagi UI for published match visibility rather than static documentation, with read-only access launching in mid-August. Linear stream advertising setup progressing with Ads Ops, and Roku signed off on two-week testing timeline with expected completion by August 18.</a:t>
            </a:r>
            <a:endParaRPr lang="en-US" sz="800" dirty="0"/>
          </a:p>
          <a:p>
            <a:pPr algn="l" indent="0" marL="0">
              <a:buNone/>
            </a:pPr>
            <a:endParaRPr lang="en-US" sz="800" dirty="0"/>
          </a:p>
          <a:p>
            <a:pPr algn="l" indent="0" marL="0">
              <a:buNone/>
            </a:pPr>
            <a:r>
              <a:rPr lang="en-US" sz="800" b="1" dirty="0">
                <a:solidFill>
                  <a:srgbClr val="1B5E20"/>
                </a:solidFill>
              </a:rPr>
              <a:t>MERCHANDISING CAROUSEL:</a:t>
            </a:r>
            <a:pPr algn="l" indent="0" marL="0">
              <a:buNone/>
            </a:pPr>
            <a:r>
              <a:rPr lang="en-US" sz="800" dirty="0">
                <a:solidFill>
                  <a:srgbClr val="1F2937"/>
                </a:solidFill>
              </a:rPr>
              <a:t> Locked show more link behavior with default enable, item limit of 20, and ability to override on exception basis per carousel. Agreed that the show more tile or button will appear at the limit threshold rather than always visible on title, reducing complexity for TV app navigation. Device-level decision of show more appearance remains with Foxham for TV optimization based on memory and scrolling constraints.</a:t>
            </a:r>
            <a:endParaRPr lang="en-US" sz="800" dirty="0"/>
          </a:p>
          <a:p>
            <a:pPr algn="l" indent="0" marL="0">
              <a:buNone/>
            </a:pPr>
            <a:endParaRPr lang="en-US" sz="800" dirty="0"/>
          </a:p>
          <a:p>
            <a:pPr algn="l" indent="0" marL="0">
              <a:buNone/>
            </a:pPr>
            <a:r>
              <a:rPr lang="en-US" sz="800" b="1" dirty="0">
                <a:solidFill>
                  <a:srgbClr val="1B5E20"/>
                </a:solidFill>
              </a:rPr>
              <a:t>CONTENT PAGE IMPLEMENTATION:</a:t>
            </a:r>
            <a:pPr algn="l" indent="0" marL="0">
              <a:buNone/>
            </a:pPr>
            <a:r>
              <a:rPr lang="en-US" sz="800" dirty="0">
                <a:solidFill>
                  <a:srgbClr val="1F2937"/>
                </a:solidFill>
              </a:rPr>
              <a:t> Layout and pagination working across web and mobile, with content modules fetching sequentially after initial slider load. Image optimization ongoing using PNG format instead of WebP for TV/browser compatibility. Labels added to match requirements. Skeleton loading states implemented for fetch progress indication. Next sprint focuses on endpoint removal and entitlement checks, with playback flow migration and geo-blocking set for subsequent sprints.</a:t>
            </a:r>
            <a:endParaRPr lang="en-US" sz="800" dirty="0"/>
          </a:p>
          <a:p>
            <a:pPr algn="l" indent="0" marL="0">
              <a:buNone/>
            </a:pPr>
            <a:endParaRPr lang="en-US" sz="800" dirty="0"/>
          </a:p>
          <a:p>
            <a:pPr algn="l" indent="0" marL="0">
              <a:buNone/>
            </a:pPr>
            <a:r>
              <a:rPr lang="en-US" sz="800" b="1" dirty="0">
                <a:solidFill>
                  <a:srgbClr val="1B5E20"/>
                </a:solidFill>
              </a:rPr>
              <a:t>AMAGI INTEGRATION:</a:t>
            </a:r>
            <a:pPr algn="l" indent="0" marL="0">
              <a:buNone/>
            </a:pPr>
            <a:r>
              <a:rPr lang="en-US" sz="800" dirty="0">
                <a:solidFill>
                  <a:srgbClr val="1F2937"/>
                </a:solidFill>
              </a:rPr>
              <a:t> Ad Ops macro requirements matrix due from Brian Hoskins end of day with mapping of where each data field originates (user, stream URL, or backend-derived). Ad server support confirmed for all standard macros via Amagi's existing infrastructure. Critical architecture decision made to move from single continuously-reset stream URL to unique per-match manifest URLs with automatic live-to-VOD transition, enabling seeking and eliminating manual start-end time resets. DVR buffer configured at four hours with configurable override. Tennis Channel EPG still requires standalone feed creation, currently using T2 copy for testing. Roku trick-play thumbnail requirement (640x480 every 6 seconds) escalated; Amagi to confirm transcoder capability and timeline this week. VOD replay delivery confirmed working in production and development environments as of Tuesday morning.</a:t>
            </a:r>
            <a:endParaRPr lang="en-US" sz="800" dirty="0"/>
          </a:p>
          <a:p>
            <a:pPr algn="l" indent="0" marL="0">
              <a:buNone/>
            </a:pPr>
            <a:endParaRPr lang="en-US" sz="800" dirty="0"/>
          </a:p>
          <a:p>
            <a:pPr algn="l" indent="0" marL="0">
              <a:buNone/>
            </a:pPr>
            <a:r>
              <a:rPr lang="en-US" sz="800" b="1" dirty="0">
                <a:solidFill>
                  <a:srgbClr val="1B5E20"/>
                </a:solidFill>
              </a:rPr>
              <a:t>ENGINEERING &amp; MOBILE:</a:t>
            </a:r>
            <a:pPr algn="l" indent="0" marL="0">
              <a:buNone/>
            </a:pPr>
            <a:r>
              <a:rPr lang="en-US" sz="800" dirty="0">
                <a:solidFill>
                  <a:srgbClr val="1F2937"/>
                </a:solidFill>
              </a:rPr>
              <a:t> Profile feature decoupled from more menu with email change capability added. DRM and picture-in-picture working on device for iOS; Android build login issue being resolved with working test build expected today. CI/CD automation in progress for iOS (TestFlight) and Android (Google Play) with multiple builds per week targeted. Tournaments and live pages under active design iteration with feedback meetings scheduled for rapid refinement. Search feature design shared with feedback addressed; additional changes underway. Navigation configuration moved to CMS for Tennis Channel web and Foxham platforms. Artwork template editor backend landed, frontend deploying today. Show more buttons for carousels and remaining widgets in progress. Database disaster recovery planning commenced.</a:t>
            </a:r>
            <a:endParaRPr lang="en-US" sz="800" dirty="0"/>
          </a:p>
          <a:p>
            <a:pPr algn="l" indent="0" marL="0">
              <a:buNone/>
            </a:pPr>
            <a:endParaRPr lang="en-US" sz="800" dirty="0"/>
          </a:p>
          <a:p>
            <a:pPr algn="l" indent="0" marL="0">
              <a:buNone/>
            </a:pPr>
            <a:r>
              <a:rPr lang="en-US" sz="800" b="1" dirty="0">
                <a:solidFill>
                  <a:srgbClr val="1B5E20"/>
                </a:solidFill>
              </a:rPr>
              <a:t>PROFILE &amp; AUTH:</a:t>
            </a:r>
            <a:pPr algn="l" indent="0" marL="0">
              <a:buNone/>
            </a:pPr>
            <a:r>
              <a:rPr lang="en-US" sz="800" dirty="0">
                <a:solidFill>
                  <a:srgbClr val="1F2937"/>
                </a:solidFill>
              </a:rPr>
              <a:t> OAuth0 account migration from trial to Sport Radar dev account underway; all new accounts will be created on the new tenant post-migration. Auth0 vendor approved new account request. Player favorites migration from Sport Radar claims structure still awaiting clarification on exact storage location.</a:t>
            </a:r>
            <a:endParaRPr lang="en-US" sz="800" dirty="0"/>
          </a:p>
          <a:p>
            <a:pPr algn="l" indent="0" marL="0">
              <a:buNone/>
            </a:pPr>
            <a:endParaRPr lang="en-US" sz="800" dirty="0"/>
          </a:p>
          <a:p>
            <a:pPr algn="l" indent="0" marL="0">
              <a:buNone/>
            </a:pPr>
            <a:r>
              <a:rPr lang="en-US" sz="800" b="1" dirty="0">
                <a:solidFill>
                  <a:srgbClr val="1B5E20"/>
                </a:solidFill>
              </a:rPr>
              <a:t>DEVELOPMENT ENVIRONMENT:</a:t>
            </a:r>
            <a:pPr algn="l" indent="0" marL="0">
              <a:buNone/>
            </a:pPr>
            <a:r>
              <a:rPr lang="en-US" sz="800" dirty="0">
                <a:solidFill>
                  <a:srgbClr val="1F2937"/>
                </a:solidFill>
              </a:rPr>
              <a:t> CMS upload process live in dev for video ingestion; refinement ongoing. Email change backend working, frontend implementation pending. Consent pass-through to Auth0 being configured post-migration. Bot processing pipeline deployed to production for real data testing. Replays in production with development environment availability now confirmed.</a:t>
            </a:r>
            <a:endParaRPr lang="en-US" sz="800" dirty="0"/>
          </a:p>
          <a:p>
            <a:pPr algn="l" indent="0" marL="0">
              <a:buNone/>
            </a:pPr>
            <a:endParaRPr lang="en-US" sz="800" dirty="0"/>
          </a:p>
          <a:p>
            <a:pPr algn="l" indent="0" marL="0">
              <a:buNone/>
            </a:pPr>
            <a:r>
              <a:rPr lang="en-US" sz="800" b="1" dirty="0">
                <a:solidFill>
                  <a:srgbClr val="1B5E20"/>
                </a:solidFill>
              </a:rPr>
              <a:t>KEY DECISIONS:</a:t>
            </a:r>
            <a:pPr algn="l" indent="0" marL="0">
              <a:buNone/>
            </a:pPr>
            <a:endParaRPr lang="en-US" sz="800" dirty="0"/>
          </a:p>
          <a:p>
            <a:pPr algn="l" indent="0" marL="0">
              <a:buNone/>
            </a:pPr>
            <a:r>
              <a:rPr lang="en-US" sz="800" dirty="0">
                <a:solidFill>
                  <a:srgbClr val="1F2937"/>
                </a:solidFill>
              </a:rPr>
              <a:t>• Remove Sport Radar feed from OTT platform; standardize Premium Subscriptions data for metadata consistency</a:t>
            </a:r>
            <a:endParaRPr lang="en-US" sz="800" dirty="0"/>
          </a:p>
          <a:p>
            <a:pPr algn="l" indent="0" marL="0">
              <a:buNone/>
            </a:pPr>
            <a:r>
              <a:rPr lang="en-US" sz="800" dirty="0">
                <a:solidFill>
                  <a:srgbClr val="1F2937"/>
                </a:solidFill>
              </a:rPr>
              <a:t>• Implement per-match manifest URLs for VOD/DVR instead of single reset stream, enabling seeking and automatic live-to-VOD transition</a:t>
            </a:r>
            <a:endParaRPr lang="en-US" sz="800" dirty="0"/>
          </a:p>
          <a:p>
            <a:pPr algn="l" indent="0" marL="0">
              <a:buNone/>
            </a:pPr>
            <a:r>
              <a:rPr lang="en-US" sz="800" dirty="0">
                <a:solidFill>
                  <a:srgbClr val="1F2937"/>
                </a:solidFill>
              </a:rPr>
              <a:t>• Show more links default enabled with item limit of 20; device controls final presentation on TV via Foxham</a:t>
            </a:r>
            <a:endParaRPr lang="en-US" sz="800" dirty="0"/>
          </a:p>
          <a:p>
            <a:pPr algn="l" indent="0" marL="0">
              <a:buNone/>
            </a:pPr>
            <a:r>
              <a:rPr lang="en-US" sz="800" dirty="0">
                <a:solidFill>
                  <a:srgbClr val="1F2937"/>
                </a:solidFill>
              </a:rPr>
              <a:t>• Match Central start and end times remain single source of truth; VOD-specific trimming uses separate operator-set override field in Amagi UI</a:t>
            </a:r>
            <a:endParaRPr lang="en-US" sz="800" dirty="0"/>
          </a:p>
          <a:p>
            <a:pPr algn="l" indent="0" marL="0">
              <a:buNone/>
            </a:pPr>
            <a:r>
              <a:rPr lang="en-US" sz="800" dirty="0">
                <a:solidFill>
                  <a:srgbClr val="1F2937"/>
                </a:solidFill>
              </a:rPr>
              <a:t>• Continue automated replay delivery post-Axon launch targeting mid-August; move from one-off to continuous production VOD handoff</a:t>
            </a:r>
            <a:endParaRPr lang="en-US" sz="800" dirty="0"/>
          </a:p>
        </p:txBody>
      </p:sp>
      <p:sp>
        <p:nvSpPr>
          <p:cNvPr id="10" name="Shape 8"/>
          <p:cNvSpPr/>
          <p:nvPr/>
        </p:nvSpPr>
        <p:spPr>
          <a:xfrm>
            <a:off x="0" y="6876288"/>
            <a:ext cx="12344400" cy="438912"/>
          </a:xfrm>
          <a:prstGeom prst="rect">
            <a:avLst/>
          </a:prstGeom>
          <a:solidFill>
            <a:srgbClr val="F4F6F8"/>
          </a:solidFill>
          <a:ln w="12700">
            <a:solidFill>
              <a:srgbClr val="D1D5DB"/>
            </a:solidFill>
            <a:prstDash val="solid"/>
          </a:ln>
        </p:spPr>
      </p:sp>
      <p:sp>
        <p:nvSpPr>
          <p:cNvPr id="11" name="Text 9"/>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2" name="Text 10"/>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Critical Gates  ·  Aug 5, 2026</a:t>
            </a:r>
            <a:endParaRPr lang="en-US" sz="1100" dirty="0"/>
          </a:p>
        </p:txBody>
      </p:sp>
      <p:sp>
        <p:nvSpPr>
          <p:cNvPr id="5" name="Shape 3"/>
          <p:cNvSpPr/>
          <p:nvPr/>
        </p:nvSpPr>
        <p:spPr>
          <a:xfrm>
            <a:off x="91440" y="502920"/>
            <a:ext cx="6016752" cy="2926080"/>
          </a:xfrm>
          <a:prstGeom prst="rect">
            <a:avLst/>
          </a:prstGeom>
          <a:solidFill>
            <a:srgbClr val="FAFBFC"/>
          </a:solidFill>
          <a:ln w="9525">
            <a:solidFill>
              <a:srgbClr val="D1D5DB"/>
            </a:solidFill>
            <a:prstDash val="solid"/>
          </a:ln>
        </p:spPr>
      </p:sp>
      <p:sp>
        <p:nvSpPr>
          <p:cNvPr id="6" name="Shape 4"/>
          <p:cNvSpPr/>
          <p:nvPr/>
        </p:nvSpPr>
        <p:spPr>
          <a:xfrm>
            <a:off x="91440" y="502920"/>
            <a:ext cx="6016752" cy="274320"/>
          </a:xfrm>
          <a:prstGeom prst="rect">
            <a:avLst/>
          </a:prstGeom>
          <a:solidFill>
            <a:srgbClr val="8ED973"/>
          </a:solidFill>
          <a:ln w="12700">
            <a:solidFill>
              <a:srgbClr val="8ED973"/>
            </a:solidFill>
            <a:prstDash val="solid"/>
          </a:ln>
        </p:spPr>
      </p:sp>
      <p:sp>
        <p:nvSpPr>
          <p:cNvPr id="7" name="Text 5"/>
          <p:cNvSpPr/>
          <p:nvPr/>
        </p:nvSpPr>
        <p:spPr>
          <a:xfrm>
            <a:off x="201168"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Vendor / Contract</a:t>
            </a:r>
            <a:endParaRPr lang="en-US" sz="900" dirty="0"/>
          </a:p>
        </p:txBody>
      </p:sp>
      <p:sp>
        <p:nvSpPr>
          <p:cNvPr id="8" name="Shape 6"/>
          <p:cNvSpPr/>
          <p:nvPr/>
        </p:nvSpPr>
        <p:spPr>
          <a:xfrm>
            <a:off x="91440" y="777240"/>
            <a:ext cx="6016752" cy="441960"/>
          </a:xfrm>
          <a:prstGeom prst="rect">
            <a:avLst/>
          </a:prstGeom>
          <a:solidFill>
            <a:srgbClr val="FFFFFF"/>
          </a:solidFill>
          <a:ln w="3175">
            <a:solidFill>
              <a:srgbClr val="E5E7EB"/>
            </a:solidFill>
            <a:prstDash val="solid"/>
          </a:ln>
        </p:spPr>
      </p:sp>
      <p:sp>
        <p:nvSpPr>
          <p:cNvPr id="9" name="Text 7"/>
          <p:cNvSpPr/>
          <p:nvPr/>
        </p:nvSpPr>
        <p:spPr>
          <a:xfrm>
            <a:off x="164592" y="795528"/>
            <a:ext cx="777240" cy="405384"/>
          </a:xfrm>
          <a:prstGeom prst="rect">
            <a:avLst/>
          </a:prstGeom>
          <a:noFill/>
          <a:ln/>
        </p:spPr>
        <p:txBody>
          <a:bodyPr wrap="square" lIns="0" tIns="0" rIns="0" bIns="0" rtlCol="0" anchor="ctr"/>
          <a:lstStyle/>
          <a:p>
            <a:pPr indent="0" marL="0">
              <a:buNone/>
            </a:pPr>
            <a:r>
              <a:rPr lang="en-US" sz="750" b="1" dirty="0">
                <a:solidFill>
                  <a:srgbClr val="1F2937"/>
                </a:solidFill>
              </a:rPr>
              <a:t>Bitmovin</a:t>
            </a:r>
            <a:endParaRPr lang="en-US" sz="750" dirty="0"/>
          </a:p>
        </p:txBody>
      </p:sp>
      <p:sp>
        <p:nvSpPr>
          <p:cNvPr id="10" name="Text 8"/>
          <p:cNvSpPr/>
          <p:nvPr/>
        </p:nvSpPr>
        <p:spPr>
          <a:xfrm>
            <a:off x="960120" y="804672"/>
            <a:ext cx="4178808" cy="387096"/>
          </a:xfrm>
          <a:prstGeom prst="rect">
            <a:avLst/>
          </a:prstGeom>
          <a:noFill/>
          <a:ln/>
        </p:spPr>
        <p:txBody>
          <a:bodyPr wrap="square" lIns="0" tIns="0" rIns="0" bIns="0" rtlCol="0" anchor="t"/>
          <a:lstStyle/>
          <a:p>
            <a:pPr indent="0" marL="0">
              <a:buNone/>
            </a:pPr>
            <a:r>
              <a:rPr lang="en-US" sz="650" dirty="0">
                <a:solidFill>
                  <a:srgbClr val="374151"/>
                </a:solidFill>
              </a:rPr>
              <a:t>Contract signed 7/15.</a:t>
            </a:r>
            <a:endParaRPr lang="en-US" sz="650" dirty="0"/>
          </a:p>
        </p:txBody>
      </p:sp>
      <p:sp>
        <p:nvSpPr>
          <p:cNvPr id="11" name="Shape 9"/>
          <p:cNvSpPr/>
          <p:nvPr/>
        </p:nvSpPr>
        <p:spPr>
          <a:xfrm>
            <a:off x="5230368" y="911352"/>
            <a:ext cx="822960" cy="173736"/>
          </a:xfrm>
          <a:prstGeom prst="roundRect">
            <a:avLst>
              <a:gd name="adj" fmla="val 15789"/>
            </a:avLst>
          </a:prstGeom>
          <a:solidFill>
            <a:srgbClr val="CFFAFE"/>
          </a:solidFill>
          <a:ln w="12700">
            <a:solidFill>
              <a:srgbClr val="0E7490"/>
            </a:solidFill>
            <a:prstDash val="solid"/>
          </a:ln>
        </p:spPr>
      </p:sp>
      <p:sp>
        <p:nvSpPr>
          <p:cNvPr id="12" name="Text 10"/>
          <p:cNvSpPr/>
          <p:nvPr/>
        </p:nvSpPr>
        <p:spPr>
          <a:xfrm>
            <a:off x="5230368" y="911352"/>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3" name="Shape 11"/>
          <p:cNvSpPr/>
          <p:nvPr/>
        </p:nvSpPr>
        <p:spPr>
          <a:xfrm>
            <a:off x="91440" y="1219200"/>
            <a:ext cx="6016752" cy="0"/>
          </a:xfrm>
          <a:prstGeom prst="line">
            <a:avLst/>
          </a:prstGeom>
          <a:noFill/>
          <a:ln w="6350">
            <a:solidFill>
              <a:srgbClr val="E5E7EB"/>
            </a:solidFill>
            <a:prstDash val="solid"/>
          </a:ln>
        </p:spPr>
      </p:sp>
      <p:sp>
        <p:nvSpPr>
          <p:cNvPr id="14" name="Text 12"/>
          <p:cNvSpPr/>
          <p:nvPr/>
        </p:nvSpPr>
        <p:spPr>
          <a:xfrm>
            <a:off x="164592" y="1237488"/>
            <a:ext cx="777240" cy="405384"/>
          </a:xfrm>
          <a:prstGeom prst="rect">
            <a:avLst/>
          </a:prstGeom>
          <a:noFill/>
          <a:ln/>
        </p:spPr>
        <p:txBody>
          <a:bodyPr wrap="square" lIns="0" tIns="0" rIns="0" bIns="0" rtlCol="0" anchor="ctr"/>
          <a:lstStyle/>
          <a:p>
            <a:pPr indent="0" marL="0">
              <a:buNone/>
            </a:pPr>
            <a:r>
              <a:rPr lang="en-US" sz="750" b="1" dirty="0">
                <a:solidFill>
                  <a:srgbClr val="1F2937"/>
                </a:solidFill>
              </a:rPr>
              <a:t>Adobe</a:t>
            </a:r>
            <a:endParaRPr lang="en-US" sz="750" dirty="0"/>
          </a:p>
        </p:txBody>
      </p:sp>
      <p:sp>
        <p:nvSpPr>
          <p:cNvPr id="15" name="Text 13"/>
          <p:cNvSpPr/>
          <p:nvPr/>
        </p:nvSpPr>
        <p:spPr>
          <a:xfrm>
            <a:off x="960120" y="1246632"/>
            <a:ext cx="4178808" cy="387096"/>
          </a:xfrm>
          <a:prstGeom prst="rect">
            <a:avLst/>
          </a:prstGeom>
          <a:noFill/>
          <a:ln/>
        </p:spPr>
        <p:txBody>
          <a:bodyPr wrap="square" lIns="0" tIns="0" rIns="0" bIns="0" rtlCol="0" anchor="t"/>
          <a:lstStyle/>
          <a:p>
            <a:pPr indent="0" marL="0">
              <a:buNone/>
            </a:pPr>
            <a:r>
              <a:rPr lang="en-US" sz="650" dirty="0">
                <a:solidFill>
                  <a:srgbClr val="374151"/>
                </a:solidFill>
              </a:rPr>
              <a:t>We are good.</a:t>
            </a:r>
            <a:endParaRPr lang="en-US" sz="650" dirty="0"/>
          </a:p>
        </p:txBody>
      </p:sp>
      <p:sp>
        <p:nvSpPr>
          <p:cNvPr id="16" name="Shape 14"/>
          <p:cNvSpPr/>
          <p:nvPr/>
        </p:nvSpPr>
        <p:spPr>
          <a:xfrm>
            <a:off x="5230368" y="1353312"/>
            <a:ext cx="822960" cy="173736"/>
          </a:xfrm>
          <a:prstGeom prst="roundRect">
            <a:avLst>
              <a:gd name="adj" fmla="val 15789"/>
            </a:avLst>
          </a:prstGeom>
          <a:solidFill>
            <a:srgbClr val="CFFAFE"/>
          </a:solidFill>
          <a:ln w="12700">
            <a:solidFill>
              <a:srgbClr val="0E7490"/>
            </a:solidFill>
            <a:prstDash val="solid"/>
          </a:ln>
        </p:spPr>
      </p:sp>
      <p:sp>
        <p:nvSpPr>
          <p:cNvPr id="17" name="Text 15"/>
          <p:cNvSpPr/>
          <p:nvPr/>
        </p:nvSpPr>
        <p:spPr>
          <a:xfrm>
            <a:off x="5230368" y="1353312"/>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8" name="Shape 16"/>
          <p:cNvSpPr/>
          <p:nvPr/>
        </p:nvSpPr>
        <p:spPr>
          <a:xfrm>
            <a:off x="91440" y="1661160"/>
            <a:ext cx="6016752" cy="441960"/>
          </a:xfrm>
          <a:prstGeom prst="rect">
            <a:avLst/>
          </a:prstGeom>
          <a:solidFill>
            <a:srgbClr val="FFFFFF"/>
          </a:solidFill>
          <a:ln w="3175">
            <a:solidFill>
              <a:srgbClr val="E5E7EB"/>
            </a:solidFill>
            <a:prstDash val="solid"/>
          </a:ln>
        </p:spPr>
      </p:sp>
      <p:sp>
        <p:nvSpPr>
          <p:cNvPr id="19" name="Shape 17"/>
          <p:cNvSpPr/>
          <p:nvPr/>
        </p:nvSpPr>
        <p:spPr>
          <a:xfrm>
            <a:off x="91440" y="1661160"/>
            <a:ext cx="6016752" cy="0"/>
          </a:xfrm>
          <a:prstGeom prst="line">
            <a:avLst/>
          </a:prstGeom>
          <a:noFill/>
          <a:ln w="6350">
            <a:solidFill>
              <a:srgbClr val="E5E7EB"/>
            </a:solidFill>
            <a:prstDash val="solid"/>
          </a:ln>
        </p:spPr>
      </p:sp>
      <p:sp>
        <p:nvSpPr>
          <p:cNvPr id="20" name="Text 18"/>
          <p:cNvSpPr/>
          <p:nvPr/>
        </p:nvSpPr>
        <p:spPr>
          <a:xfrm>
            <a:off x="164592" y="1679448"/>
            <a:ext cx="777240" cy="405384"/>
          </a:xfrm>
          <a:prstGeom prst="rect">
            <a:avLst/>
          </a:prstGeom>
          <a:noFill/>
          <a:ln/>
        </p:spPr>
        <p:txBody>
          <a:bodyPr wrap="square" lIns="0" tIns="0" rIns="0" bIns="0" rtlCol="0" anchor="ctr"/>
          <a:lstStyle/>
          <a:p>
            <a:pPr indent="0" marL="0">
              <a:buNone/>
            </a:pPr>
            <a:r>
              <a:rPr lang="en-US" sz="750" b="1" dirty="0">
                <a:solidFill>
                  <a:srgbClr val="1F2937"/>
                </a:solidFill>
              </a:rPr>
              <a:t>Amagi SOW</a:t>
            </a:r>
            <a:endParaRPr lang="en-US" sz="750" dirty="0"/>
          </a:p>
        </p:txBody>
      </p:sp>
      <p:sp>
        <p:nvSpPr>
          <p:cNvPr id="21" name="Text 19"/>
          <p:cNvSpPr/>
          <p:nvPr/>
        </p:nvSpPr>
        <p:spPr>
          <a:xfrm>
            <a:off x="960120" y="1688592"/>
            <a:ext cx="4178808" cy="387096"/>
          </a:xfrm>
          <a:prstGeom prst="rect">
            <a:avLst/>
          </a:prstGeom>
          <a:noFill/>
          <a:ln/>
        </p:spPr>
        <p:txBody>
          <a:bodyPr wrap="square" lIns="0" tIns="0" rIns="0" bIns="0" rtlCol="0" anchor="t"/>
          <a:lstStyle/>
          <a:p>
            <a:pPr indent="0" marL="0">
              <a:buNone/>
            </a:pPr>
            <a:r>
              <a:rPr lang="en-US" sz="650" dirty="0">
                <a:solidFill>
                  <a:srgbClr val="374151"/>
                </a:solidFill>
              </a:rPr>
              <a:t>M15 and Highlights will deliver via Amagi. Back-catalog VOD through Aspera; newer content (S3) handled separately. Amagi generating public key for Roku credential exchange.</a:t>
            </a:r>
            <a:endParaRPr lang="en-US" sz="650" dirty="0"/>
          </a:p>
        </p:txBody>
      </p:sp>
      <p:sp>
        <p:nvSpPr>
          <p:cNvPr id="22" name="Shape 20"/>
          <p:cNvSpPr/>
          <p:nvPr/>
        </p:nvSpPr>
        <p:spPr>
          <a:xfrm>
            <a:off x="5230368" y="1795272"/>
            <a:ext cx="822960" cy="173736"/>
          </a:xfrm>
          <a:prstGeom prst="roundRect">
            <a:avLst>
              <a:gd name="adj" fmla="val 15789"/>
            </a:avLst>
          </a:prstGeom>
          <a:solidFill>
            <a:srgbClr val="CFFAFE"/>
          </a:solidFill>
          <a:ln w="12700">
            <a:solidFill>
              <a:srgbClr val="0E7490"/>
            </a:solidFill>
            <a:prstDash val="solid"/>
          </a:ln>
        </p:spPr>
      </p:sp>
      <p:sp>
        <p:nvSpPr>
          <p:cNvPr id="23" name="Text 21"/>
          <p:cNvSpPr/>
          <p:nvPr/>
        </p:nvSpPr>
        <p:spPr>
          <a:xfrm>
            <a:off x="5230368" y="1795272"/>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24" name="Shape 22"/>
          <p:cNvSpPr/>
          <p:nvPr/>
        </p:nvSpPr>
        <p:spPr>
          <a:xfrm>
            <a:off x="91440" y="2103120"/>
            <a:ext cx="6016752" cy="0"/>
          </a:xfrm>
          <a:prstGeom prst="line">
            <a:avLst/>
          </a:prstGeom>
          <a:noFill/>
          <a:ln w="6350">
            <a:solidFill>
              <a:srgbClr val="E5E7EB"/>
            </a:solidFill>
            <a:prstDash val="solid"/>
          </a:ln>
        </p:spPr>
      </p:sp>
      <p:sp>
        <p:nvSpPr>
          <p:cNvPr id="25" name="Text 23"/>
          <p:cNvSpPr/>
          <p:nvPr/>
        </p:nvSpPr>
        <p:spPr>
          <a:xfrm>
            <a:off x="164592" y="2121408"/>
            <a:ext cx="777240" cy="40538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26" name="Text 24"/>
          <p:cNvSpPr/>
          <p:nvPr/>
        </p:nvSpPr>
        <p:spPr>
          <a:xfrm>
            <a:off x="960120" y="2130552"/>
            <a:ext cx="4178808" cy="387096"/>
          </a:xfrm>
          <a:prstGeom prst="rect">
            <a:avLst/>
          </a:prstGeom>
          <a:noFill/>
          <a:ln/>
        </p:spPr>
        <p:txBody>
          <a:bodyPr wrap="square" lIns="0" tIns="0" rIns="0" bIns="0" rtlCol="0" anchor="t"/>
          <a:lstStyle/>
          <a:p>
            <a:pPr indent="0" marL="0">
              <a:buNone/>
            </a:pPr>
            <a:r>
              <a:rPr lang="en-US" sz="650" dirty="0">
                <a:solidFill>
                  <a:srgbClr val="374151"/>
                </a:solidFill>
              </a:rPr>
              <a:t>Integration ongoing. TV cert submission tied to November 1 deadline. UX change catalog being drafted for Foxxum coordination. Contract signature unconfirmed as of 7/15.</a:t>
            </a:r>
            <a:endParaRPr lang="en-US" sz="650" dirty="0"/>
          </a:p>
        </p:txBody>
      </p:sp>
      <p:sp>
        <p:nvSpPr>
          <p:cNvPr id="27" name="Shape 25"/>
          <p:cNvSpPr/>
          <p:nvPr/>
        </p:nvSpPr>
        <p:spPr>
          <a:xfrm>
            <a:off x="5230368" y="2237232"/>
            <a:ext cx="822960" cy="173736"/>
          </a:xfrm>
          <a:prstGeom prst="roundRect">
            <a:avLst>
              <a:gd name="adj" fmla="val 15789"/>
            </a:avLst>
          </a:prstGeom>
          <a:solidFill>
            <a:srgbClr val="1558A8"/>
          </a:solidFill>
          <a:ln w="12700">
            <a:solidFill>
              <a:srgbClr val="1558A8"/>
            </a:solidFill>
            <a:prstDash val="solid"/>
          </a:ln>
        </p:spPr>
      </p:sp>
      <p:sp>
        <p:nvSpPr>
          <p:cNvPr id="28" name="Text 26"/>
          <p:cNvSpPr/>
          <p:nvPr/>
        </p:nvSpPr>
        <p:spPr>
          <a:xfrm>
            <a:off x="5230368" y="223723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9" name="Shape 27"/>
          <p:cNvSpPr/>
          <p:nvPr/>
        </p:nvSpPr>
        <p:spPr>
          <a:xfrm>
            <a:off x="91440" y="2545080"/>
            <a:ext cx="6016752" cy="441960"/>
          </a:xfrm>
          <a:prstGeom prst="rect">
            <a:avLst/>
          </a:prstGeom>
          <a:solidFill>
            <a:srgbClr val="FFFFFF"/>
          </a:solidFill>
          <a:ln w="3175">
            <a:solidFill>
              <a:srgbClr val="E5E7EB"/>
            </a:solidFill>
            <a:prstDash val="solid"/>
          </a:ln>
        </p:spPr>
      </p:sp>
      <p:sp>
        <p:nvSpPr>
          <p:cNvPr id="30" name="Shape 28"/>
          <p:cNvSpPr/>
          <p:nvPr/>
        </p:nvSpPr>
        <p:spPr>
          <a:xfrm>
            <a:off x="91440" y="2545080"/>
            <a:ext cx="6016752" cy="0"/>
          </a:xfrm>
          <a:prstGeom prst="line">
            <a:avLst/>
          </a:prstGeom>
          <a:noFill/>
          <a:ln w="6350">
            <a:solidFill>
              <a:srgbClr val="E5E7EB"/>
            </a:solidFill>
            <a:prstDash val="solid"/>
          </a:ln>
        </p:spPr>
      </p:sp>
      <p:sp>
        <p:nvSpPr>
          <p:cNvPr id="31" name="Text 29"/>
          <p:cNvSpPr/>
          <p:nvPr/>
        </p:nvSpPr>
        <p:spPr>
          <a:xfrm>
            <a:off x="164592" y="2563368"/>
            <a:ext cx="777240" cy="405384"/>
          </a:xfrm>
          <a:prstGeom prst="rect">
            <a:avLst/>
          </a:prstGeom>
          <a:noFill/>
          <a:ln/>
        </p:spPr>
        <p:txBody>
          <a:bodyPr wrap="square" lIns="0" tIns="0" rIns="0" bIns="0" rtlCol="0" anchor="ctr"/>
          <a:lstStyle/>
          <a:p>
            <a:pPr indent="0" marL="0">
              <a:buNone/>
            </a:pPr>
            <a:r>
              <a:rPr lang="en-US" sz="750" b="1" dirty="0">
                <a:solidFill>
                  <a:srgbClr val="1F2937"/>
                </a:solidFill>
              </a:rPr>
              <a:t>Amplitude</a:t>
            </a:r>
            <a:endParaRPr lang="en-US" sz="750" dirty="0"/>
          </a:p>
        </p:txBody>
      </p:sp>
      <p:sp>
        <p:nvSpPr>
          <p:cNvPr id="32" name="Text 30"/>
          <p:cNvSpPr/>
          <p:nvPr/>
        </p:nvSpPr>
        <p:spPr>
          <a:xfrm>
            <a:off x="960120" y="2572512"/>
            <a:ext cx="4178808" cy="387096"/>
          </a:xfrm>
          <a:prstGeom prst="rect">
            <a:avLst/>
          </a:prstGeom>
          <a:noFill/>
          <a:ln/>
        </p:spPr>
        <p:txBody>
          <a:bodyPr wrap="square" lIns="0" tIns="0" rIns="0" bIns="0" rtlCol="0" anchor="t"/>
          <a:lstStyle/>
          <a:p>
            <a:pPr indent="0" marL="0">
              <a:buNone/>
            </a:pPr>
            <a:r>
              <a:rPr lang="en-US" sz="650" dirty="0">
                <a:solidFill>
                  <a:srgbClr val="374151"/>
                </a:solidFill>
              </a:rPr>
              <a:t>Decided, moving forward. Pricing confirmed at roughly half their initial offer (cheaper than what Wealthfront charged for similar volume), setup fee waived, and the team confirmed they want it, including integrating with Foxxum. Ari is proceeding to get the contract signed.</a:t>
            </a:r>
            <a:endParaRPr lang="en-US" sz="650" dirty="0"/>
          </a:p>
        </p:txBody>
      </p:sp>
      <p:sp>
        <p:nvSpPr>
          <p:cNvPr id="33" name="Shape 31"/>
          <p:cNvSpPr/>
          <p:nvPr/>
        </p:nvSpPr>
        <p:spPr>
          <a:xfrm>
            <a:off x="5230368" y="2679192"/>
            <a:ext cx="822960" cy="173736"/>
          </a:xfrm>
          <a:prstGeom prst="roundRect">
            <a:avLst>
              <a:gd name="adj" fmla="val 15789"/>
            </a:avLst>
          </a:prstGeom>
          <a:solidFill>
            <a:srgbClr val="1558A8"/>
          </a:solidFill>
          <a:ln w="12700">
            <a:solidFill>
              <a:srgbClr val="1558A8"/>
            </a:solidFill>
            <a:prstDash val="solid"/>
          </a:ln>
        </p:spPr>
      </p:sp>
      <p:sp>
        <p:nvSpPr>
          <p:cNvPr id="34" name="Text 32"/>
          <p:cNvSpPr/>
          <p:nvPr/>
        </p:nvSpPr>
        <p:spPr>
          <a:xfrm>
            <a:off x="5230368" y="267919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35" name="Shape 33"/>
          <p:cNvSpPr/>
          <p:nvPr/>
        </p:nvSpPr>
        <p:spPr>
          <a:xfrm>
            <a:off x="91440" y="2987040"/>
            <a:ext cx="6016752" cy="0"/>
          </a:xfrm>
          <a:prstGeom prst="line">
            <a:avLst/>
          </a:prstGeom>
          <a:noFill/>
          <a:ln w="6350">
            <a:solidFill>
              <a:srgbClr val="E5E7EB"/>
            </a:solidFill>
            <a:prstDash val="solid"/>
          </a:ln>
        </p:spPr>
      </p:sp>
      <p:sp>
        <p:nvSpPr>
          <p:cNvPr id="36" name="Text 34"/>
          <p:cNvSpPr/>
          <p:nvPr/>
        </p:nvSpPr>
        <p:spPr>
          <a:xfrm>
            <a:off x="164592" y="3005328"/>
            <a:ext cx="777240" cy="405384"/>
          </a:xfrm>
          <a:prstGeom prst="rect">
            <a:avLst/>
          </a:prstGeom>
          <a:noFill/>
          <a:ln/>
        </p:spPr>
        <p:txBody>
          <a:bodyPr wrap="square" lIns="0" tIns="0" rIns="0" bIns="0" rtlCol="0" anchor="ctr"/>
          <a:lstStyle/>
          <a:p>
            <a:pPr indent="0" marL="0">
              <a:buNone/>
            </a:pPr>
            <a:r>
              <a:rPr lang="en-US" sz="750" b="1" dirty="0">
                <a:solidFill>
                  <a:srgbClr val="1F2937"/>
                </a:solidFill>
              </a:rPr>
              <a:t>SR Data</a:t>
            </a:r>
            <a:endParaRPr lang="en-US" sz="750" dirty="0"/>
          </a:p>
        </p:txBody>
      </p:sp>
      <p:sp>
        <p:nvSpPr>
          <p:cNvPr id="37" name="Text 35"/>
          <p:cNvSpPr/>
          <p:nvPr/>
        </p:nvSpPr>
        <p:spPr>
          <a:xfrm>
            <a:off x="960120" y="3014472"/>
            <a:ext cx="4178808" cy="387096"/>
          </a:xfrm>
          <a:prstGeom prst="rect">
            <a:avLst/>
          </a:prstGeom>
          <a:noFill/>
          <a:ln/>
        </p:spPr>
        <p:txBody>
          <a:bodyPr wrap="square" lIns="0" tIns="0" rIns="0" bIns="0" rtlCol="0" anchor="t"/>
          <a:lstStyle/>
          <a:p>
            <a:pPr indent="0" marL="0">
              <a:buNone/>
            </a:pPr>
            <a:r>
              <a:rPr lang="en-US" sz="650" dirty="0">
                <a:solidFill>
                  <a:srgbClr val="374151"/>
                </a:solidFill>
              </a:rPr>
              <a:t>Bulk VOD ingest of 30,000+ assets planned. Manual media ingest workflow for content team (non-bulk uploads). VOD replace/hide workaround in place as interim solution.</a:t>
            </a:r>
            <a:endParaRPr lang="en-US" sz="650" dirty="0"/>
          </a:p>
        </p:txBody>
      </p:sp>
      <p:sp>
        <p:nvSpPr>
          <p:cNvPr id="38" name="Shape 36"/>
          <p:cNvSpPr/>
          <p:nvPr/>
        </p:nvSpPr>
        <p:spPr>
          <a:xfrm>
            <a:off x="5230368" y="3121152"/>
            <a:ext cx="822960" cy="173736"/>
          </a:xfrm>
          <a:prstGeom prst="roundRect">
            <a:avLst>
              <a:gd name="adj" fmla="val 15789"/>
            </a:avLst>
          </a:prstGeom>
          <a:solidFill>
            <a:srgbClr val="1558A8"/>
          </a:solidFill>
          <a:ln w="12700">
            <a:solidFill>
              <a:srgbClr val="1558A8"/>
            </a:solidFill>
            <a:prstDash val="solid"/>
          </a:ln>
        </p:spPr>
      </p:sp>
      <p:sp>
        <p:nvSpPr>
          <p:cNvPr id="39" name="Text 37"/>
          <p:cNvSpPr/>
          <p:nvPr/>
        </p:nvSpPr>
        <p:spPr>
          <a:xfrm>
            <a:off x="5230368" y="31211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0" name="Shape 38"/>
          <p:cNvSpPr/>
          <p:nvPr/>
        </p:nvSpPr>
        <p:spPr>
          <a:xfrm>
            <a:off x="6236208" y="502920"/>
            <a:ext cx="6016752" cy="2926080"/>
          </a:xfrm>
          <a:prstGeom prst="rect">
            <a:avLst/>
          </a:prstGeom>
          <a:solidFill>
            <a:srgbClr val="FAFBFC"/>
          </a:solidFill>
          <a:ln w="9525">
            <a:solidFill>
              <a:srgbClr val="D1D5DB"/>
            </a:solidFill>
            <a:prstDash val="solid"/>
          </a:ln>
        </p:spPr>
      </p:sp>
      <p:sp>
        <p:nvSpPr>
          <p:cNvPr id="41" name="Shape 39"/>
          <p:cNvSpPr/>
          <p:nvPr/>
        </p:nvSpPr>
        <p:spPr>
          <a:xfrm>
            <a:off x="6236208" y="502920"/>
            <a:ext cx="6016752" cy="274320"/>
          </a:xfrm>
          <a:prstGeom prst="rect">
            <a:avLst/>
          </a:prstGeom>
          <a:solidFill>
            <a:srgbClr val="8ED973"/>
          </a:solidFill>
          <a:ln w="12700">
            <a:solidFill>
              <a:srgbClr val="8ED973"/>
            </a:solidFill>
            <a:prstDash val="solid"/>
          </a:ln>
        </p:spPr>
      </p:sp>
      <p:sp>
        <p:nvSpPr>
          <p:cNvPr id="42" name="Text 40"/>
          <p:cNvSpPr/>
          <p:nvPr/>
        </p:nvSpPr>
        <p:spPr>
          <a:xfrm>
            <a:off x="6345936"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Shared Infrastructure &amp; Dev Tooling</a:t>
            </a:r>
            <a:endParaRPr lang="en-US" sz="900" dirty="0"/>
          </a:p>
        </p:txBody>
      </p:sp>
      <p:sp>
        <p:nvSpPr>
          <p:cNvPr id="43" name="Shape 41"/>
          <p:cNvSpPr/>
          <p:nvPr/>
        </p:nvSpPr>
        <p:spPr>
          <a:xfrm>
            <a:off x="6236208" y="777240"/>
            <a:ext cx="6016752" cy="530352"/>
          </a:xfrm>
          <a:prstGeom prst="rect">
            <a:avLst/>
          </a:prstGeom>
          <a:solidFill>
            <a:srgbClr val="FFFFFF"/>
          </a:solidFill>
          <a:ln w="3175">
            <a:solidFill>
              <a:srgbClr val="E5E7EB"/>
            </a:solidFill>
            <a:prstDash val="solid"/>
          </a:ln>
        </p:spPr>
      </p:sp>
      <p:sp>
        <p:nvSpPr>
          <p:cNvPr id="44" name="Text 42"/>
          <p:cNvSpPr/>
          <p:nvPr/>
        </p:nvSpPr>
        <p:spPr>
          <a:xfrm>
            <a:off x="6309360"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Monitoring &amp; Error Tracking</a:t>
            </a:r>
            <a:endParaRPr lang="en-US" sz="750" dirty="0"/>
          </a:p>
        </p:txBody>
      </p:sp>
      <p:sp>
        <p:nvSpPr>
          <p:cNvPr id="45" name="Text 43"/>
          <p:cNvSpPr/>
          <p:nvPr/>
        </p:nvSpPr>
        <p:spPr>
          <a:xfrm>
            <a:off x="7104888"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Google Analytics data is unreliable, so the team is evaluating Amplitude, Mixpanel, and PostHog as replacements and adding backend safeguards to catch errors automatically.</a:t>
            </a:r>
            <a:endParaRPr lang="en-US" sz="650" dirty="0"/>
          </a:p>
        </p:txBody>
      </p:sp>
      <p:sp>
        <p:nvSpPr>
          <p:cNvPr id="46" name="Shape 44"/>
          <p:cNvSpPr/>
          <p:nvPr/>
        </p:nvSpPr>
        <p:spPr>
          <a:xfrm>
            <a:off x="11375136" y="955548"/>
            <a:ext cx="822960" cy="173736"/>
          </a:xfrm>
          <a:prstGeom prst="roundRect">
            <a:avLst>
              <a:gd name="adj" fmla="val 15789"/>
            </a:avLst>
          </a:prstGeom>
          <a:solidFill>
            <a:srgbClr val="1558A8"/>
          </a:solidFill>
          <a:ln w="12700">
            <a:solidFill>
              <a:srgbClr val="1558A8"/>
            </a:solidFill>
            <a:prstDash val="solid"/>
          </a:ln>
        </p:spPr>
      </p:sp>
      <p:sp>
        <p:nvSpPr>
          <p:cNvPr id="47" name="Text 45"/>
          <p:cNvSpPr/>
          <p:nvPr/>
        </p:nvSpPr>
        <p:spPr>
          <a:xfrm>
            <a:off x="11375136"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8" name="Shape 46"/>
          <p:cNvSpPr/>
          <p:nvPr/>
        </p:nvSpPr>
        <p:spPr>
          <a:xfrm>
            <a:off x="6236208" y="1307592"/>
            <a:ext cx="6016752" cy="0"/>
          </a:xfrm>
          <a:prstGeom prst="line">
            <a:avLst/>
          </a:prstGeom>
          <a:noFill/>
          <a:ln w="6350">
            <a:solidFill>
              <a:srgbClr val="E5E7EB"/>
            </a:solidFill>
            <a:prstDash val="solid"/>
          </a:ln>
        </p:spPr>
      </p:sp>
      <p:sp>
        <p:nvSpPr>
          <p:cNvPr id="49" name="Text 47"/>
          <p:cNvSpPr/>
          <p:nvPr/>
        </p:nvSpPr>
        <p:spPr>
          <a:xfrm>
            <a:off x="6309360"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Mobile App</a:t>
            </a:r>
            <a:endParaRPr lang="en-US" sz="750" dirty="0"/>
          </a:p>
        </p:txBody>
      </p:sp>
      <p:sp>
        <p:nvSpPr>
          <p:cNvPr id="50" name="Text 48"/>
          <p:cNvSpPr/>
          <p:nvPr/>
        </p:nvSpPr>
        <p:spPr>
          <a:xfrm>
            <a:off x="7104888"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A new TestFlight build shipped this week, and DRM playback with picture-in-picture is now confirmed working on a real device after an iOS certificate fix.</a:t>
            </a:r>
            <a:endParaRPr lang="en-US" sz="650" dirty="0"/>
          </a:p>
        </p:txBody>
      </p:sp>
      <p:sp>
        <p:nvSpPr>
          <p:cNvPr id="51" name="Shape 49"/>
          <p:cNvSpPr/>
          <p:nvPr/>
        </p:nvSpPr>
        <p:spPr>
          <a:xfrm>
            <a:off x="11375136" y="1485900"/>
            <a:ext cx="822960" cy="173736"/>
          </a:xfrm>
          <a:prstGeom prst="roundRect">
            <a:avLst>
              <a:gd name="adj" fmla="val 15789"/>
            </a:avLst>
          </a:prstGeom>
          <a:solidFill>
            <a:srgbClr val="1558A8"/>
          </a:solidFill>
          <a:ln w="12700">
            <a:solidFill>
              <a:srgbClr val="1558A8"/>
            </a:solidFill>
            <a:prstDash val="solid"/>
          </a:ln>
        </p:spPr>
      </p:sp>
      <p:sp>
        <p:nvSpPr>
          <p:cNvPr id="52" name="Text 50"/>
          <p:cNvSpPr/>
          <p:nvPr/>
        </p:nvSpPr>
        <p:spPr>
          <a:xfrm>
            <a:off x="11375136" y="1485900"/>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3" name="Shape 51"/>
          <p:cNvSpPr/>
          <p:nvPr/>
        </p:nvSpPr>
        <p:spPr>
          <a:xfrm>
            <a:off x="6236208" y="1837944"/>
            <a:ext cx="6016752" cy="530352"/>
          </a:xfrm>
          <a:prstGeom prst="rect">
            <a:avLst/>
          </a:prstGeom>
          <a:solidFill>
            <a:srgbClr val="FFFFFF"/>
          </a:solidFill>
          <a:ln w="3175">
            <a:solidFill>
              <a:srgbClr val="E5E7EB"/>
            </a:solidFill>
            <a:prstDash val="solid"/>
          </a:ln>
        </p:spPr>
      </p:sp>
      <p:sp>
        <p:nvSpPr>
          <p:cNvPr id="54" name="Shape 52"/>
          <p:cNvSpPr/>
          <p:nvPr/>
        </p:nvSpPr>
        <p:spPr>
          <a:xfrm>
            <a:off x="6236208" y="1837944"/>
            <a:ext cx="6016752" cy="0"/>
          </a:xfrm>
          <a:prstGeom prst="line">
            <a:avLst/>
          </a:prstGeom>
          <a:noFill/>
          <a:ln w="6350">
            <a:solidFill>
              <a:srgbClr val="E5E7EB"/>
            </a:solidFill>
            <a:prstDash val="solid"/>
          </a:ln>
        </p:spPr>
      </p:sp>
      <p:sp>
        <p:nvSpPr>
          <p:cNvPr id="55" name="Text 53"/>
          <p:cNvSpPr/>
          <p:nvPr/>
        </p:nvSpPr>
        <p:spPr>
          <a:xfrm>
            <a:off x="6309360"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Website</a:t>
            </a:r>
            <a:endParaRPr lang="en-US" sz="750" dirty="0"/>
          </a:p>
        </p:txBody>
      </p:sp>
      <p:sp>
        <p:nvSpPr>
          <p:cNvPr id="56" name="Text 54"/>
          <p:cNvSpPr/>
          <p:nvPr/>
        </p:nvSpPr>
        <p:spPr>
          <a:xfrm>
            <a:off x="7104888"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Engineers began prototyping the new tournaments and live pages, and the team kicked off twice-weekly design jam sessions to keep design and engineering aligned.</a:t>
            </a:r>
            <a:endParaRPr lang="en-US" sz="650" dirty="0"/>
          </a:p>
        </p:txBody>
      </p:sp>
      <p:sp>
        <p:nvSpPr>
          <p:cNvPr id="57" name="Shape 55"/>
          <p:cNvSpPr/>
          <p:nvPr/>
        </p:nvSpPr>
        <p:spPr>
          <a:xfrm>
            <a:off x="11375136" y="2016252"/>
            <a:ext cx="822960" cy="173736"/>
          </a:xfrm>
          <a:prstGeom prst="roundRect">
            <a:avLst>
              <a:gd name="adj" fmla="val 15789"/>
            </a:avLst>
          </a:prstGeom>
          <a:solidFill>
            <a:srgbClr val="1558A8"/>
          </a:solidFill>
          <a:ln w="12700">
            <a:solidFill>
              <a:srgbClr val="1558A8"/>
            </a:solidFill>
            <a:prstDash val="solid"/>
          </a:ln>
        </p:spPr>
      </p:sp>
      <p:sp>
        <p:nvSpPr>
          <p:cNvPr id="58" name="Text 56"/>
          <p:cNvSpPr/>
          <p:nvPr/>
        </p:nvSpPr>
        <p:spPr>
          <a:xfrm>
            <a:off x="11375136"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9" name="Shape 57"/>
          <p:cNvSpPr/>
          <p:nvPr/>
        </p:nvSpPr>
        <p:spPr>
          <a:xfrm>
            <a:off x="6236208" y="2368296"/>
            <a:ext cx="6016752" cy="0"/>
          </a:xfrm>
          <a:prstGeom prst="line">
            <a:avLst/>
          </a:prstGeom>
          <a:noFill/>
          <a:ln w="6350">
            <a:solidFill>
              <a:srgbClr val="E5E7EB"/>
            </a:solidFill>
            <a:prstDash val="solid"/>
          </a:ln>
        </p:spPr>
      </p:sp>
      <p:sp>
        <p:nvSpPr>
          <p:cNvPr id="60" name="Text 58"/>
          <p:cNvSpPr/>
          <p:nvPr/>
        </p:nvSpPr>
        <p:spPr>
          <a:xfrm>
            <a:off x="6309360"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Hosting</a:t>
            </a:r>
            <a:endParaRPr lang="en-US" sz="750" dirty="0"/>
          </a:p>
        </p:txBody>
      </p:sp>
      <p:sp>
        <p:nvSpPr>
          <p:cNvPr id="61" name="Text 59"/>
          <p:cNvSpPr/>
          <p:nvPr/>
        </p:nvSpPr>
        <p:spPr>
          <a:xfrm>
            <a:off x="7104888"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No new update this week.</a:t>
            </a:r>
            <a:endParaRPr lang="en-US" sz="650" dirty="0"/>
          </a:p>
        </p:txBody>
      </p:sp>
      <p:sp>
        <p:nvSpPr>
          <p:cNvPr id="62" name="Shape 60"/>
          <p:cNvSpPr/>
          <p:nvPr/>
        </p:nvSpPr>
        <p:spPr>
          <a:xfrm>
            <a:off x="11375136" y="2546604"/>
            <a:ext cx="822960" cy="173736"/>
          </a:xfrm>
          <a:prstGeom prst="roundRect">
            <a:avLst>
              <a:gd name="adj" fmla="val 15789"/>
            </a:avLst>
          </a:prstGeom>
          <a:solidFill>
            <a:srgbClr val="CFFAFE"/>
          </a:solidFill>
          <a:ln w="12700">
            <a:solidFill>
              <a:srgbClr val="0E7490"/>
            </a:solidFill>
            <a:prstDash val="solid"/>
          </a:ln>
        </p:spPr>
      </p:sp>
      <p:sp>
        <p:nvSpPr>
          <p:cNvPr id="63" name="Text 61"/>
          <p:cNvSpPr/>
          <p:nvPr/>
        </p:nvSpPr>
        <p:spPr>
          <a:xfrm>
            <a:off x="11375136" y="2546604"/>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64" name="Shape 62"/>
          <p:cNvSpPr/>
          <p:nvPr/>
        </p:nvSpPr>
        <p:spPr>
          <a:xfrm>
            <a:off x="6236208" y="2898648"/>
            <a:ext cx="6016752" cy="530352"/>
          </a:xfrm>
          <a:prstGeom prst="rect">
            <a:avLst/>
          </a:prstGeom>
          <a:solidFill>
            <a:srgbClr val="FFFFFF"/>
          </a:solidFill>
          <a:ln w="3175">
            <a:solidFill>
              <a:srgbClr val="E5E7EB"/>
            </a:solidFill>
            <a:prstDash val="solid"/>
          </a:ln>
        </p:spPr>
      </p:sp>
      <p:sp>
        <p:nvSpPr>
          <p:cNvPr id="65" name="Shape 63"/>
          <p:cNvSpPr/>
          <p:nvPr/>
        </p:nvSpPr>
        <p:spPr>
          <a:xfrm>
            <a:off x="6236208" y="2898648"/>
            <a:ext cx="6016752" cy="0"/>
          </a:xfrm>
          <a:prstGeom prst="line">
            <a:avLst/>
          </a:prstGeom>
          <a:noFill/>
          <a:ln w="6350">
            <a:solidFill>
              <a:srgbClr val="E5E7EB"/>
            </a:solidFill>
            <a:prstDash val="solid"/>
          </a:ln>
        </p:spPr>
      </p:sp>
      <p:sp>
        <p:nvSpPr>
          <p:cNvPr id="66" name="Text 64"/>
          <p:cNvSpPr/>
          <p:nvPr/>
        </p:nvSpPr>
        <p:spPr>
          <a:xfrm>
            <a:off x="6309360"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Analytics Data Warehouse</a:t>
            </a:r>
            <a:endParaRPr lang="en-US" sz="750" dirty="0"/>
          </a:p>
        </p:txBody>
      </p:sp>
      <p:sp>
        <p:nvSpPr>
          <p:cNvPr id="67" name="Text 65"/>
          <p:cNvSpPr/>
          <p:nvPr/>
        </p:nvSpPr>
        <p:spPr>
          <a:xfrm>
            <a:off x="7104888"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No new update this week.</a:t>
            </a:r>
            <a:endParaRPr lang="en-US" sz="650" dirty="0"/>
          </a:p>
        </p:txBody>
      </p:sp>
      <p:sp>
        <p:nvSpPr>
          <p:cNvPr id="68" name="Shape 66"/>
          <p:cNvSpPr/>
          <p:nvPr/>
        </p:nvSpPr>
        <p:spPr>
          <a:xfrm>
            <a:off x="11375136" y="3076956"/>
            <a:ext cx="822960" cy="173736"/>
          </a:xfrm>
          <a:prstGeom prst="roundRect">
            <a:avLst>
              <a:gd name="adj" fmla="val 15789"/>
            </a:avLst>
          </a:prstGeom>
          <a:solidFill>
            <a:srgbClr val="1558A8"/>
          </a:solidFill>
          <a:ln w="12700">
            <a:solidFill>
              <a:srgbClr val="1558A8"/>
            </a:solidFill>
            <a:prstDash val="solid"/>
          </a:ln>
        </p:spPr>
      </p:sp>
      <p:sp>
        <p:nvSpPr>
          <p:cNvPr id="69" name="Text 67"/>
          <p:cNvSpPr/>
          <p:nvPr/>
        </p:nvSpPr>
        <p:spPr>
          <a:xfrm>
            <a:off x="11375136"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0" name="Shape 68"/>
          <p:cNvSpPr/>
          <p:nvPr/>
        </p:nvSpPr>
        <p:spPr>
          <a:xfrm>
            <a:off x="91440" y="3502152"/>
            <a:ext cx="6016752" cy="3749040"/>
          </a:xfrm>
          <a:prstGeom prst="rect">
            <a:avLst/>
          </a:prstGeom>
          <a:solidFill>
            <a:srgbClr val="FAFBFC"/>
          </a:solidFill>
          <a:ln w="9525">
            <a:solidFill>
              <a:srgbClr val="D1D5DB"/>
            </a:solidFill>
            <a:prstDash val="solid"/>
          </a:ln>
        </p:spPr>
      </p:sp>
      <p:sp>
        <p:nvSpPr>
          <p:cNvPr id="71" name="Shape 69"/>
          <p:cNvSpPr/>
          <p:nvPr/>
        </p:nvSpPr>
        <p:spPr>
          <a:xfrm>
            <a:off x="91440" y="3502152"/>
            <a:ext cx="6016752" cy="274320"/>
          </a:xfrm>
          <a:prstGeom prst="rect">
            <a:avLst/>
          </a:prstGeom>
          <a:solidFill>
            <a:srgbClr val="8ED973"/>
          </a:solidFill>
          <a:ln w="12700">
            <a:solidFill>
              <a:srgbClr val="8ED973"/>
            </a:solidFill>
            <a:prstDash val="solid"/>
          </a:ln>
        </p:spPr>
      </p:sp>
      <p:sp>
        <p:nvSpPr>
          <p:cNvPr id="72" name="Text 70"/>
          <p:cNvSpPr/>
          <p:nvPr/>
        </p:nvSpPr>
        <p:spPr>
          <a:xfrm>
            <a:off x="201168"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Partner / Platform Integrations</a:t>
            </a:r>
            <a:endParaRPr lang="en-US" sz="900" dirty="0"/>
          </a:p>
        </p:txBody>
      </p:sp>
      <p:sp>
        <p:nvSpPr>
          <p:cNvPr id="73" name="Shape 71"/>
          <p:cNvSpPr/>
          <p:nvPr/>
        </p:nvSpPr>
        <p:spPr>
          <a:xfrm>
            <a:off x="91440" y="3776472"/>
            <a:ext cx="6016752" cy="1158240"/>
          </a:xfrm>
          <a:prstGeom prst="rect">
            <a:avLst/>
          </a:prstGeom>
          <a:solidFill>
            <a:srgbClr val="FFFFFF"/>
          </a:solidFill>
          <a:ln w="3175">
            <a:solidFill>
              <a:srgbClr val="E5E7EB"/>
            </a:solidFill>
            <a:prstDash val="solid"/>
          </a:ln>
        </p:spPr>
      </p:sp>
      <p:sp>
        <p:nvSpPr>
          <p:cNvPr id="74" name="Text 72"/>
          <p:cNvSpPr/>
          <p:nvPr/>
        </p:nvSpPr>
        <p:spPr>
          <a:xfrm>
            <a:off x="164592" y="379476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MVPD</a:t>
            </a:r>
            <a:endParaRPr lang="en-US" sz="750" dirty="0"/>
          </a:p>
        </p:txBody>
      </p:sp>
      <p:sp>
        <p:nvSpPr>
          <p:cNvPr id="75" name="Text 73"/>
          <p:cNvSpPr/>
          <p:nvPr/>
        </p:nvSpPr>
        <p:spPr>
          <a:xfrm>
            <a:off x="960120" y="3803904"/>
            <a:ext cx="4178808" cy="1103376"/>
          </a:xfrm>
          <a:prstGeom prst="rect">
            <a:avLst/>
          </a:prstGeom>
          <a:noFill/>
          <a:ln/>
        </p:spPr>
        <p:txBody>
          <a:bodyPr wrap="square" lIns="0" tIns="0" rIns="0" bIns="0" rtlCol="0" anchor="t"/>
          <a:lstStyle/>
          <a:p>
            <a:pPr indent="0" marL="0">
              <a:buNone/>
            </a:pPr>
            <a:r>
              <a:rPr lang="en-US" sz="650" dirty="0">
                <a:solidFill>
                  <a:srgbClr val="374151"/>
                </a:solidFill>
              </a:rPr>
              <a:t>MVPD (TV-provider) login is now the only way into the mobile app, with a login fix still being finalized for Android.</a:t>
            </a:r>
            <a:endParaRPr lang="en-US" sz="650" dirty="0"/>
          </a:p>
        </p:txBody>
      </p:sp>
      <p:sp>
        <p:nvSpPr>
          <p:cNvPr id="76" name="Shape 74"/>
          <p:cNvSpPr/>
          <p:nvPr/>
        </p:nvSpPr>
        <p:spPr>
          <a:xfrm>
            <a:off x="5230368" y="4268724"/>
            <a:ext cx="822960" cy="173736"/>
          </a:xfrm>
          <a:prstGeom prst="roundRect">
            <a:avLst>
              <a:gd name="adj" fmla="val 15789"/>
            </a:avLst>
          </a:prstGeom>
          <a:solidFill>
            <a:srgbClr val="F3F4F6"/>
          </a:solidFill>
          <a:ln w="9525">
            <a:solidFill>
              <a:srgbClr val="D1D5DB"/>
            </a:solidFill>
            <a:prstDash val="solid"/>
          </a:ln>
        </p:spPr>
      </p:sp>
      <p:sp>
        <p:nvSpPr>
          <p:cNvPr id="77" name="Text 75"/>
          <p:cNvSpPr/>
          <p:nvPr/>
        </p:nvSpPr>
        <p:spPr>
          <a:xfrm>
            <a:off x="5230368" y="4268724"/>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Complete</a:t>
            </a:r>
            <a:endParaRPr lang="en-US" sz="650" dirty="0"/>
          </a:p>
        </p:txBody>
      </p:sp>
      <p:sp>
        <p:nvSpPr>
          <p:cNvPr id="78" name="Shape 76"/>
          <p:cNvSpPr/>
          <p:nvPr/>
        </p:nvSpPr>
        <p:spPr>
          <a:xfrm>
            <a:off x="91440" y="4934712"/>
            <a:ext cx="6016752" cy="0"/>
          </a:xfrm>
          <a:prstGeom prst="line">
            <a:avLst/>
          </a:prstGeom>
          <a:noFill/>
          <a:ln w="6350">
            <a:solidFill>
              <a:srgbClr val="E5E7EB"/>
            </a:solidFill>
            <a:prstDash val="solid"/>
          </a:ln>
        </p:spPr>
      </p:sp>
      <p:sp>
        <p:nvSpPr>
          <p:cNvPr id="79" name="Text 77"/>
          <p:cNvSpPr/>
          <p:nvPr/>
        </p:nvSpPr>
        <p:spPr>
          <a:xfrm>
            <a:off x="164592" y="495300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DRM</a:t>
            </a:r>
            <a:endParaRPr lang="en-US" sz="750" dirty="0"/>
          </a:p>
        </p:txBody>
      </p:sp>
      <p:sp>
        <p:nvSpPr>
          <p:cNvPr id="80" name="Text 78"/>
          <p:cNvSpPr/>
          <p:nvPr/>
        </p:nvSpPr>
        <p:spPr>
          <a:xfrm>
            <a:off x="960120" y="4962144"/>
            <a:ext cx="4178808" cy="1103376"/>
          </a:xfrm>
          <a:prstGeom prst="rect">
            <a:avLst/>
          </a:prstGeom>
          <a:noFill/>
          <a:ln/>
        </p:spPr>
        <p:txBody>
          <a:bodyPr wrap="square" lIns="0" tIns="0" rIns="0" bIns="0" rtlCol="0" anchor="t"/>
          <a:lstStyle/>
          <a:p>
            <a:pPr indent="0" marL="0">
              <a:buNone/>
            </a:pPr>
            <a:r>
              <a:rPr lang="en-US" sz="650" dirty="0">
                <a:solidFill>
                  <a:srgbClr val="374151"/>
                </a:solidFill>
              </a:rPr>
              <a:t>The iOS certificate issue is fixed, and DRM playback with picture-in-picture is confirmed working on a real device.</a:t>
            </a:r>
            <a:endParaRPr lang="en-US" sz="650" dirty="0"/>
          </a:p>
        </p:txBody>
      </p:sp>
      <p:sp>
        <p:nvSpPr>
          <p:cNvPr id="81" name="Shape 79"/>
          <p:cNvSpPr/>
          <p:nvPr/>
        </p:nvSpPr>
        <p:spPr>
          <a:xfrm>
            <a:off x="5230368" y="5426964"/>
            <a:ext cx="822960" cy="173736"/>
          </a:xfrm>
          <a:prstGeom prst="roundRect">
            <a:avLst>
              <a:gd name="adj" fmla="val 15789"/>
            </a:avLst>
          </a:prstGeom>
          <a:solidFill>
            <a:srgbClr val="1558A8"/>
          </a:solidFill>
          <a:ln w="12700">
            <a:solidFill>
              <a:srgbClr val="1558A8"/>
            </a:solidFill>
            <a:prstDash val="solid"/>
          </a:ln>
        </p:spPr>
      </p:sp>
      <p:sp>
        <p:nvSpPr>
          <p:cNvPr id="82" name="Text 80"/>
          <p:cNvSpPr/>
          <p:nvPr/>
        </p:nvSpPr>
        <p:spPr>
          <a:xfrm>
            <a:off x="5230368" y="542696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3" name="Shape 81"/>
          <p:cNvSpPr/>
          <p:nvPr/>
        </p:nvSpPr>
        <p:spPr>
          <a:xfrm>
            <a:off x="91440" y="6092952"/>
            <a:ext cx="6016752" cy="1158240"/>
          </a:xfrm>
          <a:prstGeom prst="rect">
            <a:avLst/>
          </a:prstGeom>
          <a:solidFill>
            <a:srgbClr val="FFFFFF"/>
          </a:solidFill>
          <a:ln w="3175">
            <a:solidFill>
              <a:srgbClr val="E5E7EB"/>
            </a:solidFill>
            <a:prstDash val="solid"/>
          </a:ln>
        </p:spPr>
      </p:sp>
      <p:sp>
        <p:nvSpPr>
          <p:cNvPr id="84" name="Shape 82"/>
          <p:cNvSpPr/>
          <p:nvPr/>
        </p:nvSpPr>
        <p:spPr>
          <a:xfrm>
            <a:off x="91440" y="6092952"/>
            <a:ext cx="6016752" cy="0"/>
          </a:xfrm>
          <a:prstGeom prst="line">
            <a:avLst/>
          </a:prstGeom>
          <a:noFill/>
          <a:ln w="6350">
            <a:solidFill>
              <a:srgbClr val="E5E7EB"/>
            </a:solidFill>
            <a:prstDash val="solid"/>
          </a:ln>
        </p:spPr>
      </p:sp>
      <p:sp>
        <p:nvSpPr>
          <p:cNvPr id="85" name="Text 83"/>
          <p:cNvSpPr/>
          <p:nvPr/>
        </p:nvSpPr>
        <p:spPr>
          <a:xfrm>
            <a:off x="164592" y="611124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86" name="Text 84"/>
          <p:cNvSpPr/>
          <p:nvPr/>
        </p:nvSpPr>
        <p:spPr>
          <a:xfrm>
            <a:off x="960120" y="6120384"/>
            <a:ext cx="4178808" cy="1103376"/>
          </a:xfrm>
          <a:prstGeom prst="rect">
            <a:avLst/>
          </a:prstGeom>
          <a:noFill/>
          <a:ln/>
        </p:spPr>
        <p:txBody>
          <a:bodyPr wrap="square" lIns="0" tIns="0" rIns="0" bIns="0" rtlCol="0" anchor="t"/>
          <a:lstStyle/>
          <a:p>
            <a:pPr indent="0" marL="0">
              <a:buNone/>
            </a:pPr>
            <a:r>
              <a:rPr lang="en-US" sz="650" dirty="0">
                <a:solidFill>
                  <a:srgbClr val="374151"/>
                </a:solidFill>
              </a:rPr>
              <a:t>Foxxum demoed the new content page and carousel pagination, and is now focused on entitlement checks, with playback migration, geo-blocking, and concurrency limits queued up next.</a:t>
            </a:r>
            <a:endParaRPr lang="en-US" sz="650" dirty="0"/>
          </a:p>
        </p:txBody>
      </p:sp>
      <p:sp>
        <p:nvSpPr>
          <p:cNvPr id="87" name="Shape 85"/>
          <p:cNvSpPr/>
          <p:nvPr/>
        </p:nvSpPr>
        <p:spPr>
          <a:xfrm>
            <a:off x="5230368" y="6585204"/>
            <a:ext cx="822960" cy="173736"/>
          </a:xfrm>
          <a:prstGeom prst="roundRect">
            <a:avLst>
              <a:gd name="adj" fmla="val 15789"/>
            </a:avLst>
          </a:prstGeom>
          <a:solidFill>
            <a:srgbClr val="1558A8"/>
          </a:solidFill>
          <a:ln w="12700">
            <a:solidFill>
              <a:srgbClr val="1558A8"/>
            </a:solidFill>
            <a:prstDash val="solid"/>
          </a:ln>
        </p:spPr>
      </p:sp>
      <p:sp>
        <p:nvSpPr>
          <p:cNvPr id="88" name="Text 86"/>
          <p:cNvSpPr/>
          <p:nvPr/>
        </p:nvSpPr>
        <p:spPr>
          <a:xfrm>
            <a:off x="5230368" y="65852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9" name="Shape 87"/>
          <p:cNvSpPr/>
          <p:nvPr/>
        </p:nvSpPr>
        <p:spPr>
          <a:xfrm>
            <a:off x="6236208" y="3502152"/>
            <a:ext cx="6016752" cy="3749040"/>
          </a:xfrm>
          <a:prstGeom prst="rect">
            <a:avLst/>
          </a:prstGeom>
          <a:solidFill>
            <a:srgbClr val="FAFBFC"/>
          </a:solidFill>
          <a:ln w="9525">
            <a:solidFill>
              <a:srgbClr val="D1D5DB"/>
            </a:solidFill>
            <a:prstDash val="solid"/>
          </a:ln>
        </p:spPr>
      </p:sp>
      <p:sp>
        <p:nvSpPr>
          <p:cNvPr id="90" name="Shape 88"/>
          <p:cNvSpPr/>
          <p:nvPr/>
        </p:nvSpPr>
        <p:spPr>
          <a:xfrm>
            <a:off x="6236208" y="3502152"/>
            <a:ext cx="6016752" cy="274320"/>
          </a:xfrm>
          <a:prstGeom prst="rect">
            <a:avLst/>
          </a:prstGeom>
          <a:solidFill>
            <a:srgbClr val="8ED973"/>
          </a:solidFill>
          <a:ln w="12700">
            <a:solidFill>
              <a:srgbClr val="8ED973"/>
            </a:solidFill>
            <a:prstDash val="solid"/>
          </a:ln>
        </p:spPr>
      </p:sp>
      <p:sp>
        <p:nvSpPr>
          <p:cNvPr id="91" name="Text 89"/>
          <p:cNvSpPr/>
          <p:nvPr/>
        </p:nvSpPr>
        <p:spPr>
          <a:xfrm>
            <a:off x="6345936"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Platform Capabilities</a:t>
            </a:r>
            <a:endParaRPr lang="en-US" sz="900" dirty="0"/>
          </a:p>
        </p:txBody>
      </p:sp>
      <p:sp>
        <p:nvSpPr>
          <p:cNvPr id="92" name="Shape 90"/>
          <p:cNvSpPr/>
          <p:nvPr/>
        </p:nvSpPr>
        <p:spPr>
          <a:xfrm>
            <a:off x="6236208" y="3776472"/>
            <a:ext cx="6016752" cy="868680"/>
          </a:xfrm>
          <a:prstGeom prst="rect">
            <a:avLst/>
          </a:prstGeom>
          <a:solidFill>
            <a:srgbClr val="FFFFFF"/>
          </a:solidFill>
          <a:ln w="3175">
            <a:solidFill>
              <a:srgbClr val="E5E7EB"/>
            </a:solidFill>
            <a:prstDash val="solid"/>
          </a:ln>
        </p:spPr>
      </p:sp>
      <p:sp>
        <p:nvSpPr>
          <p:cNvPr id="93" name="Text 91"/>
          <p:cNvSpPr/>
          <p:nvPr/>
        </p:nvSpPr>
        <p:spPr>
          <a:xfrm>
            <a:off x="6309360" y="379476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Platform POC</a:t>
            </a:r>
            <a:endParaRPr lang="en-US" sz="750" dirty="0"/>
          </a:p>
        </p:txBody>
      </p:sp>
      <p:sp>
        <p:nvSpPr>
          <p:cNvPr id="94" name="Text 92"/>
          <p:cNvSpPr/>
          <p:nvPr/>
        </p:nvSpPr>
        <p:spPr>
          <a:xfrm>
            <a:off x="7104888" y="3803904"/>
            <a:ext cx="4178808" cy="813816"/>
          </a:xfrm>
          <a:prstGeom prst="rect">
            <a:avLst/>
          </a:prstGeom>
          <a:noFill/>
          <a:ln/>
        </p:spPr>
        <p:txBody>
          <a:bodyPr wrap="square" lIns="0" tIns="0" rIns="0" bIns="0" rtlCol="0" anchor="t"/>
          <a:lstStyle/>
          <a:p>
            <a:pPr indent="0" marL="0">
              <a:buNone/>
            </a:pPr>
            <a:r>
              <a:rPr lang="en-US" sz="650" dirty="0">
                <a:solidFill>
                  <a:srgbClr val="374151"/>
                </a:solidFill>
              </a:rPr>
              <a:t>The team is migrating off the limited trial Auth0 account onto a proper dev tenant, and the vendor confirmed the new account request.</a:t>
            </a:r>
            <a:endParaRPr lang="en-US" sz="650" dirty="0"/>
          </a:p>
        </p:txBody>
      </p:sp>
      <p:sp>
        <p:nvSpPr>
          <p:cNvPr id="95" name="Shape 93"/>
          <p:cNvSpPr/>
          <p:nvPr/>
        </p:nvSpPr>
        <p:spPr>
          <a:xfrm>
            <a:off x="11375136" y="4123944"/>
            <a:ext cx="822960" cy="173736"/>
          </a:xfrm>
          <a:prstGeom prst="roundRect">
            <a:avLst>
              <a:gd name="adj" fmla="val 15789"/>
            </a:avLst>
          </a:prstGeom>
          <a:solidFill>
            <a:srgbClr val="F3F4F6"/>
          </a:solidFill>
          <a:ln w="9525">
            <a:solidFill>
              <a:srgbClr val="D1D5DB"/>
            </a:solidFill>
            <a:prstDash val="solid"/>
          </a:ln>
        </p:spPr>
      </p:sp>
      <p:sp>
        <p:nvSpPr>
          <p:cNvPr id="96" name="Text 94"/>
          <p:cNvSpPr/>
          <p:nvPr/>
        </p:nvSpPr>
        <p:spPr>
          <a:xfrm>
            <a:off x="11375136" y="4123944"/>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Complete</a:t>
            </a:r>
            <a:endParaRPr lang="en-US" sz="650" dirty="0"/>
          </a:p>
        </p:txBody>
      </p:sp>
      <p:sp>
        <p:nvSpPr>
          <p:cNvPr id="97" name="Shape 95"/>
          <p:cNvSpPr/>
          <p:nvPr/>
        </p:nvSpPr>
        <p:spPr>
          <a:xfrm>
            <a:off x="6236208" y="4645152"/>
            <a:ext cx="6016752" cy="0"/>
          </a:xfrm>
          <a:prstGeom prst="line">
            <a:avLst/>
          </a:prstGeom>
          <a:noFill/>
          <a:ln w="6350">
            <a:solidFill>
              <a:srgbClr val="E5E7EB"/>
            </a:solidFill>
            <a:prstDash val="solid"/>
          </a:ln>
        </p:spPr>
      </p:sp>
      <p:sp>
        <p:nvSpPr>
          <p:cNvPr id="98" name="Text 96"/>
          <p:cNvSpPr/>
          <p:nvPr/>
        </p:nvSpPr>
        <p:spPr>
          <a:xfrm>
            <a:off x="6309360" y="466344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UI/UX</a:t>
            </a:r>
            <a:endParaRPr lang="en-US" sz="750" dirty="0"/>
          </a:p>
        </p:txBody>
      </p:sp>
      <p:sp>
        <p:nvSpPr>
          <p:cNvPr id="99" name="Text 97"/>
          <p:cNvSpPr/>
          <p:nvPr/>
        </p:nvSpPr>
        <p:spPr>
          <a:xfrm>
            <a:off x="7104888" y="4672584"/>
            <a:ext cx="4178808" cy="813816"/>
          </a:xfrm>
          <a:prstGeom prst="rect">
            <a:avLst/>
          </a:prstGeom>
          <a:noFill/>
          <a:ln/>
        </p:spPr>
        <p:txBody>
          <a:bodyPr wrap="square" lIns="0" tIns="0" rIns="0" bIns="0" rtlCol="0" anchor="t"/>
          <a:lstStyle/>
          <a:p>
            <a:pPr indent="0" marL="0">
              <a:buNone/>
            </a:pPr>
            <a:r>
              <a:rPr lang="en-US" sz="650" dirty="0">
                <a:solidFill>
                  <a:srgbClr val="374151"/>
                </a:solidFill>
              </a:rPr>
              <a:t>Every carousel will keep a default "show more" link with item limits set per device, and design jam sessions started this week.</a:t>
            </a:r>
            <a:endParaRPr lang="en-US" sz="650" dirty="0"/>
          </a:p>
        </p:txBody>
      </p:sp>
      <p:sp>
        <p:nvSpPr>
          <p:cNvPr id="100" name="Shape 98"/>
          <p:cNvSpPr/>
          <p:nvPr/>
        </p:nvSpPr>
        <p:spPr>
          <a:xfrm>
            <a:off x="11375136" y="4992624"/>
            <a:ext cx="822960" cy="173736"/>
          </a:xfrm>
          <a:prstGeom prst="roundRect">
            <a:avLst>
              <a:gd name="adj" fmla="val 15789"/>
            </a:avLst>
          </a:prstGeom>
          <a:solidFill>
            <a:srgbClr val="1558A8"/>
          </a:solidFill>
          <a:ln w="12700">
            <a:solidFill>
              <a:srgbClr val="1558A8"/>
            </a:solidFill>
            <a:prstDash val="solid"/>
          </a:ln>
        </p:spPr>
      </p:sp>
      <p:sp>
        <p:nvSpPr>
          <p:cNvPr id="101" name="Text 99"/>
          <p:cNvSpPr/>
          <p:nvPr/>
        </p:nvSpPr>
        <p:spPr>
          <a:xfrm>
            <a:off x="11375136" y="49926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02" name="Shape 100"/>
          <p:cNvSpPr/>
          <p:nvPr/>
        </p:nvSpPr>
        <p:spPr>
          <a:xfrm>
            <a:off x="6236208" y="5513832"/>
            <a:ext cx="6016752" cy="868680"/>
          </a:xfrm>
          <a:prstGeom prst="rect">
            <a:avLst/>
          </a:prstGeom>
          <a:solidFill>
            <a:srgbClr val="FFFFFF"/>
          </a:solidFill>
          <a:ln w="3175">
            <a:solidFill>
              <a:srgbClr val="E5E7EB"/>
            </a:solidFill>
            <a:prstDash val="solid"/>
          </a:ln>
        </p:spPr>
      </p:sp>
      <p:sp>
        <p:nvSpPr>
          <p:cNvPr id="103" name="Shape 101"/>
          <p:cNvSpPr/>
          <p:nvPr/>
        </p:nvSpPr>
        <p:spPr>
          <a:xfrm>
            <a:off x="6236208" y="5513832"/>
            <a:ext cx="6016752" cy="0"/>
          </a:xfrm>
          <a:prstGeom prst="line">
            <a:avLst/>
          </a:prstGeom>
          <a:noFill/>
          <a:ln w="6350">
            <a:solidFill>
              <a:srgbClr val="E5E7EB"/>
            </a:solidFill>
            <a:prstDash val="solid"/>
          </a:ln>
        </p:spPr>
      </p:sp>
      <p:sp>
        <p:nvSpPr>
          <p:cNvPr id="104" name="Text 102"/>
          <p:cNvSpPr/>
          <p:nvPr/>
        </p:nvSpPr>
        <p:spPr>
          <a:xfrm>
            <a:off x="6309360" y="553212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Video Player</a:t>
            </a:r>
            <a:endParaRPr lang="en-US" sz="750" dirty="0"/>
          </a:p>
        </p:txBody>
      </p:sp>
      <p:sp>
        <p:nvSpPr>
          <p:cNvPr id="105" name="Text 103"/>
          <p:cNvSpPr/>
          <p:nvPr/>
        </p:nvSpPr>
        <p:spPr>
          <a:xfrm>
            <a:off x="7104888" y="5541264"/>
            <a:ext cx="4178808" cy="813816"/>
          </a:xfrm>
          <a:prstGeom prst="rect">
            <a:avLst/>
          </a:prstGeom>
          <a:noFill/>
          <a:ln/>
        </p:spPr>
        <p:txBody>
          <a:bodyPr wrap="square" lIns="0" tIns="0" rIns="0" bIns="0" rtlCol="0" anchor="t"/>
          <a:lstStyle/>
          <a:p>
            <a:pPr indent="0" marL="0">
              <a:buNone/>
            </a:pPr>
            <a:r>
              <a:rPr lang="en-US" sz="650" dirty="0">
                <a:solidFill>
                  <a:srgbClr val="374151"/>
                </a:solidFill>
              </a:rPr>
              <a:t>No BitMovin-specific update this week, but DRM playback with picture-in-picture is confirmed working on iOS.</a:t>
            </a:r>
            <a:endParaRPr lang="en-US" sz="650" dirty="0"/>
          </a:p>
        </p:txBody>
      </p:sp>
      <p:sp>
        <p:nvSpPr>
          <p:cNvPr id="106" name="Shape 104"/>
          <p:cNvSpPr/>
          <p:nvPr/>
        </p:nvSpPr>
        <p:spPr>
          <a:xfrm>
            <a:off x="11375136" y="5861304"/>
            <a:ext cx="822960" cy="173736"/>
          </a:xfrm>
          <a:prstGeom prst="roundRect">
            <a:avLst>
              <a:gd name="adj" fmla="val 15789"/>
            </a:avLst>
          </a:prstGeom>
          <a:solidFill>
            <a:srgbClr val="1558A8"/>
          </a:solidFill>
          <a:ln w="12700">
            <a:solidFill>
              <a:srgbClr val="1558A8"/>
            </a:solidFill>
            <a:prstDash val="solid"/>
          </a:ln>
        </p:spPr>
      </p:sp>
      <p:sp>
        <p:nvSpPr>
          <p:cNvPr id="107" name="Text 105"/>
          <p:cNvSpPr/>
          <p:nvPr/>
        </p:nvSpPr>
        <p:spPr>
          <a:xfrm>
            <a:off x="11375136" y="58613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08" name="Shape 106"/>
          <p:cNvSpPr/>
          <p:nvPr/>
        </p:nvSpPr>
        <p:spPr>
          <a:xfrm>
            <a:off x="6236208" y="6382512"/>
            <a:ext cx="6016752" cy="0"/>
          </a:xfrm>
          <a:prstGeom prst="line">
            <a:avLst/>
          </a:prstGeom>
          <a:noFill/>
          <a:ln w="6350">
            <a:solidFill>
              <a:srgbClr val="E5E7EB"/>
            </a:solidFill>
            <a:prstDash val="solid"/>
          </a:ln>
        </p:spPr>
      </p:sp>
      <p:sp>
        <p:nvSpPr>
          <p:cNvPr id="109" name="Text 107"/>
          <p:cNvSpPr/>
          <p:nvPr/>
        </p:nvSpPr>
        <p:spPr>
          <a:xfrm>
            <a:off x="6309360" y="640080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Testing</a:t>
            </a:r>
            <a:endParaRPr lang="en-US" sz="750" dirty="0"/>
          </a:p>
        </p:txBody>
      </p:sp>
      <p:sp>
        <p:nvSpPr>
          <p:cNvPr id="110" name="Text 108"/>
          <p:cNvSpPr/>
          <p:nvPr/>
        </p:nvSpPr>
        <p:spPr>
          <a:xfrm>
            <a:off x="7104888" y="6409944"/>
            <a:ext cx="4178808" cy="813816"/>
          </a:xfrm>
          <a:prstGeom prst="rect">
            <a:avLst/>
          </a:prstGeom>
          <a:noFill/>
          <a:ln/>
        </p:spPr>
        <p:txBody>
          <a:bodyPr wrap="square" lIns="0" tIns="0" rIns="0" bIns="0" rtlCol="0" anchor="t"/>
          <a:lstStyle/>
          <a:p>
            <a:pPr indent="0" marL="0">
              <a:buNone/>
            </a:pPr>
            <a:r>
              <a:rPr lang="en-US" sz="650" dirty="0">
                <a:solidFill>
                  <a:srgbClr val="374151"/>
                </a:solidFill>
              </a:rPr>
              <a:t>The team is building a CI pipeline to push iOS and Android builds to staging and TestFlight more frequently.</a:t>
            </a:r>
            <a:endParaRPr lang="en-US" sz="650" dirty="0"/>
          </a:p>
        </p:txBody>
      </p:sp>
      <p:sp>
        <p:nvSpPr>
          <p:cNvPr id="111" name="Shape 109"/>
          <p:cNvSpPr/>
          <p:nvPr/>
        </p:nvSpPr>
        <p:spPr>
          <a:xfrm>
            <a:off x="11375136" y="6729984"/>
            <a:ext cx="822960" cy="173736"/>
          </a:xfrm>
          <a:prstGeom prst="roundRect">
            <a:avLst>
              <a:gd name="adj" fmla="val 15789"/>
            </a:avLst>
          </a:prstGeom>
          <a:solidFill>
            <a:srgbClr val="1558A8"/>
          </a:solidFill>
          <a:ln w="12700">
            <a:solidFill>
              <a:srgbClr val="1558A8"/>
            </a:solidFill>
            <a:prstDash val="solid"/>
          </a:ln>
        </p:spPr>
      </p:sp>
      <p:sp>
        <p:nvSpPr>
          <p:cNvPr id="112" name="Text 110"/>
          <p:cNvSpPr/>
          <p:nvPr/>
        </p:nvSpPr>
        <p:spPr>
          <a:xfrm>
            <a:off x="11375136" y="672998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CPR  ·  Aug 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29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
        <p:nvSpPr>
          <p:cNvPr id="20" name="Shape 18"/>
          <p:cNvSpPr/>
          <p:nvPr/>
        </p:nvSpPr>
        <p:spPr>
          <a:xfrm>
            <a:off x="164592" y="804672"/>
            <a:ext cx="9116568" cy="966216"/>
          </a:xfrm>
          <a:prstGeom prst="rect">
            <a:avLst/>
          </a:prstGeom>
          <a:solidFill>
            <a:srgbClr val="FAFBFC"/>
          </a:solidFill>
          <a:ln w="6350">
            <a:solidFill>
              <a:srgbClr val="E5E7EB"/>
            </a:solidFill>
            <a:prstDash val="solid"/>
          </a:ln>
        </p:spPr>
      </p:sp>
      <p:sp>
        <p:nvSpPr>
          <p:cNvPr id="21" name="Shape 19"/>
          <p:cNvSpPr/>
          <p:nvPr/>
        </p:nvSpPr>
        <p:spPr>
          <a:xfrm>
            <a:off x="182880" y="877824"/>
            <a:ext cx="859536" cy="819912"/>
          </a:xfrm>
          <a:prstGeom prst="roundRect">
            <a:avLst>
              <a:gd name="adj" fmla="val 5576"/>
            </a:avLst>
          </a:prstGeom>
          <a:solidFill>
            <a:srgbClr val="9CA3AF"/>
          </a:solidFill>
          <a:ln w="12700">
            <a:solidFill>
              <a:srgbClr val="9CA3AF"/>
            </a:solidFill>
            <a:prstDash val="solid"/>
          </a:ln>
        </p:spPr>
      </p:sp>
      <p:sp>
        <p:nvSpPr>
          <p:cNvPr id="22" name="Text 20"/>
          <p:cNvSpPr/>
          <p:nvPr/>
        </p:nvSpPr>
        <p:spPr>
          <a:xfrm>
            <a:off x="182880" y="8778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Platforms</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164592" y="1825752"/>
            <a:ext cx="9116568" cy="966216"/>
          </a:xfrm>
          <a:prstGeom prst="rect">
            <a:avLst/>
          </a:prstGeom>
          <a:solidFill>
            <a:srgbClr val="FFFFFF"/>
          </a:solidFill>
          <a:ln w="6350">
            <a:solidFill>
              <a:srgbClr val="E5E7EB"/>
            </a:solidFill>
            <a:prstDash val="solid"/>
          </a:ln>
        </p:spPr>
      </p:sp>
      <p:sp>
        <p:nvSpPr>
          <p:cNvPr id="53" name="Shape 51"/>
          <p:cNvSpPr/>
          <p:nvPr/>
        </p:nvSpPr>
        <p:spPr>
          <a:xfrm>
            <a:off x="182880" y="1898904"/>
            <a:ext cx="859536" cy="819912"/>
          </a:xfrm>
          <a:prstGeom prst="roundRect">
            <a:avLst>
              <a:gd name="adj" fmla="val 5576"/>
            </a:avLst>
          </a:prstGeom>
          <a:solidFill>
            <a:srgbClr val="9CA3AF"/>
          </a:solidFill>
          <a:ln w="12700">
            <a:solidFill>
              <a:srgbClr val="9CA3AF"/>
            </a:solidFill>
            <a:prstDash val="solid"/>
          </a:ln>
        </p:spPr>
      </p:sp>
      <p:sp>
        <p:nvSpPr>
          <p:cNvPr id="54" name="Text 52"/>
          <p:cNvSpPr/>
          <p:nvPr/>
        </p:nvSpPr>
        <p:spPr>
          <a:xfrm>
            <a:off x="182880" y="189890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55" name="Text 53"/>
          <p:cNvSpPr/>
          <p:nvPr/>
        </p:nvSpPr>
        <p:spPr>
          <a:xfrm>
            <a:off x="1170432" y="187147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56" name="Shape 54"/>
          <p:cNvSpPr/>
          <p:nvPr/>
        </p:nvSpPr>
        <p:spPr>
          <a:xfrm>
            <a:off x="1170432" y="209092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30124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09092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30124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09092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30124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09092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30124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09092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4" name="Shape 72"/>
          <p:cNvSpPr/>
          <p:nvPr/>
        </p:nvSpPr>
        <p:spPr>
          <a:xfrm>
            <a:off x="5230368" y="230124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5230368"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6245352" y="209092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78" name="Shape 76"/>
          <p:cNvSpPr/>
          <p:nvPr/>
        </p:nvSpPr>
        <p:spPr>
          <a:xfrm>
            <a:off x="6245352" y="230124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164592" y="2846832"/>
            <a:ext cx="9116568" cy="966216"/>
          </a:xfrm>
          <a:prstGeom prst="rect">
            <a:avLst/>
          </a:prstGeom>
          <a:solidFill>
            <a:srgbClr val="FAFBFC"/>
          </a:solidFill>
          <a:ln w="6350">
            <a:solidFill>
              <a:srgbClr val="E5E7EB"/>
            </a:solidFill>
            <a:prstDash val="solid"/>
          </a:ln>
        </p:spPr>
      </p:sp>
      <p:sp>
        <p:nvSpPr>
          <p:cNvPr id="81" name="Shape 79"/>
          <p:cNvSpPr/>
          <p:nvPr/>
        </p:nvSpPr>
        <p:spPr>
          <a:xfrm>
            <a:off x="182880" y="2919984"/>
            <a:ext cx="859536" cy="819912"/>
          </a:xfrm>
          <a:prstGeom prst="roundRect">
            <a:avLst>
              <a:gd name="adj" fmla="val 5576"/>
            </a:avLst>
          </a:prstGeom>
          <a:solidFill>
            <a:srgbClr val="9CA3AF"/>
          </a:solidFill>
          <a:ln w="12700">
            <a:solidFill>
              <a:srgbClr val="9CA3AF"/>
            </a:solidFill>
            <a:prstDash val="solid"/>
          </a:ln>
        </p:spPr>
      </p:sp>
      <p:sp>
        <p:nvSpPr>
          <p:cNvPr id="82" name="Text 80"/>
          <p:cNvSpPr/>
          <p:nvPr/>
        </p:nvSpPr>
        <p:spPr>
          <a:xfrm>
            <a:off x="182880" y="291998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83" name="Text 81"/>
          <p:cNvSpPr/>
          <p:nvPr/>
        </p:nvSpPr>
        <p:spPr>
          <a:xfrm>
            <a:off x="1170432" y="28925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84" name="Shape 82"/>
          <p:cNvSpPr/>
          <p:nvPr/>
        </p:nvSpPr>
        <p:spPr>
          <a:xfrm>
            <a:off x="1170432" y="311200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86" name="Shape 84"/>
          <p:cNvSpPr/>
          <p:nvPr/>
        </p:nvSpPr>
        <p:spPr>
          <a:xfrm>
            <a:off x="1170432" y="332232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2185416" y="311200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2185416"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0" name="Shape 88"/>
          <p:cNvSpPr/>
          <p:nvPr/>
        </p:nvSpPr>
        <p:spPr>
          <a:xfrm>
            <a:off x="2185416" y="332232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2185416"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3200400" y="31120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3200400"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4" name="Shape 92"/>
          <p:cNvSpPr/>
          <p:nvPr/>
        </p:nvSpPr>
        <p:spPr>
          <a:xfrm>
            <a:off x="3200400" y="33223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3200400"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4215384" y="31120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4215384"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98" name="Shape 96"/>
          <p:cNvSpPr/>
          <p:nvPr/>
        </p:nvSpPr>
        <p:spPr>
          <a:xfrm>
            <a:off x="4215384" y="33223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4215384"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5230368" y="31120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5230368"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p:txBody>
      </p:sp>
      <p:sp>
        <p:nvSpPr>
          <p:cNvPr id="102" name="Shape 100"/>
          <p:cNvSpPr/>
          <p:nvPr/>
        </p:nvSpPr>
        <p:spPr>
          <a:xfrm>
            <a:off x="5230368" y="33223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5230368"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164592" y="3867912"/>
            <a:ext cx="9116568" cy="966216"/>
          </a:xfrm>
          <a:prstGeom prst="rect">
            <a:avLst/>
          </a:prstGeom>
          <a:solidFill>
            <a:srgbClr val="FFFFFF"/>
          </a:solidFill>
          <a:ln w="6350">
            <a:solidFill>
              <a:srgbClr val="E5E7EB"/>
            </a:solidFill>
            <a:prstDash val="solid"/>
          </a:ln>
        </p:spPr>
      </p:sp>
      <p:sp>
        <p:nvSpPr>
          <p:cNvPr id="105" name="Shape 103"/>
          <p:cNvSpPr/>
          <p:nvPr/>
        </p:nvSpPr>
        <p:spPr>
          <a:xfrm>
            <a:off x="182880" y="3941064"/>
            <a:ext cx="859536" cy="819912"/>
          </a:xfrm>
          <a:prstGeom prst="roundRect">
            <a:avLst>
              <a:gd name="adj" fmla="val 5576"/>
            </a:avLst>
          </a:prstGeom>
          <a:solidFill>
            <a:srgbClr val="9CA3AF"/>
          </a:solidFill>
          <a:ln w="12700">
            <a:solidFill>
              <a:srgbClr val="9CA3AF"/>
            </a:solidFill>
            <a:prstDash val="solid"/>
          </a:ln>
        </p:spPr>
      </p:sp>
      <p:sp>
        <p:nvSpPr>
          <p:cNvPr id="106" name="Text 104"/>
          <p:cNvSpPr/>
          <p:nvPr/>
        </p:nvSpPr>
        <p:spPr>
          <a:xfrm>
            <a:off x="182880" y="394106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107" name="Text 105"/>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108" name="Shape 106"/>
          <p:cNvSpPr/>
          <p:nvPr/>
        </p:nvSpPr>
        <p:spPr>
          <a:xfrm>
            <a:off x="1170432" y="4032504"/>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117043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0" name="Shape 108"/>
          <p:cNvSpPr/>
          <p:nvPr/>
        </p:nvSpPr>
        <p:spPr>
          <a:xfrm>
            <a:off x="1170432" y="4242816"/>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1170432"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2185416" y="4032504"/>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218541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4" name="Shape 112"/>
          <p:cNvSpPr/>
          <p:nvPr/>
        </p:nvSpPr>
        <p:spPr>
          <a:xfrm>
            <a:off x="2185416" y="4242816"/>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2185416"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3200400" y="4032504"/>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320040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18" name="Shape 116"/>
          <p:cNvSpPr/>
          <p:nvPr/>
        </p:nvSpPr>
        <p:spPr>
          <a:xfrm>
            <a:off x="3200400" y="4242816"/>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3200400"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4215384" y="4032504"/>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4215384"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2" name="Shape 120"/>
          <p:cNvSpPr/>
          <p:nvPr/>
        </p:nvSpPr>
        <p:spPr>
          <a:xfrm>
            <a:off x="4215384" y="4242816"/>
            <a:ext cx="932688" cy="155448"/>
          </a:xfrm>
          <a:prstGeom prst="roundRect">
            <a:avLst>
              <a:gd name="adj" fmla="val 17647"/>
            </a:avLst>
          </a:prstGeom>
          <a:solidFill>
            <a:srgbClr val="1558A8"/>
          </a:solidFill>
          <a:ln w="12700">
            <a:solidFill>
              <a:srgbClr val="1558A8"/>
            </a:solidFill>
            <a:prstDash val="solid"/>
          </a:ln>
        </p:spPr>
      </p:sp>
      <p:sp>
        <p:nvSpPr>
          <p:cNvPr id="123" name="Text 121"/>
          <p:cNvSpPr/>
          <p:nvPr/>
        </p:nvSpPr>
        <p:spPr>
          <a:xfrm>
            <a:off x="4215384"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4" name="Shape 122"/>
          <p:cNvSpPr/>
          <p:nvPr/>
        </p:nvSpPr>
        <p:spPr>
          <a:xfrm>
            <a:off x="5230368" y="4032504"/>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5230368"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26" name="Shape 124"/>
          <p:cNvSpPr/>
          <p:nvPr/>
        </p:nvSpPr>
        <p:spPr>
          <a:xfrm>
            <a:off x="5230368" y="4242816"/>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5230368" y="42428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6245352" y="4032504"/>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624535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0" name="Shape 128"/>
          <p:cNvSpPr/>
          <p:nvPr/>
        </p:nvSpPr>
        <p:spPr>
          <a:xfrm>
            <a:off x="6245352" y="4242816"/>
            <a:ext cx="932688" cy="155448"/>
          </a:xfrm>
          <a:prstGeom prst="roundRect">
            <a:avLst>
              <a:gd name="adj" fmla="val 17647"/>
            </a:avLst>
          </a:prstGeom>
          <a:solidFill>
            <a:srgbClr val="1558A8"/>
          </a:solidFill>
          <a:ln w="12700">
            <a:solidFill>
              <a:srgbClr val="1558A8"/>
            </a:solidFill>
            <a:prstDash val="solid"/>
          </a:ln>
        </p:spPr>
      </p:sp>
      <p:sp>
        <p:nvSpPr>
          <p:cNvPr id="131" name="Text 129"/>
          <p:cNvSpPr/>
          <p:nvPr/>
        </p:nvSpPr>
        <p:spPr>
          <a:xfrm>
            <a:off x="6245352"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2" name="Shape 130"/>
          <p:cNvSpPr/>
          <p:nvPr/>
        </p:nvSpPr>
        <p:spPr>
          <a:xfrm>
            <a:off x="7260336" y="4032504"/>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726033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4" name="Shape 132"/>
          <p:cNvSpPr/>
          <p:nvPr/>
        </p:nvSpPr>
        <p:spPr>
          <a:xfrm>
            <a:off x="7260336" y="4242816"/>
            <a:ext cx="932688" cy="155448"/>
          </a:xfrm>
          <a:prstGeom prst="roundRect">
            <a:avLst>
              <a:gd name="adj" fmla="val 17647"/>
            </a:avLst>
          </a:prstGeom>
          <a:solidFill>
            <a:srgbClr val="DCFCE7"/>
          </a:solidFill>
          <a:ln w="12700">
            <a:solidFill>
              <a:srgbClr val="15803D"/>
            </a:solidFill>
            <a:prstDash val="solid"/>
          </a:ln>
        </p:spPr>
      </p:sp>
      <p:sp>
        <p:nvSpPr>
          <p:cNvPr id="135" name="Text 133"/>
          <p:cNvSpPr/>
          <p:nvPr/>
        </p:nvSpPr>
        <p:spPr>
          <a:xfrm>
            <a:off x="7260336"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36" name="Shape 134"/>
          <p:cNvSpPr/>
          <p:nvPr/>
        </p:nvSpPr>
        <p:spPr>
          <a:xfrm>
            <a:off x="8275320" y="4032504"/>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827532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38" name="Shape 136"/>
          <p:cNvSpPr/>
          <p:nvPr/>
        </p:nvSpPr>
        <p:spPr>
          <a:xfrm>
            <a:off x="8275320" y="4242816"/>
            <a:ext cx="932688" cy="155448"/>
          </a:xfrm>
          <a:prstGeom prst="roundRect">
            <a:avLst>
              <a:gd name="adj" fmla="val 17647"/>
            </a:avLst>
          </a:prstGeom>
          <a:solidFill>
            <a:srgbClr val="DCFCE7"/>
          </a:solidFill>
          <a:ln w="12700">
            <a:solidFill>
              <a:srgbClr val="15803D"/>
            </a:solidFill>
            <a:prstDash val="solid"/>
          </a:ln>
        </p:spPr>
      </p:sp>
      <p:sp>
        <p:nvSpPr>
          <p:cNvPr id="139" name="Text 137"/>
          <p:cNvSpPr/>
          <p:nvPr/>
        </p:nvSpPr>
        <p:spPr>
          <a:xfrm>
            <a:off x="8275320"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40" name="Shape 138"/>
          <p:cNvSpPr/>
          <p:nvPr/>
        </p:nvSpPr>
        <p:spPr>
          <a:xfrm>
            <a:off x="1170432" y="4431792"/>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1170432" y="443179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2" name="Shape 140"/>
          <p:cNvSpPr/>
          <p:nvPr/>
        </p:nvSpPr>
        <p:spPr>
          <a:xfrm>
            <a:off x="1170432" y="4642104"/>
            <a:ext cx="932688" cy="155448"/>
          </a:xfrm>
          <a:prstGeom prst="roundRect">
            <a:avLst>
              <a:gd name="adj" fmla="val 17647"/>
            </a:avLst>
          </a:prstGeom>
          <a:solidFill>
            <a:srgbClr val="1558A8"/>
          </a:solidFill>
          <a:ln w="12700">
            <a:solidFill>
              <a:srgbClr val="1558A8"/>
            </a:solidFill>
            <a:prstDash val="solid"/>
          </a:ln>
        </p:spPr>
      </p:sp>
      <p:sp>
        <p:nvSpPr>
          <p:cNvPr id="143" name="Text 141"/>
          <p:cNvSpPr/>
          <p:nvPr/>
        </p:nvSpPr>
        <p:spPr>
          <a:xfrm>
            <a:off x="1170432" y="464210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4" name="Shape 142"/>
          <p:cNvSpPr/>
          <p:nvPr/>
        </p:nvSpPr>
        <p:spPr>
          <a:xfrm>
            <a:off x="164592" y="4888992"/>
            <a:ext cx="9116568" cy="966216"/>
          </a:xfrm>
          <a:prstGeom prst="rect">
            <a:avLst/>
          </a:prstGeom>
          <a:solidFill>
            <a:srgbClr val="FAFBFC"/>
          </a:solidFill>
          <a:ln w="6350">
            <a:solidFill>
              <a:srgbClr val="E5E7EB"/>
            </a:solidFill>
            <a:prstDash val="solid"/>
          </a:ln>
        </p:spPr>
      </p:sp>
      <p:sp>
        <p:nvSpPr>
          <p:cNvPr id="145" name="Shape 143"/>
          <p:cNvSpPr/>
          <p:nvPr/>
        </p:nvSpPr>
        <p:spPr>
          <a:xfrm>
            <a:off x="182880" y="4962144"/>
            <a:ext cx="859536" cy="819912"/>
          </a:xfrm>
          <a:prstGeom prst="roundRect">
            <a:avLst>
              <a:gd name="adj" fmla="val 5576"/>
            </a:avLst>
          </a:prstGeom>
          <a:solidFill>
            <a:srgbClr val="9CA3AF"/>
          </a:solidFill>
          <a:ln w="12700">
            <a:solidFill>
              <a:srgbClr val="9CA3AF"/>
            </a:solidFill>
            <a:prstDash val="solid"/>
          </a:ln>
        </p:spPr>
      </p:sp>
      <p:sp>
        <p:nvSpPr>
          <p:cNvPr id="146" name="Text 144"/>
          <p:cNvSpPr/>
          <p:nvPr/>
        </p:nvSpPr>
        <p:spPr>
          <a:xfrm>
            <a:off x="182880" y="496214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47" name="Text 145"/>
          <p:cNvSpPr/>
          <p:nvPr/>
        </p:nvSpPr>
        <p:spPr>
          <a:xfrm>
            <a:off x="1170432" y="49347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148" name="Shape 146"/>
          <p:cNvSpPr/>
          <p:nvPr/>
        </p:nvSpPr>
        <p:spPr>
          <a:xfrm>
            <a:off x="1170432" y="5154168"/>
            <a:ext cx="932688" cy="182880"/>
          </a:xfrm>
          <a:prstGeom prst="roundRect">
            <a:avLst>
              <a:gd name="adj" fmla="val 15000"/>
            </a:avLst>
          </a:prstGeom>
          <a:solidFill>
            <a:srgbClr val="FFFFFF"/>
          </a:solidFill>
          <a:ln w="9525">
            <a:solidFill>
              <a:srgbClr val="CBD5E1"/>
            </a:solidFill>
            <a:prstDash val="solid"/>
          </a:ln>
        </p:spPr>
      </p:sp>
      <p:sp>
        <p:nvSpPr>
          <p:cNvPr id="149" name="Text 147"/>
          <p:cNvSpPr/>
          <p:nvPr/>
        </p:nvSpPr>
        <p:spPr>
          <a:xfrm>
            <a:off x="117043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0" name="Shape 148"/>
          <p:cNvSpPr/>
          <p:nvPr/>
        </p:nvSpPr>
        <p:spPr>
          <a:xfrm>
            <a:off x="1170432" y="5364480"/>
            <a:ext cx="932688" cy="155448"/>
          </a:xfrm>
          <a:prstGeom prst="roundRect">
            <a:avLst>
              <a:gd name="adj" fmla="val 17647"/>
            </a:avLst>
          </a:prstGeom>
          <a:solidFill>
            <a:srgbClr val="1558A8"/>
          </a:solidFill>
          <a:ln w="12700">
            <a:solidFill>
              <a:srgbClr val="1558A8"/>
            </a:solidFill>
            <a:prstDash val="solid"/>
          </a:ln>
        </p:spPr>
      </p:sp>
      <p:sp>
        <p:nvSpPr>
          <p:cNvPr id="151" name="Text 149"/>
          <p:cNvSpPr/>
          <p:nvPr/>
        </p:nvSpPr>
        <p:spPr>
          <a:xfrm>
            <a:off x="1170432"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2" name="Shape 150"/>
          <p:cNvSpPr/>
          <p:nvPr/>
        </p:nvSpPr>
        <p:spPr>
          <a:xfrm>
            <a:off x="2185416" y="5154168"/>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2185416"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4" name="Shape 152"/>
          <p:cNvSpPr/>
          <p:nvPr/>
        </p:nvSpPr>
        <p:spPr>
          <a:xfrm>
            <a:off x="2185416" y="5364480"/>
            <a:ext cx="932688" cy="155448"/>
          </a:xfrm>
          <a:prstGeom prst="roundRect">
            <a:avLst>
              <a:gd name="adj" fmla="val 17647"/>
            </a:avLst>
          </a:prstGeom>
          <a:solidFill>
            <a:srgbClr val="1558A8"/>
          </a:solidFill>
          <a:ln w="12700">
            <a:solidFill>
              <a:srgbClr val="1558A8"/>
            </a:solidFill>
            <a:prstDash val="solid"/>
          </a:ln>
        </p:spPr>
      </p:sp>
      <p:sp>
        <p:nvSpPr>
          <p:cNvPr id="155" name="Text 153"/>
          <p:cNvSpPr/>
          <p:nvPr/>
        </p:nvSpPr>
        <p:spPr>
          <a:xfrm>
            <a:off x="2185416"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6" name="Shape 154"/>
          <p:cNvSpPr/>
          <p:nvPr/>
        </p:nvSpPr>
        <p:spPr>
          <a:xfrm>
            <a:off x="3200400" y="5154168"/>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3200400"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58" name="Shape 156"/>
          <p:cNvSpPr/>
          <p:nvPr/>
        </p:nvSpPr>
        <p:spPr>
          <a:xfrm>
            <a:off x="3200400" y="5364480"/>
            <a:ext cx="932688" cy="155448"/>
          </a:xfrm>
          <a:prstGeom prst="roundRect">
            <a:avLst>
              <a:gd name="adj" fmla="val 17647"/>
            </a:avLst>
          </a:prstGeom>
          <a:solidFill>
            <a:srgbClr val="1558A8"/>
          </a:solidFill>
          <a:ln w="12700">
            <a:solidFill>
              <a:srgbClr val="1558A8"/>
            </a:solidFill>
            <a:prstDash val="solid"/>
          </a:ln>
        </p:spPr>
      </p:sp>
      <p:sp>
        <p:nvSpPr>
          <p:cNvPr id="159" name="Text 157"/>
          <p:cNvSpPr/>
          <p:nvPr/>
        </p:nvSpPr>
        <p:spPr>
          <a:xfrm>
            <a:off x="3200400"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0" name="Shape 158"/>
          <p:cNvSpPr/>
          <p:nvPr/>
        </p:nvSpPr>
        <p:spPr>
          <a:xfrm>
            <a:off x="4215384" y="5154168"/>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4215384"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2" name="Shape 160"/>
          <p:cNvSpPr/>
          <p:nvPr/>
        </p:nvSpPr>
        <p:spPr>
          <a:xfrm>
            <a:off x="4215384" y="5364480"/>
            <a:ext cx="932688" cy="155448"/>
          </a:xfrm>
          <a:prstGeom prst="roundRect">
            <a:avLst>
              <a:gd name="adj" fmla="val 17647"/>
            </a:avLst>
          </a:prstGeom>
          <a:solidFill>
            <a:srgbClr val="DCFCE7"/>
          </a:solidFill>
          <a:ln w="12700">
            <a:solidFill>
              <a:srgbClr val="15803D"/>
            </a:solidFill>
            <a:prstDash val="solid"/>
          </a:ln>
        </p:spPr>
      </p:sp>
      <p:sp>
        <p:nvSpPr>
          <p:cNvPr id="163" name="Text 161"/>
          <p:cNvSpPr/>
          <p:nvPr/>
        </p:nvSpPr>
        <p:spPr>
          <a:xfrm>
            <a:off x="4215384" y="536448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64" name="Shape 162"/>
          <p:cNvSpPr/>
          <p:nvPr/>
        </p:nvSpPr>
        <p:spPr>
          <a:xfrm>
            <a:off x="5230368" y="5154168"/>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5230368"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66" name="Shape 164"/>
          <p:cNvSpPr/>
          <p:nvPr/>
        </p:nvSpPr>
        <p:spPr>
          <a:xfrm>
            <a:off x="5230368" y="5364480"/>
            <a:ext cx="932688" cy="155448"/>
          </a:xfrm>
          <a:prstGeom prst="roundRect">
            <a:avLst>
              <a:gd name="adj" fmla="val 17647"/>
            </a:avLst>
          </a:prstGeom>
          <a:solidFill>
            <a:srgbClr val="1558A8"/>
          </a:solidFill>
          <a:ln w="12700">
            <a:solidFill>
              <a:srgbClr val="1558A8"/>
            </a:solidFill>
            <a:prstDash val="solid"/>
          </a:ln>
        </p:spPr>
      </p:sp>
      <p:sp>
        <p:nvSpPr>
          <p:cNvPr id="167" name="Text 165"/>
          <p:cNvSpPr/>
          <p:nvPr/>
        </p:nvSpPr>
        <p:spPr>
          <a:xfrm>
            <a:off x="5230368"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8" name="Shape 166"/>
          <p:cNvSpPr/>
          <p:nvPr/>
        </p:nvSpPr>
        <p:spPr>
          <a:xfrm>
            <a:off x="6245352" y="5154168"/>
            <a:ext cx="932688" cy="182880"/>
          </a:xfrm>
          <a:prstGeom prst="roundRect">
            <a:avLst>
              <a:gd name="adj" fmla="val 15000"/>
            </a:avLst>
          </a:prstGeom>
          <a:solidFill>
            <a:srgbClr val="FFFFFF"/>
          </a:solidFill>
          <a:ln w="9525">
            <a:solidFill>
              <a:srgbClr val="CBD5E1"/>
            </a:solidFill>
            <a:prstDash val="solid"/>
          </a:ln>
        </p:spPr>
      </p:sp>
      <p:sp>
        <p:nvSpPr>
          <p:cNvPr id="169" name="Text 167"/>
          <p:cNvSpPr/>
          <p:nvPr/>
        </p:nvSpPr>
        <p:spPr>
          <a:xfrm>
            <a:off x="624535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70" name="Shape 168"/>
          <p:cNvSpPr/>
          <p:nvPr/>
        </p:nvSpPr>
        <p:spPr>
          <a:xfrm>
            <a:off x="6245352" y="5364480"/>
            <a:ext cx="932688" cy="155448"/>
          </a:xfrm>
          <a:prstGeom prst="roundRect">
            <a:avLst>
              <a:gd name="adj" fmla="val 17647"/>
            </a:avLst>
          </a:prstGeom>
          <a:solidFill>
            <a:srgbClr val="F3F4F6"/>
          </a:solidFill>
          <a:ln w="9525">
            <a:solidFill>
              <a:srgbClr val="D1D5DB"/>
            </a:solidFill>
            <a:prstDash val="solid"/>
          </a:ln>
        </p:spPr>
      </p:sp>
      <p:sp>
        <p:nvSpPr>
          <p:cNvPr id="171" name="Text 169"/>
          <p:cNvSpPr/>
          <p:nvPr/>
        </p:nvSpPr>
        <p:spPr>
          <a:xfrm>
            <a:off x="6245352" y="536448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72" name="Shape 170"/>
          <p:cNvSpPr/>
          <p:nvPr/>
        </p:nvSpPr>
        <p:spPr>
          <a:xfrm>
            <a:off x="164592" y="5910072"/>
            <a:ext cx="9116568" cy="966216"/>
          </a:xfrm>
          <a:prstGeom prst="rect">
            <a:avLst/>
          </a:prstGeom>
          <a:solidFill>
            <a:srgbClr val="FFFFFF"/>
          </a:solidFill>
          <a:ln w="6350">
            <a:solidFill>
              <a:srgbClr val="E5E7EB"/>
            </a:solidFill>
            <a:prstDash val="solid"/>
          </a:ln>
        </p:spPr>
      </p:sp>
      <p:sp>
        <p:nvSpPr>
          <p:cNvPr id="173" name="Shape 171"/>
          <p:cNvSpPr/>
          <p:nvPr/>
        </p:nvSpPr>
        <p:spPr>
          <a:xfrm>
            <a:off x="182880" y="5983224"/>
            <a:ext cx="859536" cy="819912"/>
          </a:xfrm>
          <a:prstGeom prst="roundRect">
            <a:avLst>
              <a:gd name="adj" fmla="val 5576"/>
            </a:avLst>
          </a:prstGeom>
          <a:solidFill>
            <a:srgbClr val="64748B"/>
          </a:solidFill>
          <a:ln w="12700">
            <a:solidFill>
              <a:srgbClr val="64748B"/>
            </a:solidFill>
            <a:prstDash val="solid"/>
          </a:ln>
        </p:spPr>
      </p:sp>
      <p:sp>
        <p:nvSpPr>
          <p:cNvPr id="174" name="Text 172"/>
          <p:cNvSpPr/>
          <p:nvPr/>
        </p:nvSpPr>
        <p:spPr>
          <a:xfrm>
            <a:off x="182880" y="59832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Data</a:t>
            </a:r>
            <a:endParaRPr lang="en-US" sz="800" dirty="0"/>
          </a:p>
          <a:p>
            <a:pPr algn="ctr" indent="0" marL="0">
              <a:buNone/>
            </a:pPr>
            <a:r>
              <a:rPr lang="en-US" sz="800" b="1" dirty="0">
                <a:solidFill>
                  <a:srgbClr val="FFFFFF"/>
                </a:solidFill>
              </a:rPr>
              <a:t>&amp; Analytics</a:t>
            </a:r>
            <a:endParaRPr lang="en-US" sz="800" dirty="0"/>
          </a:p>
        </p:txBody>
      </p:sp>
      <p:sp>
        <p:nvSpPr>
          <p:cNvPr id="175" name="Text 173"/>
          <p:cNvSpPr/>
          <p:nvPr/>
        </p:nvSpPr>
        <p:spPr>
          <a:xfrm>
            <a:off x="1170432" y="59557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176" name="Shape 174"/>
          <p:cNvSpPr/>
          <p:nvPr/>
        </p:nvSpPr>
        <p:spPr>
          <a:xfrm>
            <a:off x="1170432" y="6175248"/>
            <a:ext cx="932688" cy="182880"/>
          </a:xfrm>
          <a:prstGeom prst="roundRect">
            <a:avLst>
              <a:gd name="adj" fmla="val 15000"/>
            </a:avLst>
          </a:prstGeom>
          <a:solidFill>
            <a:srgbClr val="FFFFFF"/>
          </a:solidFill>
          <a:ln w="9525">
            <a:solidFill>
              <a:srgbClr val="CBD5E1"/>
            </a:solidFill>
            <a:prstDash val="solid"/>
          </a:ln>
        </p:spPr>
      </p:sp>
      <p:sp>
        <p:nvSpPr>
          <p:cNvPr id="177" name="Text 175"/>
          <p:cNvSpPr/>
          <p:nvPr/>
        </p:nvSpPr>
        <p:spPr>
          <a:xfrm>
            <a:off x="1170432"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NPAW Historical</a:t>
            </a:r>
            <a:endParaRPr lang="en-US" sz="750" dirty="0"/>
          </a:p>
        </p:txBody>
      </p:sp>
      <p:sp>
        <p:nvSpPr>
          <p:cNvPr id="178" name="Shape 176"/>
          <p:cNvSpPr/>
          <p:nvPr/>
        </p:nvSpPr>
        <p:spPr>
          <a:xfrm>
            <a:off x="1170432" y="6385560"/>
            <a:ext cx="932688" cy="155448"/>
          </a:xfrm>
          <a:prstGeom prst="roundRect">
            <a:avLst>
              <a:gd name="adj" fmla="val 17647"/>
            </a:avLst>
          </a:prstGeom>
          <a:solidFill>
            <a:srgbClr val="1558A8"/>
          </a:solidFill>
          <a:ln w="12700">
            <a:solidFill>
              <a:srgbClr val="1558A8"/>
            </a:solidFill>
            <a:prstDash val="solid"/>
          </a:ln>
        </p:spPr>
      </p:sp>
      <p:sp>
        <p:nvSpPr>
          <p:cNvPr id="179" name="Text 177"/>
          <p:cNvSpPr/>
          <p:nvPr/>
        </p:nvSpPr>
        <p:spPr>
          <a:xfrm>
            <a:off x="1170432"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0" name="Shape 178"/>
          <p:cNvSpPr/>
          <p:nvPr/>
        </p:nvSpPr>
        <p:spPr>
          <a:xfrm>
            <a:off x="2185416" y="6175248"/>
            <a:ext cx="932688" cy="182880"/>
          </a:xfrm>
          <a:prstGeom prst="roundRect">
            <a:avLst>
              <a:gd name="adj" fmla="val 15000"/>
            </a:avLst>
          </a:prstGeom>
          <a:solidFill>
            <a:srgbClr val="FFFFFF"/>
          </a:solidFill>
          <a:ln w="9525">
            <a:solidFill>
              <a:srgbClr val="CBD5E1"/>
            </a:solidFill>
            <a:prstDash val="solid"/>
          </a:ln>
        </p:spPr>
      </p:sp>
      <p:sp>
        <p:nvSpPr>
          <p:cNvPr id="181" name="Text 179"/>
          <p:cNvSpPr/>
          <p:nvPr/>
        </p:nvSpPr>
        <p:spPr>
          <a:xfrm>
            <a:off x="2185416"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 Historical</a:t>
            </a:r>
            <a:endParaRPr lang="en-US" sz="750" dirty="0"/>
          </a:p>
        </p:txBody>
      </p:sp>
      <p:sp>
        <p:nvSpPr>
          <p:cNvPr id="182" name="Shape 180"/>
          <p:cNvSpPr/>
          <p:nvPr/>
        </p:nvSpPr>
        <p:spPr>
          <a:xfrm>
            <a:off x="2185416" y="6385560"/>
            <a:ext cx="932688" cy="155448"/>
          </a:xfrm>
          <a:prstGeom prst="roundRect">
            <a:avLst>
              <a:gd name="adj" fmla="val 17647"/>
            </a:avLst>
          </a:prstGeom>
          <a:solidFill>
            <a:srgbClr val="1558A8"/>
          </a:solidFill>
          <a:ln w="12700">
            <a:solidFill>
              <a:srgbClr val="1558A8"/>
            </a:solidFill>
            <a:prstDash val="solid"/>
          </a:ln>
        </p:spPr>
      </p:sp>
      <p:sp>
        <p:nvSpPr>
          <p:cNvPr id="183" name="Text 181"/>
          <p:cNvSpPr/>
          <p:nvPr/>
        </p:nvSpPr>
        <p:spPr>
          <a:xfrm>
            <a:off x="2185416"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4" name="Shape 182"/>
          <p:cNvSpPr/>
          <p:nvPr/>
        </p:nvSpPr>
        <p:spPr>
          <a:xfrm>
            <a:off x="9372600" y="804672"/>
            <a:ext cx="2834640" cy="6071616"/>
          </a:xfrm>
          <a:prstGeom prst="rect">
            <a:avLst/>
          </a:prstGeom>
          <a:solidFill>
            <a:srgbClr val="F8FAFB"/>
          </a:solidFill>
          <a:ln w="12700">
            <a:solidFill>
              <a:srgbClr val="DDE1E6"/>
            </a:solidFill>
            <a:prstDash val="solid"/>
          </a:ln>
        </p:spPr>
      </p:sp>
      <p:sp>
        <p:nvSpPr>
          <p:cNvPr id="185" name="Text 18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86" name="Shape 184"/>
          <p:cNvSpPr/>
          <p:nvPr/>
        </p:nvSpPr>
        <p:spPr>
          <a:xfrm>
            <a:off x="9464040" y="1225296"/>
            <a:ext cx="2670048" cy="420624"/>
          </a:xfrm>
          <a:prstGeom prst="rect">
            <a:avLst/>
          </a:prstGeom>
          <a:solidFill>
            <a:srgbClr val="FFFFFF"/>
          </a:solidFill>
          <a:ln w="6350">
            <a:solidFill>
              <a:srgbClr val="E5E7EB"/>
            </a:solidFill>
            <a:prstDash val="solid"/>
          </a:ln>
        </p:spPr>
      </p:sp>
      <p:sp>
        <p:nvSpPr>
          <p:cNvPr id="187" name="Shape 185"/>
          <p:cNvSpPr/>
          <p:nvPr/>
        </p:nvSpPr>
        <p:spPr>
          <a:xfrm>
            <a:off x="9537192" y="1316736"/>
            <a:ext cx="109728" cy="109728"/>
          </a:xfrm>
          <a:prstGeom prst="ellipse">
            <a:avLst/>
          </a:prstGeom>
          <a:solidFill>
            <a:srgbClr val="16A34A"/>
          </a:solidFill>
          <a:ln w="12700">
            <a:solidFill>
              <a:srgbClr val="16A34A"/>
            </a:solidFill>
            <a:prstDash val="solid"/>
          </a:ln>
        </p:spPr>
      </p:sp>
      <p:sp>
        <p:nvSpPr>
          <p:cNvPr id="188" name="Text 18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89" name="Text 18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90" name="Shape 18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91" name="Text 18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92" name="Shape 190"/>
          <p:cNvSpPr/>
          <p:nvPr/>
        </p:nvSpPr>
        <p:spPr>
          <a:xfrm>
            <a:off x="9464040" y="1700784"/>
            <a:ext cx="2670048" cy="420624"/>
          </a:xfrm>
          <a:prstGeom prst="rect">
            <a:avLst/>
          </a:prstGeom>
          <a:solidFill>
            <a:srgbClr val="FFFFFF"/>
          </a:solidFill>
          <a:ln w="6350">
            <a:solidFill>
              <a:srgbClr val="E5E7EB"/>
            </a:solidFill>
            <a:prstDash val="solid"/>
          </a:ln>
        </p:spPr>
      </p:sp>
      <p:sp>
        <p:nvSpPr>
          <p:cNvPr id="193" name="Shape 191"/>
          <p:cNvSpPr/>
          <p:nvPr/>
        </p:nvSpPr>
        <p:spPr>
          <a:xfrm>
            <a:off x="9537192" y="1792224"/>
            <a:ext cx="109728" cy="109728"/>
          </a:xfrm>
          <a:prstGeom prst="ellipse">
            <a:avLst/>
          </a:prstGeom>
          <a:solidFill>
            <a:srgbClr val="1558A8"/>
          </a:solidFill>
          <a:ln w="12700">
            <a:solidFill>
              <a:srgbClr val="1558A8"/>
            </a:solidFill>
            <a:prstDash val="solid"/>
          </a:ln>
        </p:spPr>
      </p:sp>
      <p:sp>
        <p:nvSpPr>
          <p:cNvPr id="194" name="Text 19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95" name="Text 19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96" name="Shape 19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97" name="Text 19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98" name="Shape 196"/>
          <p:cNvSpPr/>
          <p:nvPr/>
        </p:nvSpPr>
        <p:spPr>
          <a:xfrm>
            <a:off x="9464040" y="2176272"/>
            <a:ext cx="2670048" cy="420624"/>
          </a:xfrm>
          <a:prstGeom prst="rect">
            <a:avLst/>
          </a:prstGeom>
          <a:solidFill>
            <a:srgbClr val="FFFFFF"/>
          </a:solidFill>
          <a:ln w="6350">
            <a:solidFill>
              <a:srgbClr val="E5E7EB"/>
            </a:solidFill>
            <a:prstDash val="solid"/>
          </a:ln>
        </p:spPr>
      </p:sp>
      <p:sp>
        <p:nvSpPr>
          <p:cNvPr id="199" name="Shape 197"/>
          <p:cNvSpPr/>
          <p:nvPr/>
        </p:nvSpPr>
        <p:spPr>
          <a:xfrm>
            <a:off x="9537192" y="2267712"/>
            <a:ext cx="109728" cy="109728"/>
          </a:xfrm>
          <a:prstGeom prst="ellipse">
            <a:avLst/>
          </a:prstGeom>
          <a:solidFill>
            <a:srgbClr val="9CA3AF"/>
          </a:solidFill>
          <a:ln w="12700">
            <a:solidFill>
              <a:srgbClr val="9CA3AF"/>
            </a:solidFill>
            <a:prstDash val="solid"/>
          </a:ln>
        </p:spPr>
      </p:sp>
      <p:sp>
        <p:nvSpPr>
          <p:cNvPr id="200" name="Text 19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201" name="Text 19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202" name="Shape 20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203" name="Text 20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04" name="Shape 202"/>
          <p:cNvSpPr/>
          <p:nvPr/>
        </p:nvSpPr>
        <p:spPr>
          <a:xfrm>
            <a:off x="9464040" y="2651760"/>
            <a:ext cx="2670048" cy="420624"/>
          </a:xfrm>
          <a:prstGeom prst="rect">
            <a:avLst/>
          </a:prstGeom>
          <a:solidFill>
            <a:srgbClr val="FFFFFF"/>
          </a:solidFill>
          <a:ln w="6350">
            <a:solidFill>
              <a:srgbClr val="E5E7EB"/>
            </a:solidFill>
            <a:prstDash val="solid"/>
          </a:ln>
        </p:spPr>
      </p:sp>
      <p:sp>
        <p:nvSpPr>
          <p:cNvPr id="205" name="Shape 203"/>
          <p:cNvSpPr/>
          <p:nvPr/>
        </p:nvSpPr>
        <p:spPr>
          <a:xfrm>
            <a:off x="9537192" y="2743200"/>
            <a:ext cx="109728" cy="109728"/>
          </a:xfrm>
          <a:prstGeom prst="ellipse">
            <a:avLst/>
          </a:prstGeom>
          <a:solidFill>
            <a:srgbClr val="9CA3AF"/>
          </a:solidFill>
          <a:ln w="12700">
            <a:solidFill>
              <a:srgbClr val="9CA3AF"/>
            </a:solidFill>
            <a:prstDash val="solid"/>
          </a:ln>
        </p:spPr>
      </p:sp>
      <p:sp>
        <p:nvSpPr>
          <p:cNvPr id="206" name="Text 20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207" name="Text 20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208" name="Shape 20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209" name="Text 20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10" name="Shape 208"/>
          <p:cNvSpPr/>
          <p:nvPr/>
        </p:nvSpPr>
        <p:spPr>
          <a:xfrm>
            <a:off x="9482328" y="3200400"/>
            <a:ext cx="2633472" cy="0"/>
          </a:xfrm>
          <a:prstGeom prst="line">
            <a:avLst/>
          </a:prstGeom>
          <a:noFill/>
          <a:ln w="9525">
            <a:solidFill>
              <a:srgbClr val="DDE1E6"/>
            </a:solidFill>
            <a:prstDash val="solid"/>
          </a:ln>
        </p:spPr>
      </p:sp>
      <p:sp>
        <p:nvSpPr>
          <p:cNvPr id="211" name="Text 20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212" name="Shape 210"/>
          <p:cNvSpPr/>
          <p:nvPr/>
        </p:nvSpPr>
        <p:spPr>
          <a:xfrm>
            <a:off x="9500616" y="3584448"/>
            <a:ext cx="749808" cy="173736"/>
          </a:xfrm>
          <a:prstGeom prst="roundRect">
            <a:avLst>
              <a:gd name="adj" fmla="val 15789"/>
            </a:avLst>
          </a:prstGeom>
          <a:solidFill>
            <a:srgbClr val="F3F4F6"/>
          </a:solidFill>
          <a:ln w="9525">
            <a:solidFill>
              <a:srgbClr val="D1D5DB"/>
            </a:solidFill>
            <a:prstDash val="solid"/>
          </a:ln>
        </p:spPr>
      </p:sp>
      <p:sp>
        <p:nvSpPr>
          <p:cNvPr id="213" name="Text 211"/>
          <p:cNvSpPr/>
          <p:nvPr/>
        </p:nvSpPr>
        <p:spPr>
          <a:xfrm>
            <a:off x="9500616" y="3584448"/>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214" name="Text 212"/>
          <p:cNvSpPr/>
          <p:nvPr/>
        </p:nvSpPr>
        <p:spPr>
          <a:xfrm>
            <a:off x="10305288" y="35844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215" name="Shape 213"/>
          <p:cNvSpPr/>
          <p:nvPr/>
        </p:nvSpPr>
        <p:spPr>
          <a:xfrm>
            <a:off x="9500616" y="3813048"/>
            <a:ext cx="749808" cy="173736"/>
          </a:xfrm>
          <a:prstGeom prst="roundRect">
            <a:avLst>
              <a:gd name="adj" fmla="val 15789"/>
            </a:avLst>
          </a:prstGeom>
          <a:solidFill>
            <a:srgbClr val="1558A8"/>
          </a:solidFill>
          <a:ln w="12700">
            <a:solidFill>
              <a:srgbClr val="1558A8"/>
            </a:solidFill>
            <a:prstDash val="solid"/>
          </a:ln>
        </p:spPr>
      </p:sp>
      <p:sp>
        <p:nvSpPr>
          <p:cNvPr id="216" name="Text 214"/>
          <p:cNvSpPr/>
          <p:nvPr/>
        </p:nvSpPr>
        <p:spPr>
          <a:xfrm>
            <a:off x="9500616" y="3813048"/>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217" name="Text 215"/>
          <p:cNvSpPr/>
          <p:nvPr/>
        </p:nvSpPr>
        <p:spPr>
          <a:xfrm>
            <a:off x="10305288" y="38130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218" name="Shape 216"/>
          <p:cNvSpPr/>
          <p:nvPr/>
        </p:nvSpPr>
        <p:spPr>
          <a:xfrm>
            <a:off x="9500616" y="4041648"/>
            <a:ext cx="749808" cy="173736"/>
          </a:xfrm>
          <a:prstGeom prst="roundRect">
            <a:avLst>
              <a:gd name="adj" fmla="val 15789"/>
            </a:avLst>
          </a:prstGeom>
          <a:solidFill>
            <a:srgbClr val="FEE2E2"/>
          </a:solidFill>
          <a:ln w="19050">
            <a:solidFill>
              <a:srgbClr val="DC2626"/>
            </a:solidFill>
            <a:prstDash val="solid"/>
          </a:ln>
        </p:spPr>
      </p:sp>
      <p:sp>
        <p:nvSpPr>
          <p:cNvPr id="219" name="Text 217"/>
          <p:cNvSpPr/>
          <p:nvPr/>
        </p:nvSpPr>
        <p:spPr>
          <a:xfrm>
            <a:off x="9500616" y="4041648"/>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220" name="Text 218"/>
          <p:cNvSpPr/>
          <p:nvPr/>
        </p:nvSpPr>
        <p:spPr>
          <a:xfrm>
            <a:off x="10305288" y="40416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21" name="Shape 219"/>
          <p:cNvSpPr/>
          <p:nvPr/>
        </p:nvSpPr>
        <p:spPr>
          <a:xfrm>
            <a:off x="9500616" y="4270248"/>
            <a:ext cx="749808" cy="173736"/>
          </a:xfrm>
          <a:prstGeom prst="roundRect">
            <a:avLst>
              <a:gd name="adj" fmla="val 15789"/>
            </a:avLst>
          </a:prstGeom>
          <a:solidFill>
            <a:srgbClr val="DCFCE7"/>
          </a:solidFill>
          <a:ln w="12700">
            <a:solidFill>
              <a:srgbClr val="15803D"/>
            </a:solidFill>
            <a:prstDash val="solid"/>
          </a:ln>
        </p:spPr>
      </p:sp>
      <p:sp>
        <p:nvSpPr>
          <p:cNvPr id="222" name="Text 220"/>
          <p:cNvSpPr/>
          <p:nvPr/>
        </p:nvSpPr>
        <p:spPr>
          <a:xfrm>
            <a:off x="9500616" y="4270248"/>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23" name="Text 221"/>
          <p:cNvSpPr/>
          <p:nvPr/>
        </p:nvSpPr>
        <p:spPr>
          <a:xfrm>
            <a:off x="10305288" y="42702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24" name="Shape 222"/>
          <p:cNvSpPr/>
          <p:nvPr/>
        </p:nvSpPr>
        <p:spPr>
          <a:xfrm>
            <a:off x="9500616" y="4498848"/>
            <a:ext cx="749808" cy="173736"/>
          </a:xfrm>
          <a:prstGeom prst="roundRect">
            <a:avLst>
              <a:gd name="adj" fmla="val 15789"/>
            </a:avLst>
          </a:prstGeom>
          <a:solidFill>
            <a:srgbClr val="FEF3C7"/>
          </a:solidFill>
          <a:ln w="19050">
            <a:solidFill>
              <a:srgbClr val="D97706"/>
            </a:solidFill>
            <a:prstDash val="solid"/>
          </a:ln>
        </p:spPr>
      </p:sp>
      <p:sp>
        <p:nvSpPr>
          <p:cNvPr id="225" name="Text 223"/>
          <p:cNvSpPr/>
          <p:nvPr/>
        </p:nvSpPr>
        <p:spPr>
          <a:xfrm>
            <a:off x="9500616" y="4498848"/>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26" name="Text 224"/>
          <p:cNvSpPr/>
          <p:nvPr/>
        </p:nvSpPr>
        <p:spPr>
          <a:xfrm>
            <a:off x="10305288" y="44988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TC.com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Web Browser  ·  Aug 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15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15%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164592" y="2336292"/>
            <a:ext cx="9116568" cy="1476756"/>
          </a:xfrm>
          <a:prstGeom prst="rect">
            <a:avLst/>
          </a:prstGeom>
          <a:solidFill>
            <a:srgbClr val="FFFFFF"/>
          </a:solidFill>
          <a:ln w="6350">
            <a:solidFill>
              <a:srgbClr val="E5E7EB"/>
            </a:solidFill>
            <a:prstDash val="solid"/>
          </a:ln>
        </p:spPr>
      </p:sp>
      <p:sp>
        <p:nvSpPr>
          <p:cNvPr id="37" name="Shape 35"/>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38" name="Text 36"/>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39" name="Text 37"/>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0" name="Shape 38"/>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42" name="Shape 40"/>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46" name="Shape 44"/>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164592" y="3867912"/>
            <a:ext cx="9116568" cy="1476756"/>
          </a:xfrm>
          <a:prstGeom prst="rect">
            <a:avLst/>
          </a:prstGeom>
          <a:solidFill>
            <a:srgbClr val="FAFBFC"/>
          </a:solidFill>
          <a:ln w="6350">
            <a:solidFill>
              <a:srgbClr val="E5E7EB"/>
            </a:solidFill>
            <a:prstDash val="solid"/>
          </a:ln>
        </p:spPr>
      </p:sp>
      <p:sp>
        <p:nvSpPr>
          <p:cNvPr id="49" name="Shape 47"/>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0" name="Text 48"/>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1" name="Text 49"/>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52" name="Shape 50"/>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4" name="Shape 52"/>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58" name="Shape 56"/>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2" name="Shape 60"/>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66" name="Shape 64"/>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0" name="Shape 68"/>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1" name="Text 69"/>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2" name="Shape 70"/>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4" name="Shape 72"/>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78" name="Shape 76"/>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79" name="Text 77"/>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0" name="Shape 78"/>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2" name="Shape 80"/>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86" name="Shape 84"/>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164592" y="5399532"/>
            <a:ext cx="9116568" cy="1476756"/>
          </a:xfrm>
          <a:prstGeom prst="rect">
            <a:avLst/>
          </a:prstGeom>
          <a:solidFill>
            <a:srgbClr val="FFFFFF"/>
          </a:solidFill>
          <a:ln w="6350">
            <a:solidFill>
              <a:srgbClr val="E5E7EB"/>
            </a:solidFill>
            <a:prstDash val="solid"/>
          </a:ln>
        </p:spPr>
      </p:sp>
      <p:sp>
        <p:nvSpPr>
          <p:cNvPr id="89" name="Shape 87"/>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0" name="Text 88"/>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1" name="Text 89"/>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92" name="Shape 90"/>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4" name="Shape 92"/>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98" name="Shape 96"/>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2" name="Shape 100"/>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06" name="Shape 104"/>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07" name="Text 105"/>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8" name="Shape 106"/>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0" name="Shape 108"/>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4" name="Shape 112"/>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5" name="Text 113"/>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6" name="Shape 114"/>
          <p:cNvSpPr/>
          <p:nvPr/>
        </p:nvSpPr>
        <p:spPr>
          <a:xfrm>
            <a:off x="9372600" y="804672"/>
            <a:ext cx="2834640" cy="6071616"/>
          </a:xfrm>
          <a:prstGeom prst="rect">
            <a:avLst/>
          </a:prstGeom>
          <a:solidFill>
            <a:srgbClr val="F8FAFB"/>
          </a:solidFill>
          <a:ln w="12700">
            <a:solidFill>
              <a:srgbClr val="DDE1E6"/>
            </a:solidFill>
            <a:prstDash val="solid"/>
          </a:ln>
        </p:spPr>
      </p:sp>
      <p:sp>
        <p:nvSpPr>
          <p:cNvPr id="117" name="Text 115"/>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18" name="Shape 116"/>
          <p:cNvSpPr/>
          <p:nvPr/>
        </p:nvSpPr>
        <p:spPr>
          <a:xfrm>
            <a:off x="9464040" y="1225296"/>
            <a:ext cx="2670048" cy="420624"/>
          </a:xfrm>
          <a:prstGeom prst="rect">
            <a:avLst/>
          </a:prstGeom>
          <a:solidFill>
            <a:srgbClr val="FFFFFF"/>
          </a:solidFill>
          <a:ln w="6350">
            <a:solidFill>
              <a:srgbClr val="E5E7EB"/>
            </a:solidFill>
            <a:prstDash val="solid"/>
          </a:ln>
        </p:spPr>
      </p:sp>
      <p:sp>
        <p:nvSpPr>
          <p:cNvPr id="119" name="Shape 117"/>
          <p:cNvSpPr/>
          <p:nvPr/>
        </p:nvSpPr>
        <p:spPr>
          <a:xfrm>
            <a:off x="9537192" y="1316736"/>
            <a:ext cx="109728" cy="109728"/>
          </a:xfrm>
          <a:prstGeom prst="ellipse">
            <a:avLst/>
          </a:prstGeom>
          <a:solidFill>
            <a:srgbClr val="16A34A"/>
          </a:solidFill>
          <a:ln w="12700">
            <a:solidFill>
              <a:srgbClr val="16A34A"/>
            </a:solidFill>
            <a:prstDash val="solid"/>
          </a:ln>
        </p:spPr>
      </p:sp>
      <p:sp>
        <p:nvSpPr>
          <p:cNvPr id="120" name="Text 118"/>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1" name="Text 119"/>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2" name="Shape 120"/>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3" name="Text 121"/>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4" name="Shape 122"/>
          <p:cNvSpPr/>
          <p:nvPr/>
        </p:nvSpPr>
        <p:spPr>
          <a:xfrm>
            <a:off x="9464040" y="1700784"/>
            <a:ext cx="2670048" cy="420624"/>
          </a:xfrm>
          <a:prstGeom prst="rect">
            <a:avLst/>
          </a:prstGeom>
          <a:solidFill>
            <a:srgbClr val="FFFFFF"/>
          </a:solidFill>
          <a:ln w="6350">
            <a:solidFill>
              <a:srgbClr val="E5E7EB"/>
            </a:solidFill>
            <a:prstDash val="solid"/>
          </a:ln>
        </p:spPr>
      </p:sp>
      <p:sp>
        <p:nvSpPr>
          <p:cNvPr id="125" name="Shape 123"/>
          <p:cNvSpPr/>
          <p:nvPr/>
        </p:nvSpPr>
        <p:spPr>
          <a:xfrm>
            <a:off x="9537192" y="1792224"/>
            <a:ext cx="109728" cy="109728"/>
          </a:xfrm>
          <a:prstGeom prst="ellipse">
            <a:avLst/>
          </a:prstGeom>
          <a:solidFill>
            <a:srgbClr val="1558A8"/>
          </a:solidFill>
          <a:ln w="12700">
            <a:solidFill>
              <a:srgbClr val="1558A8"/>
            </a:solidFill>
            <a:prstDash val="solid"/>
          </a:ln>
        </p:spPr>
      </p:sp>
      <p:sp>
        <p:nvSpPr>
          <p:cNvPr id="126" name="Text 124"/>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27" name="Text 125"/>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28" name="Shape 126"/>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29" name="Text 127"/>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0" name="Shape 128"/>
          <p:cNvSpPr/>
          <p:nvPr/>
        </p:nvSpPr>
        <p:spPr>
          <a:xfrm>
            <a:off x="9464040" y="2176272"/>
            <a:ext cx="2670048" cy="420624"/>
          </a:xfrm>
          <a:prstGeom prst="rect">
            <a:avLst/>
          </a:prstGeom>
          <a:solidFill>
            <a:srgbClr val="FFFFFF"/>
          </a:solidFill>
          <a:ln w="6350">
            <a:solidFill>
              <a:srgbClr val="E5E7EB"/>
            </a:solidFill>
            <a:prstDash val="solid"/>
          </a:ln>
        </p:spPr>
      </p:sp>
      <p:sp>
        <p:nvSpPr>
          <p:cNvPr id="131" name="Shape 129"/>
          <p:cNvSpPr/>
          <p:nvPr/>
        </p:nvSpPr>
        <p:spPr>
          <a:xfrm>
            <a:off x="9537192" y="2267712"/>
            <a:ext cx="109728" cy="109728"/>
          </a:xfrm>
          <a:prstGeom prst="ellipse">
            <a:avLst/>
          </a:prstGeom>
          <a:solidFill>
            <a:srgbClr val="9CA3AF"/>
          </a:solidFill>
          <a:ln w="12700">
            <a:solidFill>
              <a:srgbClr val="9CA3AF"/>
            </a:solidFill>
            <a:prstDash val="solid"/>
          </a:ln>
        </p:spPr>
      </p:sp>
      <p:sp>
        <p:nvSpPr>
          <p:cNvPr id="132" name="Text 130"/>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3" name="Text 131"/>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4" name="Shape 132"/>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5" name="Text 133"/>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36" name="Shape 134"/>
          <p:cNvSpPr/>
          <p:nvPr/>
        </p:nvSpPr>
        <p:spPr>
          <a:xfrm>
            <a:off x="9464040" y="2651760"/>
            <a:ext cx="2670048" cy="420624"/>
          </a:xfrm>
          <a:prstGeom prst="rect">
            <a:avLst/>
          </a:prstGeom>
          <a:solidFill>
            <a:srgbClr val="FFFFFF"/>
          </a:solidFill>
          <a:ln w="6350">
            <a:solidFill>
              <a:srgbClr val="E5E7EB"/>
            </a:solidFill>
            <a:prstDash val="solid"/>
          </a:ln>
        </p:spPr>
      </p:sp>
      <p:sp>
        <p:nvSpPr>
          <p:cNvPr id="137" name="Shape 135"/>
          <p:cNvSpPr/>
          <p:nvPr/>
        </p:nvSpPr>
        <p:spPr>
          <a:xfrm>
            <a:off x="9537192" y="2743200"/>
            <a:ext cx="109728" cy="109728"/>
          </a:xfrm>
          <a:prstGeom prst="ellipse">
            <a:avLst/>
          </a:prstGeom>
          <a:solidFill>
            <a:srgbClr val="9CA3AF"/>
          </a:solidFill>
          <a:ln w="12700">
            <a:solidFill>
              <a:srgbClr val="9CA3AF"/>
            </a:solidFill>
            <a:prstDash val="solid"/>
          </a:ln>
        </p:spPr>
      </p:sp>
      <p:sp>
        <p:nvSpPr>
          <p:cNvPr id="138" name="Text 136"/>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39" name="Text 137"/>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0" name="Shape 138"/>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1" name="Text 139"/>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2" name="Shape 140"/>
          <p:cNvSpPr/>
          <p:nvPr/>
        </p:nvSpPr>
        <p:spPr>
          <a:xfrm>
            <a:off x="9482328" y="3200400"/>
            <a:ext cx="2633472" cy="0"/>
          </a:xfrm>
          <a:prstGeom prst="line">
            <a:avLst/>
          </a:prstGeom>
          <a:noFill/>
          <a:ln w="9525">
            <a:solidFill>
              <a:srgbClr val="DDE1E6"/>
            </a:solidFill>
            <a:prstDash val="solid"/>
          </a:ln>
        </p:spPr>
      </p:sp>
      <p:sp>
        <p:nvSpPr>
          <p:cNvPr id="143" name="Text 141"/>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4" name="Shape 142"/>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5" name="Text 143"/>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46" name="Shape 144"/>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47" name="Text 145"/>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48" name="Shape 146"/>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49" name="Text 147"/>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0" name="Shape 148"/>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1" name="Text 149"/>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iOS</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iPhone · iPad  ·  Aug 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16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14%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4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164592" y="2336292"/>
            <a:ext cx="9116568" cy="1476756"/>
          </a:xfrm>
          <a:prstGeom prst="rect">
            <a:avLst/>
          </a:prstGeom>
          <a:solidFill>
            <a:srgbClr val="FFFFFF"/>
          </a:solidFill>
          <a:ln w="6350">
            <a:solidFill>
              <a:srgbClr val="E5E7EB"/>
            </a:solidFill>
            <a:prstDash val="solid"/>
          </a:ln>
        </p:spPr>
      </p:sp>
      <p:sp>
        <p:nvSpPr>
          <p:cNvPr id="41" name="Shape 39"/>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2" name="Text 40"/>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3" name="Text 41"/>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4" name="Shape 42"/>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46" name="Shape 44"/>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0" name="Shape 48"/>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164592" y="3867912"/>
            <a:ext cx="9116568" cy="1476756"/>
          </a:xfrm>
          <a:prstGeom prst="rect">
            <a:avLst/>
          </a:prstGeom>
          <a:solidFill>
            <a:srgbClr val="FAFBFC"/>
          </a:solidFill>
          <a:ln w="6350">
            <a:solidFill>
              <a:srgbClr val="E5E7EB"/>
            </a:solidFill>
            <a:prstDash val="solid"/>
          </a:ln>
        </p:spPr>
      </p:sp>
      <p:sp>
        <p:nvSpPr>
          <p:cNvPr id="53" name="Shape 51"/>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5" name="Text 53"/>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56" name="Shape 54"/>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8" name="Shape 56"/>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2" name="Shape 60"/>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6" name="Shape 64"/>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0" name="Shape 68"/>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4" name="Shape 72"/>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8" name="Shape 76"/>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2" name="Shape 80"/>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6" name="Shape 84"/>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0" name="Shape 88"/>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164592" y="5399532"/>
            <a:ext cx="9116568" cy="1476756"/>
          </a:xfrm>
          <a:prstGeom prst="rect">
            <a:avLst/>
          </a:prstGeom>
          <a:solidFill>
            <a:srgbClr val="FFFFFF"/>
          </a:solidFill>
          <a:ln w="6350">
            <a:solidFill>
              <a:srgbClr val="E5E7EB"/>
            </a:solidFill>
            <a:prstDash val="solid"/>
          </a:ln>
        </p:spPr>
      </p:sp>
      <p:sp>
        <p:nvSpPr>
          <p:cNvPr id="93" name="Shape 91"/>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4" name="Text 92"/>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5" name="Text 93"/>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96" name="Shape 94"/>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8" name="Shape 96"/>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2" name="Shape 100"/>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6" name="Shape 104"/>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0" name="Shape 108"/>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11" name="Text 109"/>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12" name="Shape 110"/>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4" name="Shape 112"/>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8" name="Shape 116"/>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9" name="Text 117"/>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0" name="Shape 118"/>
          <p:cNvSpPr/>
          <p:nvPr/>
        </p:nvSpPr>
        <p:spPr>
          <a:xfrm>
            <a:off x="9372600" y="804672"/>
            <a:ext cx="2834640" cy="6071616"/>
          </a:xfrm>
          <a:prstGeom prst="rect">
            <a:avLst/>
          </a:prstGeom>
          <a:solidFill>
            <a:srgbClr val="F8FAFB"/>
          </a:solidFill>
          <a:ln w="12700">
            <a:solidFill>
              <a:srgbClr val="DDE1E6"/>
            </a:solidFill>
            <a:prstDash val="solid"/>
          </a:ln>
        </p:spPr>
      </p:sp>
      <p:sp>
        <p:nvSpPr>
          <p:cNvPr id="121" name="Text 119"/>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2" name="Shape 120"/>
          <p:cNvSpPr/>
          <p:nvPr/>
        </p:nvSpPr>
        <p:spPr>
          <a:xfrm>
            <a:off x="9464040" y="1225296"/>
            <a:ext cx="2670048" cy="420624"/>
          </a:xfrm>
          <a:prstGeom prst="rect">
            <a:avLst/>
          </a:prstGeom>
          <a:solidFill>
            <a:srgbClr val="FFFFFF"/>
          </a:solidFill>
          <a:ln w="6350">
            <a:solidFill>
              <a:srgbClr val="E5E7EB"/>
            </a:solidFill>
            <a:prstDash val="solid"/>
          </a:ln>
        </p:spPr>
      </p:sp>
      <p:sp>
        <p:nvSpPr>
          <p:cNvPr id="123" name="Shape 121"/>
          <p:cNvSpPr/>
          <p:nvPr/>
        </p:nvSpPr>
        <p:spPr>
          <a:xfrm>
            <a:off x="9537192" y="1316736"/>
            <a:ext cx="109728" cy="109728"/>
          </a:xfrm>
          <a:prstGeom prst="ellipse">
            <a:avLst/>
          </a:prstGeom>
          <a:solidFill>
            <a:srgbClr val="16A34A"/>
          </a:solidFill>
          <a:ln w="12700">
            <a:solidFill>
              <a:srgbClr val="16A34A"/>
            </a:solidFill>
            <a:prstDash val="solid"/>
          </a:ln>
        </p:spPr>
      </p:sp>
      <p:sp>
        <p:nvSpPr>
          <p:cNvPr id="124" name="Text 122"/>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5" name="Text 123"/>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6" name="Shape 124"/>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7" name="Text 125"/>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8" name="Shape 126"/>
          <p:cNvSpPr/>
          <p:nvPr/>
        </p:nvSpPr>
        <p:spPr>
          <a:xfrm>
            <a:off x="9464040" y="1700784"/>
            <a:ext cx="2670048" cy="420624"/>
          </a:xfrm>
          <a:prstGeom prst="rect">
            <a:avLst/>
          </a:prstGeom>
          <a:solidFill>
            <a:srgbClr val="FFFFFF"/>
          </a:solidFill>
          <a:ln w="6350">
            <a:solidFill>
              <a:srgbClr val="E5E7EB"/>
            </a:solidFill>
            <a:prstDash val="solid"/>
          </a:ln>
        </p:spPr>
      </p:sp>
      <p:sp>
        <p:nvSpPr>
          <p:cNvPr id="129" name="Shape 127"/>
          <p:cNvSpPr/>
          <p:nvPr/>
        </p:nvSpPr>
        <p:spPr>
          <a:xfrm>
            <a:off x="9537192" y="1792224"/>
            <a:ext cx="109728" cy="109728"/>
          </a:xfrm>
          <a:prstGeom prst="ellipse">
            <a:avLst/>
          </a:prstGeom>
          <a:solidFill>
            <a:srgbClr val="1558A8"/>
          </a:solidFill>
          <a:ln w="12700">
            <a:solidFill>
              <a:srgbClr val="1558A8"/>
            </a:solidFill>
            <a:prstDash val="solid"/>
          </a:ln>
        </p:spPr>
      </p:sp>
      <p:sp>
        <p:nvSpPr>
          <p:cNvPr id="130" name="Text 128"/>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1" name="Text 129"/>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2" name="Shape 130"/>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3" name="Text 131"/>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4" name="Shape 132"/>
          <p:cNvSpPr/>
          <p:nvPr/>
        </p:nvSpPr>
        <p:spPr>
          <a:xfrm>
            <a:off x="9464040" y="2176272"/>
            <a:ext cx="2670048" cy="420624"/>
          </a:xfrm>
          <a:prstGeom prst="rect">
            <a:avLst/>
          </a:prstGeom>
          <a:solidFill>
            <a:srgbClr val="FFFFFF"/>
          </a:solidFill>
          <a:ln w="6350">
            <a:solidFill>
              <a:srgbClr val="E5E7EB"/>
            </a:solidFill>
            <a:prstDash val="solid"/>
          </a:ln>
        </p:spPr>
      </p:sp>
      <p:sp>
        <p:nvSpPr>
          <p:cNvPr id="135" name="Shape 133"/>
          <p:cNvSpPr/>
          <p:nvPr/>
        </p:nvSpPr>
        <p:spPr>
          <a:xfrm>
            <a:off x="9537192" y="2267712"/>
            <a:ext cx="109728" cy="109728"/>
          </a:xfrm>
          <a:prstGeom prst="ellipse">
            <a:avLst/>
          </a:prstGeom>
          <a:solidFill>
            <a:srgbClr val="9CA3AF"/>
          </a:solidFill>
          <a:ln w="12700">
            <a:solidFill>
              <a:srgbClr val="9CA3AF"/>
            </a:solidFill>
            <a:prstDash val="solid"/>
          </a:ln>
        </p:spPr>
      </p:sp>
      <p:sp>
        <p:nvSpPr>
          <p:cNvPr id="136" name="Text 134"/>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7" name="Text 135"/>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8" name="Shape 136"/>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9" name="Text 137"/>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0" name="Shape 138"/>
          <p:cNvSpPr/>
          <p:nvPr/>
        </p:nvSpPr>
        <p:spPr>
          <a:xfrm>
            <a:off x="9464040" y="2651760"/>
            <a:ext cx="2670048" cy="420624"/>
          </a:xfrm>
          <a:prstGeom prst="rect">
            <a:avLst/>
          </a:prstGeom>
          <a:solidFill>
            <a:srgbClr val="FFFFFF"/>
          </a:solidFill>
          <a:ln w="6350">
            <a:solidFill>
              <a:srgbClr val="E5E7EB"/>
            </a:solidFill>
            <a:prstDash val="solid"/>
          </a:ln>
        </p:spPr>
      </p:sp>
      <p:sp>
        <p:nvSpPr>
          <p:cNvPr id="141" name="Shape 139"/>
          <p:cNvSpPr/>
          <p:nvPr/>
        </p:nvSpPr>
        <p:spPr>
          <a:xfrm>
            <a:off x="9537192" y="2743200"/>
            <a:ext cx="109728" cy="109728"/>
          </a:xfrm>
          <a:prstGeom prst="ellipse">
            <a:avLst/>
          </a:prstGeom>
          <a:solidFill>
            <a:srgbClr val="9CA3AF"/>
          </a:solidFill>
          <a:ln w="12700">
            <a:solidFill>
              <a:srgbClr val="9CA3AF"/>
            </a:solidFill>
            <a:prstDash val="solid"/>
          </a:ln>
        </p:spPr>
      </p:sp>
      <p:sp>
        <p:nvSpPr>
          <p:cNvPr id="142" name="Text 140"/>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3" name="Text 141"/>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4" name="Shape 142"/>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5" name="Text 143"/>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6" name="Shape 144"/>
          <p:cNvSpPr/>
          <p:nvPr/>
        </p:nvSpPr>
        <p:spPr>
          <a:xfrm>
            <a:off x="9482328" y="3200400"/>
            <a:ext cx="2633472" cy="0"/>
          </a:xfrm>
          <a:prstGeom prst="line">
            <a:avLst/>
          </a:prstGeom>
          <a:noFill/>
          <a:ln w="9525">
            <a:solidFill>
              <a:srgbClr val="DDE1E6"/>
            </a:solidFill>
            <a:prstDash val="solid"/>
          </a:ln>
        </p:spPr>
      </p:sp>
      <p:sp>
        <p:nvSpPr>
          <p:cNvPr id="147" name="Text 145"/>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8" name="Shape 146"/>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9" name="Text 147"/>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0" name="Shape 148"/>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1" name="Text 149"/>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2" name="Shape 150"/>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3" name="Text 151"/>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4" name="Shape 152"/>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5" name="Text 153"/>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Android</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Android Phone · Tablet  ·  Aug 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17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14%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42" name="Shape 40"/>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164592" y="2336292"/>
            <a:ext cx="9116568" cy="1476756"/>
          </a:xfrm>
          <a:prstGeom prst="rect">
            <a:avLst/>
          </a:prstGeom>
          <a:solidFill>
            <a:srgbClr val="FFFFFF"/>
          </a:solidFill>
          <a:ln w="6350">
            <a:solidFill>
              <a:srgbClr val="E5E7EB"/>
            </a:solidFill>
            <a:prstDash val="solid"/>
          </a:ln>
        </p:spPr>
      </p:sp>
      <p:sp>
        <p:nvSpPr>
          <p:cNvPr id="45" name="Shape 43"/>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6" name="Text 44"/>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7" name="Text 45"/>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8" name="Shape 46"/>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50" name="Shape 48"/>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4" name="Shape 52"/>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164592" y="3867912"/>
            <a:ext cx="9116568" cy="1476756"/>
          </a:xfrm>
          <a:prstGeom prst="rect">
            <a:avLst/>
          </a:prstGeom>
          <a:solidFill>
            <a:srgbClr val="FAFBFC"/>
          </a:solidFill>
          <a:ln w="6350">
            <a:solidFill>
              <a:srgbClr val="E5E7EB"/>
            </a:solidFill>
            <a:prstDash val="solid"/>
          </a:ln>
        </p:spPr>
      </p:sp>
      <p:sp>
        <p:nvSpPr>
          <p:cNvPr id="57" name="Shape 55"/>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8" name="Text 56"/>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9" name="Text 57"/>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60" name="Shape 58"/>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62" name="Shape 60"/>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6" name="Shape 64"/>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70" name="Shape 68"/>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4" name="Shape 72"/>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8" name="Shape 76"/>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82" name="Shape 80"/>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83" name="Text 81"/>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4" name="Shape 82"/>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6" name="Shape 84"/>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90" name="Shape 88"/>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91" name="Text 89"/>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92" name="Shape 90"/>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4" name="Shape 92"/>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164592" y="5399532"/>
            <a:ext cx="9116568" cy="1476756"/>
          </a:xfrm>
          <a:prstGeom prst="rect">
            <a:avLst/>
          </a:prstGeom>
          <a:solidFill>
            <a:srgbClr val="FFFFFF"/>
          </a:solidFill>
          <a:ln w="6350">
            <a:solidFill>
              <a:srgbClr val="E5E7EB"/>
            </a:solidFill>
            <a:prstDash val="solid"/>
          </a:ln>
        </p:spPr>
      </p:sp>
      <p:sp>
        <p:nvSpPr>
          <p:cNvPr id="97" name="Shape 95"/>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8" name="Text 96"/>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9" name="Text 97"/>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100" name="Shape 98"/>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02" name="Shape 100"/>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6" name="Shape 104"/>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10" name="Shape 108"/>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4" name="Shape 112"/>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15" name="Text 113"/>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16" name="Shape 114"/>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8" name="Shape 116"/>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22" name="Shape 120"/>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23" name="Text 121"/>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4" name="Shape 122"/>
          <p:cNvSpPr/>
          <p:nvPr/>
        </p:nvSpPr>
        <p:spPr>
          <a:xfrm>
            <a:off x="9372600" y="804672"/>
            <a:ext cx="2834640" cy="6071616"/>
          </a:xfrm>
          <a:prstGeom prst="rect">
            <a:avLst/>
          </a:prstGeom>
          <a:solidFill>
            <a:srgbClr val="F8FAFB"/>
          </a:solidFill>
          <a:ln w="12700">
            <a:solidFill>
              <a:srgbClr val="DDE1E6"/>
            </a:solidFill>
            <a:prstDash val="solid"/>
          </a:ln>
        </p:spPr>
      </p:sp>
      <p:sp>
        <p:nvSpPr>
          <p:cNvPr id="125" name="Text 12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6" name="Shape 124"/>
          <p:cNvSpPr/>
          <p:nvPr/>
        </p:nvSpPr>
        <p:spPr>
          <a:xfrm>
            <a:off x="9464040" y="1225296"/>
            <a:ext cx="2670048" cy="420624"/>
          </a:xfrm>
          <a:prstGeom prst="rect">
            <a:avLst/>
          </a:prstGeom>
          <a:solidFill>
            <a:srgbClr val="FFFFFF"/>
          </a:solidFill>
          <a:ln w="6350">
            <a:solidFill>
              <a:srgbClr val="E5E7EB"/>
            </a:solidFill>
            <a:prstDash val="solid"/>
          </a:ln>
        </p:spPr>
      </p:sp>
      <p:sp>
        <p:nvSpPr>
          <p:cNvPr id="127" name="Shape 125"/>
          <p:cNvSpPr/>
          <p:nvPr/>
        </p:nvSpPr>
        <p:spPr>
          <a:xfrm>
            <a:off x="9537192" y="1316736"/>
            <a:ext cx="109728" cy="109728"/>
          </a:xfrm>
          <a:prstGeom prst="ellipse">
            <a:avLst/>
          </a:prstGeom>
          <a:solidFill>
            <a:srgbClr val="16A34A"/>
          </a:solidFill>
          <a:ln w="12700">
            <a:solidFill>
              <a:srgbClr val="16A34A"/>
            </a:solidFill>
            <a:prstDash val="solid"/>
          </a:ln>
        </p:spPr>
      </p:sp>
      <p:sp>
        <p:nvSpPr>
          <p:cNvPr id="128" name="Text 12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9" name="Text 12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30" name="Shape 12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31" name="Text 12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32" name="Shape 130"/>
          <p:cNvSpPr/>
          <p:nvPr/>
        </p:nvSpPr>
        <p:spPr>
          <a:xfrm>
            <a:off x="9464040" y="1700784"/>
            <a:ext cx="2670048" cy="420624"/>
          </a:xfrm>
          <a:prstGeom prst="rect">
            <a:avLst/>
          </a:prstGeom>
          <a:solidFill>
            <a:srgbClr val="FFFFFF"/>
          </a:solidFill>
          <a:ln w="6350">
            <a:solidFill>
              <a:srgbClr val="E5E7EB"/>
            </a:solidFill>
            <a:prstDash val="solid"/>
          </a:ln>
        </p:spPr>
      </p:sp>
      <p:sp>
        <p:nvSpPr>
          <p:cNvPr id="133" name="Shape 131"/>
          <p:cNvSpPr/>
          <p:nvPr/>
        </p:nvSpPr>
        <p:spPr>
          <a:xfrm>
            <a:off x="9537192" y="1792224"/>
            <a:ext cx="109728" cy="109728"/>
          </a:xfrm>
          <a:prstGeom prst="ellipse">
            <a:avLst/>
          </a:prstGeom>
          <a:solidFill>
            <a:srgbClr val="1558A8"/>
          </a:solidFill>
          <a:ln w="12700">
            <a:solidFill>
              <a:srgbClr val="1558A8"/>
            </a:solidFill>
            <a:prstDash val="solid"/>
          </a:ln>
        </p:spPr>
      </p:sp>
      <p:sp>
        <p:nvSpPr>
          <p:cNvPr id="134" name="Text 13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5" name="Text 13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6" name="Shape 13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7" name="Text 13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8" name="Shape 136"/>
          <p:cNvSpPr/>
          <p:nvPr/>
        </p:nvSpPr>
        <p:spPr>
          <a:xfrm>
            <a:off x="9464040" y="2176272"/>
            <a:ext cx="2670048" cy="420624"/>
          </a:xfrm>
          <a:prstGeom prst="rect">
            <a:avLst/>
          </a:prstGeom>
          <a:solidFill>
            <a:srgbClr val="FFFFFF"/>
          </a:solidFill>
          <a:ln w="6350">
            <a:solidFill>
              <a:srgbClr val="E5E7EB"/>
            </a:solidFill>
            <a:prstDash val="solid"/>
          </a:ln>
        </p:spPr>
      </p:sp>
      <p:sp>
        <p:nvSpPr>
          <p:cNvPr id="139" name="Shape 137"/>
          <p:cNvSpPr/>
          <p:nvPr/>
        </p:nvSpPr>
        <p:spPr>
          <a:xfrm>
            <a:off x="9537192" y="2267712"/>
            <a:ext cx="109728" cy="109728"/>
          </a:xfrm>
          <a:prstGeom prst="ellipse">
            <a:avLst/>
          </a:prstGeom>
          <a:solidFill>
            <a:srgbClr val="9CA3AF"/>
          </a:solidFill>
          <a:ln w="12700">
            <a:solidFill>
              <a:srgbClr val="9CA3AF"/>
            </a:solidFill>
            <a:prstDash val="solid"/>
          </a:ln>
        </p:spPr>
      </p:sp>
      <p:sp>
        <p:nvSpPr>
          <p:cNvPr id="140" name="Text 13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41" name="Text 13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42" name="Shape 14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43" name="Text 14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4" name="Shape 142"/>
          <p:cNvSpPr/>
          <p:nvPr/>
        </p:nvSpPr>
        <p:spPr>
          <a:xfrm>
            <a:off x="9464040" y="2651760"/>
            <a:ext cx="2670048" cy="420624"/>
          </a:xfrm>
          <a:prstGeom prst="rect">
            <a:avLst/>
          </a:prstGeom>
          <a:solidFill>
            <a:srgbClr val="FFFFFF"/>
          </a:solidFill>
          <a:ln w="6350">
            <a:solidFill>
              <a:srgbClr val="E5E7EB"/>
            </a:solidFill>
            <a:prstDash val="solid"/>
          </a:ln>
        </p:spPr>
      </p:sp>
      <p:sp>
        <p:nvSpPr>
          <p:cNvPr id="145" name="Shape 143"/>
          <p:cNvSpPr/>
          <p:nvPr/>
        </p:nvSpPr>
        <p:spPr>
          <a:xfrm>
            <a:off x="9537192" y="2743200"/>
            <a:ext cx="109728" cy="109728"/>
          </a:xfrm>
          <a:prstGeom prst="ellipse">
            <a:avLst/>
          </a:prstGeom>
          <a:solidFill>
            <a:srgbClr val="9CA3AF"/>
          </a:solidFill>
          <a:ln w="12700">
            <a:solidFill>
              <a:srgbClr val="9CA3AF"/>
            </a:solidFill>
            <a:prstDash val="solid"/>
          </a:ln>
        </p:spPr>
      </p:sp>
      <p:sp>
        <p:nvSpPr>
          <p:cNvPr id="146" name="Text 14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7" name="Text 14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8" name="Shape 14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9" name="Text 14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0" name="Shape 148"/>
          <p:cNvSpPr/>
          <p:nvPr/>
        </p:nvSpPr>
        <p:spPr>
          <a:xfrm>
            <a:off x="9482328" y="3200400"/>
            <a:ext cx="2633472" cy="0"/>
          </a:xfrm>
          <a:prstGeom prst="line">
            <a:avLst/>
          </a:prstGeom>
          <a:noFill/>
          <a:ln w="9525">
            <a:solidFill>
              <a:srgbClr val="DDE1E6"/>
            </a:solidFill>
            <a:prstDash val="solid"/>
          </a:ln>
        </p:spPr>
      </p:sp>
      <p:sp>
        <p:nvSpPr>
          <p:cNvPr id="151" name="Text 14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52" name="Shape 150"/>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53" name="Text 151"/>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4" name="Shape 152"/>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5" name="Text 153"/>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6" name="Shape 154"/>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7" name="Text 155"/>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8" name="Shape 156"/>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9" name="Text 157"/>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FOXXUM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Roku · Fire TV · Samsung · tvOS  ·  Aug 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19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Text 14"/>
          <p:cNvSpPr/>
          <p:nvPr/>
        </p:nvSpPr>
        <p:spPr>
          <a:xfrm>
            <a:off x="8028432" y="521208"/>
            <a:ext cx="548640" cy="219456"/>
          </a:xfrm>
          <a:prstGeom prst="rect">
            <a:avLst/>
          </a:prstGeom>
          <a:noFill/>
          <a:ln/>
        </p:spPr>
        <p:txBody>
          <a:bodyPr wrap="square" lIns="0" tIns="0" rIns="0" bIns="0" rtlCol="0" anchor="ctr"/>
          <a:lstStyle/>
          <a:p>
            <a:pPr algn="l" indent="0" marL="0">
              <a:buNone/>
            </a:pPr>
            <a:r>
              <a:rPr lang="en-US" sz="800" b="1" dirty="0">
                <a:solidFill>
                  <a:srgbClr val="374151"/>
                </a:solidFill>
              </a:rPr>
              <a:t>Covers:</a:t>
            </a:r>
            <a:endParaRPr lang="en-US" sz="800" dirty="0"/>
          </a:p>
        </p:txBody>
      </p:sp>
      <p:sp>
        <p:nvSpPr>
          <p:cNvPr id="17" name="Shape 15"/>
          <p:cNvSpPr/>
          <p:nvPr/>
        </p:nvSpPr>
        <p:spPr>
          <a:xfrm>
            <a:off x="8613648" y="512064"/>
            <a:ext cx="585216" cy="237744"/>
          </a:xfrm>
          <a:prstGeom prst="roundRect">
            <a:avLst>
              <a:gd name="adj" fmla="val 15385"/>
            </a:avLst>
          </a:prstGeom>
          <a:solidFill>
            <a:srgbClr val="F0FDF4"/>
          </a:solidFill>
          <a:ln w="12700">
            <a:solidFill>
              <a:srgbClr val="8ED973"/>
            </a:solidFill>
            <a:prstDash val="solid"/>
          </a:ln>
        </p:spPr>
      </p:sp>
      <p:sp>
        <p:nvSpPr>
          <p:cNvPr id="18" name="Text 16"/>
          <p:cNvSpPr/>
          <p:nvPr/>
        </p:nvSpPr>
        <p:spPr>
          <a:xfrm>
            <a:off x="861364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Roku</a:t>
            </a:r>
            <a:endParaRPr lang="en-US" sz="800" dirty="0"/>
          </a:p>
        </p:txBody>
      </p:sp>
      <p:sp>
        <p:nvSpPr>
          <p:cNvPr id="19" name="Shape 17"/>
          <p:cNvSpPr/>
          <p:nvPr/>
        </p:nvSpPr>
        <p:spPr>
          <a:xfrm>
            <a:off x="9272016" y="512064"/>
            <a:ext cx="658368" cy="237744"/>
          </a:xfrm>
          <a:prstGeom prst="roundRect">
            <a:avLst>
              <a:gd name="adj" fmla="val 15385"/>
            </a:avLst>
          </a:prstGeom>
          <a:solidFill>
            <a:srgbClr val="F0FDF4"/>
          </a:solidFill>
          <a:ln w="12700">
            <a:solidFill>
              <a:srgbClr val="8ED973"/>
            </a:solidFill>
            <a:prstDash val="solid"/>
          </a:ln>
        </p:spPr>
      </p:sp>
      <p:sp>
        <p:nvSpPr>
          <p:cNvPr id="20" name="Text 18"/>
          <p:cNvSpPr/>
          <p:nvPr/>
        </p:nvSpPr>
        <p:spPr>
          <a:xfrm>
            <a:off x="9272016" y="512064"/>
            <a:ext cx="658368" cy="237744"/>
          </a:xfrm>
          <a:prstGeom prst="rect">
            <a:avLst/>
          </a:prstGeom>
          <a:noFill/>
          <a:ln/>
        </p:spPr>
        <p:txBody>
          <a:bodyPr wrap="square" lIns="0" tIns="0" rIns="0" bIns="0" rtlCol="0" anchor="ctr"/>
          <a:lstStyle/>
          <a:p>
            <a:pPr algn="ctr" indent="0" marL="0">
              <a:buNone/>
            </a:pPr>
            <a:r>
              <a:rPr lang="en-US" sz="800" b="1" dirty="0">
                <a:solidFill>
                  <a:srgbClr val="388849"/>
                </a:solidFill>
              </a:rPr>
              <a:t>Fire TV</a:t>
            </a:r>
            <a:endParaRPr lang="en-US" sz="800" dirty="0"/>
          </a:p>
        </p:txBody>
      </p:sp>
      <p:sp>
        <p:nvSpPr>
          <p:cNvPr id="21" name="Shape 19"/>
          <p:cNvSpPr/>
          <p:nvPr/>
        </p:nvSpPr>
        <p:spPr>
          <a:xfrm>
            <a:off x="10003536" y="512064"/>
            <a:ext cx="731520" cy="237744"/>
          </a:xfrm>
          <a:prstGeom prst="roundRect">
            <a:avLst>
              <a:gd name="adj" fmla="val 15385"/>
            </a:avLst>
          </a:prstGeom>
          <a:solidFill>
            <a:srgbClr val="F0FDF4"/>
          </a:solidFill>
          <a:ln w="12700">
            <a:solidFill>
              <a:srgbClr val="8ED973"/>
            </a:solidFill>
            <a:prstDash val="solid"/>
          </a:ln>
        </p:spPr>
      </p:sp>
      <p:sp>
        <p:nvSpPr>
          <p:cNvPr id="22" name="Text 20"/>
          <p:cNvSpPr/>
          <p:nvPr/>
        </p:nvSpPr>
        <p:spPr>
          <a:xfrm>
            <a:off x="10003536" y="512064"/>
            <a:ext cx="731520" cy="237744"/>
          </a:xfrm>
          <a:prstGeom prst="rect">
            <a:avLst/>
          </a:prstGeom>
          <a:noFill/>
          <a:ln/>
        </p:spPr>
        <p:txBody>
          <a:bodyPr wrap="square" lIns="0" tIns="0" rIns="0" bIns="0" rtlCol="0" anchor="ctr"/>
          <a:lstStyle/>
          <a:p>
            <a:pPr algn="ctr" indent="0" marL="0">
              <a:buNone/>
            </a:pPr>
            <a:r>
              <a:rPr lang="en-US" sz="800" b="1" dirty="0">
                <a:solidFill>
                  <a:srgbClr val="388849"/>
                </a:solidFill>
              </a:rPr>
              <a:t>Samsung</a:t>
            </a:r>
            <a:endParaRPr lang="en-US" sz="800" dirty="0"/>
          </a:p>
        </p:txBody>
      </p:sp>
      <p:sp>
        <p:nvSpPr>
          <p:cNvPr id="23" name="Shape 21"/>
          <p:cNvSpPr/>
          <p:nvPr/>
        </p:nvSpPr>
        <p:spPr>
          <a:xfrm>
            <a:off x="10808208" y="512064"/>
            <a:ext cx="585216" cy="237744"/>
          </a:xfrm>
          <a:prstGeom prst="roundRect">
            <a:avLst>
              <a:gd name="adj" fmla="val 15385"/>
            </a:avLst>
          </a:prstGeom>
          <a:solidFill>
            <a:srgbClr val="F0FDF4"/>
          </a:solidFill>
          <a:ln w="12700">
            <a:solidFill>
              <a:srgbClr val="8ED973"/>
            </a:solidFill>
            <a:prstDash val="solid"/>
          </a:ln>
        </p:spPr>
      </p:sp>
      <p:sp>
        <p:nvSpPr>
          <p:cNvPr id="24" name="Text 22"/>
          <p:cNvSpPr/>
          <p:nvPr/>
        </p:nvSpPr>
        <p:spPr>
          <a:xfrm>
            <a:off x="1080820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tvOS</a:t>
            </a:r>
            <a:endParaRPr lang="en-US" sz="800" dirty="0"/>
          </a:p>
        </p:txBody>
      </p:sp>
      <p:sp>
        <p:nvSpPr>
          <p:cNvPr id="25" name="Shape 23"/>
          <p:cNvSpPr/>
          <p:nvPr/>
        </p:nvSpPr>
        <p:spPr>
          <a:xfrm>
            <a:off x="0" y="6876288"/>
            <a:ext cx="12344400" cy="438912"/>
          </a:xfrm>
          <a:prstGeom prst="rect">
            <a:avLst/>
          </a:prstGeom>
          <a:solidFill>
            <a:srgbClr val="F4F6F8"/>
          </a:solidFill>
          <a:ln w="12700">
            <a:solidFill>
              <a:srgbClr val="D1D5DB"/>
            </a:solidFill>
            <a:prstDash val="solid"/>
          </a:ln>
        </p:spPr>
      </p:sp>
      <p:sp>
        <p:nvSpPr>
          <p:cNvPr id="26" name="Text 24"/>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27" name="Text 25"/>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28" name="Text 26"/>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13% Ready</a:t>
            </a:r>
            <a:endParaRPr lang="en-US" sz="1100" dirty="0"/>
          </a:p>
        </p:txBody>
      </p:sp>
      <p:sp>
        <p:nvSpPr>
          <p:cNvPr id="29" name="Shape 27"/>
          <p:cNvSpPr/>
          <p:nvPr/>
        </p:nvSpPr>
        <p:spPr>
          <a:xfrm>
            <a:off x="164592" y="804672"/>
            <a:ext cx="9116568" cy="1476756"/>
          </a:xfrm>
          <a:prstGeom prst="rect">
            <a:avLst/>
          </a:prstGeom>
          <a:solidFill>
            <a:srgbClr val="FAFBFC"/>
          </a:solidFill>
          <a:ln w="6350">
            <a:solidFill>
              <a:srgbClr val="E5E7EB"/>
            </a:solidFill>
            <a:prstDash val="solid"/>
          </a:ln>
        </p:spPr>
      </p:sp>
      <p:sp>
        <p:nvSpPr>
          <p:cNvPr id="30" name="Shape 28"/>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31" name="Text 29"/>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32" name="Text 30"/>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33" name="Shape 31"/>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34" name="Text 32"/>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35" name="Shape 33"/>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36" name="Text 34"/>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7" name="Shape 35"/>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38" name="Text 36"/>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9" name="Shape 37"/>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40" name="Text 38"/>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1" name="Shape 39"/>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42" name="Text 40"/>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43" name="Shape 41"/>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44" name="Text 42"/>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5" name="Shape 43"/>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46" name="Text 44"/>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47" name="Shape 45"/>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48" name="Text 46"/>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9" name="Shape 47"/>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50" name="Text 48"/>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51" name="Shape 49"/>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52" name="Text 50"/>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3" name="Shape 51"/>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54" name="Text 52"/>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55" name="Shape 53"/>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56" name="Text 54"/>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7" name="Shape 55"/>
          <p:cNvSpPr/>
          <p:nvPr/>
        </p:nvSpPr>
        <p:spPr>
          <a:xfrm>
            <a:off x="164592" y="2336292"/>
            <a:ext cx="9116568" cy="1476756"/>
          </a:xfrm>
          <a:prstGeom prst="rect">
            <a:avLst/>
          </a:prstGeom>
          <a:solidFill>
            <a:srgbClr val="FFFFFF"/>
          </a:solidFill>
          <a:ln w="6350">
            <a:solidFill>
              <a:srgbClr val="E5E7EB"/>
            </a:solidFill>
            <a:prstDash val="solid"/>
          </a:ln>
        </p:spPr>
      </p:sp>
      <p:sp>
        <p:nvSpPr>
          <p:cNvPr id="58" name="Shape 56"/>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59" name="Text 57"/>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60" name="Text 58"/>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61" name="Shape 59"/>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62" name="Text 60"/>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63" name="Shape 61"/>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64" name="Text 62"/>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5" name="Shape 63"/>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66" name="Text 64"/>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67" name="Shape 65"/>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68" name="Text 66"/>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9" name="Shape 67"/>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sp>
      <p:sp>
        <p:nvSpPr>
          <p:cNvPr id="70" name="Text 68"/>
          <p:cNvSpPr/>
          <p:nvPr/>
        </p:nvSpPr>
        <p:spPr>
          <a:xfrm>
            <a:off x="3200400"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71" name="Shape 69"/>
          <p:cNvSpPr/>
          <p:nvPr/>
        </p:nvSpPr>
        <p:spPr>
          <a:xfrm>
            <a:off x="3200400" y="2811780"/>
            <a:ext cx="932688" cy="155448"/>
          </a:xfrm>
          <a:prstGeom prst="roundRect">
            <a:avLst>
              <a:gd name="adj" fmla="val 17647"/>
            </a:avLst>
          </a:prstGeom>
          <a:solidFill>
            <a:srgbClr val="1558A8"/>
          </a:solidFill>
          <a:ln w="12700">
            <a:solidFill>
              <a:srgbClr val="1558A8"/>
            </a:solidFill>
            <a:prstDash val="solid"/>
          </a:ln>
        </p:spPr>
      </p:sp>
      <p:sp>
        <p:nvSpPr>
          <p:cNvPr id="72" name="Text 70"/>
          <p:cNvSpPr/>
          <p:nvPr/>
        </p:nvSpPr>
        <p:spPr>
          <a:xfrm>
            <a:off x="3200400"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3" name="Shape 71"/>
          <p:cNvSpPr/>
          <p:nvPr/>
        </p:nvSpPr>
        <p:spPr>
          <a:xfrm>
            <a:off x="164592" y="3867912"/>
            <a:ext cx="9116568" cy="1476756"/>
          </a:xfrm>
          <a:prstGeom prst="rect">
            <a:avLst/>
          </a:prstGeom>
          <a:solidFill>
            <a:srgbClr val="FAFBFC"/>
          </a:solidFill>
          <a:ln w="6350">
            <a:solidFill>
              <a:srgbClr val="E5E7EB"/>
            </a:solidFill>
            <a:prstDash val="solid"/>
          </a:ln>
        </p:spPr>
      </p:sp>
      <p:sp>
        <p:nvSpPr>
          <p:cNvPr id="74" name="Shape 72"/>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75" name="Text 73"/>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76" name="Text 74"/>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77" name="Shape 75"/>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78" name="Text 76"/>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79" name="Shape 77"/>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80" name="Text 78"/>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1" name="Shape 79"/>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82" name="Text 80"/>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83" name="Shape 81"/>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84" name="Text 82"/>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5" name="Shape 83"/>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86" name="Text 84"/>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87" name="Shape 85"/>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88" name="Text 86"/>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9" name="Shape 87"/>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90" name="Text 88"/>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91" name="Shape 89"/>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92" name="Text 90"/>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3" name="Shape 91"/>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94" name="Text 92"/>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95" name="Shape 93"/>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96" name="Text 94"/>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7" name="Shape 95"/>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98" name="Text 96"/>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99" name="Shape 97"/>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100" name="Text 98"/>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1" name="Shape 99"/>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102" name="Text 100"/>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03" name="Shape 101"/>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104" name="Text 102"/>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5" name="Shape 103"/>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106" name="Text 104"/>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07" name="Shape 105"/>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108" name="Text 106"/>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9" name="Shape 107"/>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110" name="Text 108"/>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11" name="Shape 109"/>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112" name="Text 110"/>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3" name="Shape 111"/>
          <p:cNvSpPr/>
          <p:nvPr/>
        </p:nvSpPr>
        <p:spPr>
          <a:xfrm>
            <a:off x="164592" y="5399532"/>
            <a:ext cx="9116568" cy="1476756"/>
          </a:xfrm>
          <a:prstGeom prst="rect">
            <a:avLst/>
          </a:prstGeom>
          <a:solidFill>
            <a:srgbClr val="FFFFFF"/>
          </a:solidFill>
          <a:ln w="6350">
            <a:solidFill>
              <a:srgbClr val="E5E7EB"/>
            </a:solidFill>
            <a:prstDash val="solid"/>
          </a:ln>
        </p:spPr>
      </p:sp>
      <p:sp>
        <p:nvSpPr>
          <p:cNvPr id="114" name="Shape 112"/>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115" name="Text 113"/>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16" name="Text 114"/>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117" name="Shape 115"/>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18" name="Text 116"/>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19" name="Shape 117"/>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20" name="Text 118"/>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1" name="Shape 119"/>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22" name="Text 120"/>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23" name="Shape 121"/>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24" name="Text 122"/>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5" name="Shape 123"/>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26" name="Text 124"/>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27" name="Shape 125"/>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28" name="Text 126"/>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9" name="Shape 127"/>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30" name="Text 128"/>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31" name="Shape 129"/>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32" name="Text 130"/>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33" name="Shape 131"/>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34" name="Text 132"/>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35" name="Shape 133"/>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36" name="Text 134"/>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7" name="Shape 135"/>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38" name="Text 136"/>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39" name="Shape 137"/>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40" name="Text 138"/>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1" name="Shape 139"/>
          <p:cNvSpPr/>
          <p:nvPr/>
        </p:nvSpPr>
        <p:spPr>
          <a:xfrm>
            <a:off x="9372600" y="804672"/>
            <a:ext cx="2834640" cy="6071616"/>
          </a:xfrm>
          <a:prstGeom prst="rect">
            <a:avLst/>
          </a:prstGeom>
          <a:solidFill>
            <a:srgbClr val="F8FAFB"/>
          </a:solidFill>
          <a:ln w="12700">
            <a:solidFill>
              <a:srgbClr val="DDE1E6"/>
            </a:solidFill>
            <a:prstDash val="solid"/>
          </a:ln>
        </p:spPr>
      </p:sp>
      <p:sp>
        <p:nvSpPr>
          <p:cNvPr id="142" name="Text 140"/>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43" name="Shape 141"/>
          <p:cNvSpPr/>
          <p:nvPr/>
        </p:nvSpPr>
        <p:spPr>
          <a:xfrm>
            <a:off x="9464040" y="1225296"/>
            <a:ext cx="2670048" cy="420624"/>
          </a:xfrm>
          <a:prstGeom prst="rect">
            <a:avLst/>
          </a:prstGeom>
          <a:solidFill>
            <a:srgbClr val="FFFFFF"/>
          </a:solidFill>
          <a:ln w="6350">
            <a:solidFill>
              <a:srgbClr val="E5E7EB"/>
            </a:solidFill>
            <a:prstDash val="solid"/>
          </a:ln>
        </p:spPr>
      </p:sp>
      <p:sp>
        <p:nvSpPr>
          <p:cNvPr id="144" name="Shape 142"/>
          <p:cNvSpPr/>
          <p:nvPr/>
        </p:nvSpPr>
        <p:spPr>
          <a:xfrm>
            <a:off x="9537192" y="1316736"/>
            <a:ext cx="109728" cy="109728"/>
          </a:xfrm>
          <a:prstGeom prst="ellipse">
            <a:avLst/>
          </a:prstGeom>
          <a:solidFill>
            <a:srgbClr val="16A34A"/>
          </a:solidFill>
          <a:ln w="12700">
            <a:solidFill>
              <a:srgbClr val="16A34A"/>
            </a:solidFill>
            <a:prstDash val="solid"/>
          </a:ln>
        </p:spPr>
      </p:sp>
      <p:sp>
        <p:nvSpPr>
          <p:cNvPr id="145" name="Text 143"/>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46" name="Text 144"/>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47" name="Shape 145"/>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48" name="Text 146"/>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49" name="Shape 147"/>
          <p:cNvSpPr/>
          <p:nvPr/>
        </p:nvSpPr>
        <p:spPr>
          <a:xfrm>
            <a:off x="9464040" y="1700784"/>
            <a:ext cx="2670048" cy="420624"/>
          </a:xfrm>
          <a:prstGeom prst="rect">
            <a:avLst/>
          </a:prstGeom>
          <a:solidFill>
            <a:srgbClr val="FFFFFF"/>
          </a:solidFill>
          <a:ln w="6350">
            <a:solidFill>
              <a:srgbClr val="E5E7EB"/>
            </a:solidFill>
            <a:prstDash val="solid"/>
          </a:ln>
        </p:spPr>
      </p:sp>
      <p:sp>
        <p:nvSpPr>
          <p:cNvPr id="150" name="Shape 148"/>
          <p:cNvSpPr/>
          <p:nvPr/>
        </p:nvSpPr>
        <p:spPr>
          <a:xfrm>
            <a:off x="9537192" y="1792224"/>
            <a:ext cx="109728" cy="109728"/>
          </a:xfrm>
          <a:prstGeom prst="ellipse">
            <a:avLst/>
          </a:prstGeom>
          <a:solidFill>
            <a:srgbClr val="1558A8"/>
          </a:solidFill>
          <a:ln w="12700">
            <a:solidFill>
              <a:srgbClr val="1558A8"/>
            </a:solidFill>
            <a:prstDash val="solid"/>
          </a:ln>
        </p:spPr>
      </p:sp>
      <p:sp>
        <p:nvSpPr>
          <p:cNvPr id="151" name="Text 149"/>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52" name="Text 150"/>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53" name="Shape 151"/>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54" name="Text 152"/>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55" name="Shape 153"/>
          <p:cNvSpPr/>
          <p:nvPr/>
        </p:nvSpPr>
        <p:spPr>
          <a:xfrm>
            <a:off x="9464040" y="2176272"/>
            <a:ext cx="2670048" cy="420624"/>
          </a:xfrm>
          <a:prstGeom prst="rect">
            <a:avLst/>
          </a:prstGeom>
          <a:solidFill>
            <a:srgbClr val="FFFFFF"/>
          </a:solidFill>
          <a:ln w="6350">
            <a:solidFill>
              <a:srgbClr val="E5E7EB"/>
            </a:solidFill>
            <a:prstDash val="solid"/>
          </a:ln>
        </p:spPr>
      </p:sp>
      <p:sp>
        <p:nvSpPr>
          <p:cNvPr id="156" name="Shape 154"/>
          <p:cNvSpPr/>
          <p:nvPr/>
        </p:nvSpPr>
        <p:spPr>
          <a:xfrm>
            <a:off x="9537192" y="2267712"/>
            <a:ext cx="109728" cy="109728"/>
          </a:xfrm>
          <a:prstGeom prst="ellipse">
            <a:avLst/>
          </a:prstGeom>
          <a:solidFill>
            <a:srgbClr val="9CA3AF"/>
          </a:solidFill>
          <a:ln w="12700">
            <a:solidFill>
              <a:srgbClr val="9CA3AF"/>
            </a:solidFill>
            <a:prstDash val="solid"/>
          </a:ln>
        </p:spPr>
      </p:sp>
      <p:sp>
        <p:nvSpPr>
          <p:cNvPr id="157" name="Text 155"/>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58" name="Text 156"/>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59" name="Shape 157"/>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60" name="Text 158"/>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1" name="Shape 159"/>
          <p:cNvSpPr/>
          <p:nvPr/>
        </p:nvSpPr>
        <p:spPr>
          <a:xfrm>
            <a:off x="9464040" y="2651760"/>
            <a:ext cx="2670048" cy="420624"/>
          </a:xfrm>
          <a:prstGeom prst="rect">
            <a:avLst/>
          </a:prstGeom>
          <a:solidFill>
            <a:srgbClr val="FFFFFF"/>
          </a:solidFill>
          <a:ln w="6350">
            <a:solidFill>
              <a:srgbClr val="E5E7EB"/>
            </a:solidFill>
            <a:prstDash val="solid"/>
          </a:ln>
        </p:spPr>
      </p:sp>
      <p:sp>
        <p:nvSpPr>
          <p:cNvPr id="162" name="Shape 160"/>
          <p:cNvSpPr/>
          <p:nvPr/>
        </p:nvSpPr>
        <p:spPr>
          <a:xfrm>
            <a:off x="9537192" y="2743200"/>
            <a:ext cx="109728" cy="109728"/>
          </a:xfrm>
          <a:prstGeom prst="ellipse">
            <a:avLst/>
          </a:prstGeom>
          <a:solidFill>
            <a:srgbClr val="9CA3AF"/>
          </a:solidFill>
          <a:ln w="12700">
            <a:solidFill>
              <a:srgbClr val="9CA3AF"/>
            </a:solidFill>
            <a:prstDash val="solid"/>
          </a:ln>
        </p:spPr>
      </p:sp>
      <p:sp>
        <p:nvSpPr>
          <p:cNvPr id="163" name="Text 161"/>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64" name="Text 162"/>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65" name="Shape 163"/>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66" name="Text 164"/>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7" name="Shape 165"/>
          <p:cNvSpPr/>
          <p:nvPr/>
        </p:nvSpPr>
        <p:spPr>
          <a:xfrm>
            <a:off x="9482328" y="3200400"/>
            <a:ext cx="2633472" cy="0"/>
          </a:xfrm>
          <a:prstGeom prst="line">
            <a:avLst/>
          </a:prstGeom>
          <a:noFill/>
          <a:ln w="9525">
            <a:solidFill>
              <a:srgbClr val="DDE1E6"/>
            </a:solidFill>
            <a:prstDash val="solid"/>
          </a:ln>
        </p:spPr>
      </p:sp>
      <p:sp>
        <p:nvSpPr>
          <p:cNvPr id="168" name="Text 166"/>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69" name="Shape 167"/>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70" name="Text 168"/>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71" name="Shape 169"/>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72" name="Text 170"/>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73" name="Shape 171"/>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74" name="Text 172"/>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75" name="Shape 173"/>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76" name="Text 174"/>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SABR Component Status</dc:title>
  <dc:subject>PptxGenJS Presentation</dc:subject>
  <dc:creator>SABR Reporting</dc:creator>
  <cp:lastModifiedBy>SABR Reporting</cp:lastModifiedBy>
  <cp:revision>1</cp:revision>
  <dcterms:created xsi:type="dcterms:W3CDTF">2026-08-06T06:02:34Z</dcterms:created>
  <dcterms:modified xsi:type="dcterms:W3CDTF">2026-08-06T06:02:34Z</dcterms:modified>
</cp:coreProperties>
</file>