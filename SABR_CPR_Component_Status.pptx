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344400" cy="7315200"/>
  <p:notesSz cx="7315200" cy="12344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344400" cy="457200"/>
          </a:xfrm>
          <a:prstGeom prst="rect">
            <a:avLst/>
          </a:prstGeom>
          <a:solidFill>
            <a:srgbClr val="8ED973"/>
          </a:solidFill>
          <a:ln w="12700">
            <a:solidFill>
              <a:srgbClr val="8ED973"/>
            </a:solidFill>
            <a:prstDash val="solid"/>
          </a:ln>
        </p:spPr>
      </p:sp>
      <p:sp>
        <p:nvSpPr>
          <p:cNvPr id="3" name="Text 1"/>
          <p:cNvSpPr/>
          <p:nvPr/>
        </p:nvSpPr>
        <p:spPr>
          <a:xfrm>
            <a:off x="201168" y="0"/>
            <a:ext cx="6858000" cy="457200"/>
          </a:xfrm>
          <a:prstGeom prst="rect">
            <a:avLst/>
          </a:prstGeom>
          <a:noFill/>
          <a:ln/>
        </p:spPr>
        <p:txBody>
          <a:bodyPr wrap="square" lIns="0" tIns="0" rIns="0" bIns="0" rtlCol="0" anchor="ctr"/>
          <a:lstStyle/>
          <a:p>
            <a:pPr algn="l" indent="0" marL="0">
              <a:buNone/>
            </a:pPr>
            <a:r>
              <a:rPr lang="en-US" sz="1600" b="1" dirty="0">
                <a:solidFill>
                  <a:srgbClr val="000000"/>
                </a:solidFill>
              </a:rPr>
              <a:t>Project SABR</a:t>
            </a:r>
            <a:endParaRPr lang="en-US" sz="1600" dirty="0"/>
          </a:p>
        </p:txBody>
      </p:sp>
      <p:sp>
        <p:nvSpPr>
          <p:cNvPr id="4" name="Text 2"/>
          <p:cNvSpPr/>
          <p:nvPr/>
        </p:nvSpPr>
        <p:spPr>
          <a:xfrm>
            <a:off x="7315200" y="0"/>
            <a:ext cx="4754880" cy="457200"/>
          </a:xfrm>
          <a:prstGeom prst="rect">
            <a:avLst/>
          </a:prstGeom>
          <a:noFill/>
          <a:ln/>
        </p:spPr>
        <p:txBody>
          <a:bodyPr wrap="square" lIns="0" tIns="0" rIns="0" bIns="0" rtlCol="0" anchor="ctr"/>
          <a:lstStyle/>
          <a:p>
            <a:pPr algn="r" indent="0" marL="0">
              <a:buNone/>
            </a:pPr>
            <a:r>
              <a:rPr lang="en-US" sz="1100" dirty="0">
                <a:solidFill>
                  <a:srgbClr val="388849"/>
                </a:solidFill>
              </a:rPr>
              <a:t>This Week  ·  Aug 6, 2026</a:t>
            </a:r>
            <a:endParaRPr lang="en-US" sz="1100" dirty="0"/>
          </a:p>
        </p:txBody>
      </p:sp>
      <p:sp>
        <p:nvSpPr>
          <p:cNvPr id="5" name="Shape 3"/>
          <p:cNvSpPr/>
          <p:nvPr/>
        </p:nvSpPr>
        <p:spPr>
          <a:xfrm>
            <a:off x="0" y="457200"/>
            <a:ext cx="12344400" cy="274320"/>
          </a:xfrm>
          <a:prstGeom prst="rect">
            <a:avLst/>
          </a:prstGeom>
          <a:solidFill>
            <a:srgbClr val="EFF7F3"/>
          </a:solidFill>
          <a:ln w="12700">
            <a:solidFill>
              <a:srgbClr val="CCE4D8"/>
            </a:solidFill>
            <a:prstDash val="solid"/>
          </a:ln>
        </p:spPr>
      </p:sp>
      <p:sp>
        <p:nvSpPr>
          <p:cNvPr id="6" name="Text 4"/>
          <p:cNvSpPr/>
          <p:nvPr/>
        </p:nvSpPr>
        <p:spPr>
          <a:xfrm>
            <a:off x="201168" y="457200"/>
            <a:ext cx="5486400" cy="274320"/>
          </a:xfrm>
          <a:prstGeom prst="rect">
            <a:avLst/>
          </a:prstGeom>
          <a:noFill/>
          <a:ln/>
        </p:spPr>
        <p:txBody>
          <a:bodyPr wrap="square" lIns="0" tIns="0" rIns="0" bIns="0" rtlCol="0" anchor="ctr"/>
          <a:lstStyle/>
          <a:p>
            <a:pPr algn="l" indent="0" marL="0">
              <a:buNone/>
            </a:pPr>
            <a:r>
              <a:rPr lang="en-US" sz="1100" b="1" dirty="0">
                <a:solidFill>
                  <a:srgbClr val="388849"/>
                </a:solidFill>
              </a:rPr>
              <a:t>8/6 Update</a:t>
            </a:r>
            <a:endParaRPr lang="en-US" sz="1100" dirty="0"/>
          </a:p>
        </p:txBody>
      </p:sp>
      <p:sp>
        <p:nvSpPr>
          <p:cNvPr id="7" name="Text 5"/>
          <p:cNvSpPr/>
          <p:nvPr/>
        </p:nvSpPr>
        <p:spPr>
          <a:xfrm>
            <a:off x="5943600" y="457200"/>
            <a:ext cx="5943600" cy="274320"/>
          </a:xfrm>
          <a:prstGeom prst="rect">
            <a:avLst/>
          </a:prstGeom>
          <a:noFill/>
          <a:ln/>
        </p:spPr>
        <p:txBody>
          <a:bodyPr wrap="square" lIns="0" tIns="0" rIns="0" bIns="0" rtlCol="0" anchor="ctr"/>
          <a:lstStyle/>
          <a:p>
            <a:pPr algn="r" indent="0" marL="0">
              <a:buNone/>
            </a:pPr>
            <a:r>
              <a:rPr lang="en-US" sz="900" dirty="0">
                <a:solidFill>
                  <a:srgbClr val="374151"/>
                </a:solidFill>
              </a:rPr>
              <a:t>Beta: Sep 30, 2026  ·  55 days remaining</a:t>
            </a:r>
            <a:endParaRPr lang="en-US" sz="900" dirty="0"/>
          </a:p>
        </p:txBody>
      </p:sp>
      <p:sp>
        <p:nvSpPr>
          <p:cNvPr id="8" name="Shape 6"/>
          <p:cNvSpPr/>
          <p:nvPr/>
        </p:nvSpPr>
        <p:spPr>
          <a:xfrm>
            <a:off x="164592" y="822960"/>
            <a:ext cx="12015216" cy="6035040"/>
          </a:xfrm>
          <a:prstGeom prst="rect">
            <a:avLst/>
          </a:prstGeom>
          <a:solidFill>
            <a:srgbClr val="FAFCFB"/>
          </a:solidFill>
          <a:ln w="9525">
            <a:solidFill>
              <a:srgbClr val="D8EDE3"/>
            </a:solidFill>
            <a:prstDash val="solid"/>
          </a:ln>
        </p:spPr>
      </p:sp>
      <p:sp>
        <p:nvSpPr>
          <p:cNvPr id="9" name="Text 7"/>
          <p:cNvSpPr/>
          <p:nvPr/>
        </p:nvSpPr>
        <p:spPr>
          <a:xfrm>
            <a:off x="274320" y="896112"/>
            <a:ext cx="11795760" cy="5888736"/>
          </a:xfrm>
          <a:prstGeom prst="rect">
            <a:avLst/>
          </a:prstGeom>
          <a:noFill/>
          <a:ln/>
        </p:spPr>
        <p:txBody>
          <a:bodyPr wrap="square" lIns="101600" tIns="101600" rIns="101600" bIns="101600" rtlCol="0" anchor="t"/>
          <a:lstStyle/>
          <a:p>
            <a:pPr algn="l" indent="0" marL="0">
              <a:buNone/>
            </a:pPr>
            <a:r>
              <a:rPr lang="en-US" sz="800" b="1" dirty="0">
                <a:solidFill>
                  <a:srgbClr val="1B5E20"/>
                </a:solidFill>
              </a:rPr>
              <a:t>HIGHLIGHTS:</a:t>
            </a:r>
            <a:pPr algn="l" indent="0" marL="0">
              <a:buNone/>
            </a:pPr>
            <a:endParaRPr lang="en-US" sz="800" dirty="0"/>
          </a:p>
          <a:p>
            <a:pPr algn="l" indent="0" marL="0">
              <a:buNone/>
            </a:pPr>
            <a:endParaRPr lang="en-US" sz="800" dirty="0"/>
          </a:p>
          <a:p>
            <a:pPr algn="l" indent="0" marL="0">
              <a:buNone/>
            </a:pPr>
            <a:r>
              <a:rPr lang="en-US" sz="800" b="1" dirty="0">
                <a:solidFill>
                  <a:srgbClr val="1B5E20"/>
                </a:solidFill>
              </a:rPr>
              <a:t>MVPD:</a:t>
            </a:r>
            <a:pPr algn="l" indent="0" marL="0">
              <a:buNone/>
            </a:pPr>
            <a:r>
              <a:rPr lang="en-US" sz="800" dirty="0">
                <a:solidFill>
                  <a:srgbClr val="1F2937"/>
                </a:solidFill>
              </a:rPr>
              <a:t> Mobile now has a working build with DRM and picture-in-picture confirmed on-device. MVPD provider login ("sign in with your TV provider") is currently the only way into the app, since it's required before any video will play.</a:t>
            </a:r>
            <a:endParaRPr lang="en-US" sz="800" dirty="0"/>
          </a:p>
          <a:p>
            <a:pPr algn="l" indent="0" marL="0">
              <a:buNone/>
            </a:pPr>
            <a:endParaRPr lang="en-US" sz="800" dirty="0"/>
          </a:p>
          <a:p>
            <a:pPr algn="l" indent="0" marL="0">
              <a:buNone/>
            </a:pPr>
            <a:r>
              <a:rPr lang="en-US" sz="800" b="1" dirty="0">
                <a:solidFill>
                  <a:srgbClr val="1B5E20"/>
                </a:solidFill>
              </a:rPr>
              <a:t>VOD:</a:t>
            </a:r>
            <a:pPr algn="l" indent="0" marL="0">
              <a:buNone/>
            </a:pPr>
            <a:r>
              <a:rPr lang="en-US" sz="800" dirty="0">
                <a:solidFill>
                  <a:srgbClr val="1F2937"/>
                </a:solidFill>
              </a:rPr>
              <a:t> The replay processing pipeline is now running against real production matches and data, with output already viewable in the dev environment. The team is coordinating with Amagi on getting replays flowing to Roku as well.</a:t>
            </a:r>
            <a:endParaRPr lang="en-US" sz="800" dirty="0"/>
          </a:p>
          <a:p>
            <a:pPr algn="l" indent="0" marL="0">
              <a:buNone/>
            </a:pPr>
            <a:endParaRPr lang="en-US" sz="800" dirty="0"/>
          </a:p>
          <a:p>
            <a:pPr algn="l" indent="0" marL="0">
              <a:buNone/>
            </a:pPr>
            <a:r>
              <a:rPr lang="en-US" sz="800" b="1" dirty="0">
                <a:solidFill>
                  <a:srgbClr val="1B5E20"/>
                </a:solidFill>
              </a:rPr>
              <a:t>STATUS UPDATE:</a:t>
            </a:r>
            <a:pPr algn="l" indent="0" marL="0">
              <a:buNone/>
            </a:pPr>
            <a:endParaRPr lang="en-US" sz="800" dirty="0"/>
          </a:p>
          <a:p>
            <a:pPr algn="l" indent="0" marL="0">
              <a:buNone/>
            </a:pPr>
            <a:endParaRPr lang="en-US" sz="800" dirty="0"/>
          </a:p>
          <a:p>
            <a:pPr algn="l" indent="0" marL="0">
              <a:buNone/>
            </a:pPr>
            <a:r>
              <a:rPr lang="en-US" sz="800" b="1" dirty="0">
                <a:solidFill>
                  <a:srgbClr val="1B5E20"/>
                </a:solidFill>
              </a:rPr>
              <a:t>ROKU INTEGRATION:</a:t>
            </a:r>
            <a:pPr algn="l" indent="0" marL="0">
              <a:buNone/>
            </a:pPr>
            <a:r>
              <a:rPr lang="en-US" sz="800" dirty="0">
                <a:solidFill>
                  <a:srgbClr val="1F2937"/>
                </a:solidFill>
              </a:rPr>
              <a:t> Resolved a metadata conflict between Premium Subscriptions and Roku by removing the conflicting sports event feed from OTT, simplifying the implementation path. Amagi's monitoring UI for match visibility is on track for mid-August delivery, giving Roku read-only access to what's live without Tennis Channel maintaining manual availability sheets by hand. Linear stream reconnection is complete, and ad testing is underway pending final connection confirmation.</a:t>
            </a:r>
            <a:endParaRPr lang="en-US" sz="800" dirty="0"/>
          </a:p>
          <a:p>
            <a:pPr algn="l" indent="0" marL="0">
              <a:buNone/>
            </a:pPr>
            <a:endParaRPr lang="en-US" sz="800" dirty="0"/>
          </a:p>
          <a:p>
            <a:pPr algn="l" indent="0" marL="0">
              <a:buNone/>
            </a:pPr>
            <a:r>
              <a:rPr lang="en-US" sz="800" b="1" dirty="0">
                <a:solidFill>
                  <a:srgbClr val="1B5E20"/>
                </a:solidFill>
              </a:rPr>
              <a:t>FRONTEND UX AND DESIGN:</a:t>
            </a:r>
            <a:pPr algn="l" indent="0" marL="0">
              <a:buNone/>
            </a:pPr>
            <a:r>
              <a:rPr lang="en-US" sz="800" dirty="0">
                <a:solidFill>
                  <a:srgbClr val="1F2937"/>
                </a:solidFill>
              </a:rPr>
              <a:t> Engineering delivered prototypes for the tournaments and live pages this week. With Claude helping engineers move quickly and ship continuously, the team is starting twice-weekly design jam sessions (Tuesdays and Thursdays, first one August 6) so engineers, design, and stakeholders can review in-flight work and align on priorities in step with that pace.</a:t>
            </a:r>
            <a:endParaRPr lang="en-US" sz="800" dirty="0"/>
          </a:p>
          <a:p>
            <a:pPr algn="l" indent="0" marL="0">
              <a:buNone/>
            </a:pPr>
            <a:endParaRPr lang="en-US" sz="800" dirty="0"/>
          </a:p>
          <a:p>
            <a:pPr algn="l" indent="0" marL="0">
              <a:buNone/>
            </a:pPr>
            <a:r>
              <a:rPr lang="en-US" sz="800" b="1" dirty="0">
                <a:solidFill>
                  <a:srgbClr val="1B5E20"/>
                </a:solidFill>
              </a:rPr>
              <a:t>MERCHANDISING AND CAROUSELS:</a:t>
            </a:r>
            <a:pPr algn="l" indent="0" marL="0">
              <a:buNone/>
            </a:pPr>
            <a:r>
              <a:rPr lang="en-US" sz="800" dirty="0">
                <a:solidFill>
                  <a:srgbClr val="1F2937"/>
                </a:solidFill>
              </a:rPr>
              <a:t> Landed on "show more" link behavior across platforms: on by default, off entirely, or a custom label and destination. Default item limit is twenty, with each device able to override based on its own performance needs. Still to be settled: placing the show-more link as a full tile at the end of the carousel, treated as a near-term priority for TV apps since the team believes it would meaningfully improve discovery over today's plain title-link approach.</a:t>
            </a:r>
            <a:endParaRPr lang="en-US" sz="800" dirty="0"/>
          </a:p>
          <a:p>
            <a:pPr algn="l" indent="0" marL="0">
              <a:buNone/>
            </a:pPr>
            <a:endParaRPr lang="en-US" sz="800" dirty="0"/>
          </a:p>
          <a:p>
            <a:pPr algn="l" indent="0" marL="0">
              <a:buNone/>
            </a:pPr>
            <a:r>
              <a:rPr lang="en-US" sz="800" b="1" dirty="0">
                <a:solidFill>
                  <a:srgbClr val="1B5E20"/>
                </a:solidFill>
              </a:rPr>
              <a:t>BACKEND AND PLAYBACK:</a:t>
            </a:r>
            <a:pPr algn="l" indent="0" marL="0">
              <a:buNone/>
            </a:pPr>
            <a:r>
              <a:rPr lang="en-US" sz="800" dirty="0">
                <a:solidFill>
                  <a:srgbClr val="1F2937"/>
                </a:solidFill>
              </a:rPr>
              <a:t> DRM playback and picture-in-picture are confirmed working on real mobile devices after Akash, Alex, and Aaron patched an iOS certificate issue; a working build with MVPD login goes out once final testing wraps. The team is standing up a CI pipeline for iOS and Android so builds reach staging and TestFlight several times a week instead of ad hoc, speeding up feedback. Yisake finished decoupling the profile screen from the main menu and is now building email-change functionality, with the backend piece already in place. Erik's team spent the week on the tournaments and live pages, with follow-up design conversations already scheduled.</a:t>
            </a:r>
            <a:endParaRPr lang="en-US" sz="800" dirty="0"/>
          </a:p>
          <a:p>
            <a:pPr algn="l" indent="0" marL="0">
              <a:buNone/>
            </a:pPr>
            <a:endParaRPr lang="en-US" sz="800" dirty="0"/>
          </a:p>
          <a:p>
            <a:pPr algn="l" indent="0" marL="0">
              <a:buNone/>
            </a:pPr>
            <a:r>
              <a:rPr lang="en-US" sz="800" b="1" dirty="0">
                <a:solidFill>
                  <a:srgbClr val="1B5E20"/>
                </a:solidFill>
              </a:rPr>
              <a:t>AMAGI INTEGRATION:</a:t>
            </a:r>
            <a:pPr algn="l" indent="0" marL="0">
              <a:buNone/>
            </a:pPr>
            <a:r>
              <a:rPr lang="en-US" sz="800" dirty="0">
                <a:solidFill>
                  <a:srgbClr val="1F2937"/>
                </a:solidFill>
              </a:rPr>
              <a:t> Amagi proposed a significant upgrade to DVR and VOD: instead of one shared stream manually reset between matches, each match gets its own dedicated address that automatically switches from live to replay at match end, with a buffer window so mid-match viewers aren't cut off. The team raised good questions on URL predictability, security tokens, and edge cases like joining late; Amagi is drafting a written proposal this week with a working demo targeted for mid-August. Brian Hoskins delivered the data matrix Amagi needs for ad targeting, so both teams can move quickly on ad requirements. The Tennis Channel-specific EPG is being built out, and Roku flagged a certification requirement for scrub-bar thumbnail previews that Dave and Swamy are syncing on this week.</a:t>
            </a:r>
            <a:endParaRPr lang="en-US" sz="800" dirty="0"/>
          </a:p>
          <a:p>
            <a:pPr algn="l" indent="0" marL="0">
              <a:buNone/>
            </a:pPr>
            <a:endParaRPr lang="en-US" sz="800" dirty="0"/>
          </a:p>
          <a:p>
            <a:pPr algn="l" indent="0" marL="0">
              <a:buNone/>
            </a:pPr>
            <a:r>
              <a:rPr lang="en-US" sz="800" b="1" dirty="0">
                <a:solidFill>
                  <a:srgbClr val="1B5E20"/>
                </a:solidFill>
              </a:rPr>
              <a:t>CONTENT AND METADATA:</a:t>
            </a:r>
            <a:pPr algn="l" indent="0" marL="0">
              <a:buNone/>
            </a:pPr>
            <a:r>
              <a:rPr lang="en-US" sz="800" dirty="0">
                <a:solidFill>
                  <a:srgbClr val="1F2937"/>
                </a:solidFill>
              </a:rPr>
              <a:t> SportRadar login/consent tracking is moving to a new test environment, so existing test accounts won't carry over and will need to be recreated. The team is still tracking down where SportRadar stores users' favorited players so that data can migrate cleanly. Replay processing is active on real matches, with WSC-sourced replays already running through the pipeline and visible in dev. Rain-delay trimming and ad-supported VOD strategy remain future conversations, pending a broader ad-fill discussion.</a:t>
            </a:r>
            <a:endParaRPr lang="en-US" sz="800" dirty="0"/>
          </a:p>
          <a:p>
            <a:pPr algn="l" indent="0" marL="0">
              <a:buNone/>
            </a:pPr>
            <a:endParaRPr lang="en-US" sz="800" dirty="0"/>
          </a:p>
          <a:p>
            <a:pPr algn="l" indent="0" marL="0">
              <a:buNone/>
            </a:pPr>
            <a:r>
              <a:rPr lang="en-US" sz="800" b="1" dirty="0">
                <a:solidFill>
                  <a:srgbClr val="1B5E20"/>
                </a:solidFill>
              </a:rPr>
              <a:t>KEY DECISIONS:</a:t>
            </a:r>
            <a:pPr algn="l" indent="0" marL="0">
              <a:buNone/>
            </a:pPr>
            <a:endParaRPr lang="en-US" sz="800" dirty="0"/>
          </a:p>
          <a:p>
            <a:pPr algn="l" indent="0" marL="0">
              <a:buNone/>
            </a:pPr>
            <a:r>
              <a:rPr lang="en-US" sz="800" dirty="0">
                <a:solidFill>
                  <a:srgbClr val="1F2937"/>
                </a:solidFill>
              </a:rPr>
              <a:t>1. Beta target confirmed for September 30, with testing running through roughly December.</a:t>
            </a:r>
            <a:endParaRPr lang="en-US" sz="800" dirty="0"/>
          </a:p>
          <a:p>
            <a:pPr algn="l" indent="0" marL="0">
              <a:buNone/>
            </a:pPr>
            <a:r>
              <a:rPr lang="en-US" sz="800" dirty="0">
                <a:solidFill>
                  <a:srgbClr val="1F2937"/>
                </a:solidFill>
              </a:rPr>
              <a:t>2. Tennis Channel O&amp;Os remain on Cleeng for payment/subscription at MVP; a post-launch review will separately evaluate a Recurly transition (full project, roughly one quarter).</a:t>
            </a:r>
            <a:endParaRPr lang="en-US" sz="800" dirty="0"/>
          </a:p>
          <a:p>
            <a:pPr algn="l" indent="0" marL="0">
              <a:buNone/>
            </a:pPr>
            <a:r>
              <a:rPr lang="en-US" sz="800" dirty="0">
                <a:solidFill>
                  <a:srgbClr val="1F2937"/>
                </a:solidFill>
              </a:rPr>
              <a:t>3. Out-of-scope features will enter a formal backlog and roadmap prioritization process rather than being added ad hoc.</a:t>
            </a:r>
            <a:endParaRPr lang="en-US" sz="800" dirty="0"/>
          </a:p>
          <a:p>
            <a:pPr algn="l" indent="0" marL="0">
              <a:buNone/>
            </a:pPr>
            <a:r>
              <a:rPr lang="en-US" sz="800" dirty="0">
                <a:solidFill>
                  <a:srgbClr val="1F2937"/>
                </a:solidFill>
              </a:rPr>
              <a:t>4. Device feature parity will be secondary; web and mobile go live first, with living-room platforms catching up after.</a:t>
            </a:r>
            <a:endParaRPr lang="en-US" sz="800" dirty="0"/>
          </a:p>
          <a:p>
            <a:pPr algn="l" indent="0" marL="0">
              <a:buNone/>
            </a:pPr>
            <a:r>
              <a:rPr lang="en-US" sz="800" dirty="0">
                <a:solidFill>
                  <a:srgbClr val="1F2937"/>
                </a:solidFill>
              </a:rPr>
              <a:t>5. MultiView designated P1, post-launch.</a:t>
            </a:r>
            <a:endParaRPr lang="en-US" sz="800" dirty="0"/>
          </a:p>
          <a:p>
            <a:pPr algn="l" indent="0" marL="0">
              <a:buNone/>
            </a:pPr>
            <a:r>
              <a:rPr lang="en-US" sz="800" dirty="0">
                <a:solidFill>
                  <a:srgbClr val="1F2937"/>
                </a:solidFill>
              </a:rPr>
              <a:t>6. GraceNote will not be used for EPG management; the team will use Amagi's platform capabilities instead.</a:t>
            </a:r>
            <a:endParaRPr lang="en-US" sz="800" dirty="0"/>
          </a:p>
          <a:p>
            <a:pPr algn="l" indent="0" marL="0">
              <a:buNone/>
            </a:pPr>
            <a:r>
              <a:rPr lang="en-US" sz="800" dirty="0">
                <a:solidFill>
                  <a:srgbClr val="1F2937"/>
                </a:solidFill>
              </a:rPr>
              <a:t>7. Bitmovin will be the primary launch analytics/observability platform for streaming performance.</a:t>
            </a:r>
            <a:endParaRPr lang="en-US" sz="800" dirty="0"/>
          </a:p>
          <a:p>
            <a:pPr algn="l" indent="0" marL="0">
              <a:buNone/>
            </a:pPr>
            <a:r>
              <a:rPr lang="en-US" sz="800" dirty="0">
                <a:solidFill>
                  <a:srgbClr val="1F2937"/>
                </a:solidFill>
              </a:rPr>
              <a:t>8. Coupon/offer configuration stays in Cleeng as-is; promotions use a manual price override on the plan page rather than new tooling before launch.</a:t>
            </a:r>
            <a:endParaRPr lang="en-US" sz="800" dirty="0"/>
          </a:p>
          <a:p>
            <a:pPr algn="l" indent="0" marL="0">
              <a:buNone/>
            </a:pPr>
            <a:r>
              <a:rPr lang="en-US" sz="800" dirty="0">
                <a:solidFill>
                  <a:srgbClr val="1F2937"/>
                </a:solidFill>
              </a:rPr>
              <a:t>9. Tennis Channel keeps its existing token/URL security approach for launch.</a:t>
            </a:r>
            <a:endParaRPr lang="en-US" sz="800" dirty="0"/>
          </a:p>
        </p:txBody>
      </p:sp>
      <p:sp>
        <p:nvSpPr>
          <p:cNvPr id="10" name="Shape 8"/>
          <p:cNvSpPr/>
          <p:nvPr/>
        </p:nvSpPr>
        <p:spPr>
          <a:xfrm>
            <a:off x="0" y="6876288"/>
            <a:ext cx="12344400" cy="438912"/>
          </a:xfrm>
          <a:prstGeom prst="rect">
            <a:avLst/>
          </a:prstGeom>
          <a:solidFill>
            <a:srgbClr val="F4F6F8"/>
          </a:solidFill>
          <a:ln w="12700">
            <a:solidFill>
              <a:srgbClr val="D1D5DB"/>
            </a:solidFill>
            <a:prstDash val="solid"/>
          </a:ln>
        </p:spPr>
      </p:sp>
      <p:sp>
        <p:nvSpPr>
          <p:cNvPr id="11" name="Text 9"/>
          <p:cNvSpPr/>
          <p:nvPr/>
        </p:nvSpPr>
        <p:spPr>
          <a:xfrm>
            <a:off x="201168" y="6876288"/>
            <a:ext cx="5029200" cy="438912"/>
          </a:xfrm>
          <a:prstGeom prst="rect">
            <a:avLst/>
          </a:prstGeom>
          <a:noFill/>
          <a:ln/>
        </p:spPr>
        <p:txBody>
          <a:bodyPr wrap="square" lIns="0" tIns="0" rIns="0" bIns="0" rtlCol="0" anchor="ctr"/>
          <a:lstStyle/>
          <a:p>
            <a:pPr algn="l" indent="0" marL="0">
              <a:buNone/>
            </a:pPr>
            <a:r>
              <a:rPr lang="en-US" sz="800" dirty="0">
                <a:solidFill>
                  <a:srgbClr val="9CA3AF"/>
                </a:solidFill>
              </a:rPr>
              <a:t>Project SABR  ·  Tennis Channel OTT  ·  CONFIDENTIAL</a:t>
            </a:r>
            <a:endParaRPr lang="en-US" sz="800" dirty="0"/>
          </a:p>
        </p:txBody>
      </p:sp>
      <p:sp>
        <p:nvSpPr>
          <p:cNvPr id="12" name="Text 10"/>
          <p:cNvSpPr/>
          <p:nvPr/>
        </p:nvSpPr>
        <p:spPr>
          <a:xfrm>
            <a:off x="10515600" y="6876288"/>
            <a:ext cx="1508760" cy="438912"/>
          </a:xfrm>
          <a:prstGeom prst="rect">
            <a:avLst/>
          </a:prstGeom>
          <a:noFill/>
          <a:ln/>
        </p:spPr>
        <p:txBody>
          <a:bodyPr wrap="square" lIns="0" tIns="0" rIns="0" bIns="0" rtlCol="0" anchor="ctr"/>
          <a:lstStyle/>
          <a:p>
            <a:pPr algn="r" indent="0" marL="0">
              <a:buNone/>
            </a:pPr>
            <a:r>
              <a:rPr lang="en-US" sz="1100" b="1" dirty="0">
                <a:solidFill>
                  <a:srgbClr val="388849"/>
                </a:solidFill>
              </a:rPr>
              <a:t>9% Ready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344400" cy="457200"/>
          </a:xfrm>
          <a:prstGeom prst="rect">
            <a:avLst/>
          </a:prstGeom>
          <a:solidFill>
            <a:srgbClr val="8ED973"/>
          </a:solidFill>
          <a:ln w="12700">
            <a:solidFill>
              <a:srgbClr val="8ED973"/>
            </a:solidFill>
            <a:prstDash val="solid"/>
          </a:ln>
        </p:spPr>
      </p:sp>
      <p:sp>
        <p:nvSpPr>
          <p:cNvPr id="3" name="Text 1"/>
          <p:cNvSpPr/>
          <p:nvPr/>
        </p:nvSpPr>
        <p:spPr>
          <a:xfrm>
            <a:off x="201168" y="0"/>
            <a:ext cx="6858000" cy="457200"/>
          </a:xfrm>
          <a:prstGeom prst="rect">
            <a:avLst/>
          </a:prstGeom>
          <a:noFill/>
          <a:ln/>
        </p:spPr>
        <p:txBody>
          <a:bodyPr wrap="square" lIns="0" tIns="0" rIns="0" bIns="0" rtlCol="0" anchor="ctr"/>
          <a:lstStyle/>
          <a:p>
            <a:pPr algn="l" indent="0" marL="0">
              <a:buNone/>
            </a:pPr>
            <a:r>
              <a:rPr lang="en-US" sz="1600" b="1" dirty="0">
                <a:solidFill>
                  <a:srgbClr val="000000"/>
                </a:solidFill>
              </a:rPr>
              <a:t>Project SABR</a:t>
            </a:r>
            <a:endParaRPr lang="en-US" sz="1600" dirty="0"/>
          </a:p>
        </p:txBody>
      </p:sp>
      <p:sp>
        <p:nvSpPr>
          <p:cNvPr id="4" name="Text 2"/>
          <p:cNvSpPr/>
          <p:nvPr/>
        </p:nvSpPr>
        <p:spPr>
          <a:xfrm>
            <a:off x="7315200" y="0"/>
            <a:ext cx="4754880" cy="457200"/>
          </a:xfrm>
          <a:prstGeom prst="rect">
            <a:avLst/>
          </a:prstGeom>
          <a:noFill/>
          <a:ln/>
        </p:spPr>
        <p:txBody>
          <a:bodyPr wrap="square" lIns="0" tIns="0" rIns="0" bIns="0" rtlCol="0" anchor="ctr"/>
          <a:lstStyle/>
          <a:p>
            <a:pPr algn="r" indent="0" marL="0">
              <a:buNone/>
            </a:pPr>
            <a:r>
              <a:rPr lang="en-US" sz="1100" dirty="0">
                <a:solidFill>
                  <a:srgbClr val="388849"/>
                </a:solidFill>
              </a:rPr>
              <a:t>Critical Gates  ·  Aug 6, 2026</a:t>
            </a:r>
            <a:endParaRPr lang="en-US" sz="1100" dirty="0"/>
          </a:p>
        </p:txBody>
      </p:sp>
      <p:sp>
        <p:nvSpPr>
          <p:cNvPr id="5" name="Shape 3"/>
          <p:cNvSpPr/>
          <p:nvPr/>
        </p:nvSpPr>
        <p:spPr>
          <a:xfrm>
            <a:off x="91440" y="502920"/>
            <a:ext cx="6016752" cy="2926080"/>
          </a:xfrm>
          <a:prstGeom prst="rect">
            <a:avLst/>
          </a:prstGeom>
          <a:solidFill>
            <a:srgbClr val="FAFBFC"/>
          </a:solidFill>
          <a:ln w="9525">
            <a:solidFill>
              <a:srgbClr val="D1D5DB"/>
            </a:solidFill>
            <a:prstDash val="solid"/>
          </a:ln>
        </p:spPr>
      </p:sp>
      <p:sp>
        <p:nvSpPr>
          <p:cNvPr id="6" name="Shape 4"/>
          <p:cNvSpPr/>
          <p:nvPr/>
        </p:nvSpPr>
        <p:spPr>
          <a:xfrm>
            <a:off x="91440" y="502920"/>
            <a:ext cx="6016752" cy="274320"/>
          </a:xfrm>
          <a:prstGeom prst="rect">
            <a:avLst/>
          </a:prstGeom>
          <a:solidFill>
            <a:srgbClr val="8ED973"/>
          </a:solidFill>
          <a:ln w="12700">
            <a:solidFill>
              <a:srgbClr val="8ED973"/>
            </a:solidFill>
            <a:prstDash val="solid"/>
          </a:ln>
        </p:spPr>
      </p:sp>
      <p:sp>
        <p:nvSpPr>
          <p:cNvPr id="7" name="Text 5"/>
          <p:cNvSpPr/>
          <p:nvPr/>
        </p:nvSpPr>
        <p:spPr>
          <a:xfrm>
            <a:off x="201168" y="502920"/>
            <a:ext cx="5852160" cy="274320"/>
          </a:xfrm>
          <a:prstGeom prst="rect">
            <a:avLst/>
          </a:prstGeom>
          <a:noFill/>
          <a:ln/>
        </p:spPr>
        <p:txBody>
          <a:bodyPr wrap="square" lIns="0" tIns="0" rIns="0" bIns="0" rtlCol="0" anchor="ctr"/>
          <a:lstStyle/>
          <a:p>
            <a:pPr algn="l" indent="0" marL="0">
              <a:buNone/>
            </a:pPr>
            <a:r>
              <a:rPr lang="en-US" sz="900" b="1" dirty="0">
                <a:solidFill>
                  <a:srgbClr val="000000"/>
                </a:solidFill>
              </a:rPr>
              <a:t>Vendor / Contract</a:t>
            </a:r>
            <a:endParaRPr lang="en-US" sz="900" dirty="0"/>
          </a:p>
        </p:txBody>
      </p:sp>
      <p:sp>
        <p:nvSpPr>
          <p:cNvPr id="8" name="Shape 6"/>
          <p:cNvSpPr/>
          <p:nvPr/>
        </p:nvSpPr>
        <p:spPr>
          <a:xfrm>
            <a:off x="91440" y="777240"/>
            <a:ext cx="6016752" cy="441960"/>
          </a:xfrm>
          <a:prstGeom prst="rect">
            <a:avLst/>
          </a:prstGeom>
          <a:solidFill>
            <a:srgbClr val="FFFFFF"/>
          </a:solidFill>
          <a:ln w="3175">
            <a:solidFill>
              <a:srgbClr val="E5E7EB"/>
            </a:solidFill>
            <a:prstDash val="solid"/>
          </a:ln>
        </p:spPr>
      </p:sp>
      <p:sp>
        <p:nvSpPr>
          <p:cNvPr id="9" name="Text 7"/>
          <p:cNvSpPr/>
          <p:nvPr/>
        </p:nvSpPr>
        <p:spPr>
          <a:xfrm>
            <a:off x="164592" y="795528"/>
            <a:ext cx="777240" cy="405384"/>
          </a:xfrm>
          <a:prstGeom prst="rect">
            <a:avLst/>
          </a:prstGeom>
          <a:noFill/>
          <a:ln/>
        </p:spPr>
        <p:txBody>
          <a:bodyPr wrap="square" lIns="0" tIns="0" rIns="0" bIns="0" rtlCol="0" anchor="ctr"/>
          <a:lstStyle/>
          <a:p>
            <a:pPr indent="0" marL="0">
              <a:buNone/>
            </a:pPr>
            <a:r>
              <a:rPr lang="en-US" sz="750" b="1" dirty="0">
                <a:solidFill>
                  <a:srgbClr val="1F2937"/>
                </a:solidFill>
              </a:rPr>
              <a:t>Bitmovin</a:t>
            </a:r>
            <a:endParaRPr lang="en-US" sz="750" dirty="0"/>
          </a:p>
        </p:txBody>
      </p:sp>
      <p:sp>
        <p:nvSpPr>
          <p:cNvPr id="10" name="Text 8"/>
          <p:cNvSpPr/>
          <p:nvPr/>
        </p:nvSpPr>
        <p:spPr>
          <a:xfrm>
            <a:off x="960120" y="804672"/>
            <a:ext cx="4178808" cy="387096"/>
          </a:xfrm>
          <a:prstGeom prst="rect">
            <a:avLst/>
          </a:prstGeom>
          <a:noFill/>
          <a:ln/>
        </p:spPr>
        <p:txBody>
          <a:bodyPr wrap="square" lIns="0" tIns="0" rIns="0" bIns="0" rtlCol="0" anchor="t"/>
          <a:lstStyle/>
          <a:p>
            <a:pPr indent="0" marL="0">
              <a:buNone/>
            </a:pPr>
            <a:r>
              <a:rPr lang="en-US" sz="650" dirty="0">
                <a:solidFill>
                  <a:srgbClr val="374151"/>
                </a:solidFill>
              </a:rPr>
              <a:t>Contract signed 7/15.</a:t>
            </a:r>
            <a:endParaRPr lang="en-US" sz="650" dirty="0"/>
          </a:p>
        </p:txBody>
      </p:sp>
      <p:sp>
        <p:nvSpPr>
          <p:cNvPr id="11" name="Shape 9"/>
          <p:cNvSpPr/>
          <p:nvPr/>
        </p:nvSpPr>
        <p:spPr>
          <a:xfrm>
            <a:off x="5230368" y="911352"/>
            <a:ext cx="822960" cy="173736"/>
          </a:xfrm>
          <a:prstGeom prst="roundRect">
            <a:avLst>
              <a:gd name="adj" fmla="val 15789"/>
            </a:avLst>
          </a:prstGeom>
          <a:solidFill>
            <a:srgbClr val="CFFAFE"/>
          </a:solidFill>
          <a:ln w="12700">
            <a:solidFill>
              <a:srgbClr val="0E7490"/>
            </a:solidFill>
            <a:prstDash val="solid"/>
          </a:ln>
        </p:spPr>
      </p:sp>
      <p:sp>
        <p:nvSpPr>
          <p:cNvPr id="12" name="Text 10"/>
          <p:cNvSpPr/>
          <p:nvPr/>
        </p:nvSpPr>
        <p:spPr>
          <a:xfrm>
            <a:off x="5230368" y="911352"/>
            <a:ext cx="822960" cy="173736"/>
          </a:xfrm>
          <a:prstGeom prst="rect">
            <a:avLst/>
          </a:prstGeom>
          <a:noFill/>
          <a:ln/>
        </p:spPr>
        <p:txBody>
          <a:bodyPr wrap="square" lIns="0" tIns="0" rIns="0" bIns="0" rtlCol="0" anchor="ctr"/>
          <a:lstStyle/>
          <a:p>
            <a:pPr algn="ctr" indent="0" marL="0">
              <a:buNone/>
            </a:pPr>
            <a:r>
              <a:rPr lang="en-US" sz="650" b="1" dirty="0">
                <a:solidFill>
                  <a:srgbClr val="0E7490"/>
                </a:solidFill>
              </a:rPr>
              <a:t>Contracted</a:t>
            </a:r>
            <a:endParaRPr lang="en-US" sz="650" dirty="0"/>
          </a:p>
        </p:txBody>
      </p:sp>
      <p:sp>
        <p:nvSpPr>
          <p:cNvPr id="13" name="Shape 11"/>
          <p:cNvSpPr/>
          <p:nvPr/>
        </p:nvSpPr>
        <p:spPr>
          <a:xfrm>
            <a:off x="91440" y="1219200"/>
            <a:ext cx="6016752" cy="0"/>
          </a:xfrm>
          <a:prstGeom prst="line">
            <a:avLst/>
          </a:prstGeom>
          <a:noFill/>
          <a:ln w="6350">
            <a:solidFill>
              <a:srgbClr val="E5E7EB"/>
            </a:solidFill>
            <a:prstDash val="solid"/>
          </a:ln>
        </p:spPr>
      </p:sp>
      <p:sp>
        <p:nvSpPr>
          <p:cNvPr id="14" name="Text 12"/>
          <p:cNvSpPr/>
          <p:nvPr/>
        </p:nvSpPr>
        <p:spPr>
          <a:xfrm>
            <a:off x="164592" y="1237488"/>
            <a:ext cx="777240" cy="405384"/>
          </a:xfrm>
          <a:prstGeom prst="rect">
            <a:avLst/>
          </a:prstGeom>
          <a:noFill/>
          <a:ln/>
        </p:spPr>
        <p:txBody>
          <a:bodyPr wrap="square" lIns="0" tIns="0" rIns="0" bIns="0" rtlCol="0" anchor="ctr"/>
          <a:lstStyle/>
          <a:p>
            <a:pPr indent="0" marL="0">
              <a:buNone/>
            </a:pPr>
            <a:r>
              <a:rPr lang="en-US" sz="750" b="1" dirty="0">
                <a:solidFill>
                  <a:srgbClr val="1F2937"/>
                </a:solidFill>
              </a:rPr>
              <a:t>Adobe</a:t>
            </a:r>
            <a:endParaRPr lang="en-US" sz="750" dirty="0"/>
          </a:p>
        </p:txBody>
      </p:sp>
      <p:sp>
        <p:nvSpPr>
          <p:cNvPr id="15" name="Text 13"/>
          <p:cNvSpPr/>
          <p:nvPr/>
        </p:nvSpPr>
        <p:spPr>
          <a:xfrm>
            <a:off x="960120" y="1246632"/>
            <a:ext cx="4178808" cy="387096"/>
          </a:xfrm>
          <a:prstGeom prst="rect">
            <a:avLst/>
          </a:prstGeom>
          <a:noFill/>
          <a:ln/>
        </p:spPr>
        <p:txBody>
          <a:bodyPr wrap="square" lIns="0" tIns="0" rIns="0" bIns="0" rtlCol="0" anchor="t"/>
          <a:lstStyle/>
          <a:p>
            <a:pPr indent="0" marL="0">
              <a:buNone/>
            </a:pPr>
            <a:r>
              <a:rPr lang="en-US" sz="650" dirty="0">
                <a:solidFill>
                  <a:srgbClr val="374151"/>
                </a:solidFill>
              </a:rPr>
              <a:t>We are good.</a:t>
            </a:r>
            <a:endParaRPr lang="en-US" sz="650" dirty="0"/>
          </a:p>
        </p:txBody>
      </p:sp>
      <p:sp>
        <p:nvSpPr>
          <p:cNvPr id="16" name="Shape 14"/>
          <p:cNvSpPr/>
          <p:nvPr/>
        </p:nvSpPr>
        <p:spPr>
          <a:xfrm>
            <a:off x="5230368" y="1353312"/>
            <a:ext cx="822960" cy="173736"/>
          </a:xfrm>
          <a:prstGeom prst="roundRect">
            <a:avLst>
              <a:gd name="adj" fmla="val 15789"/>
            </a:avLst>
          </a:prstGeom>
          <a:solidFill>
            <a:srgbClr val="CFFAFE"/>
          </a:solidFill>
          <a:ln w="12700">
            <a:solidFill>
              <a:srgbClr val="0E7490"/>
            </a:solidFill>
            <a:prstDash val="solid"/>
          </a:ln>
        </p:spPr>
      </p:sp>
      <p:sp>
        <p:nvSpPr>
          <p:cNvPr id="17" name="Text 15"/>
          <p:cNvSpPr/>
          <p:nvPr/>
        </p:nvSpPr>
        <p:spPr>
          <a:xfrm>
            <a:off x="5230368" y="1353312"/>
            <a:ext cx="822960" cy="173736"/>
          </a:xfrm>
          <a:prstGeom prst="rect">
            <a:avLst/>
          </a:prstGeom>
          <a:noFill/>
          <a:ln/>
        </p:spPr>
        <p:txBody>
          <a:bodyPr wrap="square" lIns="0" tIns="0" rIns="0" bIns="0" rtlCol="0" anchor="ctr"/>
          <a:lstStyle/>
          <a:p>
            <a:pPr algn="ctr" indent="0" marL="0">
              <a:buNone/>
            </a:pPr>
            <a:r>
              <a:rPr lang="en-US" sz="650" b="1" dirty="0">
                <a:solidFill>
                  <a:srgbClr val="0E7490"/>
                </a:solidFill>
              </a:rPr>
              <a:t>Contracted</a:t>
            </a:r>
            <a:endParaRPr lang="en-US" sz="650" dirty="0"/>
          </a:p>
        </p:txBody>
      </p:sp>
      <p:sp>
        <p:nvSpPr>
          <p:cNvPr id="18" name="Shape 16"/>
          <p:cNvSpPr/>
          <p:nvPr/>
        </p:nvSpPr>
        <p:spPr>
          <a:xfrm>
            <a:off x="91440" y="1661160"/>
            <a:ext cx="6016752" cy="441960"/>
          </a:xfrm>
          <a:prstGeom prst="rect">
            <a:avLst/>
          </a:prstGeom>
          <a:solidFill>
            <a:srgbClr val="FFFFFF"/>
          </a:solidFill>
          <a:ln w="3175">
            <a:solidFill>
              <a:srgbClr val="E5E7EB"/>
            </a:solidFill>
            <a:prstDash val="solid"/>
          </a:ln>
        </p:spPr>
      </p:sp>
      <p:sp>
        <p:nvSpPr>
          <p:cNvPr id="19" name="Shape 17"/>
          <p:cNvSpPr/>
          <p:nvPr/>
        </p:nvSpPr>
        <p:spPr>
          <a:xfrm>
            <a:off x="91440" y="1661160"/>
            <a:ext cx="6016752" cy="0"/>
          </a:xfrm>
          <a:prstGeom prst="line">
            <a:avLst/>
          </a:prstGeom>
          <a:noFill/>
          <a:ln w="6350">
            <a:solidFill>
              <a:srgbClr val="E5E7EB"/>
            </a:solidFill>
            <a:prstDash val="solid"/>
          </a:ln>
        </p:spPr>
      </p:sp>
      <p:sp>
        <p:nvSpPr>
          <p:cNvPr id="20" name="Text 18"/>
          <p:cNvSpPr/>
          <p:nvPr/>
        </p:nvSpPr>
        <p:spPr>
          <a:xfrm>
            <a:off x="164592" y="1679448"/>
            <a:ext cx="777240" cy="405384"/>
          </a:xfrm>
          <a:prstGeom prst="rect">
            <a:avLst/>
          </a:prstGeom>
          <a:noFill/>
          <a:ln/>
        </p:spPr>
        <p:txBody>
          <a:bodyPr wrap="square" lIns="0" tIns="0" rIns="0" bIns="0" rtlCol="0" anchor="ctr"/>
          <a:lstStyle/>
          <a:p>
            <a:pPr indent="0" marL="0">
              <a:buNone/>
            </a:pPr>
            <a:r>
              <a:rPr lang="en-US" sz="750" b="1" dirty="0">
                <a:solidFill>
                  <a:srgbClr val="1F2937"/>
                </a:solidFill>
              </a:rPr>
              <a:t>Amagi SOW</a:t>
            </a:r>
            <a:endParaRPr lang="en-US" sz="750" dirty="0"/>
          </a:p>
        </p:txBody>
      </p:sp>
      <p:sp>
        <p:nvSpPr>
          <p:cNvPr id="21" name="Text 19"/>
          <p:cNvSpPr/>
          <p:nvPr/>
        </p:nvSpPr>
        <p:spPr>
          <a:xfrm>
            <a:off x="960120" y="1688592"/>
            <a:ext cx="4178808" cy="387096"/>
          </a:xfrm>
          <a:prstGeom prst="rect">
            <a:avLst/>
          </a:prstGeom>
          <a:noFill/>
          <a:ln/>
        </p:spPr>
        <p:txBody>
          <a:bodyPr wrap="square" lIns="0" tIns="0" rIns="0" bIns="0" rtlCol="0" anchor="t"/>
          <a:lstStyle/>
          <a:p>
            <a:pPr indent="0" marL="0">
              <a:buNone/>
            </a:pPr>
            <a:r>
              <a:rPr lang="en-US" sz="650" dirty="0">
                <a:solidFill>
                  <a:srgbClr val="374151"/>
                </a:solidFill>
              </a:rPr>
              <a:t>M15 and Highlights will deliver via Amagi. Back-catalog VOD through Aspera; newer content (S3) handled separately. Amagi generating public key for Roku credential exchange.</a:t>
            </a:r>
            <a:endParaRPr lang="en-US" sz="650" dirty="0"/>
          </a:p>
        </p:txBody>
      </p:sp>
      <p:sp>
        <p:nvSpPr>
          <p:cNvPr id="22" name="Shape 20"/>
          <p:cNvSpPr/>
          <p:nvPr/>
        </p:nvSpPr>
        <p:spPr>
          <a:xfrm>
            <a:off x="5230368" y="1795272"/>
            <a:ext cx="822960" cy="173736"/>
          </a:xfrm>
          <a:prstGeom prst="roundRect">
            <a:avLst>
              <a:gd name="adj" fmla="val 15789"/>
            </a:avLst>
          </a:prstGeom>
          <a:solidFill>
            <a:srgbClr val="CFFAFE"/>
          </a:solidFill>
          <a:ln w="12700">
            <a:solidFill>
              <a:srgbClr val="0E7490"/>
            </a:solidFill>
            <a:prstDash val="solid"/>
          </a:ln>
        </p:spPr>
      </p:sp>
      <p:sp>
        <p:nvSpPr>
          <p:cNvPr id="23" name="Text 21"/>
          <p:cNvSpPr/>
          <p:nvPr/>
        </p:nvSpPr>
        <p:spPr>
          <a:xfrm>
            <a:off x="5230368" y="1795272"/>
            <a:ext cx="822960" cy="173736"/>
          </a:xfrm>
          <a:prstGeom prst="rect">
            <a:avLst/>
          </a:prstGeom>
          <a:noFill/>
          <a:ln/>
        </p:spPr>
        <p:txBody>
          <a:bodyPr wrap="square" lIns="0" tIns="0" rIns="0" bIns="0" rtlCol="0" anchor="ctr"/>
          <a:lstStyle/>
          <a:p>
            <a:pPr algn="ctr" indent="0" marL="0">
              <a:buNone/>
            </a:pPr>
            <a:r>
              <a:rPr lang="en-US" sz="650" b="1" dirty="0">
                <a:solidFill>
                  <a:srgbClr val="0E7490"/>
                </a:solidFill>
              </a:rPr>
              <a:t>Contracted</a:t>
            </a:r>
            <a:endParaRPr lang="en-US" sz="650" dirty="0"/>
          </a:p>
        </p:txBody>
      </p:sp>
      <p:sp>
        <p:nvSpPr>
          <p:cNvPr id="24" name="Shape 22"/>
          <p:cNvSpPr/>
          <p:nvPr/>
        </p:nvSpPr>
        <p:spPr>
          <a:xfrm>
            <a:off x="91440" y="2103120"/>
            <a:ext cx="6016752" cy="0"/>
          </a:xfrm>
          <a:prstGeom prst="line">
            <a:avLst/>
          </a:prstGeom>
          <a:noFill/>
          <a:ln w="6350">
            <a:solidFill>
              <a:srgbClr val="E5E7EB"/>
            </a:solidFill>
            <a:prstDash val="solid"/>
          </a:ln>
        </p:spPr>
      </p:sp>
      <p:sp>
        <p:nvSpPr>
          <p:cNvPr id="25" name="Text 23"/>
          <p:cNvSpPr/>
          <p:nvPr/>
        </p:nvSpPr>
        <p:spPr>
          <a:xfrm>
            <a:off x="164592" y="2121408"/>
            <a:ext cx="777240" cy="405384"/>
          </a:xfrm>
          <a:prstGeom prst="rect">
            <a:avLst/>
          </a:prstGeom>
          <a:noFill/>
          <a:ln/>
        </p:spPr>
        <p:txBody>
          <a:bodyPr wrap="square" lIns="0" tIns="0" rIns="0" bIns="0" rtlCol="0" anchor="ctr"/>
          <a:lstStyle/>
          <a:p>
            <a:pPr indent="0" marL="0">
              <a:buNone/>
            </a:pPr>
            <a:r>
              <a:rPr lang="en-US" sz="750" b="1" dirty="0">
                <a:solidFill>
                  <a:srgbClr val="1F2937"/>
                </a:solidFill>
              </a:rPr>
              <a:t>FOXXUM</a:t>
            </a:r>
            <a:endParaRPr lang="en-US" sz="750" dirty="0"/>
          </a:p>
        </p:txBody>
      </p:sp>
      <p:sp>
        <p:nvSpPr>
          <p:cNvPr id="26" name="Text 24"/>
          <p:cNvSpPr/>
          <p:nvPr/>
        </p:nvSpPr>
        <p:spPr>
          <a:xfrm>
            <a:off x="960120" y="2130552"/>
            <a:ext cx="4178808" cy="387096"/>
          </a:xfrm>
          <a:prstGeom prst="rect">
            <a:avLst/>
          </a:prstGeom>
          <a:noFill/>
          <a:ln/>
        </p:spPr>
        <p:txBody>
          <a:bodyPr wrap="square" lIns="0" tIns="0" rIns="0" bIns="0" rtlCol="0" anchor="t"/>
          <a:lstStyle/>
          <a:p>
            <a:pPr indent="0" marL="0">
              <a:buNone/>
            </a:pPr>
            <a:r>
              <a:rPr lang="en-US" sz="650" dirty="0">
                <a:solidFill>
                  <a:srgbClr val="374151"/>
                </a:solidFill>
              </a:rPr>
              <a:t>Integration ongoing. TV cert submission tied to November 1 deadline. UX change catalog being drafted for Foxxum coordination. Contract signature unconfirmed as of 7/15.</a:t>
            </a:r>
            <a:endParaRPr lang="en-US" sz="650" dirty="0"/>
          </a:p>
        </p:txBody>
      </p:sp>
      <p:sp>
        <p:nvSpPr>
          <p:cNvPr id="27" name="Shape 25"/>
          <p:cNvSpPr/>
          <p:nvPr/>
        </p:nvSpPr>
        <p:spPr>
          <a:xfrm>
            <a:off x="5230368" y="2237232"/>
            <a:ext cx="822960" cy="173736"/>
          </a:xfrm>
          <a:prstGeom prst="roundRect">
            <a:avLst>
              <a:gd name="adj" fmla="val 15789"/>
            </a:avLst>
          </a:prstGeom>
          <a:solidFill>
            <a:srgbClr val="1558A8"/>
          </a:solidFill>
          <a:ln w="12700">
            <a:solidFill>
              <a:srgbClr val="1558A8"/>
            </a:solidFill>
            <a:prstDash val="solid"/>
          </a:ln>
        </p:spPr>
      </p:sp>
      <p:sp>
        <p:nvSpPr>
          <p:cNvPr id="28" name="Text 26"/>
          <p:cNvSpPr/>
          <p:nvPr/>
        </p:nvSpPr>
        <p:spPr>
          <a:xfrm>
            <a:off x="5230368" y="2237232"/>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29" name="Shape 27"/>
          <p:cNvSpPr/>
          <p:nvPr/>
        </p:nvSpPr>
        <p:spPr>
          <a:xfrm>
            <a:off x="91440" y="2545080"/>
            <a:ext cx="6016752" cy="441960"/>
          </a:xfrm>
          <a:prstGeom prst="rect">
            <a:avLst/>
          </a:prstGeom>
          <a:solidFill>
            <a:srgbClr val="FFFFFF"/>
          </a:solidFill>
          <a:ln w="3175">
            <a:solidFill>
              <a:srgbClr val="E5E7EB"/>
            </a:solidFill>
            <a:prstDash val="solid"/>
          </a:ln>
        </p:spPr>
      </p:sp>
      <p:sp>
        <p:nvSpPr>
          <p:cNvPr id="30" name="Shape 28"/>
          <p:cNvSpPr/>
          <p:nvPr/>
        </p:nvSpPr>
        <p:spPr>
          <a:xfrm>
            <a:off x="91440" y="2545080"/>
            <a:ext cx="6016752" cy="0"/>
          </a:xfrm>
          <a:prstGeom prst="line">
            <a:avLst/>
          </a:prstGeom>
          <a:noFill/>
          <a:ln w="6350">
            <a:solidFill>
              <a:srgbClr val="E5E7EB"/>
            </a:solidFill>
            <a:prstDash val="solid"/>
          </a:ln>
        </p:spPr>
      </p:sp>
      <p:sp>
        <p:nvSpPr>
          <p:cNvPr id="31" name="Text 29"/>
          <p:cNvSpPr/>
          <p:nvPr/>
        </p:nvSpPr>
        <p:spPr>
          <a:xfrm>
            <a:off x="164592" y="2563368"/>
            <a:ext cx="777240" cy="405384"/>
          </a:xfrm>
          <a:prstGeom prst="rect">
            <a:avLst/>
          </a:prstGeom>
          <a:noFill/>
          <a:ln/>
        </p:spPr>
        <p:txBody>
          <a:bodyPr wrap="square" lIns="0" tIns="0" rIns="0" bIns="0" rtlCol="0" anchor="ctr"/>
          <a:lstStyle/>
          <a:p>
            <a:pPr indent="0" marL="0">
              <a:buNone/>
            </a:pPr>
            <a:r>
              <a:rPr lang="en-US" sz="750" b="1" dirty="0">
                <a:solidFill>
                  <a:srgbClr val="1F2937"/>
                </a:solidFill>
              </a:rPr>
              <a:t>Amplitude</a:t>
            </a:r>
            <a:endParaRPr lang="en-US" sz="750" dirty="0"/>
          </a:p>
        </p:txBody>
      </p:sp>
      <p:sp>
        <p:nvSpPr>
          <p:cNvPr id="32" name="Text 30"/>
          <p:cNvSpPr/>
          <p:nvPr/>
        </p:nvSpPr>
        <p:spPr>
          <a:xfrm>
            <a:off x="960120" y="2572512"/>
            <a:ext cx="4178808" cy="387096"/>
          </a:xfrm>
          <a:prstGeom prst="rect">
            <a:avLst/>
          </a:prstGeom>
          <a:noFill/>
          <a:ln/>
        </p:spPr>
        <p:txBody>
          <a:bodyPr wrap="square" lIns="0" tIns="0" rIns="0" bIns="0" rtlCol="0" anchor="t"/>
          <a:lstStyle/>
          <a:p>
            <a:pPr indent="0" marL="0">
              <a:buNone/>
            </a:pPr>
            <a:r>
              <a:rPr lang="en-US" sz="650" dirty="0">
                <a:solidFill>
                  <a:srgbClr val="374151"/>
                </a:solidFill>
              </a:rPr>
              <a:t>Decided, moving forward. Pricing confirmed at roughly half their initial offer (cheaper than what Wealthfront charged for similar volume), setup fee waived, and the team confirmed they want it, including integrating with Foxxum. Ari is proceeding to get the contract signed.</a:t>
            </a:r>
            <a:endParaRPr lang="en-US" sz="650" dirty="0"/>
          </a:p>
        </p:txBody>
      </p:sp>
      <p:sp>
        <p:nvSpPr>
          <p:cNvPr id="33" name="Shape 31"/>
          <p:cNvSpPr/>
          <p:nvPr/>
        </p:nvSpPr>
        <p:spPr>
          <a:xfrm>
            <a:off x="5230368" y="2679192"/>
            <a:ext cx="822960" cy="173736"/>
          </a:xfrm>
          <a:prstGeom prst="roundRect">
            <a:avLst>
              <a:gd name="adj" fmla="val 15789"/>
            </a:avLst>
          </a:prstGeom>
          <a:solidFill>
            <a:srgbClr val="1558A8"/>
          </a:solidFill>
          <a:ln w="12700">
            <a:solidFill>
              <a:srgbClr val="1558A8"/>
            </a:solidFill>
            <a:prstDash val="solid"/>
          </a:ln>
        </p:spPr>
      </p:sp>
      <p:sp>
        <p:nvSpPr>
          <p:cNvPr id="34" name="Text 32"/>
          <p:cNvSpPr/>
          <p:nvPr/>
        </p:nvSpPr>
        <p:spPr>
          <a:xfrm>
            <a:off x="5230368" y="2679192"/>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35" name="Shape 33"/>
          <p:cNvSpPr/>
          <p:nvPr/>
        </p:nvSpPr>
        <p:spPr>
          <a:xfrm>
            <a:off x="91440" y="2987040"/>
            <a:ext cx="6016752" cy="0"/>
          </a:xfrm>
          <a:prstGeom prst="line">
            <a:avLst/>
          </a:prstGeom>
          <a:noFill/>
          <a:ln w="6350">
            <a:solidFill>
              <a:srgbClr val="E5E7EB"/>
            </a:solidFill>
            <a:prstDash val="solid"/>
          </a:ln>
        </p:spPr>
      </p:sp>
      <p:sp>
        <p:nvSpPr>
          <p:cNvPr id="36" name="Text 34"/>
          <p:cNvSpPr/>
          <p:nvPr/>
        </p:nvSpPr>
        <p:spPr>
          <a:xfrm>
            <a:off x="164592" y="3005328"/>
            <a:ext cx="777240" cy="405384"/>
          </a:xfrm>
          <a:prstGeom prst="rect">
            <a:avLst/>
          </a:prstGeom>
          <a:noFill/>
          <a:ln/>
        </p:spPr>
        <p:txBody>
          <a:bodyPr wrap="square" lIns="0" tIns="0" rIns="0" bIns="0" rtlCol="0" anchor="ctr"/>
          <a:lstStyle/>
          <a:p>
            <a:pPr indent="0" marL="0">
              <a:buNone/>
            </a:pPr>
            <a:r>
              <a:rPr lang="en-US" sz="750" b="1" dirty="0">
                <a:solidFill>
                  <a:srgbClr val="1F2937"/>
                </a:solidFill>
              </a:rPr>
              <a:t>SR Data</a:t>
            </a:r>
            <a:endParaRPr lang="en-US" sz="750" dirty="0"/>
          </a:p>
        </p:txBody>
      </p:sp>
      <p:sp>
        <p:nvSpPr>
          <p:cNvPr id="37" name="Text 35"/>
          <p:cNvSpPr/>
          <p:nvPr/>
        </p:nvSpPr>
        <p:spPr>
          <a:xfrm>
            <a:off x="960120" y="3014472"/>
            <a:ext cx="4178808" cy="387096"/>
          </a:xfrm>
          <a:prstGeom prst="rect">
            <a:avLst/>
          </a:prstGeom>
          <a:noFill/>
          <a:ln/>
        </p:spPr>
        <p:txBody>
          <a:bodyPr wrap="square" lIns="0" tIns="0" rIns="0" bIns="0" rtlCol="0" anchor="t"/>
          <a:lstStyle/>
          <a:p>
            <a:pPr indent="0" marL="0">
              <a:buNone/>
            </a:pPr>
            <a:r>
              <a:rPr lang="en-US" sz="650" dirty="0">
                <a:solidFill>
                  <a:srgbClr val="374151"/>
                </a:solidFill>
              </a:rPr>
              <a:t>Bulk VOD ingest of 30,000+ assets planned. Manual media ingest workflow for content team (non-bulk uploads). VOD replace/hide workaround in place as interim solution.</a:t>
            </a:r>
            <a:endParaRPr lang="en-US" sz="650" dirty="0"/>
          </a:p>
        </p:txBody>
      </p:sp>
      <p:sp>
        <p:nvSpPr>
          <p:cNvPr id="38" name="Shape 36"/>
          <p:cNvSpPr/>
          <p:nvPr/>
        </p:nvSpPr>
        <p:spPr>
          <a:xfrm>
            <a:off x="5230368" y="3121152"/>
            <a:ext cx="822960" cy="173736"/>
          </a:xfrm>
          <a:prstGeom prst="roundRect">
            <a:avLst>
              <a:gd name="adj" fmla="val 15789"/>
            </a:avLst>
          </a:prstGeom>
          <a:solidFill>
            <a:srgbClr val="1558A8"/>
          </a:solidFill>
          <a:ln w="12700">
            <a:solidFill>
              <a:srgbClr val="1558A8"/>
            </a:solidFill>
            <a:prstDash val="solid"/>
          </a:ln>
        </p:spPr>
      </p:sp>
      <p:sp>
        <p:nvSpPr>
          <p:cNvPr id="39" name="Text 37"/>
          <p:cNvSpPr/>
          <p:nvPr/>
        </p:nvSpPr>
        <p:spPr>
          <a:xfrm>
            <a:off x="5230368" y="3121152"/>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40" name="Shape 38"/>
          <p:cNvSpPr/>
          <p:nvPr/>
        </p:nvSpPr>
        <p:spPr>
          <a:xfrm>
            <a:off x="6236208" y="502920"/>
            <a:ext cx="6016752" cy="2926080"/>
          </a:xfrm>
          <a:prstGeom prst="rect">
            <a:avLst/>
          </a:prstGeom>
          <a:solidFill>
            <a:srgbClr val="FAFBFC"/>
          </a:solidFill>
          <a:ln w="9525">
            <a:solidFill>
              <a:srgbClr val="D1D5DB"/>
            </a:solidFill>
            <a:prstDash val="solid"/>
          </a:ln>
        </p:spPr>
      </p:sp>
      <p:sp>
        <p:nvSpPr>
          <p:cNvPr id="41" name="Shape 39"/>
          <p:cNvSpPr/>
          <p:nvPr/>
        </p:nvSpPr>
        <p:spPr>
          <a:xfrm>
            <a:off x="6236208" y="502920"/>
            <a:ext cx="6016752" cy="274320"/>
          </a:xfrm>
          <a:prstGeom prst="rect">
            <a:avLst/>
          </a:prstGeom>
          <a:solidFill>
            <a:srgbClr val="8ED973"/>
          </a:solidFill>
          <a:ln w="12700">
            <a:solidFill>
              <a:srgbClr val="8ED973"/>
            </a:solidFill>
            <a:prstDash val="solid"/>
          </a:ln>
        </p:spPr>
      </p:sp>
      <p:sp>
        <p:nvSpPr>
          <p:cNvPr id="42" name="Text 40"/>
          <p:cNvSpPr/>
          <p:nvPr/>
        </p:nvSpPr>
        <p:spPr>
          <a:xfrm>
            <a:off x="6345936" y="502920"/>
            <a:ext cx="5852160" cy="274320"/>
          </a:xfrm>
          <a:prstGeom prst="rect">
            <a:avLst/>
          </a:prstGeom>
          <a:noFill/>
          <a:ln/>
        </p:spPr>
        <p:txBody>
          <a:bodyPr wrap="square" lIns="0" tIns="0" rIns="0" bIns="0" rtlCol="0" anchor="ctr"/>
          <a:lstStyle/>
          <a:p>
            <a:pPr algn="l" indent="0" marL="0">
              <a:buNone/>
            </a:pPr>
            <a:r>
              <a:rPr lang="en-US" sz="900" b="1" dirty="0">
                <a:solidFill>
                  <a:srgbClr val="000000"/>
                </a:solidFill>
              </a:rPr>
              <a:t>Shared Infrastructure &amp; Dev Tooling</a:t>
            </a:r>
            <a:endParaRPr lang="en-US" sz="900" dirty="0"/>
          </a:p>
        </p:txBody>
      </p:sp>
      <p:sp>
        <p:nvSpPr>
          <p:cNvPr id="43" name="Shape 41"/>
          <p:cNvSpPr/>
          <p:nvPr/>
        </p:nvSpPr>
        <p:spPr>
          <a:xfrm>
            <a:off x="6236208" y="777240"/>
            <a:ext cx="6016752" cy="530352"/>
          </a:xfrm>
          <a:prstGeom prst="rect">
            <a:avLst/>
          </a:prstGeom>
          <a:solidFill>
            <a:srgbClr val="FFFFFF"/>
          </a:solidFill>
          <a:ln w="3175">
            <a:solidFill>
              <a:srgbClr val="E5E7EB"/>
            </a:solidFill>
            <a:prstDash val="solid"/>
          </a:ln>
        </p:spPr>
      </p:sp>
      <p:sp>
        <p:nvSpPr>
          <p:cNvPr id="44" name="Text 42"/>
          <p:cNvSpPr/>
          <p:nvPr/>
        </p:nvSpPr>
        <p:spPr>
          <a:xfrm>
            <a:off x="6309360" y="795528"/>
            <a:ext cx="777240" cy="493776"/>
          </a:xfrm>
          <a:prstGeom prst="rect">
            <a:avLst/>
          </a:prstGeom>
          <a:noFill/>
          <a:ln/>
        </p:spPr>
        <p:txBody>
          <a:bodyPr wrap="square" lIns="0" tIns="0" rIns="0" bIns="0" rtlCol="0" anchor="ctr"/>
          <a:lstStyle/>
          <a:p>
            <a:pPr indent="0" marL="0">
              <a:buNone/>
            </a:pPr>
            <a:r>
              <a:rPr lang="en-US" sz="750" b="1" dirty="0">
                <a:solidFill>
                  <a:srgbClr val="1F2937"/>
                </a:solidFill>
              </a:rPr>
              <a:t>Monitoring &amp; Error Tracking</a:t>
            </a:r>
            <a:endParaRPr lang="en-US" sz="750" dirty="0"/>
          </a:p>
        </p:txBody>
      </p:sp>
      <p:sp>
        <p:nvSpPr>
          <p:cNvPr id="45" name="Text 43"/>
          <p:cNvSpPr/>
          <p:nvPr/>
        </p:nvSpPr>
        <p:spPr>
          <a:xfrm>
            <a:off x="7104888" y="804672"/>
            <a:ext cx="4178808" cy="475488"/>
          </a:xfrm>
          <a:prstGeom prst="rect">
            <a:avLst/>
          </a:prstGeom>
          <a:noFill/>
          <a:ln/>
        </p:spPr>
        <p:txBody>
          <a:bodyPr wrap="square" lIns="0" tIns="0" rIns="0" bIns="0" rtlCol="0" anchor="t"/>
          <a:lstStyle/>
          <a:p>
            <a:pPr indent="0" marL="0">
              <a:buNone/>
            </a:pPr>
            <a:r>
              <a:rPr lang="en-US" sz="650" dirty="0">
                <a:solidFill>
                  <a:srgbClr val="374151"/>
                </a:solidFill>
              </a:rPr>
              <a:t>Google Analytics data is unreliable, so the team is evaluating Amplitude, Mixpanel, and PostHog as replacements and adding backend safeguards to catch errors automatically.</a:t>
            </a:r>
            <a:endParaRPr lang="en-US" sz="650" dirty="0"/>
          </a:p>
        </p:txBody>
      </p:sp>
      <p:sp>
        <p:nvSpPr>
          <p:cNvPr id="46" name="Shape 44"/>
          <p:cNvSpPr/>
          <p:nvPr/>
        </p:nvSpPr>
        <p:spPr>
          <a:xfrm>
            <a:off x="11375136" y="955548"/>
            <a:ext cx="822960" cy="173736"/>
          </a:xfrm>
          <a:prstGeom prst="roundRect">
            <a:avLst>
              <a:gd name="adj" fmla="val 15789"/>
            </a:avLst>
          </a:prstGeom>
          <a:solidFill>
            <a:srgbClr val="1558A8"/>
          </a:solidFill>
          <a:ln w="12700">
            <a:solidFill>
              <a:srgbClr val="1558A8"/>
            </a:solidFill>
            <a:prstDash val="solid"/>
          </a:ln>
        </p:spPr>
      </p:sp>
      <p:sp>
        <p:nvSpPr>
          <p:cNvPr id="47" name="Text 45"/>
          <p:cNvSpPr/>
          <p:nvPr/>
        </p:nvSpPr>
        <p:spPr>
          <a:xfrm>
            <a:off x="11375136" y="955548"/>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48" name="Shape 46"/>
          <p:cNvSpPr/>
          <p:nvPr/>
        </p:nvSpPr>
        <p:spPr>
          <a:xfrm>
            <a:off x="6236208" y="1307592"/>
            <a:ext cx="6016752" cy="0"/>
          </a:xfrm>
          <a:prstGeom prst="line">
            <a:avLst/>
          </a:prstGeom>
          <a:noFill/>
          <a:ln w="6350">
            <a:solidFill>
              <a:srgbClr val="E5E7EB"/>
            </a:solidFill>
            <a:prstDash val="solid"/>
          </a:ln>
        </p:spPr>
      </p:sp>
      <p:sp>
        <p:nvSpPr>
          <p:cNvPr id="49" name="Text 47"/>
          <p:cNvSpPr/>
          <p:nvPr/>
        </p:nvSpPr>
        <p:spPr>
          <a:xfrm>
            <a:off x="6309360" y="1325880"/>
            <a:ext cx="777240" cy="493776"/>
          </a:xfrm>
          <a:prstGeom prst="rect">
            <a:avLst/>
          </a:prstGeom>
          <a:noFill/>
          <a:ln/>
        </p:spPr>
        <p:txBody>
          <a:bodyPr wrap="square" lIns="0" tIns="0" rIns="0" bIns="0" rtlCol="0" anchor="ctr"/>
          <a:lstStyle/>
          <a:p>
            <a:pPr indent="0" marL="0">
              <a:buNone/>
            </a:pPr>
            <a:r>
              <a:rPr lang="en-US" sz="750" b="1" dirty="0">
                <a:solidFill>
                  <a:srgbClr val="1F2937"/>
                </a:solidFill>
              </a:rPr>
              <a:t>New Mobile App</a:t>
            </a:r>
            <a:endParaRPr lang="en-US" sz="750" dirty="0"/>
          </a:p>
        </p:txBody>
      </p:sp>
      <p:sp>
        <p:nvSpPr>
          <p:cNvPr id="50" name="Text 48"/>
          <p:cNvSpPr/>
          <p:nvPr/>
        </p:nvSpPr>
        <p:spPr>
          <a:xfrm>
            <a:off x="7104888" y="1335024"/>
            <a:ext cx="4178808" cy="475488"/>
          </a:xfrm>
          <a:prstGeom prst="rect">
            <a:avLst/>
          </a:prstGeom>
          <a:noFill/>
          <a:ln/>
        </p:spPr>
        <p:txBody>
          <a:bodyPr wrap="square" lIns="0" tIns="0" rIns="0" bIns="0" rtlCol="0" anchor="t"/>
          <a:lstStyle/>
          <a:p>
            <a:pPr indent="0" marL="0">
              <a:buNone/>
            </a:pPr>
            <a:r>
              <a:rPr lang="en-US" sz="650" dirty="0">
                <a:solidFill>
                  <a:srgbClr val="374151"/>
                </a:solidFill>
              </a:rPr>
              <a:t>A new TestFlight build shipped this week, and DRM playback with picture-in-picture is now confirmed working on a real device after an iOS certificate fix.</a:t>
            </a:r>
            <a:endParaRPr lang="en-US" sz="650" dirty="0"/>
          </a:p>
        </p:txBody>
      </p:sp>
      <p:sp>
        <p:nvSpPr>
          <p:cNvPr id="51" name="Shape 49"/>
          <p:cNvSpPr/>
          <p:nvPr/>
        </p:nvSpPr>
        <p:spPr>
          <a:xfrm>
            <a:off x="11375136" y="1485900"/>
            <a:ext cx="822960" cy="173736"/>
          </a:xfrm>
          <a:prstGeom prst="roundRect">
            <a:avLst>
              <a:gd name="adj" fmla="val 15789"/>
            </a:avLst>
          </a:prstGeom>
          <a:solidFill>
            <a:srgbClr val="1558A8"/>
          </a:solidFill>
          <a:ln w="12700">
            <a:solidFill>
              <a:srgbClr val="1558A8"/>
            </a:solidFill>
            <a:prstDash val="solid"/>
          </a:ln>
        </p:spPr>
      </p:sp>
      <p:sp>
        <p:nvSpPr>
          <p:cNvPr id="52" name="Text 50"/>
          <p:cNvSpPr/>
          <p:nvPr/>
        </p:nvSpPr>
        <p:spPr>
          <a:xfrm>
            <a:off x="11375136" y="1485900"/>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53" name="Shape 51"/>
          <p:cNvSpPr/>
          <p:nvPr/>
        </p:nvSpPr>
        <p:spPr>
          <a:xfrm>
            <a:off x="6236208" y="1837944"/>
            <a:ext cx="6016752" cy="530352"/>
          </a:xfrm>
          <a:prstGeom prst="rect">
            <a:avLst/>
          </a:prstGeom>
          <a:solidFill>
            <a:srgbClr val="FFFFFF"/>
          </a:solidFill>
          <a:ln w="3175">
            <a:solidFill>
              <a:srgbClr val="E5E7EB"/>
            </a:solidFill>
            <a:prstDash val="solid"/>
          </a:ln>
        </p:spPr>
      </p:sp>
      <p:sp>
        <p:nvSpPr>
          <p:cNvPr id="54" name="Shape 52"/>
          <p:cNvSpPr/>
          <p:nvPr/>
        </p:nvSpPr>
        <p:spPr>
          <a:xfrm>
            <a:off x="6236208" y="1837944"/>
            <a:ext cx="6016752" cy="0"/>
          </a:xfrm>
          <a:prstGeom prst="line">
            <a:avLst/>
          </a:prstGeom>
          <a:noFill/>
          <a:ln w="6350">
            <a:solidFill>
              <a:srgbClr val="E5E7EB"/>
            </a:solidFill>
            <a:prstDash val="solid"/>
          </a:ln>
        </p:spPr>
      </p:sp>
      <p:sp>
        <p:nvSpPr>
          <p:cNvPr id="55" name="Text 53"/>
          <p:cNvSpPr/>
          <p:nvPr/>
        </p:nvSpPr>
        <p:spPr>
          <a:xfrm>
            <a:off x="6309360" y="1856232"/>
            <a:ext cx="777240" cy="493776"/>
          </a:xfrm>
          <a:prstGeom prst="rect">
            <a:avLst/>
          </a:prstGeom>
          <a:noFill/>
          <a:ln/>
        </p:spPr>
        <p:txBody>
          <a:bodyPr wrap="square" lIns="0" tIns="0" rIns="0" bIns="0" rtlCol="0" anchor="ctr"/>
          <a:lstStyle/>
          <a:p>
            <a:pPr indent="0" marL="0">
              <a:buNone/>
            </a:pPr>
            <a:r>
              <a:rPr lang="en-US" sz="750" b="1" dirty="0">
                <a:solidFill>
                  <a:srgbClr val="1F2937"/>
                </a:solidFill>
              </a:rPr>
              <a:t>New Website</a:t>
            </a:r>
            <a:endParaRPr lang="en-US" sz="750" dirty="0"/>
          </a:p>
        </p:txBody>
      </p:sp>
      <p:sp>
        <p:nvSpPr>
          <p:cNvPr id="56" name="Text 54"/>
          <p:cNvSpPr/>
          <p:nvPr/>
        </p:nvSpPr>
        <p:spPr>
          <a:xfrm>
            <a:off x="7104888" y="1865376"/>
            <a:ext cx="4178808" cy="475488"/>
          </a:xfrm>
          <a:prstGeom prst="rect">
            <a:avLst/>
          </a:prstGeom>
          <a:noFill/>
          <a:ln/>
        </p:spPr>
        <p:txBody>
          <a:bodyPr wrap="square" lIns="0" tIns="0" rIns="0" bIns="0" rtlCol="0" anchor="t"/>
          <a:lstStyle/>
          <a:p>
            <a:pPr indent="0" marL="0">
              <a:buNone/>
            </a:pPr>
            <a:r>
              <a:rPr lang="en-US" sz="650" dirty="0">
                <a:solidFill>
                  <a:srgbClr val="374151"/>
                </a:solidFill>
              </a:rPr>
              <a:t>Engineers began prototyping the new tournaments and live pages, and the team kicked off twice-weekly design jam sessions to keep design and engineering aligned.</a:t>
            </a:r>
            <a:endParaRPr lang="en-US" sz="650" dirty="0"/>
          </a:p>
        </p:txBody>
      </p:sp>
      <p:sp>
        <p:nvSpPr>
          <p:cNvPr id="57" name="Shape 55"/>
          <p:cNvSpPr/>
          <p:nvPr/>
        </p:nvSpPr>
        <p:spPr>
          <a:xfrm>
            <a:off x="11375136" y="2016252"/>
            <a:ext cx="822960" cy="173736"/>
          </a:xfrm>
          <a:prstGeom prst="roundRect">
            <a:avLst>
              <a:gd name="adj" fmla="val 15789"/>
            </a:avLst>
          </a:prstGeom>
          <a:solidFill>
            <a:srgbClr val="1558A8"/>
          </a:solidFill>
          <a:ln w="12700">
            <a:solidFill>
              <a:srgbClr val="1558A8"/>
            </a:solidFill>
            <a:prstDash val="solid"/>
          </a:ln>
        </p:spPr>
      </p:sp>
      <p:sp>
        <p:nvSpPr>
          <p:cNvPr id="58" name="Text 56"/>
          <p:cNvSpPr/>
          <p:nvPr/>
        </p:nvSpPr>
        <p:spPr>
          <a:xfrm>
            <a:off x="11375136" y="2016252"/>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59" name="Shape 57"/>
          <p:cNvSpPr/>
          <p:nvPr/>
        </p:nvSpPr>
        <p:spPr>
          <a:xfrm>
            <a:off x="6236208" y="2368296"/>
            <a:ext cx="6016752" cy="0"/>
          </a:xfrm>
          <a:prstGeom prst="line">
            <a:avLst/>
          </a:prstGeom>
          <a:noFill/>
          <a:ln w="6350">
            <a:solidFill>
              <a:srgbClr val="E5E7EB"/>
            </a:solidFill>
            <a:prstDash val="solid"/>
          </a:ln>
        </p:spPr>
      </p:sp>
      <p:sp>
        <p:nvSpPr>
          <p:cNvPr id="60" name="Text 58"/>
          <p:cNvSpPr/>
          <p:nvPr/>
        </p:nvSpPr>
        <p:spPr>
          <a:xfrm>
            <a:off x="6309360" y="2386584"/>
            <a:ext cx="777240" cy="493776"/>
          </a:xfrm>
          <a:prstGeom prst="rect">
            <a:avLst/>
          </a:prstGeom>
          <a:noFill/>
          <a:ln/>
        </p:spPr>
        <p:txBody>
          <a:bodyPr wrap="square" lIns="0" tIns="0" rIns="0" bIns="0" rtlCol="0" anchor="ctr"/>
          <a:lstStyle/>
          <a:p>
            <a:pPr indent="0" marL="0">
              <a:buNone/>
            </a:pPr>
            <a:r>
              <a:rPr lang="en-US" sz="750" b="1" dirty="0">
                <a:solidFill>
                  <a:srgbClr val="1F2937"/>
                </a:solidFill>
              </a:rPr>
              <a:t>Hosting</a:t>
            </a:r>
            <a:endParaRPr lang="en-US" sz="750" dirty="0"/>
          </a:p>
        </p:txBody>
      </p:sp>
      <p:sp>
        <p:nvSpPr>
          <p:cNvPr id="61" name="Text 59"/>
          <p:cNvSpPr/>
          <p:nvPr/>
        </p:nvSpPr>
        <p:spPr>
          <a:xfrm>
            <a:off x="7104888" y="2395728"/>
            <a:ext cx="4178808" cy="475488"/>
          </a:xfrm>
          <a:prstGeom prst="rect">
            <a:avLst/>
          </a:prstGeom>
          <a:noFill/>
          <a:ln/>
        </p:spPr>
        <p:txBody>
          <a:bodyPr wrap="square" lIns="0" tIns="0" rIns="0" bIns="0" rtlCol="0" anchor="t"/>
          <a:lstStyle/>
          <a:p>
            <a:pPr indent="0" marL="0">
              <a:buNone/>
            </a:pPr>
            <a:r>
              <a:rPr lang="en-US" sz="650" dirty="0">
                <a:solidFill>
                  <a:srgbClr val="374151"/>
                </a:solidFill>
              </a:rPr>
              <a:t>No new update this week.</a:t>
            </a:r>
            <a:endParaRPr lang="en-US" sz="650" dirty="0"/>
          </a:p>
        </p:txBody>
      </p:sp>
      <p:sp>
        <p:nvSpPr>
          <p:cNvPr id="62" name="Shape 60"/>
          <p:cNvSpPr/>
          <p:nvPr/>
        </p:nvSpPr>
        <p:spPr>
          <a:xfrm>
            <a:off x="11375136" y="2546604"/>
            <a:ext cx="822960" cy="173736"/>
          </a:xfrm>
          <a:prstGeom prst="roundRect">
            <a:avLst>
              <a:gd name="adj" fmla="val 15789"/>
            </a:avLst>
          </a:prstGeom>
          <a:solidFill>
            <a:srgbClr val="CFFAFE"/>
          </a:solidFill>
          <a:ln w="12700">
            <a:solidFill>
              <a:srgbClr val="0E7490"/>
            </a:solidFill>
            <a:prstDash val="solid"/>
          </a:ln>
        </p:spPr>
      </p:sp>
      <p:sp>
        <p:nvSpPr>
          <p:cNvPr id="63" name="Text 61"/>
          <p:cNvSpPr/>
          <p:nvPr/>
        </p:nvSpPr>
        <p:spPr>
          <a:xfrm>
            <a:off x="11375136" y="2546604"/>
            <a:ext cx="822960" cy="173736"/>
          </a:xfrm>
          <a:prstGeom prst="rect">
            <a:avLst/>
          </a:prstGeom>
          <a:noFill/>
          <a:ln/>
        </p:spPr>
        <p:txBody>
          <a:bodyPr wrap="square" lIns="0" tIns="0" rIns="0" bIns="0" rtlCol="0" anchor="ctr"/>
          <a:lstStyle/>
          <a:p>
            <a:pPr algn="ctr" indent="0" marL="0">
              <a:buNone/>
            </a:pPr>
            <a:r>
              <a:rPr lang="en-US" sz="650" b="1" dirty="0">
                <a:solidFill>
                  <a:srgbClr val="0E7490"/>
                </a:solidFill>
              </a:rPr>
              <a:t>Contracted</a:t>
            </a:r>
            <a:endParaRPr lang="en-US" sz="650" dirty="0"/>
          </a:p>
        </p:txBody>
      </p:sp>
      <p:sp>
        <p:nvSpPr>
          <p:cNvPr id="64" name="Shape 62"/>
          <p:cNvSpPr/>
          <p:nvPr/>
        </p:nvSpPr>
        <p:spPr>
          <a:xfrm>
            <a:off x="6236208" y="2898648"/>
            <a:ext cx="6016752" cy="530352"/>
          </a:xfrm>
          <a:prstGeom prst="rect">
            <a:avLst/>
          </a:prstGeom>
          <a:solidFill>
            <a:srgbClr val="FFFFFF"/>
          </a:solidFill>
          <a:ln w="3175">
            <a:solidFill>
              <a:srgbClr val="E5E7EB"/>
            </a:solidFill>
            <a:prstDash val="solid"/>
          </a:ln>
        </p:spPr>
      </p:sp>
      <p:sp>
        <p:nvSpPr>
          <p:cNvPr id="65" name="Shape 63"/>
          <p:cNvSpPr/>
          <p:nvPr/>
        </p:nvSpPr>
        <p:spPr>
          <a:xfrm>
            <a:off x="6236208" y="2898648"/>
            <a:ext cx="6016752" cy="0"/>
          </a:xfrm>
          <a:prstGeom prst="line">
            <a:avLst/>
          </a:prstGeom>
          <a:noFill/>
          <a:ln w="6350">
            <a:solidFill>
              <a:srgbClr val="E5E7EB"/>
            </a:solidFill>
            <a:prstDash val="solid"/>
          </a:ln>
        </p:spPr>
      </p:sp>
      <p:sp>
        <p:nvSpPr>
          <p:cNvPr id="66" name="Text 64"/>
          <p:cNvSpPr/>
          <p:nvPr/>
        </p:nvSpPr>
        <p:spPr>
          <a:xfrm>
            <a:off x="6309360" y="2916936"/>
            <a:ext cx="777240" cy="493776"/>
          </a:xfrm>
          <a:prstGeom prst="rect">
            <a:avLst/>
          </a:prstGeom>
          <a:noFill/>
          <a:ln/>
        </p:spPr>
        <p:txBody>
          <a:bodyPr wrap="square" lIns="0" tIns="0" rIns="0" bIns="0" rtlCol="0" anchor="ctr"/>
          <a:lstStyle/>
          <a:p>
            <a:pPr indent="0" marL="0">
              <a:buNone/>
            </a:pPr>
            <a:r>
              <a:rPr lang="en-US" sz="750" b="1" dirty="0">
                <a:solidFill>
                  <a:srgbClr val="1F2937"/>
                </a:solidFill>
              </a:rPr>
              <a:t>Analytics Data Warehouse</a:t>
            </a:r>
            <a:endParaRPr lang="en-US" sz="750" dirty="0"/>
          </a:p>
        </p:txBody>
      </p:sp>
      <p:sp>
        <p:nvSpPr>
          <p:cNvPr id="67" name="Text 65"/>
          <p:cNvSpPr/>
          <p:nvPr/>
        </p:nvSpPr>
        <p:spPr>
          <a:xfrm>
            <a:off x="7104888" y="2926080"/>
            <a:ext cx="4178808" cy="475488"/>
          </a:xfrm>
          <a:prstGeom prst="rect">
            <a:avLst/>
          </a:prstGeom>
          <a:noFill/>
          <a:ln/>
        </p:spPr>
        <p:txBody>
          <a:bodyPr wrap="square" lIns="0" tIns="0" rIns="0" bIns="0" rtlCol="0" anchor="t"/>
          <a:lstStyle/>
          <a:p>
            <a:pPr indent="0" marL="0">
              <a:buNone/>
            </a:pPr>
            <a:r>
              <a:rPr lang="en-US" sz="650" dirty="0">
                <a:solidFill>
                  <a:srgbClr val="374151"/>
                </a:solidFill>
              </a:rPr>
              <a:t>No new update this week.</a:t>
            </a:r>
            <a:endParaRPr lang="en-US" sz="650" dirty="0"/>
          </a:p>
        </p:txBody>
      </p:sp>
      <p:sp>
        <p:nvSpPr>
          <p:cNvPr id="68" name="Shape 66"/>
          <p:cNvSpPr/>
          <p:nvPr/>
        </p:nvSpPr>
        <p:spPr>
          <a:xfrm>
            <a:off x="11375136" y="3076956"/>
            <a:ext cx="822960" cy="173736"/>
          </a:xfrm>
          <a:prstGeom prst="roundRect">
            <a:avLst>
              <a:gd name="adj" fmla="val 15789"/>
            </a:avLst>
          </a:prstGeom>
          <a:solidFill>
            <a:srgbClr val="1558A8"/>
          </a:solidFill>
          <a:ln w="12700">
            <a:solidFill>
              <a:srgbClr val="1558A8"/>
            </a:solidFill>
            <a:prstDash val="solid"/>
          </a:ln>
        </p:spPr>
      </p:sp>
      <p:sp>
        <p:nvSpPr>
          <p:cNvPr id="69" name="Text 67"/>
          <p:cNvSpPr/>
          <p:nvPr/>
        </p:nvSpPr>
        <p:spPr>
          <a:xfrm>
            <a:off x="11375136" y="3076956"/>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70" name="Shape 68"/>
          <p:cNvSpPr/>
          <p:nvPr/>
        </p:nvSpPr>
        <p:spPr>
          <a:xfrm>
            <a:off x="91440" y="3502152"/>
            <a:ext cx="6016752" cy="3749040"/>
          </a:xfrm>
          <a:prstGeom prst="rect">
            <a:avLst/>
          </a:prstGeom>
          <a:solidFill>
            <a:srgbClr val="FAFBFC"/>
          </a:solidFill>
          <a:ln w="9525">
            <a:solidFill>
              <a:srgbClr val="D1D5DB"/>
            </a:solidFill>
            <a:prstDash val="solid"/>
          </a:ln>
        </p:spPr>
      </p:sp>
      <p:sp>
        <p:nvSpPr>
          <p:cNvPr id="71" name="Shape 69"/>
          <p:cNvSpPr/>
          <p:nvPr/>
        </p:nvSpPr>
        <p:spPr>
          <a:xfrm>
            <a:off x="91440" y="3502152"/>
            <a:ext cx="6016752" cy="274320"/>
          </a:xfrm>
          <a:prstGeom prst="rect">
            <a:avLst/>
          </a:prstGeom>
          <a:solidFill>
            <a:srgbClr val="8ED973"/>
          </a:solidFill>
          <a:ln w="12700">
            <a:solidFill>
              <a:srgbClr val="8ED973"/>
            </a:solidFill>
            <a:prstDash val="solid"/>
          </a:ln>
        </p:spPr>
      </p:sp>
      <p:sp>
        <p:nvSpPr>
          <p:cNvPr id="72" name="Text 70"/>
          <p:cNvSpPr/>
          <p:nvPr/>
        </p:nvSpPr>
        <p:spPr>
          <a:xfrm>
            <a:off x="201168" y="3502152"/>
            <a:ext cx="5852160" cy="274320"/>
          </a:xfrm>
          <a:prstGeom prst="rect">
            <a:avLst/>
          </a:prstGeom>
          <a:noFill/>
          <a:ln/>
        </p:spPr>
        <p:txBody>
          <a:bodyPr wrap="square" lIns="0" tIns="0" rIns="0" bIns="0" rtlCol="0" anchor="ctr"/>
          <a:lstStyle/>
          <a:p>
            <a:pPr algn="l" indent="0" marL="0">
              <a:buNone/>
            </a:pPr>
            <a:r>
              <a:rPr lang="en-US" sz="900" b="1" dirty="0">
                <a:solidFill>
                  <a:srgbClr val="000000"/>
                </a:solidFill>
              </a:rPr>
              <a:t>Partner / Platform Integrations</a:t>
            </a:r>
            <a:endParaRPr lang="en-US" sz="900" dirty="0"/>
          </a:p>
        </p:txBody>
      </p:sp>
      <p:sp>
        <p:nvSpPr>
          <p:cNvPr id="73" name="Shape 71"/>
          <p:cNvSpPr/>
          <p:nvPr/>
        </p:nvSpPr>
        <p:spPr>
          <a:xfrm>
            <a:off x="91440" y="3776472"/>
            <a:ext cx="6016752" cy="1158240"/>
          </a:xfrm>
          <a:prstGeom prst="rect">
            <a:avLst/>
          </a:prstGeom>
          <a:solidFill>
            <a:srgbClr val="FFFFFF"/>
          </a:solidFill>
          <a:ln w="3175">
            <a:solidFill>
              <a:srgbClr val="E5E7EB"/>
            </a:solidFill>
            <a:prstDash val="solid"/>
          </a:ln>
        </p:spPr>
      </p:sp>
      <p:sp>
        <p:nvSpPr>
          <p:cNvPr id="74" name="Text 72"/>
          <p:cNvSpPr/>
          <p:nvPr/>
        </p:nvSpPr>
        <p:spPr>
          <a:xfrm>
            <a:off x="164592" y="3794760"/>
            <a:ext cx="777240" cy="1121664"/>
          </a:xfrm>
          <a:prstGeom prst="rect">
            <a:avLst/>
          </a:prstGeom>
          <a:noFill/>
          <a:ln/>
        </p:spPr>
        <p:txBody>
          <a:bodyPr wrap="square" lIns="0" tIns="0" rIns="0" bIns="0" rtlCol="0" anchor="ctr"/>
          <a:lstStyle/>
          <a:p>
            <a:pPr indent="0" marL="0">
              <a:buNone/>
            </a:pPr>
            <a:r>
              <a:rPr lang="en-US" sz="750" b="1" dirty="0">
                <a:solidFill>
                  <a:srgbClr val="1F2937"/>
                </a:solidFill>
              </a:rPr>
              <a:t>MVPD</a:t>
            </a:r>
            <a:endParaRPr lang="en-US" sz="750" dirty="0"/>
          </a:p>
        </p:txBody>
      </p:sp>
      <p:sp>
        <p:nvSpPr>
          <p:cNvPr id="75" name="Text 73"/>
          <p:cNvSpPr/>
          <p:nvPr/>
        </p:nvSpPr>
        <p:spPr>
          <a:xfrm>
            <a:off x="960120" y="3803904"/>
            <a:ext cx="4178808" cy="1103376"/>
          </a:xfrm>
          <a:prstGeom prst="rect">
            <a:avLst/>
          </a:prstGeom>
          <a:noFill/>
          <a:ln/>
        </p:spPr>
        <p:txBody>
          <a:bodyPr wrap="square" lIns="0" tIns="0" rIns="0" bIns="0" rtlCol="0" anchor="t"/>
          <a:lstStyle/>
          <a:p>
            <a:pPr indent="0" marL="0">
              <a:buNone/>
            </a:pPr>
            <a:r>
              <a:rPr lang="en-US" sz="650" dirty="0">
                <a:solidFill>
                  <a:srgbClr val="374151"/>
                </a:solidFill>
              </a:rPr>
              <a:t>MVPD (TV-provider) login is now the only way into the mobile app, with a login fix still being finalized for Android.</a:t>
            </a:r>
            <a:endParaRPr lang="en-US" sz="650" dirty="0"/>
          </a:p>
        </p:txBody>
      </p:sp>
      <p:sp>
        <p:nvSpPr>
          <p:cNvPr id="76" name="Shape 74"/>
          <p:cNvSpPr/>
          <p:nvPr/>
        </p:nvSpPr>
        <p:spPr>
          <a:xfrm>
            <a:off x="5230368" y="4268724"/>
            <a:ext cx="822960" cy="173736"/>
          </a:xfrm>
          <a:prstGeom prst="roundRect">
            <a:avLst>
              <a:gd name="adj" fmla="val 15789"/>
            </a:avLst>
          </a:prstGeom>
          <a:solidFill>
            <a:srgbClr val="F3F4F6"/>
          </a:solidFill>
          <a:ln w="9525">
            <a:solidFill>
              <a:srgbClr val="D1D5DB"/>
            </a:solidFill>
            <a:prstDash val="solid"/>
          </a:ln>
        </p:spPr>
      </p:sp>
      <p:sp>
        <p:nvSpPr>
          <p:cNvPr id="77" name="Text 75"/>
          <p:cNvSpPr/>
          <p:nvPr/>
        </p:nvSpPr>
        <p:spPr>
          <a:xfrm>
            <a:off x="5230368" y="4268724"/>
            <a:ext cx="822960" cy="173736"/>
          </a:xfrm>
          <a:prstGeom prst="rect">
            <a:avLst/>
          </a:prstGeom>
          <a:noFill/>
          <a:ln/>
        </p:spPr>
        <p:txBody>
          <a:bodyPr wrap="square" lIns="0" tIns="0" rIns="0" bIns="0" rtlCol="0" anchor="ctr"/>
          <a:lstStyle/>
          <a:p>
            <a:pPr algn="ctr" indent="0" marL="0">
              <a:buNone/>
            </a:pPr>
            <a:r>
              <a:rPr lang="en-US" sz="650" b="1" dirty="0">
                <a:solidFill>
                  <a:srgbClr val="374151"/>
                </a:solidFill>
              </a:rPr>
              <a:t>Complete</a:t>
            </a:r>
            <a:endParaRPr lang="en-US" sz="650" dirty="0"/>
          </a:p>
        </p:txBody>
      </p:sp>
      <p:sp>
        <p:nvSpPr>
          <p:cNvPr id="78" name="Shape 76"/>
          <p:cNvSpPr/>
          <p:nvPr/>
        </p:nvSpPr>
        <p:spPr>
          <a:xfrm>
            <a:off x="91440" y="4934712"/>
            <a:ext cx="6016752" cy="0"/>
          </a:xfrm>
          <a:prstGeom prst="line">
            <a:avLst/>
          </a:prstGeom>
          <a:noFill/>
          <a:ln w="6350">
            <a:solidFill>
              <a:srgbClr val="E5E7EB"/>
            </a:solidFill>
            <a:prstDash val="solid"/>
          </a:ln>
        </p:spPr>
      </p:sp>
      <p:sp>
        <p:nvSpPr>
          <p:cNvPr id="79" name="Text 77"/>
          <p:cNvSpPr/>
          <p:nvPr/>
        </p:nvSpPr>
        <p:spPr>
          <a:xfrm>
            <a:off x="164592" y="4953000"/>
            <a:ext cx="777240" cy="1121664"/>
          </a:xfrm>
          <a:prstGeom prst="rect">
            <a:avLst/>
          </a:prstGeom>
          <a:noFill/>
          <a:ln/>
        </p:spPr>
        <p:txBody>
          <a:bodyPr wrap="square" lIns="0" tIns="0" rIns="0" bIns="0" rtlCol="0" anchor="ctr"/>
          <a:lstStyle/>
          <a:p>
            <a:pPr indent="0" marL="0">
              <a:buNone/>
            </a:pPr>
            <a:r>
              <a:rPr lang="en-US" sz="750" b="1" dirty="0">
                <a:solidFill>
                  <a:srgbClr val="1F2937"/>
                </a:solidFill>
              </a:rPr>
              <a:t>DRM</a:t>
            </a:r>
            <a:endParaRPr lang="en-US" sz="750" dirty="0"/>
          </a:p>
        </p:txBody>
      </p:sp>
      <p:sp>
        <p:nvSpPr>
          <p:cNvPr id="80" name="Text 78"/>
          <p:cNvSpPr/>
          <p:nvPr/>
        </p:nvSpPr>
        <p:spPr>
          <a:xfrm>
            <a:off x="960120" y="4962144"/>
            <a:ext cx="4178808" cy="1103376"/>
          </a:xfrm>
          <a:prstGeom prst="rect">
            <a:avLst/>
          </a:prstGeom>
          <a:noFill/>
          <a:ln/>
        </p:spPr>
        <p:txBody>
          <a:bodyPr wrap="square" lIns="0" tIns="0" rIns="0" bIns="0" rtlCol="0" anchor="t"/>
          <a:lstStyle/>
          <a:p>
            <a:pPr indent="0" marL="0">
              <a:buNone/>
            </a:pPr>
            <a:r>
              <a:rPr lang="en-US" sz="650" dirty="0">
                <a:solidFill>
                  <a:srgbClr val="374151"/>
                </a:solidFill>
              </a:rPr>
              <a:t>The iOS certificate issue is fixed, and DRM playback with picture-in-picture is confirmed working on a real device.</a:t>
            </a:r>
            <a:endParaRPr lang="en-US" sz="650" dirty="0"/>
          </a:p>
        </p:txBody>
      </p:sp>
      <p:sp>
        <p:nvSpPr>
          <p:cNvPr id="81" name="Shape 79"/>
          <p:cNvSpPr/>
          <p:nvPr/>
        </p:nvSpPr>
        <p:spPr>
          <a:xfrm>
            <a:off x="5230368" y="5426964"/>
            <a:ext cx="822960" cy="173736"/>
          </a:xfrm>
          <a:prstGeom prst="roundRect">
            <a:avLst>
              <a:gd name="adj" fmla="val 15789"/>
            </a:avLst>
          </a:prstGeom>
          <a:solidFill>
            <a:srgbClr val="1558A8"/>
          </a:solidFill>
          <a:ln w="12700">
            <a:solidFill>
              <a:srgbClr val="1558A8"/>
            </a:solidFill>
            <a:prstDash val="solid"/>
          </a:ln>
        </p:spPr>
      </p:sp>
      <p:sp>
        <p:nvSpPr>
          <p:cNvPr id="82" name="Text 80"/>
          <p:cNvSpPr/>
          <p:nvPr/>
        </p:nvSpPr>
        <p:spPr>
          <a:xfrm>
            <a:off x="5230368" y="5426964"/>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83" name="Shape 81"/>
          <p:cNvSpPr/>
          <p:nvPr/>
        </p:nvSpPr>
        <p:spPr>
          <a:xfrm>
            <a:off x="91440" y="6092952"/>
            <a:ext cx="6016752" cy="1158240"/>
          </a:xfrm>
          <a:prstGeom prst="rect">
            <a:avLst/>
          </a:prstGeom>
          <a:solidFill>
            <a:srgbClr val="FFFFFF"/>
          </a:solidFill>
          <a:ln w="3175">
            <a:solidFill>
              <a:srgbClr val="E5E7EB"/>
            </a:solidFill>
            <a:prstDash val="solid"/>
          </a:ln>
        </p:spPr>
      </p:sp>
      <p:sp>
        <p:nvSpPr>
          <p:cNvPr id="84" name="Shape 82"/>
          <p:cNvSpPr/>
          <p:nvPr/>
        </p:nvSpPr>
        <p:spPr>
          <a:xfrm>
            <a:off x="91440" y="6092952"/>
            <a:ext cx="6016752" cy="0"/>
          </a:xfrm>
          <a:prstGeom prst="line">
            <a:avLst/>
          </a:prstGeom>
          <a:noFill/>
          <a:ln w="6350">
            <a:solidFill>
              <a:srgbClr val="E5E7EB"/>
            </a:solidFill>
            <a:prstDash val="solid"/>
          </a:ln>
        </p:spPr>
      </p:sp>
      <p:sp>
        <p:nvSpPr>
          <p:cNvPr id="85" name="Text 83"/>
          <p:cNvSpPr/>
          <p:nvPr/>
        </p:nvSpPr>
        <p:spPr>
          <a:xfrm>
            <a:off x="164592" y="6111240"/>
            <a:ext cx="777240" cy="1121664"/>
          </a:xfrm>
          <a:prstGeom prst="rect">
            <a:avLst/>
          </a:prstGeom>
          <a:noFill/>
          <a:ln/>
        </p:spPr>
        <p:txBody>
          <a:bodyPr wrap="square" lIns="0" tIns="0" rIns="0" bIns="0" rtlCol="0" anchor="ctr"/>
          <a:lstStyle/>
          <a:p>
            <a:pPr indent="0" marL="0">
              <a:buNone/>
            </a:pPr>
            <a:r>
              <a:rPr lang="en-US" sz="750" b="1" dirty="0">
                <a:solidFill>
                  <a:srgbClr val="1F2937"/>
                </a:solidFill>
              </a:rPr>
              <a:t>FOXXUM</a:t>
            </a:r>
            <a:endParaRPr lang="en-US" sz="750" dirty="0"/>
          </a:p>
        </p:txBody>
      </p:sp>
      <p:sp>
        <p:nvSpPr>
          <p:cNvPr id="86" name="Text 84"/>
          <p:cNvSpPr/>
          <p:nvPr/>
        </p:nvSpPr>
        <p:spPr>
          <a:xfrm>
            <a:off x="960120" y="6120384"/>
            <a:ext cx="4178808" cy="1103376"/>
          </a:xfrm>
          <a:prstGeom prst="rect">
            <a:avLst/>
          </a:prstGeom>
          <a:noFill/>
          <a:ln/>
        </p:spPr>
        <p:txBody>
          <a:bodyPr wrap="square" lIns="0" tIns="0" rIns="0" bIns="0" rtlCol="0" anchor="t"/>
          <a:lstStyle/>
          <a:p>
            <a:pPr indent="0" marL="0">
              <a:buNone/>
            </a:pPr>
            <a:r>
              <a:rPr lang="en-US" sz="650" dirty="0">
                <a:solidFill>
                  <a:srgbClr val="374151"/>
                </a:solidFill>
              </a:rPr>
              <a:t>Foxxum demoed the new content page and carousel pagination, and is now focused on entitlement checks, with playback migration, geo-blocking, and concurrency limits queued up next.</a:t>
            </a:r>
            <a:endParaRPr lang="en-US" sz="650" dirty="0"/>
          </a:p>
        </p:txBody>
      </p:sp>
      <p:sp>
        <p:nvSpPr>
          <p:cNvPr id="87" name="Shape 85"/>
          <p:cNvSpPr/>
          <p:nvPr/>
        </p:nvSpPr>
        <p:spPr>
          <a:xfrm>
            <a:off x="5230368" y="6585204"/>
            <a:ext cx="822960" cy="173736"/>
          </a:xfrm>
          <a:prstGeom prst="roundRect">
            <a:avLst>
              <a:gd name="adj" fmla="val 15789"/>
            </a:avLst>
          </a:prstGeom>
          <a:solidFill>
            <a:srgbClr val="1558A8"/>
          </a:solidFill>
          <a:ln w="12700">
            <a:solidFill>
              <a:srgbClr val="1558A8"/>
            </a:solidFill>
            <a:prstDash val="solid"/>
          </a:ln>
        </p:spPr>
      </p:sp>
      <p:sp>
        <p:nvSpPr>
          <p:cNvPr id="88" name="Text 86"/>
          <p:cNvSpPr/>
          <p:nvPr/>
        </p:nvSpPr>
        <p:spPr>
          <a:xfrm>
            <a:off x="5230368" y="6585204"/>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89" name="Shape 87"/>
          <p:cNvSpPr/>
          <p:nvPr/>
        </p:nvSpPr>
        <p:spPr>
          <a:xfrm>
            <a:off x="6236208" y="3502152"/>
            <a:ext cx="6016752" cy="3749040"/>
          </a:xfrm>
          <a:prstGeom prst="rect">
            <a:avLst/>
          </a:prstGeom>
          <a:solidFill>
            <a:srgbClr val="FAFBFC"/>
          </a:solidFill>
          <a:ln w="9525">
            <a:solidFill>
              <a:srgbClr val="D1D5DB"/>
            </a:solidFill>
            <a:prstDash val="solid"/>
          </a:ln>
        </p:spPr>
      </p:sp>
      <p:sp>
        <p:nvSpPr>
          <p:cNvPr id="90" name="Shape 88"/>
          <p:cNvSpPr/>
          <p:nvPr/>
        </p:nvSpPr>
        <p:spPr>
          <a:xfrm>
            <a:off x="6236208" y="3502152"/>
            <a:ext cx="6016752" cy="274320"/>
          </a:xfrm>
          <a:prstGeom prst="rect">
            <a:avLst/>
          </a:prstGeom>
          <a:solidFill>
            <a:srgbClr val="8ED973"/>
          </a:solidFill>
          <a:ln w="12700">
            <a:solidFill>
              <a:srgbClr val="8ED973"/>
            </a:solidFill>
            <a:prstDash val="solid"/>
          </a:ln>
        </p:spPr>
      </p:sp>
      <p:sp>
        <p:nvSpPr>
          <p:cNvPr id="91" name="Text 89"/>
          <p:cNvSpPr/>
          <p:nvPr/>
        </p:nvSpPr>
        <p:spPr>
          <a:xfrm>
            <a:off x="6345936" y="3502152"/>
            <a:ext cx="5852160" cy="274320"/>
          </a:xfrm>
          <a:prstGeom prst="rect">
            <a:avLst/>
          </a:prstGeom>
          <a:noFill/>
          <a:ln/>
        </p:spPr>
        <p:txBody>
          <a:bodyPr wrap="square" lIns="0" tIns="0" rIns="0" bIns="0" rtlCol="0" anchor="ctr"/>
          <a:lstStyle/>
          <a:p>
            <a:pPr algn="l" indent="0" marL="0">
              <a:buNone/>
            </a:pPr>
            <a:r>
              <a:rPr lang="en-US" sz="900" b="1" dirty="0">
                <a:solidFill>
                  <a:srgbClr val="000000"/>
                </a:solidFill>
              </a:rPr>
              <a:t>Platform Capabilities</a:t>
            </a:r>
            <a:endParaRPr lang="en-US" sz="900" dirty="0"/>
          </a:p>
        </p:txBody>
      </p:sp>
      <p:sp>
        <p:nvSpPr>
          <p:cNvPr id="92" name="Shape 90"/>
          <p:cNvSpPr/>
          <p:nvPr/>
        </p:nvSpPr>
        <p:spPr>
          <a:xfrm>
            <a:off x="6236208" y="3776472"/>
            <a:ext cx="6016752" cy="868680"/>
          </a:xfrm>
          <a:prstGeom prst="rect">
            <a:avLst/>
          </a:prstGeom>
          <a:solidFill>
            <a:srgbClr val="FFFFFF"/>
          </a:solidFill>
          <a:ln w="3175">
            <a:solidFill>
              <a:srgbClr val="E5E7EB"/>
            </a:solidFill>
            <a:prstDash val="solid"/>
          </a:ln>
        </p:spPr>
      </p:sp>
      <p:sp>
        <p:nvSpPr>
          <p:cNvPr id="93" name="Text 91"/>
          <p:cNvSpPr/>
          <p:nvPr/>
        </p:nvSpPr>
        <p:spPr>
          <a:xfrm>
            <a:off x="6309360" y="3794760"/>
            <a:ext cx="777240" cy="832104"/>
          </a:xfrm>
          <a:prstGeom prst="rect">
            <a:avLst/>
          </a:prstGeom>
          <a:noFill/>
          <a:ln/>
        </p:spPr>
        <p:txBody>
          <a:bodyPr wrap="square" lIns="0" tIns="0" rIns="0" bIns="0" rtlCol="0" anchor="ctr"/>
          <a:lstStyle/>
          <a:p>
            <a:pPr indent="0" marL="0">
              <a:buNone/>
            </a:pPr>
            <a:r>
              <a:rPr lang="en-US" sz="750" b="1" dirty="0">
                <a:solidFill>
                  <a:srgbClr val="1F2937"/>
                </a:solidFill>
              </a:rPr>
              <a:t>Platform POC</a:t>
            </a:r>
            <a:endParaRPr lang="en-US" sz="750" dirty="0"/>
          </a:p>
        </p:txBody>
      </p:sp>
      <p:sp>
        <p:nvSpPr>
          <p:cNvPr id="94" name="Text 92"/>
          <p:cNvSpPr/>
          <p:nvPr/>
        </p:nvSpPr>
        <p:spPr>
          <a:xfrm>
            <a:off x="7104888" y="3803904"/>
            <a:ext cx="4178808" cy="813816"/>
          </a:xfrm>
          <a:prstGeom prst="rect">
            <a:avLst/>
          </a:prstGeom>
          <a:noFill/>
          <a:ln/>
        </p:spPr>
        <p:txBody>
          <a:bodyPr wrap="square" lIns="0" tIns="0" rIns="0" bIns="0" rtlCol="0" anchor="t"/>
          <a:lstStyle/>
          <a:p>
            <a:pPr indent="0" marL="0">
              <a:buNone/>
            </a:pPr>
            <a:r>
              <a:rPr lang="en-US" sz="650" dirty="0">
                <a:solidFill>
                  <a:srgbClr val="374151"/>
                </a:solidFill>
              </a:rPr>
              <a:t>The team is migrating off the limited trial Auth0 account onto a proper dev tenant, and the vendor confirmed the new account request.</a:t>
            </a:r>
            <a:endParaRPr lang="en-US" sz="650" dirty="0"/>
          </a:p>
        </p:txBody>
      </p:sp>
      <p:sp>
        <p:nvSpPr>
          <p:cNvPr id="95" name="Shape 93"/>
          <p:cNvSpPr/>
          <p:nvPr/>
        </p:nvSpPr>
        <p:spPr>
          <a:xfrm>
            <a:off x="11375136" y="4123944"/>
            <a:ext cx="822960" cy="173736"/>
          </a:xfrm>
          <a:prstGeom prst="roundRect">
            <a:avLst>
              <a:gd name="adj" fmla="val 15789"/>
            </a:avLst>
          </a:prstGeom>
          <a:solidFill>
            <a:srgbClr val="F3F4F6"/>
          </a:solidFill>
          <a:ln w="9525">
            <a:solidFill>
              <a:srgbClr val="D1D5DB"/>
            </a:solidFill>
            <a:prstDash val="solid"/>
          </a:ln>
        </p:spPr>
      </p:sp>
      <p:sp>
        <p:nvSpPr>
          <p:cNvPr id="96" name="Text 94"/>
          <p:cNvSpPr/>
          <p:nvPr/>
        </p:nvSpPr>
        <p:spPr>
          <a:xfrm>
            <a:off x="11375136" y="4123944"/>
            <a:ext cx="822960" cy="173736"/>
          </a:xfrm>
          <a:prstGeom prst="rect">
            <a:avLst/>
          </a:prstGeom>
          <a:noFill/>
          <a:ln/>
        </p:spPr>
        <p:txBody>
          <a:bodyPr wrap="square" lIns="0" tIns="0" rIns="0" bIns="0" rtlCol="0" anchor="ctr"/>
          <a:lstStyle/>
          <a:p>
            <a:pPr algn="ctr" indent="0" marL="0">
              <a:buNone/>
            </a:pPr>
            <a:r>
              <a:rPr lang="en-US" sz="650" b="1" dirty="0">
                <a:solidFill>
                  <a:srgbClr val="374151"/>
                </a:solidFill>
              </a:rPr>
              <a:t>Complete</a:t>
            </a:r>
            <a:endParaRPr lang="en-US" sz="650" dirty="0"/>
          </a:p>
        </p:txBody>
      </p:sp>
      <p:sp>
        <p:nvSpPr>
          <p:cNvPr id="97" name="Shape 95"/>
          <p:cNvSpPr/>
          <p:nvPr/>
        </p:nvSpPr>
        <p:spPr>
          <a:xfrm>
            <a:off x="6236208" y="4645152"/>
            <a:ext cx="6016752" cy="0"/>
          </a:xfrm>
          <a:prstGeom prst="line">
            <a:avLst/>
          </a:prstGeom>
          <a:noFill/>
          <a:ln w="6350">
            <a:solidFill>
              <a:srgbClr val="E5E7EB"/>
            </a:solidFill>
            <a:prstDash val="solid"/>
          </a:ln>
        </p:spPr>
      </p:sp>
      <p:sp>
        <p:nvSpPr>
          <p:cNvPr id="98" name="Text 96"/>
          <p:cNvSpPr/>
          <p:nvPr/>
        </p:nvSpPr>
        <p:spPr>
          <a:xfrm>
            <a:off x="6309360" y="4663440"/>
            <a:ext cx="777240" cy="832104"/>
          </a:xfrm>
          <a:prstGeom prst="rect">
            <a:avLst/>
          </a:prstGeom>
          <a:noFill/>
          <a:ln/>
        </p:spPr>
        <p:txBody>
          <a:bodyPr wrap="square" lIns="0" tIns="0" rIns="0" bIns="0" rtlCol="0" anchor="ctr"/>
          <a:lstStyle/>
          <a:p>
            <a:pPr indent="0" marL="0">
              <a:buNone/>
            </a:pPr>
            <a:r>
              <a:rPr lang="en-US" sz="750" b="1" dirty="0">
                <a:solidFill>
                  <a:srgbClr val="1F2937"/>
                </a:solidFill>
              </a:rPr>
              <a:t>UI/UX</a:t>
            </a:r>
            <a:endParaRPr lang="en-US" sz="750" dirty="0"/>
          </a:p>
        </p:txBody>
      </p:sp>
      <p:sp>
        <p:nvSpPr>
          <p:cNvPr id="99" name="Text 97"/>
          <p:cNvSpPr/>
          <p:nvPr/>
        </p:nvSpPr>
        <p:spPr>
          <a:xfrm>
            <a:off x="7104888" y="4672584"/>
            <a:ext cx="4178808" cy="813816"/>
          </a:xfrm>
          <a:prstGeom prst="rect">
            <a:avLst/>
          </a:prstGeom>
          <a:noFill/>
          <a:ln/>
        </p:spPr>
        <p:txBody>
          <a:bodyPr wrap="square" lIns="0" tIns="0" rIns="0" bIns="0" rtlCol="0" anchor="t"/>
          <a:lstStyle/>
          <a:p>
            <a:pPr indent="0" marL="0">
              <a:buNone/>
            </a:pPr>
            <a:r>
              <a:rPr lang="en-US" sz="650" dirty="0">
                <a:solidFill>
                  <a:srgbClr val="374151"/>
                </a:solidFill>
              </a:rPr>
              <a:t>Every carousel will keep a default "show more" link with item limits set per device, and design jam sessions started this week.</a:t>
            </a:r>
            <a:endParaRPr lang="en-US" sz="650" dirty="0"/>
          </a:p>
        </p:txBody>
      </p:sp>
      <p:sp>
        <p:nvSpPr>
          <p:cNvPr id="100" name="Shape 98"/>
          <p:cNvSpPr/>
          <p:nvPr/>
        </p:nvSpPr>
        <p:spPr>
          <a:xfrm>
            <a:off x="11375136" y="4992624"/>
            <a:ext cx="822960" cy="173736"/>
          </a:xfrm>
          <a:prstGeom prst="roundRect">
            <a:avLst>
              <a:gd name="adj" fmla="val 15789"/>
            </a:avLst>
          </a:prstGeom>
          <a:solidFill>
            <a:srgbClr val="1558A8"/>
          </a:solidFill>
          <a:ln w="12700">
            <a:solidFill>
              <a:srgbClr val="1558A8"/>
            </a:solidFill>
            <a:prstDash val="solid"/>
          </a:ln>
        </p:spPr>
      </p:sp>
      <p:sp>
        <p:nvSpPr>
          <p:cNvPr id="101" name="Text 99"/>
          <p:cNvSpPr/>
          <p:nvPr/>
        </p:nvSpPr>
        <p:spPr>
          <a:xfrm>
            <a:off x="11375136" y="4992624"/>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102" name="Shape 100"/>
          <p:cNvSpPr/>
          <p:nvPr/>
        </p:nvSpPr>
        <p:spPr>
          <a:xfrm>
            <a:off x="6236208" y="5513832"/>
            <a:ext cx="6016752" cy="868680"/>
          </a:xfrm>
          <a:prstGeom prst="rect">
            <a:avLst/>
          </a:prstGeom>
          <a:solidFill>
            <a:srgbClr val="FFFFFF"/>
          </a:solidFill>
          <a:ln w="3175">
            <a:solidFill>
              <a:srgbClr val="E5E7EB"/>
            </a:solidFill>
            <a:prstDash val="solid"/>
          </a:ln>
        </p:spPr>
      </p:sp>
      <p:sp>
        <p:nvSpPr>
          <p:cNvPr id="103" name="Shape 101"/>
          <p:cNvSpPr/>
          <p:nvPr/>
        </p:nvSpPr>
        <p:spPr>
          <a:xfrm>
            <a:off x="6236208" y="5513832"/>
            <a:ext cx="6016752" cy="0"/>
          </a:xfrm>
          <a:prstGeom prst="line">
            <a:avLst/>
          </a:prstGeom>
          <a:noFill/>
          <a:ln w="6350">
            <a:solidFill>
              <a:srgbClr val="E5E7EB"/>
            </a:solidFill>
            <a:prstDash val="solid"/>
          </a:ln>
        </p:spPr>
      </p:sp>
      <p:sp>
        <p:nvSpPr>
          <p:cNvPr id="104" name="Text 102"/>
          <p:cNvSpPr/>
          <p:nvPr/>
        </p:nvSpPr>
        <p:spPr>
          <a:xfrm>
            <a:off x="6309360" y="5532120"/>
            <a:ext cx="777240" cy="832104"/>
          </a:xfrm>
          <a:prstGeom prst="rect">
            <a:avLst/>
          </a:prstGeom>
          <a:noFill/>
          <a:ln/>
        </p:spPr>
        <p:txBody>
          <a:bodyPr wrap="square" lIns="0" tIns="0" rIns="0" bIns="0" rtlCol="0" anchor="ctr"/>
          <a:lstStyle/>
          <a:p>
            <a:pPr indent="0" marL="0">
              <a:buNone/>
            </a:pPr>
            <a:r>
              <a:rPr lang="en-US" sz="750" b="1" dirty="0">
                <a:solidFill>
                  <a:srgbClr val="1F2937"/>
                </a:solidFill>
              </a:rPr>
              <a:t>Video Player</a:t>
            </a:r>
            <a:endParaRPr lang="en-US" sz="750" dirty="0"/>
          </a:p>
        </p:txBody>
      </p:sp>
      <p:sp>
        <p:nvSpPr>
          <p:cNvPr id="105" name="Text 103"/>
          <p:cNvSpPr/>
          <p:nvPr/>
        </p:nvSpPr>
        <p:spPr>
          <a:xfrm>
            <a:off x="7104888" y="5541264"/>
            <a:ext cx="4178808" cy="813816"/>
          </a:xfrm>
          <a:prstGeom prst="rect">
            <a:avLst/>
          </a:prstGeom>
          <a:noFill/>
          <a:ln/>
        </p:spPr>
        <p:txBody>
          <a:bodyPr wrap="square" lIns="0" tIns="0" rIns="0" bIns="0" rtlCol="0" anchor="t"/>
          <a:lstStyle/>
          <a:p>
            <a:pPr indent="0" marL="0">
              <a:buNone/>
            </a:pPr>
            <a:r>
              <a:rPr lang="en-US" sz="650" dirty="0">
                <a:solidFill>
                  <a:srgbClr val="374151"/>
                </a:solidFill>
              </a:rPr>
              <a:t>No BitMovin-specific update this week, but DRM playback with picture-in-picture is confirmed working on iOS.</a:t>
            </a:r>
            <a:endParaRPr lang="en-US" sz="650" dirty="0"/>
          </a:p>
        </p:txBody>
      </p:sp>
      <p:sp>
        <p:nvSpPr>
          <p:cNvPr id="106" name="Shape 104"/>
          <p:cNvSpPr/>
          <p:nvPr/>
        </p:nvSpPr>
        <p:spPr>
          <a:xfrm>
            <a:off x="11375136" y="5861304"/>
            <a:ext cx="822960" cy="173736"/>
          </a:xfrm>
          <a:prstGeom prst="roundRect">
            <a:avLst>
              <a:gd name="adj" fmla="val 15789"/>
            </a:avLst>
          </a:prstGeom>
          <a:solidFill>
            <a:srgbClr val="1558A8"/>
          </a:solidFill>
          <a:ln w="12700">
            <a:solidFill>
              <a:srgbClr val="1558A8"/>
            </a:solidFill>
            <a:prstDash val="solid"/>
          </a:ln>
        </p:spPr>
      </p:sp>
      <p:sp>
        <p:nvSpPr>
          <p:cNvPr id="107" name="Text 105"/>
          <p:cNvSpPr/>
          <p:nvPr/>
        </p:nvSpPr>
        <p:spPr>
          <a:xfrm>
            <a:off x="11375136" y="5861304"/>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
        <p:nvSpPr>
          <p:cNvPr id="108" name="Shape 106"/>
          <p:cNvSpPr/>
          <p:nvPr/>
        </p:nvSpPr>
        <p:spPr>
          <a:xfrm>
            <a:off x="6236208" y="6382512"/>
            <a:ext cx="6016752" cy="0"/>
          </a:xfrm>
          <a:prstGeom prst="line">
            <a:avLst/>
          </a:prstGeom>
          <a:noFill/>
          <a:ln w="6350">
            <a:solidFill>
              <a:srgbClr val="E5E7EB"/>
            </a:solidFill>
            <a:prstDash val="solid"/>
          </a:ln>
        </p:spPr>
      </p:sp>
      <p:sp>
        <p:nvSpPr>
          <p:cNvPr id="109" name="Text 107"/>
          <p:cNvSpPr/>
          <p:nvPr/>
        </p:nvSpPr>
        <p:spPr>
          <a:xfrm>
            <a:off x="6309360" y="6400800"/>
            <a:ext cx="777240" cy="832104"/>
          </a:xfrm>
          <a:prstGeom prst="rect">
            <a:avLst/>
          </a:prstGeom>
          <a:noFill/>
          <a:ln/>
        </p:spPr>
        <p:txBody>
          <a:bodyPr wrap="square" lIns="0" tIns="0" rIns="0" bIns="0" rtlCol="0" anchor="ctr"/>
          <a:lstStyle/>
          <a:p>
            <a:pPr indent="0" marL="0">
              <a:buNone/>
            </a:pPr>
            <a:r>
              <a:rPr lang="en-US" sz="750" b="1" dirty="0">
                <a:solidFill>
                  <a:srgbClr val="1F2937"/>
                </a:solidFill>
              </a:rPr>
              <a:t>Testing</a:t>
            </a:r>
            <a:endParaRPr lang="en-US" sz="750" dirty="0"/>
          </a:p>
        </p:txBody>
      </p:sp>
      <p:sp>
        <p:nvSpPr>
          <p:cNvPr id="110" name="Text 108"/>
          <p:cNvSpPr/>
          <p:nvPr/>
        </p:nvSpPr>
        <p:spPr>
          <a:xfrm>
            <a:off x="7104888" y="6409944"/>
            <a:ext cx="4178808" cy="813816"/>
          </a:xfrm>
          <a:prstGeom prst="rect">
            <a:avLst/>
          </a:prstGeom>
          <a:noFill/>
          <a:ln/>
        </p:spPr>
        <p:txBody>
          <a:bodyPr wrap="square" lIns="0" tIns="0" rIns="0" bIns="0" rtlCol="0" anchor="t"/>
          <a:lstStyle/>
          <a:p>
            <a:pPr indent="0" marL="0">
              <a:buNone/>
            </a:pPr>
            <a:r>
              <a:rPr lang="en-US" sz="650" dirty="0">
                <a:solidFill>
                  <a:srgbClr val="374151"/>
                </a:solidFill>
              </a:rPr>
              <a:t>The team is building a CI pipeline to push iOS and Android builds to staging and TestFlight more frequently.</a:t>
            </a:r>
            <a:endParaRPr lang="en-US" sz="650" dirty="0"/>
          </a:p>
        </p:txBody>
      </p:sp>
      <p:sp>
        <p:nvSpPr>
          <p:cNvPr id="111" name="Shape 109"/>
          <p:cNvSpPr/>
          <p:nvPr/>
        </p:nvSpPr>
        <p:spPr>
          <a:xfrm>
            <a:off x="11375136" y="6729984"/>
            <a:ext cx="822960" cy="173736"/>
          </a:xfrm>
          <a:prstGeom prst="roundRect">
            <a:avLst>
              <a:gd name="adj" fmla="val 15789"/>
            </a:avLst>
          </a:prstGeom>
          <a:solidFill>
            <a:srgbClr val="1558A8"/>
          </a:solidFill>
          <a:ln w="12700">
            <a:solidFill>
              <a:srgbClr val="1558A8"/>
            </a:solidFill>
            <a:prstDash val="solid"/>
          </a:ln>
        </p:spPr>
      </p:sp>
      <p:sp>
        <p:nvSpPr>
          <p:cNvPr id="112" name="Text 110"/>
          <p:cNvSpPr/>
          <p:nvPr/>
        </p:nvSpPr>
        <p:spPr>
          <a:xfrm>
            <a:off x="11375136" y="6729984"/>
            <a:ext cx="822960" cy="173736"/>
          </a:xfrm>
          <a:prstGeom prst="rect">
            <a:avLst/>
          </a:prstGeom>
          <a:noFill/>
          <a:ln/>
        </p:spPr>
        <p:txBody>
          <a:bodyPr wrap="square" lIns="0" tIns="0" rIns="0" bIns="0" rtlCol="0" anchor="ctr"/>
          <a:lstStyle/>
          <a:p>
            <a:pPr algn="ctr" indent="0" marL="0">
              <a:buNone/>
            </a:pPr>
            <a:r>
              <a:rPr lang="en-US" sz="650" b="1" dirty="0">
                <a:solidFill>
                  <a:srgbClr val="FFFFFF"/>
                </a:solidFill>
              </a:rPr>
              <a:t>In Progress</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344400" cy="457200"/>
          </a:xfrm>
          <a:prstGeom prst="rect">
            <a:avLst/>
          </a:prstGeom>
          <a:solidFill>
            <a:srgbClr val="8ED973"/>
          </a:solidFill>
          <a:ln w="12700">
            <a:solidFill>
              <a:srgbClr val="8ED973"/>
            </a:solidFill>
            <a:prstDash val="solid"/>
          </a:ln>
        </p:spPr>
      </p:sp>
      <p:sp>
        <p:nvSpPr>
          <p:cNvPr id="3" name="Text 1"/>
          <p:cNvSpPr/>
          <p:nvPr/>
        </p:nvSpPr>
        <p:spPr>
          <a:xfrm>
            <a:off x="201168" y="0"/>
            <a:ext cx="8229600" cy="457200"/>
          </a:xfrm>
          <a:prstGeom prst="rect">
            <a:avLst/>
          </a:prstGeom>
          <a:noFill/>
          <a:ln/>
        </p:spPr>
        <p:txBody>
          <a:bodyPr wrap="square" lIns="0" tIns="0" rIns="0" bIns="0" rtlCol="0" anchor="ctr"/>
          <a:lstStyle/>
          <a:p>
            <a:pPr algn="l" indent="0" marL="0">
              <a:buNone/>
            </a:pPr>
            <a:r>
              <a:rPr lang="en-US" sz="1600" b="1" dirty="0">
                <a:solidFill>
                  <a:srgbClr val="000000"/>
                </a:solidFill>
              </a:rPr>
              <a:t>Project SABR</a:t>
            </a:r>
            <a:endParaRPr lang="en-US" sz="1600" dirty="0"/>
          </a:p>
        </p:txBody>
      </p:sp>
      <p:sp>
        <p:nvSpPr>
          <p:cNvPr id="4" name="Text 2"/>
          <p:cNvSpPr/>
          <p:nvPr/>
        </p:nvSpPr>
        <p:spPr>
          <a:xfrm>
            <a:off x="8686800" y="0"/>
            <a:ext cx="3337560" cy="457200"/>
          </a:xfrm>
          <a:prstGeom prst="rect">
            <a:avLst/>
          </a:prstGeom>
          <a:noFill/>
          <a:ln/>
        </p:spPr>
        <p:txBody>
          <a:bodyPr wrap="square" lIns="0" tIns="0" rIns="0" bIns="0" rtlCol="0" anchor="ctr"/>
          <a:lstStyle/>
          <a:p>
            <a:pPr algn="r" indent="0" marL="0">
              <a:buNone/>
            </a:pPr>
            <a:r>
              <a:rPr lang="en-US" sz="1100" dirty="0">
                <a:solidFill>
                  <a:srgbClr val="388849"/>
                </a:solidFill>
              </a:rPr>
              <a:t>CPR  ·  Aug 6, 2026</a:t>
            </a:r>
            <a:endParaRPr lang="en-US" sz="1100" dirty="0"/>
          </a:p>
        </p:txBody>
      </p:sp>
      <p:sp>
        <p:nvSpPr>
          <p:cNvPr id="5" name="Shape 3"/>
          <p:cNvSpPr/>
          <p:nvPr/>
        </p:nvSpPr>
        <p:spPr>
          <a:xfrm>
            <a:off x="0" y="457200"/>
            <a:ext cx="12344400" cy="347472"/>
          </a:xfrm>
          <a:prstGeom prst="rect">
            <a:avLst/>
          </a:prstGeom>
          <a:solidFill>
            <a:srgbClr val="EFF7F3"/>
          </a:solidFill>
          <a:ln w="12700">
            <a:solidFill>
              <a:srgbClr val="CCE4D8"/>
            </a:solidFill>
            <a:prstDash val="solid"/>
          </a:ln>
        </p:spPr>
      </p:sp>
      <p:sp>
        <p:nvSpPr>
          <p:cNvPr id="6" name="Shape 4"/>
          <p:cNvSpPr/>
          <p:nvPr/>
        </p:nvSpPr>
        <p:spPr>
          <a:xfrm>
            <a:off x="256032" y="521208"/>
            <a:ext cx="1005840" cy="219456"/>
          </a:xfrm>
          <a:prstGeom prst="roundRect">
            <a:avLst>
              <a:gd name="adj" fmla="val 20833"/>
            </a:avLst>
          </a:prstGeom>
          <a:solidFill>
            <a:srgbClr val="DCFCE7"/>
          </a:solidFill>
          <a:ln w="9525">
            <a:solidFill>
              <a:srgbClr val="D1D5DB"/>
            </a:solidFill>
            <a:prstDash val="solid"/>
          </a:ln>
        </p:spPr>
      </p:sp>
      <p:sp>
        <p:nvSpPr>
          <p:cNvPr id="7" name="Text 5"/>
          <p:cNvSpPr/>
          <p:nvPr/>
        </p:nvSpPr>
        <p:spPr>
          <a:xfrm>
            <a:off x="256032" y="521208"/>
            <a:ext cx="1005840" cy="219456"/>
          </a:xfrm>
          <a:prstGeom prst="rect">
            <a:avLst/>
          </a:prstGeom>
          <a:noFill/>
          <a:ln/>
        </p:spPr>
        <p:txBody>
          <a:bodyPr wrap="square" lIns="0" tIns="0" rIns="0" bIns="0" rtlCol="0" anchor="ctr"/>
          <a:lstStyle/>
          <a:p>
            <a:pPr algn="ctr" indent="0" marL="0">
              <a:buNone/>
            </a:pPr>
            <a:r>
              <a:rPr lang="en-US" sz="900" b="1" dirty="0">
                <a:solidFill>
                  <a:srgbClr val="166534"/>
                </a:solidFill>
              </a:rPr>
              <a:t>3  Done</a:t>
            </a:r>
            <a:endParaRPr lang="en-US" sz="900" dirty="0"/>
          </a:p>
        </p:txBody>
      </p:sp>
      <p:sp>
        <p:nvSpPr>
          <p:cNvPr id="8" name="Shape 6"/>
          <p:cNvSpPr/>
          <p:nvPr/>
        </p:nvSpPr>
        <p:spPr>
          <a:xfrm>
            <a:off x="1389888" y="521208"/>
            <a:ext cx="1325880" cy="219456"/>
          </a:xfrm>
          <a:prstGeom prst="roundRect">
            <a:avLst>
              <a:gd name="adj" fmla="val 20833"/>
            </a:avLst>
          </a:prstGeom>
          <a:solidFill>
            <a:srgbClr val="DBEAFE"/>
          </a:solidFill>
          <a:ln w="9525">
            <a:solidFill>
              <a:srgbClr val="D1D5DB"/>
            </a:solidFill>
            <a:prstDash val="solid"/>
          </a:ln>
        </p:spPr>
      </p:sp>
      <p:sp>
        <p:nvSpPr>
          <p:cNvPr id="9" name="Text 7"/>
          <p:cNvSpPr/>
          <p:nvPr/>
        </p:nvSpPr>
        <p:spPr>
          <a:xfrm>
            <a:off x="1389888" y="521208"/>
            <a:ext cx="1325880" cy="219456"/>
          </a:xfrm>
          <a:prstGeom prst="rect">
            <a:avLst/>
          </a:prstGeom>
          <a:noFill/>
          <a:ln/>
        </p:spPr>
        <p:txBody>
          <a:bodyPr wrap="square" lIns="0" tIns="0" rIns="0" bIns="0" rtlCol="0" anchor="ctr"/>
          <a:lstStyle/>
          <a:p>
            <a:pPr algn="ctr" indent="0" marL="0">
              <a:buNone/>
            </a:pPr>
            <a:r>
              <a:rPr lang="en-US" sz="900" b="1" dirty="0">
                <a:solidFill>
                  <a:srgbClr val="1D4ED8"/>
                </a:solidFill>
              </a:rPr>
              <a:t>29  In Progress</a:t>
            </a:r>
            <a:endParaRPr lang="en-US" sz="900" dirty="0"/>
          </a:p>
        </p:txBody>
      </p:sp>
      <p:sp>
        <p:nvSpPr>
          <p:cNvPr id="10" name="Shape 8"/>
          <p:cNvSpPr/>
          <p:nvPr/>
        </p:nvSpPr>
        <p:spPr>
          <a:xfrm>
            <a:off x="2843784" y="521208"/>
            <a:ext cx="1325880" cy="219456"/>
          </a:xfrm>
          <a:prstGeom prst="roundRect">
            <a:avLst>
              <a:gd name="adj" fmla="val 20833"/>
            </a:avLst>
          </a:prstGeom>
          <a:solidFill>
            <a:srgbClr val="F3F4F6"/>
          </a:solidFill>
          <a:ln w="9525">
            <a:solidFill>
              <a:srgbClr val="D1D5DB"/>
            </a:solidFill>
            <a:prstDash val="solid"/>
          </a:ln>
        </p:spPr>
      </p:sp>
      <p:sp>
        <p:nvSpPr>
          <p:cNvPr id="11" name="Text 9"/>
          <p:cNvSpPr/>
          <p:nvPr/>
        </p:nvSpPr>
        <p:spPr>
          <a:xfrm>
            <a:off x="2843784" y="521208"/>
            <a:ext cx="1325880" cy="219456"/>
          </a:xfrm>
          <a:prstGeom prst="rect">
            <a:avLst/>
          </a:prstGeom>
          <a:noFill/>
          <a:ln/>
        </p:spPr>
        <p:txBody>
          <a:bodyPr wrap="square" lIns="0" tIns="0" rIns="0" bIns="0" rtlCol="0" anchor="ctr"/>
          <a:lstStyle/>
          <a:p>
            <a:pPr algn="ctr" indent="0" marL="0">
              <a:buNone/>
            </a:pPr>
            <a:r>
              <a:rPr lang="en-US" sz="900" b="1" dirty="0">
                <a:solidFill>
                  <a:srgbClr val="374151"/>
                </a:solidFill>
              </a:rPr>
              <a:t>3  Not Started</a:t>
            </a:r>
            <a:endParaRPr lang="en-US" sz="900" dirty="0"/>
          </a:p>
        </p:txBody>
      </p:sp>
      <p:sp>
        <p:nvSpPr>
          <p:cNvPr id="12" name="Shape 10"/>
          <p:cNvSpPr/>
          <p:nvPr/>
        </p:nvSpPr>
        <p:spPr>
          <a:xfrm>
            <a:off x="4297680" y="521208"/>
            <a:ext cx="1005840" cy="219456"/>
          </a:xfrm>
          <a:prstGeom prst="roundRect">
            <a:avLst>
              <a:gd name="adj" fmla="val 20833"/>
            </a:avLst>
          </a:prstGeom>
          <a:solidFill>
            <a:srgbClr val="FEE2E2"/>
          </a:solidFill>
          <a:ln w="9525">
            <a:solidFill>
              <a:srgbClr val="D1D5DB"/>
            </a:solidFill>
            <a:prstDash val="solid"/>
          </a:ln>
        </p:spPr>
      </p:sp>
      <p:sp>
        <p:nvSpPr>
          <p:cNvPr id="13" name="Text 11"/>
          <p:cNvSpPr/>
          <p:nvPr/>
        </p:nvSpPr>
        <p:spPr>
          <a:xfrm>
            <a:off x="4297680" y="521208"/>
            <a:ext cx="1005840" cy="219456"/>
          </a:xfrm>
          <a:prstGeom prst="rect">
            <a:avLst/>
          </a:prstGeom>
          <a:noFill/>
          <a:ln/>
        </p:spPr>
        <p:txBody>
          <a:bodyPr wrap="square" lIns="0" tIns="0" rIns="0" bIns="0" rtlCol="0" anchor="ctr"/>
          <a:lstStyle/>
          <a:p>
            <a:pPr algn="ctr" indent="0" marL="0">
              <a:buNone/>
            </a:pPr>
            <a:r>
              <a:rPr lang="en-US" sz="900" b="1" dirty="0">
                <a:solidFill>
                  <a:srgbClr val="7F1D1D"/>
                </a:solidFill>
              </a:rPr>
              <a:t>0  Blocked</a:t>
            </a:r>
            <a:endParaRPr lang="en-US" sz="900" dirty="0"/>
          </a:p>
        </p:txBody>
      </p:sp>
      <p:sp>
        <p:nvSpPr>
          <p:cNvPr id="14" name="Shape 12"/>
          <p:cNvSpPr/>
          <p:nvPr/>
        </p:nvSpPr>
        <p:spPr>
          <a:xfrm>
            <a:off x="5431536" y="521208"/>
            <a:ext cx="2377440" cy="219456"/>
          </a:xfrm>
          <a:prstGeom prst="roundRect">
            <a:avLst>
              <a:gd name="adj" fmla="val 20833"/>
            </a:avLst>
          </a:prstGeom>
          <a:solidFill>
            <a:srgbClr val="FFFFFF"/>
          </a:solidFill>
          <a:ln w="9525">
            <a:solidFill>
              <a:srgbClr val="D1D5DB"/>
            </a:solidFill>
            <a:prstDash val="solid"/>
          </a:ln>
        </p:spPr>
      </p:sp>
      <p:sp>
        <p:nvSpPr>
          <p:cNvPr id="15" name="Text 13"/>
          <p:cNvSpPr/>
          <p:nvPr/>
        </p:nvSpPr>
        <p:spPr>
          <a:xfrm>
            <a:off x="5431536" y="521208"/>
            <a:ext cx="2377440" cy="219456"/>
          </a:xfrm>
          <a:prstGeom prst="rect">
            <a:avLst/>
          </a:prstGeom>
          <a:noFill/>
          <a:ln/>
        </p:spPr>
        <p:txBody>
          <a:bodyPr wrap="square" lIns="0" tIns="0" rIns="0" bIns="0" rtlCol="0" anchor="ctr"/>
          <a:lstStyle/>
          <a:p>
            <a:pPr algn="ctr" indent="0" marL="0">
              <a:buNone/>
            </a:pPr>
            <a:r>
              <a:rPr lang="en-US" sz="900" b="1" dirty="0">
                <a:solidFill>
                  <a:srgbClr val="374151"/>
                </a:solidFill>
              </a:rPr>
              <a:t>Sep 30, 2026  ·  Beta</a:t>
            </a:r>
            <a:endParaRPr lang="en-US" sz="900" dirty="0"/>
          </a:p>
        </p:txBody>
      </p:sp>
      <p:sp>
        <p:nvSpPr>
          <p:cNvPr id="16" name="Shape 14"/>
          <p:cNvSpPr/>
          <p:nvPr/>
        </p:nvSpPr>
        <p:spPr>
          <a:xfrm>
            <a:off x="0" y="6876288"/>
            <a:ext cx="12344400" cy="438912"/>
          </a:xfrm>
          <a:prstGeom prst="rect">
            <a:avLst/>
          </a:prstGeom>
          <a:solidFill>
            <a:srgbClr val="F4F6F8"/>
          </a:solidFill>
          <a:ln w="12700">
            <a:solidFill>
              <a:srgbClr val="D1D5DB"/>
            </a:solidFill>
            <a:prstDash val="solid"/>
          </a:ln>
        </p:spPr>
      </p:sp>
      <p:sp>
        <p:nvSpPr>
          <p:cNvPr id="17" name="Text 15"/>
          <p:cNvSpPr/>
          <p:nvPr/>
        </p:nvSpPr>
        <p:spPr>
          <a:xfrm>
            <a:off x="201168" y="6876288"/>
            <a:ext cx="5029200" cy="438912"/>
          </a:xfrm>
          <a:prstGeom prst="rect">
            <a:avLst/>
          </a:prstGeom>
          <a:noFill/>
          <a:ln/>
        </p:spPr>
        <p:txBody>
          <a:bodyPr wrap="square" lIns="0" tIns="0" rIns="0" bIns="0" rtlCol="0" anchor="ctr"/>
          <a:lstStyle/>
          <a:p>
            <a:pPr algn="l" indent="0" marL="0">
              <a:buNone/>
            </a:pPr>
            <a:r>
              <a:rPr lang="en-US" sz="800" dirty="0">
                <a:solidFill>
                  <a:srgbClr val="9CA3AF"/>
                </a:solidFill>
              </a:rPr>
              <a:t>Project SABR  ·  Tennis Channel OTT  ·  CONFIDENTIAL</a:t>
            </a:r>
            <a:endParaRPr lang="en-US" sz="800" dirty="0"/>
          </a:p>
        </p:txBody>
      </p:sp>
      <p:sp>
        <p:nvSpPr>
          <p:cNvPr id="18" name="Text 16"/>
          <p:cNvSpPr/>
          <p:nvPr/>
        </p:nvSpPr>
        <p:spPr>
          <a:xfrm>
            <a:off x="5486400" y="6876288"/>
            <a:ext cx="4572000" cy="438912"/>
          </a:xfrm>
          <a:prstGeom prst="rect">
            <a:avLst/>
          </a:prstGeom>
          <a:noFill/>
          <a:ln/>
        </p:spPr>
        <p:txBody>
          <a:bodyPr wrap="square" lIns="0" tIns="0" rIns="0" bIns="0" rtlCol="0" anchor="ctr"/>
          <a:lstStyle/>
          <a:p>
            <a:pPr algn="ctr" indent="0" marL="0">
              <a:buNone/>
            </a:pPr>
            <a:r>
              <a:rPr lang="en-US" sz="800" dirty="0">
                <a:solidFill>
                  <a:srgbClr val="9CA3AF"/>
                </a:solidFill>
              </a:rPr>
              <a:t>Beta: Sep 30, 2026  ·  55 days remaining</a:t>
            </a:r>
            <a:endParaRPr lang="en-US" sz="800" dirty="0"/>
          </a:p>
        </p:txBody>
      </p:sp>
      <p:sp>
        <p:nvSpPr>
          <p:cNvPr id="19" name="Text 17"/>
          <p:cNvSpPr/>
          <p:nvPr/>
        </p:nvSpPr>
        <p:spPr>
          <a:xfrm>
            <a:off x="10515600" y="6876288"/>
            <a:ext cx="1508760" cy="438912"/>
          </a:xfrm>
          <a:prstGeom prst="rect">
            <a:avLst/>
          </a:prstGeom>
          <a:noFill/>
          <a:ln/>
        </p:spPr>
        <p:txBody>
          <a:bodyPr wrap="square" lIns="0" tIns="0" rIns="0" bIns="0" rtlCol="0" anchor="ctr"/>
          <a:lstStyle/>
          <a:p>
            <a:pPr algn="r" indent="0" marL="0">
              <a:buNone/>
            </a:pPr>
            <a:r>
              <a:rPr lang="en-US" sz="1100" b="1" dirty="0">
                <a:solidFill>
                  <a:srgbClr val="388849"/>
                </a:solidFill>
              </a:rPr>
              <a:t>9% Ready</a:t>
            </a:r>
            <a:endParaRPr lang="en-US" sz="1100" dirty="0"/>
          </a:p>
        </p:txBody>
      </p:sp>
      <p:sp>
        <p:nvSpPr>
          <p:cNvPr id="20" name="Shape 18"/>
          <p:cNvSpPr/>
          <p:nvPr/>
        </p:nvSpPr>
        <p:spPr>
          <a:xfrm>
            <a:off x="164592" y="804672"/>
            <a:ext cx="9116568" cy="966216"/>
          </a:xfrm>
          <a:prstGeom prst="rect">
            <a:avLst/>
          </a:prstGeom>
          <a:solidFill>
            <a:srgbClr val="FAFBFC"/>
          </a:solidFill>
          <a:ln w="6350">
            <a:solidFill>
              <a:srgbClr val="E5E7EB"/>
            </a:solidFill>
            <a:prstDash val="solid"/>
          </a:ln>
        </p:spPr>
      </p:sp>
      <p:sp>
        <p:nvSpPr>
          <p:cNvPr id="21" name="Shape 19"/>
          <p:cNvSpPr/>
          <p:nvPr/>
        </p:nvSpPr>
        <p:spPr>
          <a:xfrm>
            <a:off x="182880" y="877824"/>
            <a:ext cx="859536" cy="819912"/>
          </a:xfrm>
          <a:prstGeom prst="roundRect">
            <a:avLst>
              <a:gd name="adj" fmla="val 5576"/>
            </a:avLst>
          </a:prstGeom>
          <a:solidFill>
            <a:srgbClr val="9CA3AF"/>
          </a:solidFill>
          <a:ln w="12700">
            <a:solidFill>
              <a:srgbClr val="9CA3AF"/>
            </a:solidFill>
            <a:prstDash val="solid"/>
          </a:ln>
        </p:spPr>
      </p:sp>
      <p:sp>
        <p:nvSpPr>
          <p:cNvPr id="22" name="Text 20"/>
          <p:cNvSpPr/>
          <p:nvPr/>
        </p:nvSpPr>
        <p:spPr>
          <a:xfrm>
            <a:off x="182880" y="877824"/>
            <a:ext cx="859536" cy="819912"/>
          </a:xfrm>
          <a:prstGeom prst="rect">
            <a:avLst/>
          </a:prstGeom>
          <a:noFill/>
          <a:ln/>
        </p:spPr>
        <p:txBody>
          <a:bodyPr wrap="square" lIns="0" tIns="0" rIns="0" bIns="0" rtlCol="0" anchor="ctr"/>
          <a:lstStyle/>
          <a:p>
            <a:pPr algn="ctr" indent="0" marL="0">
              <a:buNone/>
            </a:pPr>
            <a:r>
              <a:rPr lang="en-US" sz="800" b="1" dirty="0">
                <a:solidFill>
                  <a:srgbClr val="FFFFFF"/>
                </a:solidFill>
              </a:rPr>
              <a:t>Platforms</a:t>
            </a:r>
            <a:endParaRPr lang="en-US" sz="800" dirty="0"/>
          </a:p>
        </p:txBody>
      </p:sp>
      <p:sp>
        <p:nvSpPr>
          <p:cNvPr id="23" name="Text 21"/>
          <p:cNvSpPr/>
          <p:nvPr/>
        </p:nvSpPr>
        <p:spPr>
          <a:xfrm>
            <a:off x="1170432" y="85039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7 In Progress</a:t>
            </a:r>
            <a:endParaRPr lang="en-US" sz="750" dirty="0"/>
          </a:p>
        </p:txBody>
      </p:sp>
      <p:sp>
        <p:nvSpPr>
          <p:cNvPr id="24" name="Shape 22"/>
          <p:cNvSpPr/>
          <p:nvPr/>
        </p:nvSpPr>
        <p:spPr>
          <a:xfrm>
            <a:off x="1170432" y="1069848"/>
            <a:ext cx="932688" cy="182880"/>
          </a:xfrm>
          <a:prstGeom prst="roundRect">
            <a:avLst>
              <a:gd name="adj" fmla="val 15000"/>
            </a:avLst>
          </a:prstGeom>
          <a:solidFill>
            <a:srgbClr val="FFFFFF"/>
          </a:solidFill>
          <a:ln w="9525">
            <a:solidFill>
              <a:srgbClr val="CBD5E1"/>
            </a:solidFill>
            <a:prstDash val="solid"/>
          </a:ln>
        </p:spPr>
      </p:sp>
      <p:sp>
        <p:nvSpPr>
          <p:cNvPr id="25" name="Text 23"/>
          <p:cNvSpPr/>
          <p:nvPr/>
        </p:nvSpPr>
        <p:spPr>
          <a:xfrm>
            <a:off x="1170432"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TC.com</a:t>
            </a:r>
            <a:endParaRPr lang="en-US" sz="750" dirty="0"/>
          </a:p>
        </p:txBody>
      </p:sp>
      <p:sp>
        <p:nvSpPr>
          <p:cNvPr id="26" name="Shape 24"/>
          <p:cNvSpPr/>
          <p:nvPr/>
        </p:nvSpPr>
        <p:spPr>
          <a:xfrm>
            <a:off x="1170432" y="1280160"/>
            <a:ext cx="932688" cy="155448"/>
          </a:xfrm>
          <a:prstGeom prst="roundRect">
            <a:avLst>
              <a:gd name="adj" fmla="val 17647"/>
            </a:avLst>
          </a:prstGeom>
          <a:solidFill>
            <a:srgbClr val="1558A8"/>
          </a:solidFill>
          <a:ln w="12700">
            <a:solidFill>
              <a:srgbClr val="1558A8"/>
            </a:solidFill>
            <a:prstDash val="solid"/>
          </a:ln>
        </p:spPr>
      </p:sp>
      <p:sp>
        <p:nvSpPr>
          <p:cNvPr id="27" name="Text 25"/>
          <p:cNvSpPr/>
          <p:nvPr/>
        </p:nvSpPr>
        <p:spPr>
          <a:xfrm>
            <a:off x="1170432"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28" name="Shape 26"/>
          <p:cNvSpPr/>
          <p:nvPr/>
        </p:nvSpPr>
        <p:spPr>
          <a:xfrm>
            <a:off x="2185416" y="1069848"/>
            <a:ext cx="932688" cy="182880"/>
          </a:xfrm>
          <a:prstGeom prst="roundRect">
            <a:avLst>
              <a:gd name="adj" fmla="val 15000"/>
            </a:avLst>
          </a:prstGeom>
          <a:solidFill>
            <a:srgbClr val="FFFFFF"/>
          </a:solidFill>
          <a:ln w="9525">
            <a:solidFill>
              <a:srgbClr val="CBD5E1"/>
            </a:solidFill>
            <a:prstDash val="solid"/>
          </a:ln>
        </p:spPr>
      </p:sp>
      <p:sp>
        <p:nvSpPr>
          <p:cNvPr id="29" name="Text 27"/>
          <p:cNvSpPr/>
          <p:nvPr/>
        </p:nvSpPr>
        <p:spPr>
          <a:xfrm>
            <a:off x="2185416"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iOS</a:t>
            </a:r>
            <a:endParaRPr lang="en-US" sz="750" dirty="0"/>
          </a:p>
        </p:txBody>
      </p:sp>
      <p:sp>
        <p:nvSpPr>
          <p:cNvPr id="30" name="Shape 28"/>
          <p:cNvSpPr/>
          <p:nvPr/>
        </p:nvSpPr>
        <p:spPr>
          <a:xfrm>
            <a:off x="2185416" y="1280160"/>
            <a:ext cx="932688" cy="155448"/>
          </a:xfrm>
          <a:prstGeom prst="roundRect">
            <a:avLst>
              <a:gd name="adj" fmla="val 17647"/>
            </a:avLst>
          </a:prstGeom>
          <a:solidFill>
            <a:srgbClr val="1558A8"/>
          </a:solidFill>
          <a:ln w="12700">
            <a:solidFill>
              <a:srgbClr val="1558A8"/>
            </a:solidFill>
            <a:prstDash val="solid"/>
          </a:ln>
        </p:spPr>
      </p:sp>
      <p:sp>
        <p:nvSpPr>
          <p:cNvPr id="31" name="Text 29"/>
          <p:cNvSpPr/>
          <p:nvPr/>
        </p:nvSpPr>
        <p:spPr>
          <a:xfrm>
            <a:off x="2185416"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2" name="Shape 30"/>
          <p:cNvSpPr/>
          <p:nvPr/>
        </p:nvSpPr>
        <p:spPr>
          <a:xfrm>
            <a:off x="3200400" y="1069848"/>
            <a:ext cx="932688" cy="182880"/>
          </a:xfrm>
          <a:prstGeom prst="roundRect">
            <a:avLst>
              <a:gd name="adj" fmla="val 15000"/>
            </a:avLst>
          </a:prstGeom>
          <a:solidFill>
            <a:srgbClr val="FFFFFF"/>
          </a:solidFill>
          <a:ln w="9525">
            <a:solidFill>
              <a:srgbClr val="CBD5E1"/>
            </a:solidFill>
            <a:prstDash val="solid"/>
          </a:ln>
        </p:spPr>
      </p:sp>
      <p:sp>
        <p:nvSpPr>
          <p:cNvPr id="33" name="Text 31"/>
          <p:cNvSpPr/>
          <p:nvPr/>
        </p:nvSpPr>
        <p:spPr>
          <a:xfrm>
            <a:off x="3200400"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Android</a:t>
            </a:r>
            <a:endParaRPr lang="en-US" sz="750" dirty="0"/>
          </a:p>
        </p:txBody>
      </p:sp>
      <p:sp>
        <p:nvSpPr>
          <p:cNvPr id="34" name="Shape 32"/>
          <p:cNvSpPr/>
          <p:nvPr/>
        </p:nvSpPr>
        <p:spPr>
          <a:xfrm>
            <a:off x="3200400" y="1280160"/>
            <a:ext cx="932688" cy="155448"/>
          </a:xfrm>
          <a:prstGeom prst="roundRect">
            <a:avLst>
              <a:gd name="adj" fmla="val 17647"/>
            </a:avLst>
          </a:prstGeom>
          <a:solidFill>
            <a:srgbClr val="1558A8"/>
          </a:solidFill>
          <a:ln w="12700">
            <a:solidFill>
              <a:srgbClr val="1558A8"/>
            </a:solidFill>
            <a:prstDash val="solid"/>
          </a:ln>
        </p:spPr>
      </p:sp>
      <p:sp>
        <p:nvSpPr>
          <p:cNvPr id="35" name="Text 33"/>
          <p:cNvSpPr/>
          <p:nvPr/>
        </p:nvSpPr>
        <p:spPr>
          <a:xfrm>
            <a:off x="3200400"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6" name="Shape 34"/>
          <p:cNvSpPr/>
          <p:nvPr/>
        </p:nvSpPr>
        <p:spPr>
          <a:xfrm>
            <a:off x="4215384" y="1069848"/>
            <a:ext cx="932688" cy="182880"/>
          </a:xfrm>
          <a:prstGeom prst="roundRect">
            <a:avLst>
              <a:gd name="adj" fmla="val 15000"/>
            </a:avLst>
          </a:prstGeom>
          <a:solidFill>
            <a:srgbClr val="FFFFFF"/>
          </a:solidFill>
          <a:ln w="9525">
            <a:solidFill>
              <a:srgbClr val="CBD5E1"/>
            </a:solidFill>
            <a:prstDash val="solid"/>
          </a:ln>
        </p:spPr>
      </p:sp>
      <p:sp>
        <p:nvSpPr>
          <p:cNvPr id="37" name="Text 35"/>
          <p:cNvSpPr/>
          <p:nvPr/>
        </p:nvSpPr>
        <p:spPr>
          <a:xfrm>
            <a:off x="4215384"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Roku</a:t>
            </a:r>
            <a:endParaRPr lang="en-US" sz="750" dirty="0"/>
          </a:p>
        </p:txBody>
      </p:sp>
      <p:sp>
        <p:nvSpPr>
          <p:cNvPr id="38" name="Shape 36"/>
          <p:cNvSpPr/>
          <p:nvPr/>
        </p:nvSpPr>
        <p:spPr>
          <a:xfrm>
            <a:off x="4215384" y="1280160"/>
            <a:ext cx="932688" cy="155448"/>
          </a:xfrm>
          <a:prstGeom prst="roundRect">
            <a:avLst>
              <a:gd name="adj" fmla="val 17647"/>
            </a:avLst>
          </a:prstGeom>
          <a:solidFill>
            <a:srgbClr val="1558A8"/>
          </a:solidFill>
          <a:ln w="12700">
            <a:solidFill>
              <a:srgbClr val="1558A8"/>
            </a:solidFill>
            <a:prstDash val="solid"/>
          </a:ln>
        </p:spPr>
      </p:sp>
      <p:sp>
        <p:nvSpPr>
          <p:cNvPr id="39" name="Text 37"/>
          <p:cNvSpPr/>
          <p:nvPr/>
        </p:nvSpPr>
        <p:spPr>
          <a:xfrm>
            <a:off x="4215384"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0" name="Shape 38"/>
          <p:cNvSpPr/>
          <p:nvPr/>
        </p:nvSpPr>
        <p:spPr>
          <a:xfrm>
            <a:off x="5230368" y="1069848"/>
            <a:ext cx="932688" cy="182880"/>
          </a:xfrm>
          <a:prstGeom prst="roundRect">
            <a:avLst>
              <a:gd name="adj" fmla="val 15000"/>
            </a:avLst>
          </a:prstGeom>
          <a:solidFill>
            <a:srgbClr val="FFFFFF"/>
          </a:solidFill>
          <a:ln w="9525">
            <a:solidFill>
              <a:srgbClr val="CBD5E1"/>
            </a:solidFill>
            <a:prstDash val="solid"/>
          </a:ln>
        </p:spPr>
      </p:sp>
      <p:sp>
        <p:nvSpPr>
          <p:cNvPr id="41" name="Text 39"/>
          <p:cNvSpPr/>
          <p:nvPr/>
        </p:nvSpPr>
        <p:spPr>
          <a:xfrm>
            <a:off x="5230368"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Fire TV</a:t>
            </a:r>
            <a:endParaRPr lang="en-US" sz="750" dirty="0"/>
          </a:p>
        </p:txBody>
      </p:sp>
      <p:sp>
        <p:nvSpPr>
          <p:cNvPr id="42" name="Shape 40"/>
          <p:cNvSpPr/>
          <p:nvPr/>
        </p:nvSpPr>
        <p:spPr>
          <a:xfrm>
            <a:off x="5230368" y="1280160"/>
            <a:ext cx="932688" cy="155448"/>
          </a:xfrm>
          <a:prstGeom prst="roundRect">
            <a:avLst>
              <a:gd name="adj" fmla="val 17647"/>
            </a:avLst>
          </a:prstGeom>
          <a:solidFill>
            <a:srgbClr val="F3F4F6"/>
          </a:solidFill>
          <a:ln w="9525">
            <a:solidFill>
              <a:srgbClr val="D1D5DB"/>
            </a:solidFill>
            <a:prstDash val="solid"/>
          </a:ln>
        </p:spPr>
      </p:sp>
      <p:sp>
        <p:nvSpPr>
          <p:cNvPr id="43" name="Text 41"/>
          <p:cNvSpPr/>
          <p:nvPr/>
        </p:nvSpPr>
        <p:spPr>
          <a:xfrm>
            <a:off x="5230368" y="128016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44" name="Shape 42"/>
          <p:cNvSpPr/>
          <p:nvPr/>
        </p:nvSpPr>
        <p:spPr>
          <a:xfrm>
            <a:off x="6245352" y="1069848"/>
            <a:ext cx="932688" cy="182880"/>
          </a:xfrm>
          <a:prstGeom prst="roundRect">
            <a:avLst>
              <a:gd name="adj" fmla="val 15000"/>
            </a:avLst>
          </a:prstGeom>
          <a:solidFill>
            <a:srgbClr val="FFFFFF"/>
          </a:solidFill>
          <a:ln w="9525">
            <a:solidFill>
              <a:srgbClr val="CBD5E1"/>
            </a:solidFill>
            <a:prstDash val="solid"/>
          </a:ln>
        </p:spPr>
      </p:sp>
      <p:sp>
        <p:nvSpPr>
          <p:cNvPr id="45" name="Text 43"/>
          <p:cNvSpPr/>
          <p:nvPr/>
        </p:nvSpPr>
        <p:spPr>
          <a:xfrm>
            <a:off x="6245352"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Samsung</a:t>
            </a:r>
            <a:endParaRPr lang="en-US" sz="750" dirty="0"/>
          </a:p>
        </p:txBody>
      </p:sp>
      <p:sp>
        <p:nvSpPr>
          <p:cNvPr id="46" name="Shape 44"/>
          <p:cNvSpPr/>
          <p:nvPr/>
        </p:nvSpPr>
        <p:spPr>
          <a:xfrm>
            <a:off x="6245352" y="1280160"/>
            <a:ext cx="932688" cy="155448"/>
          </a:xfrm>
          <a:prstGeom prst="roundRect">
            <a:avLst>
              <a:gd name="adj" fmla="val 17647"/>
            </a:avLst>
          </a:prstGeom>
          <a:solidFill>
            <a:srgbClr val="1558A8"/>
          </a:solidFill>
          <a:ln w="12700">
            <a:solidFill>
              <a:srgbClr val="1558A8"/>
            </a:solidFill>
            <a:prstDash val="solid"/>
          </a:ln>
        </p:spPr>
      </p:sp>
      <p:sp>
        <p:nvSpPr>
          <p:cNvPr id="47" name="Text 45"/>
          <p:cNvSpPr/>
          <p:nvPr/>
        </p:nvSpPr>
        <p:spPr>
          <a:xfrm>
            <a:off x="6245352"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8" name="Shape 46"/>
          <p:cNvSpPr/>
          <p:nvPr/>
        </p:nvSpPr>
        <p:spPr>
          <a:xfrm>
            <a:off x="7260336" y="1069848"/>
            <a:ext cx="932688" cy="182880"/>
          </a:xfrm>
          <a:prstGeom prst="roundRect">
            <a:avLst>
              <a:gd name="adj" fmla="val 15000"/>
            </a:avLst>
          </a:prstGeom>
          <a:solidFill>
            <a:srgbClr val="FFFFFF"/>
          </a:solidFill>
          <a:ln w="9525">
            <a:solidFill>
              <a:srgbClr val="CBD5E1"/>
            </a:solidFill>
            <a:prstDash val="solid"/>
          </a:ln>
        </p:spPr>
      </p:sp>
      <p:sp>
        <p:nvSpPr>
          <p:cNvPr id="49" name="Text 47"/>
          <p:cNvSpPr/>
          <p:nvPr/>
        </p:nvSpPr>
        <p:spPr>
          <a:xfrm>
            <a:off x="7260336"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tvOS</a:t>
            </a:r>
            <a:endParaRPr lang="en-US" sz="750" dirty="0"/>
          </a:p>
        </p:txBody>
      </p:sp>
      <p:sp>
        <p:nvSpPr>
          <p:cNvPr id="50" name="Shape 48"/>
          <p:cNvSpPr/>
          <p:nvPr/>
        </p:nvSpPr>
        <p:spPr>
          <a:xfrm>
            <a:off x="7260336" y="1280160"/>
            <a:ext cx="932688" cy="155448"/>
          </a:xfrm>
          <a:prstGeom prst="roundRect">
            <a:avLst>
              <a:gd name="adj" fmla="val 17647"/>
            </a:avLst>
          </a:prstGeom>
          <a:solidFill>
            <a:srgbClr val="1558A8"/>
          </a:solidFill>
          <a:ln w="12700">
            <a:solidFill>
              <a:srgbClr val="1558A8"/>
            </a:solidFill>
            <a:prstDash val="solid"/>
          </a:ln>
        </p:spPr>
      </p:sp>
      <p:sp>
        <p:nvSpPr>
          <p:cNvPr id="51" name="Text 49"/>
          <p:cNvSpPr/>
          <p:nvPr/>
        </p:nvSpPr>
        <p:spPr>
          <a:xfrm>
            <a:off x="7260336"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52" name="Shape 50"/>
          <p:cNvSpPr/>
          <p:nvPr/>
        </p:nvSpPr>
        <p:spPr>
          <a:xfrm>
            <a:off x="164592" y="1825752"/>
            <a:ext cx="9116568" cy="966216"/>
          </a:xfrm>
          <a:prstGeom prst="rect">
            <a:avLst/>
          </a:prstGeom>
          <a:solidFill>
            <a:srgbClr val="FFFFFF"/>
          </a:solidFill>
          <a:ln w="6350">
            <a:solidFill>
              <a:srgbClr val="E5E7EB"/>
            </a:solidFill>
            <a:prstDash val="solid"/>
          </a:ln>
        </p:spPr>
      </p:sp>
      <p:sp>
        <p:nvSpPr>
          <p:cNvPr id="53" name="Shape 51"/>
          <p:cNvSpPr/>
          <p:nvPr/>
        </p:nvSpPr>
        <p:spPr>
          <a:xfrm>
            <a:off x="182880" y="1898904"/>
            <a:ext cx="859536" cy="819912"/>
          </a:xfrm>
          <a:prstGeom prst="roundRect">
            <a:avLst>
              <a:gd name="adj" fmla="val 5576"/>
            </a:avLst>
          </a:prstGeom>
          <a:solidFill>
            <a:srgbClr val="9CA3AF"/>
          </a:solidFill>
          <a:ln w="12700">
            <a:solidFill>
              <a:srgbClr val="9CA3AF"/>
            </a:solidFill>
            <a:prstDash val="solid"/>
          </a:ln>
        </p:spPr>
      </p:sp>
      <p:sp>
        <p:nvSpPr>
          <p:cNvPr id="54" name="Text 52"/>
          <p:cNvSpPr/>
          <p:nvPr/>
        </p:nvSpPr>
        <p:spPr>
          <a:xfrm>
            <a:off x="182880" y="1898904"/>
            <a:ext cx="859536" cy="819912"/>
          </a:xfrm>
          <a:prstGeom prst="rect">
            <a:avLst/>
          </a:prstGeom>
          <a:noFill/>
          <a:ln/>
        </p:spPr>
        <p:txBody>
          <a:bodyPr wrap="square" lIns="0" tIns="0" rIns="0" bIns="0" rtlCol="0" anchor="ctr"/>
          <a:lstStyle/>
          <a:p>
            <a:pPr algn="ctr" indent="0" marL="0">
              <a:buNone/>
            </a:pPr>
            <a:r>
              <a:rPr lang="en-US" sz="800" b="1" dirty="0">
                <a:solidFill>
                  <a:srgbClr val="FFFFFF"/>
                </a:solidFill>
              </a:rPr>
              <a:t>Video</a:t>
            </a:r>
            <a:endParaRPr lang="en-US" sz="800" dirty="0"/>
          </a:p>
          <a:p>
            <a:pPr algn="ctr" indent="0" marL="0">
              <a:buNone/>
            </a:pPr>
            <a:r>
              <a:rPr lang="en-US" sz="800" b="1" dirty="0">
                <a:solidFill>
                  <a:srgbClr val="FFFFFF"/>
                </a:solidFill>
              </a:rPr>
              <a:t>Delivery</a:t>
            </a:r>
            <a:endParaRPr lang="en-US" sz="800" dirty="0"/>
          </a:p>
        </p:txBody>
      </p:sp>
      <p:sp>
        <p:nvSpPr>
          <p:cNvPr id="55" name="Text 53"/>
          <p:cNvSpPr/>
          <p:nvPr/>
        </p:nvSpPr>
        <p:spPr>
          <a:xfrm>
            <a:off x="1170432" y="187147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6 In Progress</a:t>
            </a:r>
            <a:endParaRPr lang="en-US" sz="750" dirty="0"/>
          </a:p>
        </p:txBody>
      </p:sp>
      <p:sp>
        <p:nvSpPr>
          <p:cNvPr id="56" name="Shape 54"/>
          <p:cNvSpPr/>
          <p:nvPr/>
        </p:nvSpPr>
        <p:spPr>
          <a:xfrm>
            <a:off x="1170432" y="2090928"/>
            <a:ext cx="932688" cy="182880"/>
          </a:xfrm>
          <a:prstGeom prst="roundRect">
            <a:avLst>
              <a:gd name="adj" fmla="val 15000"/>
            </a:avLst>
          </a:prstGeom>
          <a:solidFill>
            <a:srgbClr val="FFFFFF"/>
          </a:solidFill>
          <a:ln w="9525">
            <a:solidFill>
              <a:srgbClr val="CBD5E1"/>
            </a:solidFill>
            <a:prstDash val="solid"/>
          </a:ln>
        </p:spPr>
      </p:sp>
      <p:sp>
        <p:nvSpPr>
          <p:cNvPr id="57" name="Text 55"/>
          <p:cNvSpPr/>
          <p:nvPr/>
        </p:nvSpPr>
        <p:spPr>
          <a:xfrm>
            <a:off x="1170432" y="209092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a:t>
            </a:r>
            <a:endParaRPr lang="en-US" sz="750" dirty="0"/>
          </a:p>
        </p:txBody>
      </p:sp>
      <p:sp>
        <p:nvSpPr>
          <p:cNvPr id="58" name="Shape 56"/>
          <p:cNvSpPr/>
          <p:nvPr/>
        </p:nvSpPr>
        <p:spPr>
          <a:xfrm>
            <a:off x="1170432" y="2301240"/>
            <a:ext cx="932688" cy="155448"/>
          </a:xfrm>
          <a:prstGeom prst="roundRect">
            <a:avLst>
              <a:gd name="adj" fmla="val 17647"/>
            </a:avLst>
          </a:prstGeom>
          <a:solidFill>
            <a:srgbClr val="1558A8"/>
          </a:solidFill>
          <a:ln w="12700">
            <a:solidFill>
              <a:srgbClr val="1558A8"/>
            </a:solidFill>
            <a:prstDash val="solid"/>
          </a:ln>
        </p:spPr>
      </p:sp>
      <p:sp>
        <p:nvSpPr>
          <p:cNvPr id="59" name="Text 57"/>
          <p:cNvSpPr/>
          <p:nvPr/>
        </p:nvSpPr>
        <p:spPr>
          <a:xfrm>
            <a:off x="1170432" y="230124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0" name="Shape 58"/>
          <p:cNvSpPr/>
          <p:nvPr/>
        </p:nvSpPr>
        <p:spPr>
          <a:xfrm>
            <a:off x="2185416" y="2090928"/>
            <a:ext cx="932688" cy="182880"/>
          </a:xfrm>
          <a:prstGeom prst="roundRect">
            <a:avLst>
              <a:gd name="adj" fmla="val 15000"/>
            </a:avLst>
          </a:prstGeom>
          <a:solidFill>
            <a:srgbClr val="FFFFFF"/>
          </a:solidFill>
          <a:ln w="9525">
            <a:solidFill>
              <a:srgbClr val="CBD5E1"/>
            </a:solidFill>
            <a:prstDash val="solid"/>
          </a:ln>
        </p:spPr>
      </p:sp>
      <p:sp>
        <p:nvSpPr>
          <p:cNvPr id="61" name="Text 59"/>
          <p:cNvSpPr/>
          <p:nvPr/>
        </p:nvSpPr>
        <p:spPr>
          <a:xfrm>
            <a:off x="2185416" y="209092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MPEG-DASH</a:t>
            </a:r>
            <a:endParaRPr lang="en-US" sz="750" dirty="0"/>
          </a:p>
        </p:txBody>
      </p:sp>
      <p:sp>
        <p:nvSpPr>
          <p:cNvPr id="62" name="Shape 60"/>
          <p:cNvSpPr/>
          <p:nvPr/>
        </p:nvSpPr>
        <p:spPr>
          <a:xfrm>
            <a:off x="2185416" y="2301240"/>
            <a:ext cx="932688" cy="155448"/>
          </a:xfrm>
          <a:prstGeom prst="roundRect">
            <a:avLst>
              <a:gd name="adj" fmla="val 17647"/>
            </a:avLst>
          </a:prstGeom>
          <a:solidFill>
            <a:srgbClr val="1558A8"/>
          </a:solidFill>
          <a:ln w="12700">
            <a:solidFill>
              <a:srgbClr val="1558A8"/>
            </a:solidFill>
            <a:prstDash val="solid"/>
          </a:ln>
        </p:spPr>
      </p:sp>
      <p:sp>
        <p:nvSpPr>
          <p:cNvPr id="63" name="Text 61"/>
          <p:cNvSpPr/>
          <p:nvPr/>
        </p:nvSpPr>
        <p:spPr>
          <a:xfrm>
            <a:off x="2185416" y="230124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4" name="Shape 62"/>
          <p:cNvSpPr/>
          <p:nvPr/>
        </p:nvSpPr>
        <p:spPr>
          <a:xfrm>
            <a:off x="3200400" y="2090928"/>
            <a:ext cx="932688" cy="182880"/>
          </a:xfrm>
          <a:prstGeom prst="roundRect">
            <a:avLst>
              <a:gd name="adj" fmla="val 15000"/>
            </a:avLst>
          </a:prstGeom>
          <a:solidFill>
            <a:srgbClr val="FFFFFF"/>
          </a:solidFill>
          <a:ln w="9525">
            <a:solidFill>
              <a:srgbClr val="CBD5E1"/>
            </a:solidFill>
            <a:prstDash val="solid"/>
          </a:ln>
        </p:spPr>
      </p:sp>
      <p:sp>
        <p:nvSpPr>
          <p:cNvPr id="65" name="Text 63"/>
          <p:cNvSpPr/>
          <p:nvPr/>
        </p:nvSpPr>
        <p:spPr>
          <a:xfrm>
            <a:off x="3200400" y="209092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FairPlay DRM</a:t>
            </a:r>
            <a:endParaRPr lang="en-US" sz="750" dirty="0"/>
          </a:p>
        </p:txBody>
      </p:sp>
      <p:sp>
        <p:nvSpPr>
          <p:cNvPr id="66" name="Shape 64"/>
          <p:cNvSpPr/>
          <p:nvPr/>
        </p:nvSpPr>
        <p:spPr>
          <a:xfrm>
            <a:off x="3200400" y="2301240"/>
            <a:ext cx="932688" cy="155448"/>
          </a:xfrm>
          <a:prstGeom prst="roundRect">
            <a:avLst>
              <a:gd name="adj" fmla="val 17647"/>
            </a:avLst>
          </a:prstGeom>
          <a:solidFill>
            <a:srgbClr val="1558A8"/>
          </a:solidFill>
          <a:ln w="12700">
            <a:solidFill>
              <a:srgbClr val="1558A8"/>
            </a:solidFill>
            <a:prstDash val="solid"/>
          </a:ln>
        </p:spPr>
      </p:sp>
      <p:sp>
        <p:nvSpPr>
          <p:cNvPr id="67" name="Text 65"/>
          <p:cNvSpPr/>
          <p:nvPr/>
        </p:nvSpPr>
        <p:spPr>
          <a:xfrm>
            <a:off x="3200400" y="230124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8" name="Shape 66"/>
          <p:cNvSpPr/>
          <p:nvPr/>
        </p:nvSpPr>
        <p:spPr>
          <a:xfrm>
            <a:off x="4215384" y="2090928"/>
            <a:ext cx="932688" cy="182880"/>
          </a:xfrm>
          <a:prstGeom prst="roundRect">
            <a:avLst>
              <a:gd name="adj" fmla="val 15000"/>
            </a:avLst>
          </a:prstGeom>
          <a:solidFill>
            <a:srgbClr val="FFFFFF"/>
          </a:solidFill>
          <a:ln w="9525">
            <a:solidFill>
              <a:srgbClr val="CBD5E1"/>
            </a:solidFill>
            <a:prstDash val="solid"/>
          </a:ln>
        </p:spPr>
      </p:sp>
      <p:sp>
        <p:nvSpPr>
          <p:cNvPr id="69" name="Text 67"/>
          <p:cNvSpPr/>
          <p:nvPr/>
        </p:nvSpPr>
        <p:spPr>
          <a:xfrm>
            <a:off x="4215384" y="209092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Widevine DRM</a:t>
            </a:r>
            <a:endParaRPr lang="en-US" sz="750" dirty="0"/>
          </a:p>
        </p:txBody>
      </p:sp>
      <p:sp>
        <p:nvSpPr>
          <p:cNvPr id="70" name="Shape 68"/>
          <p:cNvSpPr/>
          <p:nvPr/>
        </p:nvSpPr>
        <p:spPr>
          <a:xfrm>
            <a:off x="4215384" y="2301240"/>
            <a:ext cx="932688" cy="155448"/>
          </a:xfrm>
          <a:prstGeom prst="roundRect">
            <a:avLst>
              <a:gd name="adj" fmla="val 17647"/>
            </a:avLst>
          </a:prstGeom>
          <a:solidFill>
            <a:srgbClr val="1558A8"/>
          </a:solidFill>
          <a:ln w="12700">
            <a:solidFill>
              <a:srgbClr val="1558A8"/>
            </a:solidFill>
            <a:prstDash val="solid"/>
          </a:ln>
        </p:spPr>
      </p:sp>
      <p:sp>
        <p:nvSpPr>
          <p:cNvPr id="71" name="Text 69"/>
          <p:cNvSpPr/>
          <p:nvPr/>
        </p:nvSpPr>
        <p:spPr>
          <a:xfrm>
            <a:off x="4215384" y="230124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72" name="Shape 70"/>
          <p:cNvSpPr/>
          <p:nvPr/>
        </p:nvSpPr>
        <p:spPr>
          <a:xfrm>
            <a:off x="5230368" y="2090928"/>
            <a:ext cx="932688" cy="182880"/>
          </a:xfrm>
          <a:prstGeom prst="roundRect">
            <a:avLst>
              <a:gd name="adj" fmla="val 15000"/>
            </a:avLst>
          </a:prstGeom>
          <a:solidFill>
            <a:srgbClr val="FFFFFF"/>
          </a:solidFill>
          <a:ln w="9525">
            <a:solidFill>
              <a:srgbClr val="CBD5E1"/>
            </a:solidFill>
            <a:prstDash val="solid"/>
          </a:ln>
        </p:spPr>
      </p:sp>
      <p:sp>
        <p:nvSpPr>
          <p:cNvPr id="73" name="Text 71"/>
          <p:cNvSpPr/>
          <p:nvPr/>
        </p:nvSpPr>
        <p:spPr>
          <a:xfrm>
            <a:off x="5230368" y="209092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VOD Streams</a:t>
            </a:r>
            <a:endParaRPr lang="en-US" sz="750" dirty="0"/>
          </a:p>
        </p:txBody>
      </p:sp>
      <p:sp>
        <p:nvSpPr>
          <p:cNvPr id="74" name="Shape 72"/>
          <p:cNvSpPr/>
          <p:nvPr/>
        </p:nvSpPr>
        <p:spPr>
          <a:xfrm>
            <a:off x="5230368" y="2301240"/>
            <a:ext cx="932688" cy="155448"/>
          </a:xfrm>
          <a:prstGeom prst="roundRect">
            <a:avLst>
              <a:gd name="adj" fmla="val 17647"/>
            </a:avLst>
          </a:prstGeom>
          <a:solidFill>
            <a:srgbClr val="1558A8"/>
          </a:solidFill>
          <a:ln w="12700">
            <a:solidFill>
              <a:srgbClr val="1558A8"/>
            </a:solidFill>
            <a:prstDash val="solid"/>
          </a:ln>
        </p:spPr>
      </p:sp>
      <p:sp>
        <p:nvSpPr>
          <p:cNvPr id="75" name="Text 73"/>
          <p:cNvSpPr/>
          <p:nvPr/>
        </p:nvSpPr>
        <p:spPr>
          <a:xfrm>
            <a:off x="5230368" y="230124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76" name="Shape 74"/>
          <p:cNvSpPr/>
          <p:nvPr/>
        </p:nvSpPr>
        <p:spPr>
          <a:xfrm>
            <a:off x="6245352" y="2090928"/>
            <a:ext cx="932688" cy="182880"/>
          </a:xfrm>
          <a:prstGeom prst="roundRect">
            <a:avLst>
              <a:gd name="adj" fmla="val 15000"/>
            </a:avLst>
          </a:prstGeom>
          <a:solidFill>
            <a:srgbClr val="FFFFFF"/>
          </a:solidFill>
          <a:ln w="9525">
            <a:solidFill>
              <a:srgbClr val="CBD5E1"/>
            </a:solidFill>
            <a:prstDash val="solid"/>
          </a:ln>
        </p:spPr>
      </p:sp>
      <p:sp>
        <p:nvSpPr>
          <p:cNvPr id="77" name="Text 75"/>
          <p:cNvSpPr/>
          <p:nvPr/>
        </p:nvSpPr>
        <p:spPr>
          <a:xfrm>
            <a:off x="6245352" y="209092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78" name="Shape 76"/>
          <p:cNvSpPr/>
          <p:nvPr/>
        </p:nvSpPr>
        <p:spPr>
          <a:xfrm>
            <a:off x="6245352" y="2301240"/>
            <a:ext cx="932688" cy="155448"/>
          </a:xfrm>
          <a:prstGeom prst="roundRect">
            <a:avLst>
              <a:gd name="adj" fmla="val 17647"/>
            </a:avLst>
          </a:prstGeom>
          <a:solidFill>
            <a:srgbClr val="1558A8"/>
          </a:solidFill>
          <a:ln w="12700">
            <a:solidFill>
              <a:srgbClr val="1558A8"/>
            </a:solidFill>
            <a:prstDash val="solid"/>
          </a:ln>
        </p:spPr>
      </p:sp>
      <p:sp>
        <p:nvSpPr>
          <p:cNvPr id="79" name="Text 77"/>
          <p:cNvSpPr/>
          <p:nvPr/>
        </p:nvSpPr>
        <p:spPr>
          <a:xfrm>
            <a:off x="6245352" y="230124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0" name="Shape 78"/>
          <p:cNvSpPr/>
          <p:nvPr/>
        </p:nvSpPr>
        <p:spPr>
          <a:xfrm>
            <a:off x="164592" y="2846832"/>
            <a:ext cx="9116568" cy="966216"/>
          </a:xfrm>
          <a:prstGeom prst="rect">
            <a:avLst/>
          </a:prstGeom>
          <a:solidFill>
            <a:srgbClr val="FAFBFC"/>
          </a:solidFill>
          <a:ln w="6350">
            <a:solidFill>
              <a:srgbClr val="E5E7EB"/>
            </a:solidFill>
            <a:prstDash val="solid"/>
          </a:ln>
        </p:spPr>
      </p:sp>
      <p:sp>
        <p:nvSpPr>
          <p:cNvPr id="81" name="Shape 79"/>
          <p:cNvSpPr/>
          <p:nvPr/>
        </p:nvSpPr>
        <p:spPr>
          <a:xfrm>
            <a:off x="182880" y="2919984"/>
            <a:ext cx="859536" cy="819912"/>
          </a:xfrm>
          <a:prstGeom prst="roundRect">
            <a:avLst>
              <a:gd name="adj" fmla="val 5576"/>
            </a:avLst>
          </a:prstGeom>
          <a:solidFill>
            <a:srgbClr val="9CA3AF"/>
          </a:solidFill>
          <a:ln w="12700">
            <a:solidFill>
              <a:srgbClr val="9CA3AF"/>
            </a:solidFill>
            <a:prstDash val="solid"/>
          </a:ln>
        </p:spPr>
      </p:sp>
      <p:sp>
        <p:nvSpPr>
          <p:cNvPr id="82" name="Text 80"/>
          <p:cNvSpPr/>
          <p:nvPr/>
        </p:nvSpPr>
        <p:spPr>
          <a:xfrm>
            <a:off x="182880" y="2919984"/>
            <a:ext cx="859536" cy="819912"/>
          </a:xfrm>
          <a:prstGeom prst="rect">
            <a:avLst/>
          </a:prstGeom>
          <a:noFill/>
          <a:ln/>
        </p:spPr>
        <p:txBody>
          <a:bodyPr wrap="square" lIns="0" tIns="0" rIns="0" bIns="0" rtlCol="0" anchor="ctr"/>
          <a:lstStyle/>
          <a:p>
            <a:pPr algn="ctr" indent="0" marL="0">
              <a:buNone/>
            </a:pPr>
            <a:r>
              <a:rPr lang="en-US" sz="800" b="1" dirty="0">
                <a:solidFill>
                  <a:srgbClr val="FFFFFF"/>
                </a:solidFill>
              </a:rPr>
              <a:t>Player</a:t>
            </a:r>
            <a:endParaRPr lang="en-US" sz="800" dirty="0"/>
          </a:p>
        </p:txBody>
      </p:sp>
      <p:sp>
        <p:nvSpPr>
          <p:cNvPr id="83" name="Text 81"/>
          <p:cNvSpPr/>
          <p:nvPr/>
        </p:nvSpPr>
        <p:spPr>
          <a:xfrm>
            <a:off x="1170432" y="289255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5 / 5 In Progress</a:t>
            </a:r>
            <a:endParaRPr lang="en-US" sz="750" dirty="0"/>
          </a:p>
        </p:txBody>
      </p:sp>
      <p:sp>
        <p:nvSpPr>
          <p:cNvPr id="84" name="Shape 82"/>
          <p:cNvSpPr/>
          <p:nvPr/>
        </p:nvSpPr>
        <p:spPr>
          <a:xfrm>
            <a:off x="1170432" y="3112008"/>
            <a:ext cx="932688" cy="182880"/>
          </a:xfrm>
          <a:prstGeom prst="roundRect">
            <a:avLst>
              <a:gd name="adj" fmla="val 15000"/>
            </a:avLst>
          </a:prstGeom>
          <a:solidFill>
            <a:srgbClr val="FFFFFF"/>
          </a:solidFill>
          <a:ln w="9525">
            <a:solidFill>
              <a:srgbClr val="CBD5E1"/>
            </a:solidFill>
            <a:prstDash val="solid"/>
          </a:ln>
        </p:spPr>
      </p:sp>
      <p:sp>
        <p:nvSpPr>
          <p:cNvPr id="85" name="Text 83"/>
          <p:cNvSpPr/>
          <p:nvPr/>
        </p:nvSpPr>
        <p:spPr>
          <a:xfrm>
            <a:off x="1170432" y="31120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Web Player</a:t>
            </a:r>
            <a:endParaRPr lang="en-US" sz="750" dirty="0"/>
          </a:p>
        </p:txBody>
      </p:sp>
      <p:sp>
        <p:nvSpPr>
          <p:cNvPr id="86" name="Shape 84"/>
          <p:cNvSpPr/>
          <p:nvPr/>
        </p:nvSpPr>
        <p:spPr>
          <a:xfrm>
            <a:off x="1170432" y="3322320"/>
            <a:ext cx="932688" cy="155448"/>
          </a:xfrm>
          <a:prstGeom prst="roundRect">
            <a:avLst>
              <a:gd name="adj" fmla="val 17647"/>
            </a:avLst>
          </a:prstGeom>
          <a:solidFill>
            <a:srgbClr val="1558A8"/>
          </a:solidFill>
          <a:ln w="12700">
            <a:solidFill>
              <a:srgbClr val="1558A8"/>
            </a:solidFill>
            <a:prstDash val="solid"/>
          </a:ln>
        </p:spPr>
      </p:sp>
      <p:sp>
        <p:nvSpPr>
          <p:cNvPr id="87" name="Text 85"/>
          <p:cNvSpPr/>
          <p:nvPr/>
        </p:nvSpPr>
        <p:spPr>
          <a:xfrm>
            <a:off x="1170432" y="33223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8" name="Shape 86"/>
          <p:cNvSpPr/>
          <p:nvPr/>
        </p:nvSpPr>
        <p:spPr>
          <a:xfrm>
            <a:off x="2185416" y="3112008"/>
            <a:ext cx="932688" cy="182880"/>
          </a:xfrm>
          <a:prstGeom prst="roundRect">
            <a:avLst>
              <a:gd name="adj" fmla="val 15000"/>
            </a:avLst>
          </a:prstGeom>
          <a:solidFill>
            <a:srgbClr val="FFFFFF"/>
          </a:solidFill>
          <a:ln w="9525">
            <a:solidFill>
              <a:srgbClr val="CBD5E1"/>
            </a:solidFill>
            <a:prstDash val="solid"/>
          </a:ln>
        </p:spPr>
      </p:sp>
      <p:sp>
        <p:nvSpPr>
          <p:cNvPr id="89" name="Text 87"/>
          <p:cNvSpPr/>
          <p:nvPr/>
        </p:nvSpPr>
        <p:spPr>
          <a:xfrm>
            <a:off x="2185416" y="31120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iOS Player</a:t>
            </a:r>
            <a:endParaRPr lang="en-US" sz="750" dirty="0"/>
          </a:p>
        </p:txBody>
      </p:sp>
      <p:sp>
        <p:nvSpPr>
          <p:cNvPr id="90" name="Shape 88"/>
          <p:cNvSpPr/>
          <p:nvPr/>
        </p:nvSpPr>
        <p:spPr>
          <a:xfrm>
            <a:off x="2185416" y="3322320"/>
            <a:ext cx="932688" cy="155448"/>
          </a:xfrm>
          <a:prstGeom prst="roundRect">
            <a:avLst>
              <a:gd name="adj" fmla="val 17647"/>
            </a:avLst>
          </a:prstGeom>
          <a:solidFill>
            <a:srgbClr val="1558A8"/>
          </a:solidFill>
          <a:ln w="12700">
            <a:solidFill>
              <a:srgbClr val="1558A8"/>
            </a:solidFill>
            <a:prstDash val="solid"/>
          </a:ln>
        </p:spPr>
      </p:sp>
      <p:sp>
        <p:nvSpPr>
          <p:cNvPr id="91" name="Text 89"/>
          <p:cNvSpPr/>
          <p:nvPr/>
        </p:nvSpPr>
        <p:spPr>
          <a:xfrm>
            <a:off x="2185416" y="33223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92" name="Shape 90"/>
          <p:cNvSpPr/>
          <p:nvPr/>
        </p:nvSpPr>
        <p:spPr>
          <a:xfrm>
            <a:off x="3200400" y="3112008"/>
            <a:ext cx="932688" cy="182880"/>
          </a:xfrm>
          <a:prstGeom prst="roundRect">
            <a:avLst>
              <a:gd name="adj" fmla="val 15000"/>
            </a:avLst>
          </a:prstGeom>
          <a:solidFill>
            <a:srgbClr val="FFFFFF"/>
          </a:solidFill>
          <a:ln w="9525">
            <a:solidFill>
              <a:srgbClr val="CBD5E1"/>
            </a:solidFill>
            <a:prstDash val="solid"/>
          </a:ln>
        </p:spPr>
      </p:sp>
      <p:sp>
        <p:nvSpPr>
          <p:cNvPr id="93" name="Text 91"/>
          <p:cNvSpPr/>
          <p:nvPr/>
        </p:nvSpPr>
        <p:spPr>
          <a:xfrm>
            <a:off x="3200400" y="31120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Android Player</a:t>
            </a:r>
            <a:endParaRPr lang="en-US" sz="750" dirty="0"/>
          </a:p>
        </p:txBody>
      </p:sp>
      <p:sp>
        <p:nvSpPr>
          <p:cNvPr id="94" name="Shape 92"/>
          <p:cNvSpPr/>
          <p:nvPr/>
        </p:nvSpPr>
        <p:spPr>
          <a:xfrm>
            <a:off x="3200400" y="3322320"/>
            <a:ext cx="932688" cy="155448"/>
          </a:xfrm>
          <a:prstGeom prst="roundRect">
            <a:avLst>
              <a:gd name="adj" fmla="val 17647"/>
            </a:avLst>
          </a:prstGeom>
          <a:solidFill>
            <a:srgbClr val="1558A8"/>
          </a:solidFill>
          <a:ln w="12700">
            <a:solidFill>
              <a:srgbClr val="1558A8"/>
            </a:solidFill>
            <a:prstDash val="solid"/>
          </a:ln>
        </p:spPr>
      </p:sp>
      <p:sp>
        <p:nvSpPr>
          <p:cNvPr id="95" name="Text 93"/>
          <p:cNvSpPr/>
          <p:nvPr/>
        </p:nvSpPr>
        <p:spPr>
          <a:xfrm>
            <a:off x="3200400" y="33223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96" name="Shape 94"/>
          <p:cNvSpPr/>
          <p:nvPr/>
        </p:nvSpPr>
        <p:spPr>
          <a:xfrm>
            <a:off x="4215384" y="3112008"/>
            <a:ext cx="932688" cy="182880"/>
          </a:xfrm>
          <a:prstGeom prst="roundRect">
            <a:avLst>
              <a:gd name="adj" fmla="val 15000"/>
            </a:avLst>
          </a:prstGeom>
          <a:solidFill>
            <a:srgbClr val="FFFFFF"/>
          </a:solidFill>
          <a:ln w="9525">
            <a:solidFill>
              <a:srgbClr val="CBD5E1"/>
            </a:solidFill>
            <a:prstDash val="solid"/>
          </a:ln>
        </p:spPr>
      </p:sp>
      <p:sp>
        <p:nvSpPr>
          <p:cNvPr id="97" name="Text 95"/>
          <p:cNvSpPr/>
          <p:nvPr/>
        </p:nvSpPr>
        <p:spPr>
          <a:xfrm>
            <a:off x="4215384" y="31120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HLS/DASH PB</a:t>
            </a:r>
            <a:endParaRPr lang="en-US" sz="750" dirty="0"/>
          </a:p>
        </p:txBody>
      </p:sp>
      <p:sp>
        <p:nvSpPr>
          <p:cNvPr id="98" name="Shape 96"/>
          <p:cNvSpPr/>
          <p:nvPr/>
        </p:nvSpPr>
        <p:spPr>
          <a:xfrm>
            <a:off x="4215384" y="3322320"/>
            <a:ext cx="932688" cy="155448"/>
          </a:xfrm>
          <a:prstGeom prst="roundRect">
            <a:avLst>
              <a:gd name="adj" fmla="val 17647"/>
            </a:avLst>
          </a:prstGeom>
          <a:solidFill>
            <a:srgbClr val="1558A8"/>
          </a:solidFill>
          <a:ln w="12700">
            <a:solidFill>
              <a:srgbClr val="1558A8"/>
            </a:solidFill>
            <a:prstDash val="solid"/>
          </a:ln>
        </p:spPr>
      </p:sp>
      <p:sp>
        <p:nvSpPr>
          <p:cNvPr id="99" name="Text 97"/>
          <p:cNvSpPr/>
          <p:nvPr/>
        </p:nvSpPr>
        <p:spPr>
          <a:xfrm>
            <a:off x="4215384" y="33223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0" name="Shape 98"/>
          <p:cNvSpPr/>
          <p:nvPr/>
        </p:nvSpPr>
        <p:spPr>
          <a:xfrm>
            <a:off x="5230368" y="3112008"/>
            <a:ext cx="932688" cy="182880"/>
          </a:xfrm>
          <a:prstGeom prst="roundRect">
            <a:avLst>
              <a:gd name="adj" fmla="val 15000"/>
            </a:avLst>
          </a:prstGeom>
          <a:solidFill>
            <a:srgbClr val="FFFFFF"/>
          </a:solidFill>
          <a:ln w="9525">
            <a:solidFill>
              <a:srgbClr val="CBD5E1"/>
            </a:solidFill>
            <a:prstDash val="solid"/>
          </a:ln>
        </p:spPr>
      </p:sp>
      <p:sp>
        <p:nvSpPr>
          <p:cNvPr id="101" name="Text 99"/>
          <p:cNvSpPr/>
          <p:nvPr/>
        </p:nvSpPr>
        <p:spPr>
          <a:xfrm>
            <a:off x="5230368" y="31120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Bitmovin QOE</a:t>
            </a:r>
            <a:endParaRPr lang="en-US" sz="750" dirty="0"/>
          </a:p>
        </p:txBody>
      </p:sp>
      <p:sp>
        <p:nvSpPr>
          <p:cNvPr id="102" name="Shape 100"/>
          <p:cNvSpPr/>
          <p:nvPr/>
        </p:nvSpPr>
        <p:spPr>
          <a:xfrm>
            <a:off x="5230368" y="3322320"/>
            <a:ext cx="932688" cy="155448"/>
          </a:xfrm>
          <a:prstGeom prst="roundRect">
            <a:avLst>
              <a:gd name="adj" fmla="val 17647"/>
            </a:avLst>
          </a:prstGeom>
          <a:solidFill>
            <a:srgbClr val="1558A8"/>
          </a:solidFill>
          <a:ln w="12700">
            <a:solidFill>
              <a:srgbClr val="1558A8"/>
            </a:solidFill>
            <a:prstDash val="solid"/>
          </a:ln>
        </p:spPr>
      </p:sp>
      <p:sp>
        <p:nvSpPr>
          <p:cNvPr id="103" name="Text 101"/>
          <p:cNvSpPr/>
          <p:nvPr/>
        </p:nvSpPr>
        <p:spPr>
          <a:xfrm>
            <a:off x="5230368" y="33223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4" name="Shape 102"/>
          <p:cNvSpPr/>
          <p:nvPr/>
        </p:nvSpPr>
        <p:spPr>
          <a:xfrm>
            <a:off x="164592" y="3867912"/>
            <a:ext cx="9116568" cy="966216"/>
          </a:xfrm>
          <a:prstGeom prst="rect">
            <a:avLst/>
          </a:prstGeom>
          <a:solidFill>
            <a:srgbClr val="FFFFFF"/>
          </a:solidFill>
          <a:ln w="6350">
            <a:solidFill>
              <a:srgbClr val="E5E7EB"/>
            </a:solidFill>
            <a:prstDash val="solid"/>
          </a:ln>
        </p:spPr>
      </p:sp>
      <p:sp>
        <p:nvSpPr>
          <p:cNvPr id="105" name="Shape 103"/>
          <p:cNvSpPr/>
          <p:nvPr/>
        </p:nvSpPr>
        <p:spPr>
          <a:xfrm>
            <a:off x="182880" y="3941064"/>
            <a:ext cx="859536" cy="819912"/>
          </a:xfrm>
          <a:prstGeom prst="roundRect">
            <a:avLst>
              <a:gd name="adj" fmla="val 5576"/>
            </a:avLst>
          </a:prstGeom>
          <a:solidFill>
            <a:srgbClr val="9CA3AF"/>
          </a:solidFill>
          <a:ln w="12700">
            <a:solidFill>
              <a:srgbClr val="9CA3AF"/>
            </a:solidFill>
            <a:prstDash val="solid"/>
          </a:ln>
        </p:spPr>
      </p:sp>
      <p:sp>
        <p:nvSpPr>
          <p:cNvPr id="106" name="Text 104"/>
          <p:cNvSpPr/>
          <p:nvPr/>
        </p:nvSpPr>
        <p:spPr>
          <a:xfrm>
            <a:off x="182880" y="3941064"/>
            <a:ext cx="859536" cy="819912"/>
          </a:xfrm>
          <a:prstGeom prst="rect">
            <a:avLst/>
          </a:prstGeom>
          <a:noFill/>
          <a:ln/>
        </p:spPr>
        <p:txBody>
          <a:bodyPr wrap="square" lIns="0" tIns="0" rIns="0" bIns="0" rtlCol="0" anchor="ctr"/>
          <a:lstStyle/>
          <a:p>
            <a:pPr algn="ctr" indent="0" marL="0">
              <a:buNone/>
            </a:pPr>
            <a:r>
              <a:rPr lang="en-US" sz="800" b="1" dirty="0">
                <a:solidFill>
                  <a:srgbClr val="FFFFFF"/>
                </a:solidFill>
              </a:rPr>
              <a:t>Merchandising</a:t>
            </a:r>
            <a:endParaRPr lang="en-US" sz="800" dirty="0"/>
          </a:p>
        </p:txBody>
      </p:sp>
      <p:sp>
        <p:nvSpPr>
          <p:cNvPr id="107" name="Text 105"/>
          <p:cNvSpPr/>
          <p:nvPr/>
        </p:nvSpPr>
        <p:spPr>
          <a:xfrm>
            <a:off x="1170432" y="391363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9 In Progress · 2 Done</a:t>
            </a:r>
            <a:endParaRPr lang="en-US" sz="750" dirty="0"/>
          </a:p>
        </p:txBody>
      </p:sp>
      <p:sp>
        <p:nvSpPr>
          <p:cNvPr id="108" name="Shape 106"/>
          <p:cNvSpPr/>
          <p:nvPr/>
        </p:nvSpPr>
        <p:spPr>
          <a:xfrm>
            <a:off x="1170432" y="4032504"/>
            <a:ext cx="932688" cy="182880"/>
          </a:xfrm>
          <a:prstGeom prst="roundRect">
            <a:avLst>
              <a:gd name="adj" fmla="val 15000"/>
            </a:avLst>
          </a:prstGeom>
          <a:solidFill>
            <a:srgbClr val="FFFFFF"/>
          </a:solidFill>
          <a:ln w="9525">
            <a:solidFill>
              <a:srgbClr val="CBD5E1"/>
            </a:solidFill>
            <a:prstDash val="solid"/>
          </a:ln>
        </p:spPr>
      </p:sp>
      <p:sp>
        <p:nvSpPr>
          <p:cNvPr id="109" name="Text 107"/>
          <p:cNvSpPr/>
          <p:nvPr/>
        </p:nvSpPr>
        <p:spPr>
          <a:xfrm>
            <a:off x="1170432"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Metadata</a:t>
            </a:r>
            <a:endParaRPr lang="en-US" sz="750" dirty="0"/>
          </a:p>
        </p:txBody>
      </p:sp>
      <p:sp>
        <p:nvSpPr>
          <p:cNvPr id="110" name="Shape 108"/>
          <p:cNvSpPr/>
          <p:nvPr/>
        </p:nvSpPr>
        <p:spPr>
          <a:xfrm>
            <a:off x="1170432" y="4242816"/>
            <a:ext cx="932688" cy="155448"/>
          </a:xfrm>
          <a:prstGeom prst="roundRect">
            <a:avLst>
              <a:gd name="adj" fmla="val 17647"/>
            </a:avLst>
          </a:prstGeom>
          <a:solidFill>
            <a:srgbClr val="1558A8"/>
          </a:solidFill>
          <a:ln w="12700">
            <a:solidFill>
              <a:srgbClr val="1558A8"/>
            </a:solidFill>
            <a:prstDash val="solid"/>
          </a:ln>
        </p:spPr>
      </p:sp>
      <p:sp>
        <p:nvSpPr>
          <p:cNvPr id="111" name="Text 109"/>
          <p:cNvSpPr/>
          <p:nvPr/>
        </p:nvSpPr>
        <p:spPr>
          <a:xfrm>
            <a:off x="1170432" y="4242816"/>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12" name="Shape 110"/>
          <p:cNvSpPr/>
          <p:nvPr/>
        </p:nvSpPr>
        <p:spPr>
          <a:xfrm>
            <a:off x="2185416" y="4032504"/>
            <a:ext cx="932688" cy="182880"/>
          </a:xfrm>
          <a:prstGeom prst="roundRect">
            <a:avLst>
              <a:gd name="adj" fmla="val 15000"/>
            </a:avLst>
          </a:prstGeom>
          <a:solidFill>
            <a:srgbClr val="FFFFFF"/>
          </a:solidFill>
          <a:ln w="9525">
            <a:solidFill>
              <a:srgbClr val="CBD5E1"/>
            </a:solidFill>
            <a:prstDash val="solid"/>
          </a:ln>
        </p:spPr>
      </p:sp>
      <p:sp>
        <p:nvSpPr>
          <p:cNvPr id="113" name="Text 111"/>
          <p:cNvSpPr/>
          <p:nvPr/>
        </p:nvSpPr>
        <p:spPr>
          <a:xfrm>
            <a:off x="2185416"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Images</a:t>
            </a:r>
            <a:endParaRPr lang="en-US" sz="750" dirty="0"/>
          </a:p>
        </p:txBody>
      </p:sp>
      <p:sp>
        <p:nvSpPr>
          <p:cNvPr id="114" name="Shape 112"/>
          <p:cNvSpPr/>
          <p:nvPr/>
        </p:nvSpPr>
        <p:spPr>
          <a:xfrm>
            <a:off x="2185416" y="4242816"/>
            <a:ext cx="932688" cy="155448"/>
          </a:xfrm>
          <a:prstGeom prst="roundRect">
            <a:avLst>
              <a:gd name="adj" fmla="val 17647"/>
            </a:avLst>
          </a:prstGeom>
          <a:solidFill>
            <a:srgbClr val="1558A8"/>
          </a:solidFill>
          <a:ln w="12700">
            <a:solidFill>
              <a:srgbClr val="1558A8"/>
            </a:solidFill>
            <a:prstDash val="solid"/>
          </a:ln>
        </p:spPr>
      </p:sp>
      <p:sp>
        <p:nvSpPr>
          <p:cNvPr id="115" name="Text 113"/>
          <p:cNvSpPr/>
          <p:nvPr/>
        </p:nvSpPr>
        <p:spPr>
          <a:xfrm>
            <a:off x="2185416" y="4242816"/>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16" name="Shape 114"/>
          <p:cNvSpPr/>
          <p:nvPr/>
        </p:nvSpPr>
        <p:spPr>
          <a:xfrm>
            <a:off x="3200400" y="4032504"/>
            <a:ext cx="932688" cy="182880"/>
          </a:xfrm>
          <a:prstGeom prst="roundRect">
            <a:avLst>
              <a:gd name="adj" fmla="val 15000"/>
            </a:avLst>
          </a:prstGeom>
          <a:solidFill>
            <a:srgbClr val="FFFFFF"/>
          </a:solidFill>
          <a:ln w="9525">
            <a:solidFill>
              <a:srgbClr val="CBD5E1"/>
            </a:solidFill>
            <a:prstDash val="solid"/>
          </a:ln>
        </p:spPr>
      </p:sp>
      <p:sp>
        <p:nvSpPr>
          <p:cNvPr id="117" name="Text 115"/>
          <p:cNvSpPr/>
          <p:nvPr/>
        </p:nvSpPr>
        <p:spPr>
          <a:xfrm>
            <a:off x="3200400"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Carousels</a:t>
            </a:r>
            <a:endParaRPr lang="en-US" sz="750" dirty="0"/>
          </a:p>
        </p:txBody>
      </p:sp>
      <p:sp>
        <p:nvSpPr>
          <p:cNvPr id="118" name="Shape 116"/>
          <p:cNvSpPr/>
          <p:nvPr/>
        </p:nvSpPr>
        <p:spPr>
          <a:xfrm>
            <a:off x="3200400" y="4242816"/>
            <a:ext cx="932688" cy="155448"/>
          </a:xfrm>
          <a:prstGeom prst="roundRect">
            <a:avLst>
              <a:gd name="adj" fmla="val 17647"/>
            </a:avLst>
          </a:prstGeom>
          <a:solidFill>
            <a:srgbClr val="1558A8"/>
          </a:solidFill>
          <a:ln w="12700">
            <a:solidFill>
              <a:srgbClr val="1558A8"/>
            </a:solidFill>
            <a:prstDash val="solid"/>
          </a:ln>
        </p:spPr>
      </p:sp>
      <p:sp>
        <p:nvSpPr>
          <p:cNvPr id="119" name="Text 117"/>
          <p:cNvSpPr/>
          <p:nvPr/>
        </p:nvSpPr>
        <p:spPr>
          <a:xfrm>
            <a:off x="3200400" y="4242816"/>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20" name="Shape 118"/>
          <p:cNvSpPr/>
          <p:nvPr/>
        </p:nvSpPr>
        <p:spPr>
          <a:xfrm>
            <a:off x="4215384" y="4032504"/>
            <a:ext cx="932688" cy="182880"/>
          </a:xfrm>
          <a:prstGeom prst="roundRect">
            <a:avLst>
              <a:gd name="adj" fmla="val 15000"/>
            </a:avLst>
          </a:prstGeom>
          <a:solidFill>
            <a:srgbClr val="FFFFFF"/>
          </a:solidFill>
          <a:ln w="9525">
            <a:solidFill>
              <a:srgbClr val="CBD5E1"/>
            </a:solidFill>
            <a:prstDash val="solid"/>
          </a:ln>
        </p:spPr>
      </p:sp>
      <p:sp>
        <p:nvSpPr>
          <p:cNvPr id="121" name="Text 119"/>
          <p:cNvSpPr/>
          <p:nvPr/>
        </p:nvSpPr>
        <p:spPr>
          <a:xfrm>
            <a:off x="4215384"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Live Events</a:t>
            </a:r>
            <a:endParaRPr lang="en-US" sz="750" dirty="0"/>
          </a:p>
        </p:txBody>
      </p:sp>
      <p:sp>
        <p:nvSpPr>
          <p:cNvPr id="122" name="Shape 120"/>
          <p:cNvSpPr/>
          <p:nvPr/>
        </p:nvSpPr>
        <p:spPr>
          <a:xfrm>
            <a:off x="4215384" y="4242816"/>
            <a:ext cx="932688" cy="155448"/>
          </a:xfrm>
          <a:prstGeom prst="roundRect">
            <a:avLst>
              <a:gd name="adj" fmla="val 17647"/>
            </a:avLst>
          </a:prstGeom>
          <a:solidFill>
            <a:srgbClr val="1558A8"/>
          </a:solidFill>
          <a:ln w="12700">
            <a:solidFill>
              <a:srgbClr val="1558A8"/>
            </a:solidFill>
            <a:prstDash val="solid"/>
          </a:ln>
        </p:spPr>
      </p:sp>
      <p:sp>
        <p:nvSpPr>
          <p:cNvPr id="123" name="Text 121"/>
          <p:cNvSpPr/>
          <p:nvPr/>
        </p:nvSpPr>
        <p:spPr>
          <a:xfrm>
            <a:off x="4215384" y="4242816"/>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24" name="Shape 122"/>
          <p:cNvSpPr/>
          <p:nvPr/>
        </p:nvSpPr>
        <p:spPr>
          <a:xfrm>
            <a:off x="5230368" y="4032504"/>
            <a:ext cx="932688" cy="182880"/>
          </a:xfrm>
          <a:prstGeom prst="roundRect">
            <a:avLst>
              <a:gd name="adj" fmla="val 15000"/>
            </a:avLst>
          </a:prstGeom>
          <a:solidFill>
            <a:srgbClr val="FFFFFF"/>
          </a:solidFill>
          <a:ln w="9525">
            <a:solidFill>
              <a:srgbClr val="CBD5E1"/>
            </a:solidFill>
            <a:prstDash val="solid"/>
          </a:ln>
        </p:spPr>
      </p:sp>
      <p:sp>
        <p:nvSpPr>
          <p:cNvPr id="125" name="Text 123"/>
          <p:cNvSpPr/>
          <p:nvPr/>
        </p:nvSpPr>
        <p:spPr>
          <a:xfrm>
            <a:off x="5230368"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Back Catalog</a:t>
            </a:r>
            <a:endParaRPr lang="en-US" sz="750" dirty="0"/>
          </a:p>
        </p:txBody>
      </p:sp>
      <p:sp>
        <p:nvSpPr>
          <p:cNvPr id="126" name="Shape 124"/>
          <p:cNvSpPr/>
          <p:nvPr/>
        </p:nvSpPr>
        <p:spPr>
          <a:xfrm>
            <a:off x="5230368" y="4242816"/>
            <a:ext cx="932688" cy="155448"/>
          </a:xfrm>
          <a:prstGeom prst="roundRect">
            <a:avLst>
              <a:gd name="adj" fmla="val 17647"/>
            </a:avLst>
          </a:prstGeom>
          <a:solidFill>
            <a:srgbClr val="F3F4F6"/>
          </a:solidFill>
          <a:ln w="9525">
            <a:solidFill>
              <a:srgbClr val="D1D5DB"/>
            </a:solidFill>
            <a:prstDash val="solid"/>
          </a:ln>
        </p:spPr>
      </p:sp>
      <p:sp>
        <p:nvSpPr>
          <p:cNvPr id="127" name="Text 125"/>
          <p:cNvSpPr/>
          <p:nvPr/>
        </p:nvSpPr>
        <p:spPr>
          <a:xfrm>
            <a:off x="5230368" y="4242816"/>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128" name="Shape 126"/>
          <p:cNvSpPr/>
          <p:nvPr/>
        </p:nvSpPr>
        <p:spPr>
          <a:xfrm>
            <a:off x="6245352" y="4032504"/>
            <a:ext cx="932688" cy="182880"/>
          </a:xfrm>
          <a:prstGeom prst="roundRect">
            <a:avLst>
              <a:gd name="adj" fmla="val 15000"/>
            </a:avLst>
          </a:prstGeom>
          <a:solidFill>
            <a:srgbClr val="FFFFFF"/>
          </a:solidFill>
          <a:ln w="9525">
            <a:solidFill>
              <a:srgbClr val="CBD5E1"/>
            </a:solidFill>
            <a:prstDash val="solid"/>
          </a:ln>
        </p:spPr>
      </p:sp>
      <p:sp>
        <p:nvSpPr>
          <p:cNvPr id="129" name="Text 127"/>
          <p:cNvSpPr/>
          <p:nvPr/>
        </p:nvSpPr>
        <p:spPr>
          <a:xfrm>
            <a:off x="6245352"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Full Replays</a:t>
            </a:r>
            <a:endParaRPr lang="en-US" sz="750" dirty="0"/>
          </a:p>
        </p:txBody>
      </p:sp>
      <p:sp>
        <p:nvSpPr>
          <p:cNvPr id="130" name="Shape 128"/>
          <p:cNvSpPr/>
          <p:nvPr/>
        </p:nvSpPr>
        <p:spPr>
          <a:xfrm>
            <a:off x="6245352" y="4242816"/>
            <a:ext cx="932688" cy="155448"/>
          </a:xfrm>
          <a:prstGeom prst="roundRect">
            <a:avLst>
              <a:gd name="adj" fmla="val 17647"/>
            </a:avLst>
          </a:prstGeom>
          <a:solidFill>
            <a:srgbClr val="1558A8"/>
          </a:solidFill>
          <a:ln w="12700">
            <a:solidFill>
              <a:srgbClr val="1558A8"/>
            </a:solidFill>
            <a:prstDash val="solid"/>
          </a:ln>
        </p:spPr>
      </p:sp>
      <p:sp>
        <p:nvSpPr>
          <p:cNvPr id="131" name="Text 129"/>
          <p:cNvSpPr/>
          <p:nvPr/>
        </p:nvSpPr>
        <p:spPr>
          <a:xfrm>
            <a:off x="6245352" y="4242816"/>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32" name="Shape 130"/>
          <p:cNvSpPr/>
          <p:nvPr/>
        </p:nvSpPr>
        <p:spPr>
          <a:xfrm>
            <a:off x="7260336" y="4032504"/>
            <a:ext cx="932688" cy="182880"/>
          </a:xfrm>
          <a:prstGeom prst="roundRect">
            <a:avLst>
              <a:gd name="adj" fmla="val 15000"/>
            </a:avLst>
          </a:prstGeom>
          <a:solidFill>
            <a:srgbClr val="FFFFFF"/>
          </a:solidFill>
          <a:ln w="9525">
            <a:solidFill>
              <a:srgbClr val="CBD5E1"/>
            </a:solidFill>
            <a:prstDash val="solid"/>
          </a:ln>
        </p:spPr>
      </p:sp>
      <p:sp>
        <p:nvSpPr>
          <p:cNvPr id="133" name="Text 131"/>
          <p:cNvSpPr/>
          <p:nvPr/>
        </p:nvSpPr>
        <p:spPr>
          <a:xfrm>
            <a:off x="7260336"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M15</a:t>
            </a:r>
            <a:endParaRPr lang="en-US" sz="750" dirty="0"/>
          </a:p>
        </p:txBody>
      </p:sp>
      <p:sp>
        <p:nvSpPr>
          <p:cNvPr id="134" name="Shape 132"/>
          <p:cNvSpPr/>
          <p:nvPr/>
        </p:nvSpPr>
        <p:spPr>
          <a:xfrm>
            <a:off x="7260336" y="4242816"/>
            <a:ext cx="932688" cy="155448"/>
          </a:xfrm>
          <a:prstGeom prst="roundRect">
            <a:avLst>
              <a:gd name="adj" fmla="val 17647"/>
            </a:avLst>
          </a:prstGeom>
          <a:solidFill>
            <a:srgbClr val="DCFCE7"/>
          </a:solidFill>
          <a:ln w="12700">
            <a:solidFill>
              <a:srgbClr val="15803D"/>
            </a:solidFill>
            <a:prstDash val="solid"/>
          </a:ln>
        </p:spPr>
      </p:sp>
      <p:sp>
        <p:nvSpPr>
          <p:cNvPr id="135" name="Text 133"/>
          <p:cNvSpPr/>
          <p:nvPr/>
        </p:nvSpPr>
        <p:spPr>
          <a:xfrm>
            <a:off x="7260336" y="4242816"/>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36" name="Shape 134"/>
          <p:cNvSpPr/>
          <p:nvPr/>
        </p:nvSpPr>
        <p:spPr>
          <a:xfrm>
            <a:off x="8275320" y="4032504"/>
            <a:ext cx="932688" cy="182880"/>
          </a:xfrm>
          <a:prstGeom prst="roundRect">
            <a:avLst>
              <a:gd name="adj" fmla="val 15000"/>
            </a:avLst>
          </a:prstGeom>
          <a:solidFill>
            <a:srgbClr val="FFFFFF"/>
          </a:solidFill>
          <a:ln w="9525">
            <a:solidFill>
              <a:srgbClr val="CBD5E1"/>
            </a:solidFill>
            <a:prstDash val="solid"/>
          </a:ln>
        </p:spPr>
      </p:sp>
      <p:sp>
        <p:nvSpPr>
          <p:cNvPr id="137" name="Text 135"/>
          <p:cNvSpPr/>
          <p:nvPr/>
        </p:nvSpPr>
        <p:spPr>
          <a:xfrm>
            <a:off x="8275320" y="4032504"/>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Highlights</a:t>
            </a:r>
            <a:endParaRPr lang="en-US" sz="750" dirty="0"/>
          </a:p>
        </p:txBody>
      </p:sp>
      <p:sp>
        <p:nvSpPr>
          <p:cNvPr id="138" name="Shape 136"/>
          <p:cNvSpPr/>
          <p:nvPr/>
        </p:nvSpPr>
        <p:spPr>
          <a:xfrm>
            <a:off x="8275320" y="4242816"/>
            <a:ext cx="932688" cy="155448"/>
          </a:xfrm>
          <a:prstGeom prst="roundRect">
            <a:avLst>
              <a:gd name="adj" fmla="val 17647"/>
            </a:avLst>
          </a:prstGeom>
          <a:solidFill>
            <a:srgbClr val="DCFCE7"/>
          </a:solidFill>
          <a:ln w="12700">
            <a:solidFill>
              <a:srgbClr val="15803D"/>
            </a:solidFill>
            <a:prstDash val="solid"/>
          </a:ln>
        </p:spPr>
      </p:sp>
      <p:sp>
        <p:nvSpPr>
          <p:cNvPr id="139" name="Text 137"/>
          <p:cNvSpPr/>
          <p:nvPr/>
        </p:nvSpPr>
        <p:spPr>
          <a:xfrm>
            <a:off x="8275320" y="4242816"/>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40" name="Shape 138"/>
          <p:cNvSpPr/>
          <p:nvPr/>
        </p:nvSpPr>
        <p:spPr>
          <a:xfrm>
            <a:off x="1170432" y="4431792"/>
            <a:ext cx="932688" cy="182880"/>
          </a:xfrm>
          <a:prstGeom prst="roundRect">
            <a:avLst>
              <a:gd name="adj" fmla="val 15000"/>
            </a:avLst>
          </a:prstGeom>
          <a:solidFill>
            <a:srgbClr val="FFFFFF"/>
          </a:solidFill>
          <a:ln w="9525">
            <a:solidFill>
              <a:srgbClr val="CBD5E1"/>
            </a:solidFill>
            <a:prstDash val="solid"/>
          </a:ln>
        </p:spPr>
      </p:sp>
      <p:sp>
        <p:nvSpPr>
          <p:cNvPr id="141" name="Text 139"/>
          <p:cNvSpPr/>
          <p:nvPr/>
        </p:nvSpPr>
        <p:spPr>
          <a:xfrm>
            <a:off x="1170432" y="4431792"/>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142" name="Shape 140"/>
          <p:cNvSpPr/>
          <p:nvPr/>
        </p:nvSpPr>
        <p:spPr>
          <a:xfrm>
            <a:off x="1170432" y="4642104"/>
            <a:ext cx="932688" cy="155448"/>
          </a:xfrm>
          <a:prstGeom prst="roundRect">
            <a:avLst>
              <a:gd name="adj" fmla="val 17647"/>
            </a:avLst>
          </a:prstGeom>
          <a:solidFill>
            <a:srgbClr val="1558A8"/>
          </a:solidFill>
          <a:ln w="12700">
            <a:solidFill>
              <a:srgbClr val="1558A8"/>
            </a:solidFill>
            <a:prstDash val="solid"/>
          </a:ln>
        </p:spPr>
      </p:sp>
      <p:sp>
        <p:nvSpPr>
          <p:cNvPr id="143" name="Text 141"/>
          <p:cNvSpPr/>
          <p:nvPr/>
        </p:nvSpPr>
        <p:spPr>
          <a:xfrm>
            <a:off x="1170432" y="4642104"/>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44" name="Shape 142"/>
          <p:cNvSpPr/>
          <p:nvPr/>
        </p:nvSpPr>
        <p:spPr>
          <a:xfrm>
            <a:off x="164592" y="4888992"/>
            <a:ext cx="9116568" cy="966216"/>
          </a:xfrm>
          <a:prstGeom prst="rect">
            <a:avLst/>
          </a:prstGeom>
          <a:solidFill>
            <a:srgbClr val="FAFBFC"/>
          </a:solidFill>
          <a:ln w="6350">
            <a:solidFill>
              <a:srgbClr val="E5E7EB"/>
            </a:solidFill>
            <a:prstDash val="solid"/>
          </a:ln>
        </p:spPr>
      </p:sp>
      <p:sp>
        <p:nvSpPr>
          <p:cNvPr id="145" name="Shape 143"/>
          <p:cNvSpPr/>
          <p:nvPr/>
        </p:nvSpPr>
        <p:spPr>
          <a:xfrm>
            <a:off x="182880" y="4962144"/>
            <a:ext cx="859536" cy="819912"/>
          </a:xfrm>
          <a:prstGeom prst="roundRect">
            <a:avLst>
              <a:gd name="adj" fmla="val 5576"/>
            </a:avLst>
          </a:prstGeom>
          <a:solidFill>
            <a:srgbClr val="9CA3AF"/>
          </a:solidFill>
          <a:ln w="12700">
            <a:solidFill>
              <a:srgbClr val="9CA3AF"/>
            </a:solidFill>
            <a:prstDash val="solid"/>
          </a:ln>
        </p:spPr>
      </p:sp>
      <p:sp>
        <p:nvSpPr>
          <p:cNvPr id="146" name="Text 144"/>
          <p:cNvSpPr/>
          <p:nvPr/>
        </p:nvSpPr>
        <p:spPr>
          <a:xfrm>
            <a:off x="182880" y="4962144"/>
            <a:ext cx="859536" cy="819912"/>
          </a:xfrm>
          <a:prstGeom prst="rect">
            <a:avLst/>
          </a:prstGeom>
          <a:noFill/>
          <a:ln/>
        </p:spPr>
        <p:txBody>
          <a:bodyPr wrap="square" lIns="0" tIns="0" rIns="0" bIns="0" rtlCol="0" anchor="ctr"/>
          <a:lstStyle/>
          <a:p>
            <a:pPr algn="ctr" indent="0" marL="0">
              <a:buNone/>
            </a:pPr>
            <a:r>
              <a:rPr lang="en-US" sz="800" b="1" dirty="0">
                <a:solidFill>
                  <a:srgbClr val="FFFFFF"/>
                </a:solidFill>
              </a:rPr>
              <a:t>Onboarding</a:t>
            </a:r>
            <a:endParaRPr lang="en-US" sz="800" dirty="0"/>
          </a:p>
        </p:txBody>
      </p:sp>
      <p:sp>
        <p:nvSpPr>
          <p:cNvPr id="147" name="Text 145"/>
          <p:cNvSpPr/>
          <p:nvPr/>
        </p:nvSpPr>
        <p:spPr>
          <a:xfrm>
            <a:off x="1170432" y="493471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4 / 6 In Progress · 1 Done</a:t>
            </a:r>
            <a:endParaRPr lang="en-US" sz="750" dirty="0"/>
          </a:p>
        </p:txBody>
      </p:sp>
      <p:sp>
        <p:nvSpPr>
          <p:cNvPr id="148" name="Shape 146"/>
          <p:cNvSpPr/>
          <p:nvPr/>
        </p:nvSpPr>
        <p:spPr>
          <a:xfrm>
            <a:off x="1170432" y="5154168"/>
            <a:ext cx="932688" cy="182880"/>
          </a:xfrm>
          <a:prstGeom prst="roundRect">
            <a:avLst>
              <a:gd name="adj" fmla="val 15000"/>
            </a:avLst>
          </a:prstGeom>
          <a:solidFill>
            <a:srgbClr val="FFFFFF"/>
          </a:solidFill>
          <a:ln w="9525">
            <a:solidFill>
              <a:srgbClr val="CBD5E1"/>
            </a:solidFill>
            <a:prstDash val="solid"/>
          </a:ln>
        </p:spPr>
      </p:sp>
      <p:sp>
        <p:nvSpPr>
          <p:cNvPr id="149" name="Text 147"/>
          <p:cNvSpPr/>
          <p:nvPr/>
        </p:nvSpPr>
        <p:spPr>
          <a:xfrm>
            <a:off x="1170432" y="51541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Unentitled</a:t>
            </a:r>
            <a:endParaRPr lang="en-US" sz="750" dirty="0"/>
          </a:p>
        </p:txBody>
      </p:sp>
      <p:sp>
        <p:nvSpPr>
          <p:cNvPr id="150" name="Shape 148"/>
          <p:cNvSpPr/>
          <p:nvPr/>
        </p:nvSpPr>
        <p:spPr>
          <a:xfrm>
            <a:off x="1170432" y="5364480"/>
            <a:ext cx="932688" cy="155448"/>
          </a:xfrm>
          <a:prstGeom prst="roundRect">
            <a:avLst>
              <a:gd name="adj" fmla="val 17647"/>
            </a:avLst>
          </a:prstGeom>
          <a:solidFill>
            <a:srgbClr val="1558A8"/>
          </a:solidFill>
          <a:ln w="12700">
            <a:solidFill>
              <a:srgbClr val="1558A8"/>
            </a:solidFill>
            <a:prstDash val="solid"/>
          </a:ln>
        </p:spPr>
      </p:sp>
      <p:sp>
        <p:nvSpPr>
          <p:cNvPr id="151" name="Text 149"/>
          <p:cNvSpPr/>
          <p:nvPr/>
        </p:nvSpPr>
        <p:spPr>
          <a:xfrm>
            <a:off x="1170432" y="53644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52" name="Shape 150"/>
          <p:cNvSpPr/>
          <p:nvPr/>
        </p:nvSpPr>
        <p:spPr>
          <a:xfrm>
            <a:off x="2185416" y="5154168"/>
            <a:ext cx="932688" cy="182880"/>
          </a:xfrm>
          <a:prstGeom prst="roundRect">
            <a:avLst>
              <a:gd name="adj" fmla="val 15000"/>
            </a:avLst>
          </a:prstGeom>
          <a:solidFill>
            <a:srgbClr val="FFFFFF"/>
          </a:solidFill>
          <a:ln w="9525">
            <a:solidFill>
              <a:srgbClr val="CBD5E1"/>
            </a:solidFill>
            <a:prstDash val="solid"/>
          </a:ln>
        </p:spPr>
      </p:sp>
      <p:sp>
        <p:nvSpPr>
          <p:cNvPr id="153" name="Text 151"/>
          <p:cNvSpPr/>
          <p:nvPr/>
        </p:nvSpPr>
        <p:spPr>
          <a:xfrm>
            <a:off x="2185416" y="51541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Sign-in</a:t>
            </a:r>
            <a:endParaRPr lang="en-US" sz="750" dirty="0"/>
          </a:p>
        </p:txBody>
      </p:sp>
      <p:sp>
        <p:nvSpPr>
          <p:cNvPr id="154" name="Shape 152"/>
          <p:cNvSpPr/>
          <p:nvPr/>
        </p:nvSpPr>
        <p:spPr>
          <a:xfrm>
            <a:off x="2185416" y="5364480"/>
            <a:ext cx="932688" cy="155448"/>
          </a:xfrm>
          <a:prstGeom prst="roundRect">
            <a:avLst>
              <a:gd name="adj" fmla="val 17647"/>
            </a:avLst>
          </a:prstGeom>
          <a:solidFill>
            <a:srgbClr val="1558A8"/>
          </a:solidFill>
          <a:ln w="12700">
            <a:solidFill>
              <a:srgbClr val="1558A8"/>
            </a:solidFill>
            <a:prstDash val="solid"/>
          </a:ln>
        </p:spPr>
      </p:sp>
      <p:sp>
        <p:nvSpPr>
          <p:cNvPr id="155" name="Text 153"/>
          <p:cNvSpPr/>
          <p:nvPr/>
        </p:nvSpPr>
        <p:spPr>
          <a:xfrm>
            <a:off x="2185416" y="53644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56" name="Shape 154"/>
          <p:cNvSpPr/>
          <p:nvPr/>
        </p:nvSpPr>
        <p:spPr>
          <a:xfrm>
            <a:off x="3200400" y="5154168"/>
            <a:ext cx="932688" cy="182880"/>
          </a:xfrm>
          <a:prstGeom prst="roundRect">
            <a:avLst>
              <a:gd name="adj" fmla="val 15000"/>
            </a:avLst>
          </a:prstGeom>
          <a:solidFill>
            <a:srgbClr val="FFFFFF"/>
          </a:solidFill>
          <a:ln w="9525">
            <a:solidFill>
              <a:srgbClr val="CBD5E1"/>
            </a:solidFill>
            <a:prstDash val="solid"/>
          </a:ln>
        </p:spPr>
      </p:sp>
      <p:sp>
        <p:nvSpPr>
          <p:cNvPr id="157" name="Text 155"/>
          <p:cNvSpPr/>
          <p:nvPr/>
        </p:nvSpPr>
        <p:spPr>
          <a:xfrm>
            <a:off x="3200400" y="51541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Subscription</a:t>
            </a:r>
            <a:endParaRPr lang="en-US" sz="750" dirty="0"/>
          </a:p>
        </p:txBody>
      </p:sp>
      <p:sp>
        <p:nvSpPr>
          <p:cNvPr id="158" name="Shape 156"/>
          <p:cNvSpPr/>
          <p:nvPr/>
        </p:nvSpPr>
        <p:spPr>
          <a:xfrm>
            <a:off x="3200400" y="5364480"/>
            <a:ext cx="932688" cy="155448"/>
          </a:xfrm>
          <a:prstGeom prst="roundRect">
            <a:avLst>
              <a:gd name="adj" fmla="val 17647"/>
            </a:avLst>
          </a:prstGeom>
          <a:solidFill>
            <a:srgbClr val="1558A8"/>
          </a:solidFill>
          <a:ln w="12700">
            <a:solidFill>
              <a:srgbClr val="1558A8"/>
            </a:solidFill>
            <a:prstDash val="solid"/>
          </a:ln>
        </p:spPr>
      </p:sp>
      <p:sp>
        <p:nvSpPr>
          <p:cNvPr id="159" name="Text 157"/>
          <p:cNvSpPr/>
          <p:nvPr/>
        </p:nvSpPr>
        <p:spPr>
          <a:xfrm>
            <a:off x="3200400" y="53644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60" name="Shape 158"/>
          <p:cNvSpPr/>
          <p:nvPr/>
        </p:nvSpPr>
        <p:spPr>
          <a:xfrm>
            <a:off x="4215384" y="5154168"/>
            <a:ext cx="932688" cy="182880"/>
          </a:xfrm>
          <a:prstGeom prst="roundRect">
            <a:avLst>
              <a:gd name="adj" fmla="val 15000"/>
            </a:avLst>
          </a:prstGeom>
          <a:solidFill>
            <a:srgbClr val="FFFFFF"/>
          </a:solidFill>
          <a:ln w="9525">
            <a:solidFill>
              <a:srgbClr val="CBD5E1"/>
            </a:solidFill>
            <a:prstDash val="solid"/>
          </a:ln>
        </p:spPr>
      </p:sp>
      <p:sp>
        <p:nvSpPr>
          <p:cNvPr id="161" name="Text 159"/>
          <p:cNvSpPr/>
          <p:nvPr/>
        </p:nvSpPr>
        <p:spPr>
          <a:xfrm>
            <a:off x="4215384" y="51541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MVPD</a:t>
            </a:r>
            <a:endParaRPr lang="en-US" sz="750" dirty="0"/>
          </a:p>
        </p:txBody>
      </p:sp>
      <p:sp>
        <p:nvSpPr>
          <p:cNvPr id="162" name="Shape 160"/>
          <p:cNvSpPr/>
          <p:nvPr/>
        </p:nvSpPr>
        <p:spPr>
          <a:xfrm>
            <a:off x="4215384" y="5364480"/>
            <a:ext cx="932688" cy="155448"/>
          </a:xfrm>
          <a:prstGeom prst="roundRect">
            <a:avLst>
              <a:gd name="adj" fmla="val 17647"/>
            </a:avLst>
          </a:prstGeom>
          <a:solidFill>
            <a:srgbClr val="DCFCE7"/>
          </a:solidFill>
          <a:ln w="12700">
            <a:solidFill>
              <a:srgbClr val="15803D"/>
            </a:solidFill>
            <a:prstDash val="solid"/>
          </a:ln>
        </p:spPr>
      </p:sp>
      <p:sp>
        <p:nvSpPr>
          <p:cNvPr id="163" name="Text 161"/>
          <p:cNvSpPr/>
          <p:nvPr/>
        </p:nvSpPr>
        <p:spPr>
          <a:xfrm>
            <a:off x="4215384" y="536448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64" name="Shape 162"/>
          <p:cNvSpPr/>
          <p:nvPr/>
        </p:nvSpPr>
        <p:spPr>
          <a:xfrm>
            <a:off x="5230368" y="5154168"/>
            <a:ext cx="932688" cy="182880"/>
          </a:xfrm>
          <a:prstGeom prst="roundRect">
            <a:avLst>
              <a:gd name="adj" fmla="val 15000"/>
            </a:avLst>
          </a:prstGeom>
          <a:solidFill>
            <a:srgbClr val="FFFFFF"/>
          </a:solidFill>
          <a:ln w="9525">
            <a:solidFill>
              <a:srgbClr val="CBD5E1"/>
            </a:solidFill>
            <a:prstDash val="solid"/>
          </a:ln>
        </p:spPr>
      </p:sp>
      <p:sp>
        <p:nvSpPr>
          <p:cNvPr id="165" name="Text 163"/>
          <p:cNvSpPr/>
          <p:nvPr/>
        </p:nvSpPr>
        <p:spPr>
          <a:xfrm>
            <a:off x="5230368" y="51541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Cleeng</a:t>
            </a:r>
            <a:endParaRPr lang="en-US" sz="750" dirty="0"/>
          </a:p>
        </p:txBody>
      </p:sp>
      <p:sp>
        <p:nvSpPr>
          <p:cNvPr id="166" name="Shape 164"/>
          <p:cNvSpPr/>
          <p:nvPr/>
        </p:nvSpPr>
        <p:spPr>
          <a:xfrm>
            <a:off x="5230368" y="5364480"/>
            <a:ext cx="932688" cy="155448"/>
          </a:xfrm>
          <a:prstGeom prst="roundRect">
            <a:avLst>
              <a:gd name="adj" fmla="val 17647"/>
            </a:avLst>
          </a:prstGeom>
          <a:solidFill>
            <a:srgbClr val="1558A8"/>
          </a:solidFill>
          <a:ln w="12700">
            <a:solidFill>
              <a:srgbClr val="1558A8"/>
            </a:solidFill>
            <a:prstDash val="solid"/>
          </a:ln>
        </p:spPr>
      </p:sp>
      <p:sp>
        <p:nvSpPr>
          <p:cNvPr id="167" name="Text 165"/>
          <p:cNvSpPr/>
          <p:nvPr/>
        </p:nvSpPr>
        <p:spPr>
          <a:xfrm>
            <a:off x="5230368" y="53644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68" name="Shape 166"/>
          <p:cNvSpPr/>
          <p:nvPr/>
        </p:nvSpPr>
        <p:spPr>
          <a:xfrm>
            <a:off x="6245352" y="5154168"/>
            <a:ext cx="932688" cy="182880"/>
          </a:xfrm>
          <a:prstGeom prst="roundRect">
            <a:avLst>
              <a:gd name="adj" fmla="val 15000"/>
            </a:avLst>
          </a:prstGeom>
          <a:solidFill>
            <a:srgbClr val="FFFFFF"/>
          </a:solidFill>
          <a:ln w="9525">
            <a:solidFill>
              <a:srgbClr val="CBD5E1"/>
            </a:solidFill>
            <a:prstDash val="solid"/>
          </a:ln>
        </p:spPr>
      </p:sp>
      <p:sp>
        <p:nvSpPr>
          <p:cNvPr id="169" name="Text 167"/>
          <p:cNvSpPr/>
          <p:nvPr/>
        </p:nvSpPr>
        <p:spPr>
          <a:xfrm>
            <a:off x="6245352" y="51541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Promos</a:t>
            </a:r>
            <a:endParaRPr lang="en-US" sz="750" dirty="0"/>
          </a:p>
        </p:txBody>
      </p:sp>
      <p:sp>
        <p:nvSpPr>
          <p:cNvPr id="170" name="Shape 168"/>
          <p:cNvSpPr/>
          <p:nvPr/>
        </p:nvSpPr>
        <p:spPr>
          <a:xfrm>
            <a:off x="6245352" y="5364480"/>
            <a:ext cx="932688" cy="155448"/>
          </a:xfrm>
          <a:prstGeom prst="roundRect">
            <a:avLst>
              <a:gd name="adj" fmla="val 17647"/>
            </a:avLst>
          </a:prstGeom>
          <a:solidFill>
            <a:srgbClr val="F3F4F6"/>
          </a:solidFill>
          <a:ln w="9525">
            <a:solidFill>
              <a:srgbClr val="D1D5DB"/>
            </a:solidFill>
            <a:prstDash val="solid"/>
          </a:ln>
        </p:spPr>
      </p:sp>
      <p:sp>
        <p:nvSpPr>
          <p:cNvPr id="171" name="Text 169"/>
          <p:cNvSpPr/>
          <p:nvPr/>
        </p:nvSpPr>
        <p:spPr>
          <a:xfrm>
            <a:off x="6245352" y="536448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172" name="Shape 170"/>
          <p:cNvSpPr/>
          <p:nvPr/>
        </p:nvSpPr>
        <p:spPr>
          <a:xfrm>
            <a:off x="164592" y="5910072"/>
            <a:ext cx="9116568" cy="966216"/>
          </a:xfrm>
          <a:prstGeom prst="rect">
            <a:avLst/>
          </a:prstGeom>
          <a:solidFill>
            <a:srgbClr val="FFFFFF"/>
          </a:solidFill>
          <a:ln w="6350">
            <a:solidFill>
              <a:srgbClr val="E5E7EB"/>
            </a:solidFill>
            <a:prstDash val="solid"/>
          </a:ln>
        </p:spPr>
      </p:sp>
      <p:sp>
        <p:nvSpPr>
          <p:cNvPr id="173" name="Shape 171"/>
          <p:cNvSpPr/>
          <p:nvPr/>
        </p:nvSpPr>
        <p:spPr>
          <a:xfrm>
            <a:off x="182880" y="5983224"/>
            <a:ext cx="859536" cy="819912"/>
          </a:xfrm>
          <a:prstGeom prst="roundRect">
            <a:avLst>
              <a:gd name="adj" fmla="val 5576"/>
            </a:avLst>
          </a:prstGeom>
          <a:solidFill>
            <a:srgbClr val="64748B"/>
          </a:solidFill>
          <a:ln w="12700">
            <a:solidFill>
              <a:srgbClr val="64748B"/>
            </a:solidFill>
            <a:prstDash val="solid"/>
          </a:ln>
        </p:spPr>
      </p:sp>
      <p:sp>
        <p:nvSpPr>
          <p:cNvPr id="174" name="Text 172"/>
          <p:cNvSpPr/>
          <p:nvPr/>
        </p:nvSpPr>
        <p:spPr>
          <a:xfrm>
            <a:off x="182880" y="5983224"/>
            <a:ext cx="859536" cy="819912"/>
          </a:xfrm>
          <a:prstGeom prst="rect">
            <a:avLst/>
          </a:prstGeom>
          <a:noFill/>
          <a:ln/>
        </p:spPr>
        <p:txBody>
          <a:bodyPr wrap="square" lIns="0" tIns="0" rIns="0" bIns="0" rtlCol="0" anchor="ctr"/>
          <a:lstStyle/>
          <a:p>
            <a:pPr algn="ctr" indent="0" marL="0">
              <a:buNone/>
            </a:pPr>
            <a:r>
              <a:rPr lang="en-US" sz="800" b="1" dirty="0">
                <a:solidFill>
                  <a:srgbClr val="FFFFFF"/>
                </a:solidFill>
              </a:rPr>
              <a:t>Data</a:t>
            </a:r>
            <a:endParaRPr lang="en-US" sz="800" dirty="0"/>
          </a:p>
          <a:p>
            <a:pPr algn="ctr" indent="0" marL="0">
              <a:buNone/>
            </a:pPr>
            <a:r>
              <a:rPr lang="en-US" sz="800" b="1" dirty="0">
                <a:solidFill>
                  <a:srgbClr val="FFFFFF"/>
                </a:solidFill>
              </a:rPr>
              <a:t>&amp; Analytics</a:t>
            </a:r>
            <a:endParaRPr lang="en-US" sz="800" dirty="0"/>
          </a:p>
        </p:txBody>
      </p:sp>
      <p:sp>
        <p:nvSpPr>
          <p:cNvPr id="175" name="Text 173"/>
          <p:cNvSpPr/>
          <p:nvPr/>
        </p:nvSpPr>
        <p:spPr>
          <a:xfrm>
            <a:off x="1170432" y="595579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2 / 2 In Progress</a:t>
            </a:r>
            <a:endParaRPr lang="en-US" sz="750" dirty="0"/>
          </a:p>
        </p:txBody>
      </p:sp>
      <p:sp>
        <p:nvSpPr>
          <p:cNvPr id="176" name="Shape 174"/>
          <p:cNvSpPr/>
          <p:nvPr/>
        </p:nvSpPr>
        <p:spPr>
          <a:xfrm>
            <a:off x="1170432" y="6175248"/>
            <a:ext cx="932688" cy="182880"/>
          </a:xfrm>
          <a:prstGeom prst="roundRect">
            <a:avLst>
              <a:gd name="adj" fmla="val 15000"/>
            </a:avLst>
          </a:prstGeom>
          <a:solidFill>
            <a:srgbClr val="FFFFFF"/>
          </a:solidFill>
          <a:ln w="9525">
            <a:solidFill>
              <a:srgbClr val="CBD5E1"/>
            </a:solidFill>
            <a:prstDash val="solid"/>
          </a:ln>
        </p:spPr>
      </p:sp>
      <p:sp>
        <p:nvSpPr>
          <p:cNvPr id="177" name="Text 175"/>
          <p:cNvSpPr/>
          <p:nvPr/>
        </p:nvSpPr>
        <p:spPr>
          <a:xfrm>
            <a:off x="1170432" y="61752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NPAW Historical</a:t>
            </a:r>
            <a:endParaRPr lang="en-US" sz="750" dirty="0"/>
          </a:p>
        </p:txBody>
      </p:sp>
      <p:sp>
        <p:nvSpPr>
          <p:cNvPr id="178" name="Shape 176"/>
          <p:cNvSpPr/>
          <p:nvPr/>
        </p:nvSpPr>
        <p:spPr>
          <a:xfrm>
            <a:off x="1170432" y="6385560"/>
            <a:ext cx="932688" cy="155448"/>
          </a:xfrm>
          <a:prstGeom prst="roundRect">
            <a:avLst>
              <a:gd name="adj" fmla="val 17647"/>
            </a:avLst>
          </a:prstGeom>
          <a:solidFill>
            <a:srgbClr val="1558A8"/>
          </a:solidFill>
          <a:ln w="12700">
            <a:solidFill>
              <a:srgbClr val="1558A8"/>
            </a:solidFill>
            <a:prstDash val="solid"/>
          </a:ln>
        </p:spPr>
      </p:sp>
      <p:sp>
        <p:nvSpPr>
          <p:cNvPr id="179" name="Text 177"/>
          <p:cNvSpPr/>
          <p:nvPr/>
        </p:nvSpPr>
        <p:spPr>
          <a:xfrm>
            <a:off x="1170432" y="63855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80" name="Shape 178"/>
          <p:cNvSpPr/>
          <p:nvPr/>
        </p:nvSpPr>
        <p:spPr>
          <a:xfrm>
            <a:off x="2185416" y="6175248"/>
            <a:ext cx="932688" cy="182880"/>
          </a:xfrm>
          <a:prstGeom prst="roundRect">
            <a:avLst>
              <a:gd name="adj" fmla="val 15000"/>
            </a:avLst>
          </a:prstGeom>
          <a:solidFill>
            <a:srgbClr val="FFFFFF"/>
          </a:solidFill>
          <a:ln w="9525">
            <a:solidFill>
              <a:srgbClr val="CBD5E1"/>
            </a:solidFill>
            <a:prstDash val="solid"/>
          </a:ln>
        </p:spPr>
      </p:sp>
      <p:sp>
        <p:nvSpPr>
          <p:cNvPr id="181" name="Text 179"/>
          <p:cNvSpPr/>
          <p:nvPr/>
        </p:nvSpPr>
        <p:spPr>
          <a:xfrm>
            <a:off x="2185416" y="61752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Cleeng Historical</a:t>
            </a:r>
            <a:endParaRPr lang="en-US" sz="750" dirty="0"/>
          </a:p>
        </p:txBody>
      </p:sp>
      <p:sp>
        <p:nvSpPr>
          <p:cNvPr id="182" name="Shape 180"/>
          <p:cNvSpPr/>
          <p:nvPr/>
        </p:nvSpPr>
        <p:spPr>
          <a:xfrm>
            <a:off x="2185416" y="6385560"/>
            <a:ext cx="932688" cy="155448"/>
          </a:xfrm>
          <a:prstGeom prst="roundRect">
            <a:avLst>
              <a:gd name="adj" fmla="val 17647"/>
            </a:avLst>
          </a:prstGeom>
          <a:solidFill>
            <a:srgbClr val="1558A8"/>
          </a:solidFill>
          <a:ln w="12700">
            <a:solidFill>
              <a:srgbClr val="1558A8"/>
            </a:solidFill>
            <a:prstDash val="solid"/>
          </a:ln>
        </p:spPr>
      </p:sp>
      <p:sp>
        <p:nvSpPr>
          <p:cNvPr id="183" name="Text 181"/>
          <p:cNvSpPr/>
          <p:nvPr/>
        </p:nvSpPr>
        <p:spPr>
          <a:xfrm>
            <a:off x="2185416" y="63855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84" name="Shape 182"/>
          <p:cNvSpPr/>
          <p:nvPr/>
        </p:nvSpPr>
        <p:spPr>
          <a:xfrm>
            <a:off x="9372600" y="804672"/>
            <a:ext cx="2834640" cy="6071616"/>
          </a:xfrm>
          <a:prstGeom prst="rect">
            <a:avLst/>
          </a:prstGeom>
          <a:solidFill>
            <a:srgbClr val="F8FAFB"/>
          </a:solidFill>
          <a:ln w="12700">
            <a:solidFill>
              <a:srgbClr val="DDE1E6"/>
            </a:solidFill>
            <a:prstDash val="solid"/>
          </a:ln>
        </p:spPr>
      </p:sp>
      <p:sp>
        <p:nvSpPr>
          <p:cNvPr id="185" name="Text 183"/>
          <p:cNvSpPr/>
          <p:nvPr/>
        </p:nvSpPr>
        <p:spPr>
          <a:xfrm>
            <a:off x="9500616" y="950976"/>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Milestones</a:t>
            </a:r>
            <a:endParaRPr lang="en-US" sz="950" dirty="0"/>
          </a:p>
        </p:txBody>
      </p:sp>
      <p:sp>
        <p:nvSpPr>
          <p:cNvPr id="186" name="Shape 184"/>
          <p:cNvSpPr/>
          <p:nvPr/>
        </p:nvSpPr>
        <p:spPr>
          <a:xfrm>
            <a:off x="9464040" y="1225296"/>
            <a:ext cx="2670048" cy="420624"/>
          </a:xfrm>
          <a:prstGeom prst="rect">
            <a:avLst/>
          </a:prstGeom>
          <a:solidFill>
            <a:srgbClr val="FFFFFF"/>
          </a:solidFill>
          <a:ln w="6350">
            <a:solidFill>
              <a:srgbClr val="E5E7EB"/>
            </a:solidFill>
            <a:prstDash val="solid"/>
          </a:ln>
        </p:spPr>
      </p:sp>
      <p:sp>
        <p:nvSpPr>
          <p:cNvPr id="187" name="Shape 185"/>
          <p:cNvSpPr/>
          <p:nvPr/>
        </p:nvSpPr>
        <p:spPr>
          <a:xfrm>
            <a:off x="9537192" y="1316736"/>
            <a:ext cx="109728" cy="109728"/>
          </a:xfrm>
          <a:prstGeom prst="ellipse">
            <a:avLst/>
          </a:prstGeom>
          <a:solidFill>
            <a:srgbClr val="16A34A"/>
          </a:solidFill>
          <a:ln w="12700">
            <a:solidFill>
              <a:srgbClr val="16A34A"/>
            </a:solidFill>
            <a:prstDash val="solid"/>
          </a:ln>
        </p:spPr>
      </p:sp>
      <p:sp>
        <p:nvSpPr>
          <p:cNvPr id="188" name="Text 186"/>
          <p:cNvSpPr/>
          <p:nvPr/>
        </p:nvSpPr>
        <p:spPr>
          <a:xfrm>
            <a:off x="9701784" y="1243584"/>
            <a:ext cx="2304288" cy="173736"/>
          </a:xfrm>
          <a:prstGeom prst="rect">
            <a:avLst/>
          </a:prstGeom>
          <a:noFill/>
          <a:ln/>
        </p:spPr>
        <p:txBody>
          <a:bodyPr wrap="square" lIns="0" tIns="0" rIns="0" bIns="0" rtlCol="0" anchor="ctr"/>
          <a:lstStyle/>
          <a:p>
            <a:pPr indent="0" marL="0">
              <a:buNone/>
            </a:pPr>
            <a:r>
              <a:rPr lang="en-US" sz="800" b="1" dirty="0">
                <a:solidFill>
                  <a:srgbClr val="15803D"/>
                </a:solidFill>
              </a:rPr>
              <a:t>Requirements</a:t>
            </a:r>
            <a:endParaRPr lang="en-US" sz="800" dirty="0"/>
          </a:p>
        </p:txBody>
      </p:sp>
      <p:sp>
        <p:nvSpPr>
          <p:cNvPr id="189" name="Text 187"/>
          <p:cNvSpPr/>
          <p:nvPr/>
        </p:nvSpPr>
        <p:spPr>
          <a:xfrm>
            <a:off x="9701784" y="1453896"/>
            <a:ext cx="1773936" cy="137160"/>
          </a:xfrm>
          <a:prstGeom prst="rect">
            <a:avLst/>
          </a:prstGeom>
          <a:noFill/>
          <a:ln/>
        </p:spPr>
        <p:txBody>
          <a:bodyPr wrap="square" lIns="0" tIns="0" rIns="0" bIns="0" rtlCol="0" anchor="ctr"/>
          <a:lstStyle/>
          <a:p>
            <a:pPr indent="0" marL="0">
              <a:buNone/>
            </a:pPr>
            <a:r>
              <a:rPr lang="en-US" sz="700" dirty="0">
                <a:solidFill>
                  <a:srgbClr val="6B7280"/>
                </a:solidFill>
              </a:rPr>
              <a:t>Jun 30, 2026</a:t>
            </a:r>
            <a:endParaRPr lang="en-US" sz="700" dirty="0"/>
          </a:p>
        </p:txBody>
      </p:sp>
      <p:sp>
        <p:nvSpPr>
          <p:cNvPr id="190" name="Shape 188"/>
          <p:cNvSpPr/>
          <p:nvPr/>
        </p:nvSpPr>
        <p:spPr>
          <a:xfrm>
            <a:off x="11494008" y="1453896"/>
            <a:ext cx="658368" cy="137160"/>
          </a:xfrm>
          <a:prstGeom prst="roundRect">
            <a:avLst>
              <a:gd name="adj" fmla="val 20000"/>
            </a:avLst>
          </a:prstGeom>
          <a:solidFill>
            <a:srgbClr val="DCFCE7"/>
          </a:solidFill>
          <a:ln w="12700">
            <a:solidFill>
              <a:srgbClr val="DCFCE7"/>
            </a:solidFill>
            <a:prstDash val="solid"/>
          </a:ln>
        </p:spPr>
      </p:sp>
      <p:sp>
        <p:nvSpPr>
          <p:cNvPr id="191" name="Text 189"/>
          <p:cNvSpPr/>
          <p:nvPr/>
        </p:nvSpPr>
        <p:spPr>
          <a:xfrm>
            <a:off x="11494008" y="1453896"/>
            <a:ext cx="658368" cy="137160"/>
          </a:xfrm>
          <a:prstGeom prst="rect">
            <a:avLst/>
          </a:prstGeom>
          <a:noFill/>
          <a:ln/>
        </p:spPr>
        <p:txBody>
          <a:bodyPr wrap="square" lIns="0" tIns="0" rIns="0" bIns="0" rtlCol="0" anchor="ctr"/>
          <a:lstStyle/>
          <a:p>
            <a:pPr algn="ctr" indent="0" marL="0">
              <a:buNone/>
            </a:pPr>
            <a:r>
              <a:rPr lang="en-US" sz="600" b="1" dirty="0">
                <a:solidFill>
                  <a:srgbClr val="166534"/>
                </a:solidFill>
              </a:rPr>
              <a:t>Complete</a:t>
            </a:r>
            <a:endParaRPr lang="en-US" sz="600" dirty="0"/>
          </a:p>
        </p:txBody>
      </p:sp>
      <p:sp>
        <p:nvSpPr>
          <p:cNvPr id="192" name="Shape 190"/>
          <p:cNvSpPr/>
          <p:nvPr/>
        </p:nvSpPr>
        <p:spPr>
          <a:xfrm>
            <a:off x="9464040" y="1700784"/>
            <a:ext cx="2670048" cy="420624"/>
          </a:xfrm>
          <a:prstGeom prst="rect">
            <a:avLst/>
          </a:prstGeom>
          <a:solidFill>
            <a:srgbClr val="FFFFFF"/>
          </a:solidFill>
          <a:ln w="6350">
            <a:solidFill>
              <a:srgbClr val="E5E7EB"/>
            </a:solidFill>
            <a:prstDash val="solid"/>
          </a:ln>
        </p:spPr>
      </p:sp>
      <p:sp>
        <p:nvSpPr>
          <p:cNvPr id="193" name="Shape 191"/>
          <p:cNvSpPr/>
          <p:nvPr/>
        </p:nvSpPr>
        <p:spPr>
          <a:xfrm>
            <a:off x="9537192" y="1792224"/>
            <a:ext cx="109728" cy="109728"/>
          </a:xfrm>
          <a:prstGeom prst="ellipse">
            <a:avLst/>
          </a:prstGeom>
          <a:solidFill>
            <a:srgbClr val="1558A8"/>
          </a:solidFill>
          <a:ln w="12700">
            <a:solidFill>
              <a:srgbClr val="1558A8"/>
            </a:solidFill>
            <a:prstDash val="solid"/>
          </a:ln>
        </p:spPr>
      </p:sp>
      <p:sp>
        <p:nvSpPr>
          <p:cNvPr id="194" name="Text 192"/>
          <p:cNvSpPr/>
          <p:nvPr/>
        </p:nvSpPr>
        <p:spPr>
          <a:xfrm>
            <a:off x="9701784" y="1719072"/>
            <a:ext cx="2304288" cy="173736"/>
          </a:xfrm>
          <a:prstGeom prst="rect">
            <a:avLst/>
          </a:prstGeom>
          <a:noFill/>
          <a:ln/>
        </p:spPr>
        <p:txBody>
          <a:bodyPr wrap="square" lIns="0" tIns="0" rIns="0" bIns="0" rtlCol="0" anchor="ctr"/>
          <a:lstStyle/>
          <a:p>
            <a:pPr indent="0" marL="0">
              <a:buNone/>
            </a:pPr>
            <a:r>
              <a:rPr lang="en-US" sz="800" b="1" dirty="0">
                <a:solidFill>
                  <a:srgbClr val="1D4ED8"/>
                </a:solidFill>
              </a:rPr>
              <a:t>Beta</a:t>
            </a:r>
            <a:endParaRPr lang="en-US" sz="800" dirty="0"/>
          </a:p>
        </p:txBody>
      </p:sp>
      <p:sp>
        <p:nvSpPr>
          <p:cNvPr id="195" name="Text 193"/>
          <p:cNvSpPr/>
          <p:nvPr/>
        </p:nvSpPr>
        <p:spPr>
          <a:xfrm>
            <a:off x="9701784" y="1929384"/>
            <a:ext cx="1773936" cy="137160"/>
          </a:xfrm>
          <a:prstGeom prst="rect">
            <a:avLst/>
          </a:prstGeom>
          <a:noFill/>
          <a:ln/>
        </p:spPr>
        <p:txBody>
          <a:bodyPr wrap="square" lIns="0" tIns="0" rIns="0" bIns="0" rtlCol="0" anchor="ctr"/>
          <a:lstStyle/>
          <a:p>
            <a:pPr indent="0" marL="0">
              <a:buNone/>
            </a:pPr>
            <a:r>
              <a:rPr lang="en-US" sz="700" dirty="0">
                <a:solidFill>
                  <a:srgbClr val="6B7280"/>
                </a:solidFill>
              </a:rPr>
              <a:t>Sep 30, 2026</a:t>
            </a:r>
            <a:endParaRPr lang="en-US" sz="700" dirty="0"/>
          </a:p>
        </p:txBody>
      </p:sp>
      <p:sp>
        <p:nvSpPr>
          <p:cNvPr id="196" name="Shape 194"/>
          <p:cNvSpPr/>
          <p:nvPr/>
        </p:nvSpPr>
        <p:spPr>
          <a:xfrm>
            <a:off x="11494008" y="1929384"/>
            <a:ext cx="658368" cy="137160"/>
          </a:xfrm>
          <a:prstGeom prst="roundRect">
            <a:avLst>
              <a:gd name="adj" fmla="val 20000"/>
            </a:avLst>
          </a:prstGeom>
          <a:solidFill>
            <a:srgbClr val="DBEAFE"/>
          </a:solidFill>
          <a:ln w="12700">
            <a:solidFill>
              <a:srgbClr val="DBEAFE"/>
            </a:solidFill>
            <a:prstDash val="solid"/>
          </a:ln>
        </p:spPr>
      </p:sp>
      <p:sp>
        <p:nvSpPr>
          <p:cNvPr id="197" name="Text 195"/>
          <p:cNvSpPr/>
          <p:nvPr/>
        </p:nvSpPr>
        <p:spPr>
          <a:xfrm>
            <a:off x="11494008" y="1929384"/>
            <a:ext cx="658368" cy="137160"/>
          </a:xfrm>
          <a:prstGeom prst="rect">
            <a:avLst/>
          </a:prstGeom>
          <a:noFill/>
          <a:ln/>
        </p:spPr>
        <p:txBody>
          <a:bodyPr wrap="square" lIns="0" tIns="0" rIns="0" bIns="0" rtlCol="0" anchor="ctr"/>
          <a:lstStyle/>
          <a:p>
            <a:pPr algn="ctr" indent="0" marL="0">
              <a:buNone/>
            </a:pPr>
            <a:r>
              <a:rPr lang="en-US" sz="600" b="1" dirty="0">
                <a:solidFill>
                  <a:srgbClr val="1E40AF"/>
                </a:solidFill>
              </a:rPr>
              <a:t>In Progress</a:t>
            </a:r>
            <a:endParaRPr lang="en-US" sz="600" dirty="0"/>
          </a:p>
        </p:txBody>
      </p:sp>
      <p:sp>
        <p:nvSpPr>
          <p:cNvPr id="198" name="Shape 196"/>
          <p:cNvSpPr/>
          <p:nvPr/>
        </p:nvSpPr>
        <p:spPr>
          <a:xfrm>
            <a:off x="9464040" y="2176272"/>
            <a:ext cx="2670048" cy="420624"/>
          </a:xfrm>
          <a:prstGeom prst="rect">
            <a:avLst/>
          </a:prstGeom>
          <a:solidFill>
            <a:srgbClr val="FFFFFF"/>
          </a:solidFill>
          <a:ln w="6350">
            <a:solidFill>
              <a:srgbClr val="E5E7EB"/>
            </a:solidFill>
            <a:prstDash val="solid"/>
          </a:ln>
        </p:spPr>
      </p:sp>
      <p:sp>
        <p:nvSpPr>
          <p:cNvPr id="199" name="Shape 197"/>
          <p:cNvSpPr/>
          <p:nvPr/>
        </p:nvSpPr>
        <p:spPr>
          <a:xfrm>
            <a:off x="9537192" y="2267712"/>
            <a:ext cx="109728" cy="109728"/>
          </a:xfrm>
          <a:prstGeom prst="ellipse">
            <a:avLst/>
          </a:prstGeom>
          <a:solidFill>
            <a:srgbClr val="9CA3AF"/>
          </a:solidFill>
          <a:ln w="12700">
            <a:solidFill>
              <a:srgbClr val="9CA3AF"/>
            </a:solidFill>
            <a:prstDash val="solid"/>
          </a:ln>
        </p:spPr>
      </p:sp>
      <p:sp>
        <p:nvSpPr>
          <p:cNvPr id="200" name="Text 198"/>
          <p:cNvSpPr/>
          <p:nvPr/>
        </p:nvSpPr>
        <p:spPr>
          <a:xfrm>
            <a:off x="9701784" y="2194560"/>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UAT / Testing</a:t>
            </a:r>
            <a:endParaRPr lang="en-US" sz="800" dirty="0"/>
          </a:p>
        </p:txBody>
      </p:sp>
      <p:sp>
        <p:nvSpPr>
          <p:cNvPr id="201" name="Text 199"/>
          <p:cNvSpPr/>
          <p:nvPr/>
        </p:nvSpPr>
        <p:spPr>
          <a:xfrm>
            <a:off x="9701784" y="2404872"/>
            <a:ext cx="1773936" cy="137160"/>
          </a:xfrm>
          <a:prstGeom prst="rect">
            <a:avLst/>
          </a:prstGeom>
          <a:noFill/>
          <a:ln/>
        </p:spPr>
        <p:txBody>
          <a:bodyPr wrap="square" lIns="0" tIns="0" rIns="0" bIns="0" rtlCol="0" anchor="ctr"/>
          <a:lstStyle/>
          <a:p>
            <a:pPr indent="0" marL="0">
              <a:buNone/>
            </a:pPr>
            <a:r>
              <a:rPr lang="en-US" sz="700" dirty="0">
                <a:solidFill>
                  <a:srgbClr val="6B7280"/>
                </a:solidFill>
              </a:rPr>
              <a:t>Nov 30, 2026</a:t>
            </a:r>
            <a:endParaRPr lang="en-US" sz="700" dirty="0"/>
          </a:p>
        </p:txBody>
      </p:sp>
      <p:sp>
        <p:nvSpPr>
          <p:cNvPr id="202" name="Shape 200"/>
          <p:cNvSpPr/>
          <p:nvPr/>
        </p:nvSpPr>
        <p:spPr>
          <a:xfrm>
            <a:off x="11494008" y="2404872"/>
            <a:ext cx="658368" cy="137160"/>
          </a:xfrm>
          <a:prstGeom prst="roundRect">
            <a:avLst>
              <a:gd name="adj" fmla="val 20000"/>
            </a:avLst>
          </a:prstGeom>
          <a:solidFill>
            <a:srgbClr val="F3F4F6"/>
          </a:solidFill>
          <a:ln w="12700">
            <a:solidFill>
              <a:srgbClr val="F3F4F6"/>
            </a:solidFill>
            <a:prstDash val="solid"/>
          </a:ln>
        </p:spPr>
      </p:sp>
      <p:sp>
        <p:nvSpPr>
          <p:cNvPr id="203" name="Text 201"/>
          <p:cNvSpPr/>
          <p:nvPr/>
        </p:nvSpPr>
        <p:spPr>
          <a:xfrm>
            <a:off x="11494008" y="2404872"/>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204" name="Shape 202"/>
          <p:cNvSpPr/>
          <p:nvPr/>
        </p:nvSpPr>
        <p:spPr>
          <a:xfrm>
            <a:off x="9464040" y="2651760"/>
            <a:ext cx="2670048" cy="420624"/>
          </a:xfrm>
          <a:prstGeom prst="rect">
            <a:avLst/>
          </a:prstGeom>
          <a:solidFill>
            <a:srgbClr val="FFFFFF"/>
          </a:solidFill>
          <a:ln w="6350">
            <a:solidFill>
              <a:srgbClr val="E5E7EB"/>
            </a:solidFill>
            <a:prstDash val="solid"/>
          </a:ln>
        </p:spPr>
      </p:sp>
      <p:sp>
        <p:nvSpPr>
          <p:cNvPr id="205" name="Shape 203"/>
          <p:cNvSpPr/>
          <p:nvPr/>
        </p:nvSpPr>
        <p:spPr>
          <a:xfrm>
            <a:off x="9537192" y="2743200"/>
            <a:ext cx="109728" cy="109728"/>
          </a:xfrm>
          <a:prstGeom prst="ellipse">
            <a:avLst/>
          </a:prstGeom>
          <a:solidFill>
            <a:srgbClr val="9CA3AF"/>
          </a:solidFill>
          <a:ln w="12700">
            <a:solidFill>
              <a:srgbClr val="9CA3AF"/>
            </a:solidFill>
            <a:prstDash val="solid"/>
          </a:ln>
        </p:spPr>
      </p:sp>
      <p:sp>
        <p:nvSpPr>
          <p:cNvPr id="206" name="Text 204"/>
          <p:cNvSpPr/>
          <p:nvPr/>
        </p:nvSpPr>
        <p:spPr>
          <a:xfrm>
            <a:off x="9701784" y="2670048"/>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Release</a:t>
            </a:r>
            <a:endParaRPr lang="en-US" sz="800" dirty="0"/>
          </a:p>
        </p:txBody>
      </p:sp>
      <p:sp>
        <p:nvSpPr>
          <p:cNvPr id="207" name="Text 205"/>
          <p:cNvSpPr/>
          <p:nvPr/>
        </p:nvSpPr>
        <p:spPr>
          <a:xfrm>
            <a:off x="9701784" y="2880360"/>
            <a:ext cx="1773936" cy="137160"/>
          </a:xfrm>
          <a:prstGeom prst="rect">
            <a:avLst/>
          </a:prstGeom>
          <a:noFill/>
          <a:ln/>
        </p:spPr>
        <p:txBody>
          <a:bodyPr wrap="square" lIns="0" tIns="0" rIns="0" bIns="0" rtlCol="0" anchor="ctr"/>
          <a:lstStyle/>
          <a:p>
            <a:pPr indent="0" marL="0">
              <a:buNone/>
            </a:pPr>
            <a:r>
              <a:rPr lang="en-US" sz="700" dirty="0">
                <a:solidFill>
                  <a:srgbClr val="6B7280"/>
                </a:solidFill>
              </a:rPr>
              <a:t>Dec 2026</a:t>
            </a:r>
            <a:endParaRPr lang="en-US" sz="700" dirty="0"/>
          </a:p>
        </p:txBody>
      </p:sp>
      <p:sp>
        <p:nvSpPr>
          <p:cNvPr id="208" name="Shape 206"/>
          <p:cNvSpPr/>
          <p:nvPr/>
        </p:nvSpPr>
        <p:spPr>
          <a:xfrm>
            <a:off x="11494008" y="2880360"/>
            <a:ext cx="658368" cy="137160"/>
          </a:xfrm>
          <a:prstGeom prst="roundRect">
            <a:avLst>
              <a:gd name="adj" fmla="val 20000"/>
            </a:avLst>
          </a:prstGeom>
          <a:solidFill>
            <a:srgbClr val="F3F4F6"/>
          </a:solidFill>
          <a:ln w="12700">
            <a:solidFill>
              <a:srgbClr val="F3F4F6"/>
            </a:solidFill>
            <a:prstDash val="solid"/>
          </a:ln>
        </p:spPr>
      </p:sp>
      <p:sp>
        <p:nvSpPr>
          <p:cNvPr id="209" name="Text 207"/>
          <p:cNvSpPr/>
          <p:nvPr/>
        </p:nvSpPr>
        <p:spPr>
          <a:xfrm>
            <a:off x="11494008" y="2880360"/>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210" name="Shape 208"/>
          <p:cNvSpPr/>
          <p:nvPr/>
        </p:nvSpPr>
        <p:spPr>
          <a:xfrm>
            <a:off x="9482328" y="3200400"/>
            <a:ext cx="2633472" cy="0"/>
          </a:xfrm>
          <a:prstGeom prst="line">
            <a:avLst/>
          </a:prstGeom>
          <a:noFill/>
          <a:ln w="9525">
            <a:solidFill>
              <a:srgbClr val="DDE1E6"/>
            </a:solidFill>
            <a:prstDash val="solid"/>
          </a:ln>
        </p:spPr>
      </p:sp>
      <p:sp>
        <p:nvSpPr>
          <p:cNvPr id="211" name="Text 209"/>
          <p:cNvSpPr/>
          <p:nvPr/>
        </p:nvSpPr>
        <p:spPr>
          <a:xfrm>
            <a:off x="9500616" y="3337560"/>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Status Key</a:t>
            </a:r>
            <a:endParaRPr lang="en-US" sz="950" dirty="0"/>
          </a:p>
        </p:txBody>
      </p:sp>
      <p:sp>
        <p:nvSpPr>
          <p:cNvPr id="212" name="Shape 210"/>
          <p:cNvSpPr/>
          <p:nvPr/>
        </p:nvSpPr>
        <p:spPr>
          <a:xfrm>
            <a:off x="9500616" y="3584448"/>
            <a:ext cx="749808" cy="173736"/>
          </a:xfrm>
          <a:prstGeom prst="roundRect">
            <a:avLst>
              <a:gd name="adj" fmla="val 15789"/>
            </a:avLst>
          </a:prstGeom>
          <a:solidFill>
            <a:srgbClr val="F3F4F6"/>
          </a:solidFill>
          <a:ln w="9525">
            <a:solidFill>
              <a:srgbClr val="D1D5DB"/>
            </a:solidFill>
            <a:prstDash val="solid"/>
          </a:ln>
        </p:spPr>
      </p:sp>
      <p:sp>
        <p:nvSpPr>
          <p:cNvPr id="213" name="Text 211"/>
          <p:cNvSpPr/>
          <p:nvPr/>
        </p:nvSpPr>
        <p:spPr>
          <a:xfrm>
            <a:off x="9500616" y="3584448"/>
            <a:ext cx="749808" cy="173736"/>
          </a:xfrm>
          <a:prstGeom prst="rect">
            <a:avLst/>
          </a:prstGeom>
          <a:noFill/>
          <a:ln/>
        </p:spPr>
        <p:txBody>
          <a:bodyPr wrap="square" lIns="0" tIns="0" rIns="0" bIns="0" rtlCol="0" anchor="ctr"/>
          <a:lstStyle/>
          <a:p>
            <a:pPr algn="ctr" indent="0" marL="0">
              <a:buNone/>
            </a:pPr>
            <a:r>
              <a:rPr lang="en-US" sz="700" b="1" dirty="0">
                <a:solidFill>
                  <a:srgbClr val="374151"/>
                </a:solidFill>
              </a:rPr>
              <a:t>Not Started</a:t>
            </a:r>
            <a:endParaRPr lang="en-US" sz="700" dirty="0"/>
          </a:p>
        </p:txBody>
      </p:sp>
      <p:sp>
        <p:nvSpPr>
          <p:cNvPr id="214" name="Text 212"/>
          <p:cNvSpPr/>
          <p:nvPr/>
        </p:nvSpPr>
        <p:spPr>
          <a:xfrm>
            <a:off x="10305288" y="3584448"/>
            <a:ext cx="1792224" cy="173736"/>
          </a:xfrm>
          <a:prstGeom prst="rect">
            <a:avLst/>
          </a:prstGeom>
          <a:noFill/>
          <a:ln/>
        </p:spPr>
        <p:txBody>
          <a:bodyPr wrap="square" lIns="0" tIns="0" rIns="0" bIns="0" rtlCol="0" anchor="ctr"/>
          <a:lstStyle/>
          <a:p>
            <a:pPr algn="l" indent="0" marL="0">
              <a:buNone/>
            </a:pPr>
            <a:r>
              <a:rPr lang="en-US" sz="700" dirty="0">
                <a:solidFill>
                  <a:srgbClr val="6B7280"/>
                </a:solidFill>
              </a:rPr>
              <a:t>Work has not begun</a:t>
            </a:r>
            <a:endParaRPr lang="en-US" sz="700" dirty="0"/>
          </a:p>
        </p:txBody>
      </p:sp>
      <p:sp>
        <p:nvSpPr>
          <p:cNvPr id="215" name="Shape 213"/>
          <p:cNvSpPr/>
          <p:nvPr/>
        </p:nvSpPr>
        <p:spPr>
          <a:xfrm>
            <a:off x="9500616" y="3813048"/>
            <a:ext cx="749808" cy="173736"/>
          </a:xfrm>
          <a:prstGeom prst="roundRect">
            <a:avLst>
              <a:gd name="adj" fmla="val 15789"/>
            </a:avLst>
          </a:prstGeom>
          <a:solidFill>
            <a:srgbClr val="1558A8"/>
          </a:solidFill>
          <a:ln w="12700">
            <a:solidFill>
              <a:srgbClr val="1558A8"/>
            </a:solidFill>
            <a:prstDash val="solid"/>
          </a:ln>
        </p:spPr>
      </p:sp>
      <p:sp>
        <p:nvSpPr>
          <p:cNvPr id="216" name="Text 214"/>
          <p:cNvSpPr/>
          <p:nvPr/>
        </p:nvSpPr>
        <p:spPr>
          <a:xfrm>
            <a:off x="9500616" y="3813048"/>
            <a:ext cx="749808" cy="173736"/>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217" name="Text 215"/>
          <p:cNvSpPr/>
          <p:nvPr/>
        </p:nvSpPr>
        <p:spPr>
          <a:xfrm>
            <a:off x="10305288" y="3813048"/>
            <a:ext cx="1792224" cy="173736"/>
          </a:xfrm>
          <a:prstGeom prst="rect">
            <a:avLst/>
          </a:prstGeom>
          <a:noFill/>
          <a:ln/>
        </p:spPr>
        <p:txBody>
          <a:bodyPr wrap="square" lIns="0" tIns="0" rIns="0" bIns="0" rtlCol="0" anchor="ctr"/>
          <a:lstStyle/>
          <a:p>
            <a:pPr algn="l" indent="0" marL="0">
              <a:buNone/>
            </a:pPr>
            <a:r>
              <a:rPr lang="en-US" sz="700" dirty="0">
                <a:solidFill>
                  <a:srgbClr val="6B7280"/>
                </a:solidFill>
              </a:rPr>
              <a:t>Active development underway</a:t>
            </a:r>
            <a:endParaRPr lang="en-US" sz="700" dirty="0"/>
          </a:p>
        </p:txBody>
      </p:sp>
      <p:sp>
        <p:nvSpPr>
          <p:cNvPr id="218" name="Shape 216"/>
          <p:cNvSpPr/>
          <p:nvPr/>
        </p:nvSpPr>
        <p:spPr>
          <a:xfrm>
            <a:off x="9500616" y="4041648"/>
            <a:ext cx="749808" cy="173736"/>
          </a:xfrm>
          <a:prstGeom prst="roundRect">
            <a:avLst>
              <a:gd name="adj" fmla="val 15789"/>
            </a:avLst>
          </a:prstGeom>
          <a:solidFill>
            <a:srgbClr val="FEE2E2"/>
          </a:solidFill>
          <a:ln w="19050">
            <a:solidFill>
              <a:srgbClr val="DC2626"/>
            </a:solidFill>
            <a:prstDash val="solid"/>
          </a:ln>
        </p:spPr>
      </p:sp>
      <p:sp>
        <p:nvSpPr>
          <p:cNvPr id="219" name="Text 217"/>
          <p:cNvSpPr/>
          <p:nvPr/>
        </p:nvSpPr>
        <p:spPr>
          <a:xfrm>
            <a:off x="9500616" y="4041648"/>
            <a:ext cx="749808" cy="173736"/>
          </a:xfrm>
          <a:prstGeom prst="rect">
            <a:avLst/>
          </a:prstGeom>
          <a:noFill/>
          <a:ln/>
        </p:spPr>
        <p:txBody>
          <a:bodyPr wrap="square" lIns="0" tIns="0" rIns="0" bIns="0" rtlCol="0" anchor="ctr"/>
          <a:lstStyle/>
          <a:p>
            <a:pPr algn="ctr" indent="0" marL="0">
              <a:buNone/>
            </a:pPr>
            <a:r>
              <a:rPr lang="en-US" sz="700" b="1" dirty="0">
                <a:solidFill>
                  <a:srgbClr val="7F1D1D"/>
                </a:solidFill>
              </a:rPr>
              <a:t>Blocked</a:t>
            </a:r>
            <a:endParaRPr lang="en-US" sz="700" dirty="0"/>
          </a:p>
        </p:txBody>
      </p:sp>
      <p:sp>
        <p:nvSpPr>
          <p:cNvPr id="220" name="Text 218"/>
          <p:cNvSpPr/>
          <p:nvPr/>
        </p:nvSpPr>
        <p:spPr>
          <a:xfrm>
            <a:off x="10305288" y="4041648"/>
            <a:ext cx="1792224" cy="173736"/>
          </a:xfrm>
          <a:prstGeom prst="rect">
            <a:avLst/>
          </a:prstGeom>
          <a:noFill/>
          <a:ln/>
        </p:spPr>
        <p:txBody>
          <a:bodyPr wrap="square" lIns="0" tIns="0" rIns="0" bIns="0" rtlCol="0" anchor="ctr"/>
          <a:lstStyle/>
          <a:p>
            <a:pPr algn="l" indent="0" marL="0">
              <a:buNone/>
            </a:pPr>
            <a:r>
              <a:rPr lang="en-US" sz="700" dirty="0">
                <a:solidFill>
                  <a:srgbClr val="6B7280"/>
                </a:solidFill>
              </a:rPr>
              <a:t>Blocked by dependency</a:t>
            </a:r>
            <a:endParaRPr lang="en-US" sz="700" dirty="0"/>
          </a:p>
        </p:txBody>
      </p:sp>
      <p:sp>
        <p:nvSpPr>
          <p:cNvPr id="221" name="Shape 219"/>
          <p:cNvSpPr/>
          <p:nvPr/>
        </p:nvSpPr>
        <p:spPr>
          <a:xfrm>
            <a:off x="9500616" y="4270248"/>
            <a:ext cx="749808" cy="173736"/>
          </a:xfrm>
          <a:prstGeom prst="roundRect">
            <a:avLst>
              <a:gd name="adj" fmla="val 15789"/>
            </a:avLst>
          </a:prstGeom>
          <a:solidFill>
            <a:srgbClr val="DCFCE7"/>
          </a:solidFill>
          <a:ln w="12700">
            <a:solidFill>
              <a:srgbClr val="15803D"/>
            </a:solidFill>
            <a:prstDash val="solid"/>
          </a:ln>
        </p:spPr>
      </p:sp>
      <p:sp>
        <p:nvSpPr>
          <p:cNvPr id="222" name="Text 220"/>
          <p:cNvSpPr/>
          <p:nvPr/>
        </p:nvSpPr>
        <p:spPr>
          <a:xfrm>
            <a:off x="9500616" y="4270248"/>
            <a:ext cx="749808" cy="173736"/>
          </a:xfrm>
          <a:prstGeom prst="rect">
            <a:avLst/>
          </a:prstGeom>
          <a:noFill/>
          <a:ln/>
        </p:spPr>
        <p:txBody>
          <a:bodyPr wrap="square" lIns="0" tIns="0" rIns="0" bIns="0" rtlCol="0" anchor="ctr"/>
          <a:lstStyle/>
          <a:p>
            <a:pPr algn="ctr" indent="0" marL="0">
              <a:buNone/>
            </a:pPr>
            <a:r>
              <a:rPr lang="en-US" sz="700" b="1" dirty="0">
                <a:solidFill>
                  <a:srgbClr val="14532D"/>
                </a:solidFill>
              </a:rPr>
              <a:t>Done</a:t>
            </a:r>
            <a:endParaRPr lang="en-US" sz="700" dirty="0"/>
          </a:p>
        </p:txBody>
      </p:sp>
      <p:sp>
        <p:nvSpPr>
          <p:cNvPr id="223" name="Text 221"/>
          <p:cNvSpPr/>
          <p:nvPr/>
        </p:nvSpPr>
        <p:spPr>
          <a:xfrm>
            <a:off x="10305288" y="4270248"/>
            <a:ext cx="1792224" cy="173736"/>
          </a:xfrm>
          <a:prstGeom prst="rect">
            <a:avLst/>
          </a:prstGeom>
          <a:noFill/>
          <a:ln/>
        </p:spPr>
        <p:txBody>
          <a:bodyPr wrap="square" lIns="0" tIns="0" rIns="0" bIns="0" rtlCol="0" anchor="ctr"/>
          <a:lstStyle/>
          <a:p>
            <a:pPr algn="l" indent="0" marL="0">
              <a:buNone/>
            </a:pPr>
            <a:r>
              <a:rPr lang="en-US" sz="700" dirty="0">
                <a:solidFill>
                  <a:srgbClr val="6B7280"/>
                </a:solidFill>
              </a:rPr>
              <a:t>Complete ✓</a:t>
            </a:r>
            <a:endParaRPr lang="en-US" sz="700" dirty="0"/>
          </a:p>
        </p:txBody>
      </p:sp>
      <p:sp>
        <p:nvSpPr>
          <p:cNvPr id="224" name="Shape 222"/>
          <p:cNvSpPr/>
          <p:nvPr/>
        </p:nvSpPr>
        <p:spPr>
          <a:xfrm>
            <a:off x="9500616" y="4498848"/>
            <a:ext cx="749808" cy="173736"/>
          </a:xfrm>
          <a:prstGeom prst="roundRect">
            <a:avLst>
              <a:gd name="adj" fmla="val 15789"/>
            </a:avLst>
          </a:prstGeom>
          <a:solidFill>
            <a:srgbClr val="FEF3C7"/>
          </a:solidFill>
          <a:ln w="19050">
            <a:solidFill>
              <a:srgbClr val="D97706"/>
            </a:solidFill>
            <a:prstDash val="solid"/>
          </a:ln>
        </p:spPr>
      </p:sp>
      <p:sp>
        <p:nvSpPr>
          <p:cNvPr id="225" name="Text 223"/>
          <p:cNvSpPr/>
          <p:nvPr/>
        </p:nvSpPr>
        <p:spPr>
          <a:xfrm>
            <a:off x="9500616" y="4498848"/>
            <a:ext cx="749808" cy="173736"/>
          </a:xfrm>
          <a:prstGeom prst="rect">
            <a:avLst/>
          </a:prstGeom>
          <a:noFill/>
          <a:ln/>
        </p:spPr>
        <p:txBody>
          <a:bodyPr wrap="square" lIns="0" tIns="0" rIns="0" bIns="0" rtlCol="0" anchor="ctr"/>
          <a:lstStyle/>
          <a:p>
            <a:pPr algn="ctr" indent="0" marL="0">
              <a:buNone/>
            </a:pPr>
            <a:r>
              <a:rPr lang="en-US" sz="700" b="1" dirty="0">
                <a:solidFill>
                  <a:srgbClr val="78350F"/>
                </a:solidFill>
              </a:rPr>
              <a:t>At Risk</a:t>
            </a:r>
            <a:endParaRPr lang="en-US" sz="700" dirty="0"/>
          </a:p>
        </p:txBody>
      </p:sp>
      <p:sp>
        <p:nvSpPr>
          <p:cNvPr id="226" name="Text 224"/>
          <p:cNvSpPr/>
          <p:nvPr/>
        </p:nvSpPr>
        <p:spPr>
          <a:xfrm>
            <a:off x="10305288" y="4498848"/>
            <a:ext cx="1792224" cy="173736"/>
          </a:xfrm>
          <a:prstGeom prst="rect">
            <a:avLst/>
          </a:prstGeom>
          <a:noFill/>
          <a:ln/>
        </p:spPr>
        <p:txBody>
          <a:bodyPr wrap="square" lIns="0" tIns="0" rIns="0" bIns="0" rtlCol="0" anchor="ctr"/>
          <a:lstStyle/>
          <a:p>
            <a:pPr algn="l" indent="0" marL="0">
              <a:buNone/>
            </a:pPr>
            <a:r>
              <a:rPr lang="en-US" sz="700" dirty="0">
                <a:solidFill>
                  <a:srgbClr val="6B7280"/>
                </a:solidFill>
              </a:rPr>
              <a:t>NS with unmet dependencies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344400" cy="457200"/>
          </a:xfrm>
          <a:prstGeom prst="rect">
            <a:avLst/>
          </a:prstGeom>
          <a:solidFill>
            <a:srgbClr val="8ED973"/>
          </a:solidFill>
          <a:ln w="12700">
            <a:solidFill>
              <a:srgbClr val="8ED973"/>
            </a:solidFill>
            <a:prstDash val="solid"/>
          </a:ln>
        </p:spPr>
      </p:sp>
      <p:sp>
        <p:nvSpPr>
          <p:cNvPr id="3" name="Text 1"/>
          <p:cNvSpPr/>
          <p:nvPr/>
        </p:nvSpPr>
        <p:spPr>
          <a:xfrm>
            <a:off x="201168" y="0"/>
            <a:ext cx="8229600" cy="457200"/>
          </a:xfrm>
          <a:prstGeom prst="rect">
            <a:avLst/>
          </a:prstGeom>
          <a:noFill/>
          <a:ln/>
        </p:spPr>
        <p:txBody>
          <a:bodyPr wrap="square" lIns="0" tIns="0" rIns="0" bIns="0" rtlCol="0" anchor="ctr"/>
          <a:lstStyle/>
          <a:p>
            <a:pPr algn="l" indent="0" marL="0">
              <a:buNone/>
            </a:pPr>
            <a:r>
              <a:rPr lang="en-US" sz="1600" b="1" dirty="0">
                <a:solidFill>
                  <a:srgbClr val="000000"/>
                </a:solidFill>
              </a:rPr>
              <a:t>Project SABR  ·  TC.com</a:t>
            </a:r>
            <a:endParaRPr lang="en-US" sz="1600" dirty="0"/>
          </a:p>
        </p:txBody>
      </p:sp>
      <p:sp>
        <p:nvSpPr>
          <p:cNvPr id="4" name="Text 2"/>
          <p:cNvSpPr/>
          <p:nvPr/>
        </p:nvSpPr>
        <p:spPr>
          <a:xfrm>
            <a:off x="8686800" y="0"/>
            <a:ext cx="3337560" cy="457200"/>
          </a:xfrm>
          <a:prstGeom prst="rect">
            <a:avLst/>
          </a:prstGeom>
          <a:noFill/>
          <a:ln/>
        </p:spPr>
        <p:txBody>
          <a:bodyPr wrap="square" lIns="0" tIns="0" rIns="0" bIns="0" rtlCol="0" anchor="ctr"/>
          <a:lstStyle/>
          <a:p>
            <a:pPr algn="r" indent="0" marL="0">
              <a:buNone/>
            </a:pPr>
            <a:r>
              <a:rPr lang="en-US" sz="1100" dirty="0">
                <a:solidFill>
                  <a:srgbClr val="388849"/>
                </a:solidFill>
              </a:rPr>
              <a:t>Web Browser  ·  Aug 6, 2026</a:t>
            </a:r>
            <a:endParaRPr lang="en-US" sz="1100" dirty="0"/>
          </a:p>
        </p:txBody>
      </p:sp>
      <p:sp>
        <p:nvSpPr>
          <p:cNvPr id="5" name="Shape 3"/>
          <p:cNvSpPr/>
          <p:nvPr/>
        </p:nvSpPr>
        <p:spPr>
          <a:xfrm>
            <a:off x="0" y="457200"/>
            <a:ext cx="12344400" cy="347472"/>
          </a:xfrm>
          <a:prstGeom prst="rect">
            <a:avLst/>
          </a:prstGeom>
          <a:solidFill>
            <a:srgbClr val="EFF7F3"/>
          </a:solidFill>
          <a:ln w="12700">
            <a:solidFill>
              <a:srgbClr val="CCE4D8"/>
            </a:solidFill>
            <a:prstDash val="solid"/>
          </a:ln>
        </p:spPr>
      </p:sp>
      <p:sp>
        <p:nvSpPr>
          <p:cNvPr id="6" name="Shape 4"/>
          <p:cNvSpPr/>
          <p:nvPr/>
        </p:nvSpPr>
        <p:spPr>
          <a:xfrm>
            <a:off x="256032" y="521208"/>
            <a:ext cx="1005840" cy="219456"/>
          </a:xfrm>
          <a:prstGeom prst="roundRect">
            <a:avLst>
              <a:gd name="adj" fmla="val 20833"/>
            </a:avLst>
          </a:prstGeom>
          <a:solidFill>
            <a:srgbClr val="DCFCE7"/>
          </a:solidFill>
          <a:ln w="9525">
            <a:solidFill>
              <a:srgbClr val="D1D5DB"/>
            </a:solidFill>
            <a:prstDash val="solid"/>
          </a:ln>
        </p:spPr>
      </p:sp>
      <p:sp>
        <p:nvSpPr>
          <p:cNvPr id="7" name="Text 5"/>
          <p:cNvSpPr/>
          <p:nvPr/>
        </p:nvSpPr>
        <p:spPr>
          <a:xfrm>
            <a:off x="256032" y="521208"/>
            <a:ext cx="1005840" cy="219456"/>
          </a:xfrm>
          <a:prstGeom prst="rect">
            <a:avLst/>
          </a:prstGeom>
          <a:noFill/>
          <a:ln/>
        </p:spPr>
        <p:txBody>
          <a:bodyPr wrap="square" lIns="0" tIns="0" rIns="0" bIns="0" rtlCol="0" anchor="ctr"/>
          <a:lstStyle/>
          <a:p>
            <a:pPr algn="ctr" indent="0" marL="0">
              <a:buNone/>
            </a:pPr>
            <a:r>
              <a:rPr lang="en-US" sz="900" b="1" dirty="0">
                <a:solidFill>
                  <a:srgbClr val="166534"/>
                </a:solidFill>
              </a:rPr>
              <a:t>3  Done</a:t>
            </a:r>
            <a:endParaRPr lang="en-US" sz="900" dirty="0"/>
          </a:p>
        </p:txBody>
      </p:sp>
      <p:sp>
        <p:nvSpPr>
          <p:cNvPr id="8" name="Shape 6"/>
          <p:cNvSpPr/>
          <p:nvPr/>
        </p:nvSpPr>
        <p:spPr>
          <a:xfrm>
            <a:off x="1389888" y="521208"/>
            <a:ext cx="1325880" cy="219456"/>
          </a:xfrm>
          <a:prstGeom prst="roundRect">
            <a:avLst>
              <a:gd name="adj" fmla="val 20833"/>
            </a:avLst>
          </a:prstGeom>
          <a:solidFill>
            <a:srgbClr val="DBEAFE"/>
          </a:solidFill>
          <a:ln w="9525">
            <a:solidFill>
              <a:srgbClr val="D1D5DB"/>
            </a:solidFill>
            <a:prstDash val="solid"/>
          </a:ln>
        </p:spPr>
      </p:sp>
      <p:sp>
        <p:nvSpPr>
          <p:cNvPr id="9" name="Text 7"/>
          <p:cNvSpPr/>
          <p:nvPr/>
        </p:nvSpPr>
        <p:spPr>
          <a:xfrm>
            <a:off x="1389888" y="521208"/>
            <a:ext cx="1325880" cy="219456"/>
          </a:xfrm>
          <a:prstGeom prst="rect">
            <a:avLst/>
          </a:prstGeom>
          <a:noFill/>
          <a:ln/>
        </p:spPr>
        <p:txBody>
          <a:bodyPr wrap="square" lIns="0" tIns="0" rIns="0" bIns="0" rtlCol="0" anchor="ctr"/>
          <a:lstStyle/>
          <a:p>
            <a:pPr algn="ctr" indent="0" marL="0">
              <a:buNone/>
            </a:pPr>
            <a:r>
              <a:rPr lang="en-US" sz="900" b="1" dirty="0">
                <a:solidFill>
                  <a:srgbClr val="1D4ED8"/>
                </a:solidFill>
              </a:rPr>
              <a:t>15  In Progress</a:t>
            </a:r>
            <a:endParaRPr lang="en-US" sz="900" dirty="0"/>
          </a:p>
        </p:txBody>
      </p:sp>
      <p:sp>
        <p:nvSpPr>
          <p:cNvPr id="10" name="Shape 8"/>
          <p:cNvSpPr/>
          <p:nvPr/>
        </p:nvSpPr>
        <p:spPr>
          <a:xfrm>
            <a:off x="2843784" y="521208"/>
            <a:ext cx="1325880" cy="219456"/>
          </a:xfrm>
          <a:prstGeom prst="roundRect">
            <a:avLst>
              <a:gd name="adj" fmla="val 20833"/>
            </a:avLst>
          </a:prstGeom>
          <a:solidFill>
            <a:srgbClr val="F3F4F6"/>
          </a:solidFill>
          <a:ln w="9525">
            <a:solidFill>
              <a:srgbClr val="D1D5DB"/>
            </a:solidFill>
            <a:prstDash val="solid"/>
          </a:ln>
        </p:spPr>
      </p:sp>
      <p:sp>
        <p:nvSpPr>
          <p:cNvPr id="11" name="Text 9"/>
          <p:cNvSpPr/>
          <p:nvPr/>
        </p:nvSpPr>
        <p:spPr>
          <a:xfrm>
            <a:off x="2843784" y="521208"/>
            <a:ext cx="1325880" cy="219456"/>
          </a:xfrm>
          <a:prstGeom prst="rect">
            <a:avLst/>
          </a:prstGeom>
          <a:noFill/>
          <a:ln/>
        </p:spPr>
        <p:txBody>
          <a:bodyPr wrap="square" lIns="0" tIns="0" rIns="0" bIns="0" rtlCol="0" anchor="ctr"/>
          <a:lstStyle/>
          <a:p>
            <a:pPr algn="ctr" indent="0" marL="0">
              <a:buNone/>
            </a:pPr>
            <a:r>
              <a:rPr lang="en-US" sz="900" b="1" dirty="0">
                <a:solidFill>
                  <a:srgbClr val="374151"/>
                </a:solidFill>
              </a:rPr>
              <a:t>2  Not Started</a:t>
            </a:r>
            <a:endParaRPr lang="en-US" sz="900" dirty="0"/>
          </a:p>
        </p:txBody>
      </p:sp>
      <p:sp>
        <p:nvSpPr>
          <p:cNvPr id="12" name="Shape 10"/>
          <p:cNvSpPr/>
          <p:nvPr/>
        </p:nvSpPr>
        <p:spPr>
          <a:xfrm>
            <a:off x="4297680" y="521208"/>
            <a:ext cx="1005840" cy="219456"/>
          </a:xfrm>
          <a:prstGeom prst="roundRect">
            <a:avLst>
              <a:gd name="adj" fmla="val 20833"/>
            </a:avLst>
          </a:prstGeom>
          <a:solidFill>
            <a:srgbClr val="FEE2E2"/>
          </a:solidFill>
          <a:ln w="9525">
            <a:solidFill>
              <a:srgbClr val="D1D5DB"/>
            </a:solidFill>
            <a:prstDash val="solid"/>
          </a:ln>
        </p:spPr>
      </p:sp>
      <p:sp>
        <p:nvSpPr>
          <p:cNvPr id="13" name="Text 11"/>
          <p:cNvSpPr/>
          <p:nvPr/>
        </p:nvSpPr>
        <p:spPr>
          <a:xfrm>
            <a:off x="4297680" y="521208"/>
            <a:ext cx="1005840" cy="219456"/>
          </a:xfrm>
          <a:prstGeom prst="rect">
            <a:avLst/>
          </a:prstGeom>
          <a:noFill/>
          <a:ln/>
        </p:spPr>
        <p:txBody>
          <a:bodyPr wrap="square" lIns="0" tIns="0" rIns="0" bIns="0" rtlCol="0" anchor="ctr"/>
          <a:lstStyle/>
          <a:p>
            <a:pPr algn="ctr" indent="0" marL="0">
              <a:buNone/>
            </a:pPr>
            <a:r>
              <a:rPr lang="en-US" sz="900" b="1" dirty="0">
                <a:solidFill>
                  <a:srgbClr val="7F1D1D"/>
                </a:solidFill>
              </a:rPr>
              <a:t>0  Blocked</a:t>
            </a:r>
            <a:endParaRPr lang="en-US" sz="900" dirty="0"/>
          </a:p>
        </p:txBody>
      </p:sp>
      <p:sp>
        <p:nvSpPr>
          <p:cNvPr id="14" name="Shape 12"/>
          <p:cNvSpPr/>
          <p:nvPr/>
        </p:nvSpPr>
        <p:spPr>
          <a:xfrm>
            <a:off x="5431536" y="521208"/>
            <a:ext cx="2377440" cy="219456"/>
          </a:xfrm>
          <a:prstGeom prst="roundRect">
            <a:avLst>
              <a:gd name="adj" fmla="val 20833"/>
            </a:avLst>
          </a:prstGeom>
          <a:solidFill>
            <a:srgbClr val="FFFFFF"/>
          </a:solidFill>
          <a:ln w="9525">
            <a:solidFill>
              <a:srgbClr val="D1D5DB"/>
            </a:solidFill>
            <a:prstDash val="solid"/>
          </a:ln>
        </p:spPr>
      </p:sp>
      <p:sp>
        <p:nvSpPr>
          <p:cNvPr id="15" name="Text 13"/>
          <p:cNvSpPr/>
          <p:nvPr/>
        </p:nvSpPr>
        <p:spPr>
          <a:xfrm>
            <a:off x="5431536" y="521208"/>
            <a:ext cx="2377440" cy="219456"/>
          </a:xfrm>
          <a:prstGeom prst="rect">
            <a:avLst/>
          </a:prstGeom>
          <a:noFill/>
          <a:ln/>
        </p:spPr>
        <p:txBody>
          <a:bodyPr wrap="square" lIns="0" tIns="0" rIns="0" bIns="0" rtlCol="0" anchor="ctr"/>
          <a:lstStyle/>
          <a:p>
            <a:pPr algn="ctr" indent="0" marL="0">
              <a:buNone/>
            </a:pPr>
            <a:r>
              <a:rPr lang="en-US" sz="900" b="1" dirty="0">
                <a:solidFill>
                  <a:srgbClr val="374151"/>
                </a:solidFill>
              </a:rPr>
              <a:t>Sep 30, 2026  ·  Beta</a:t>
            </a:r>
            <a:endParaRPr lang="en-US" sz="900" dirty="0"/>
          </a:p>
        </p:txBody>
      </p:sp>
      <p:sp>
        <p:nvSpPr>
          <p:cNvPr id="16" name="Shape 14"/>
          <p:cNvSpPr/>
          <p:nvPr/>
        </p:nvSpPr>
        <p:spPr>
          <a:xfrm>
            <a:off x="0" y="6876288"/>
            <a:ext cx="12344400" cy="438912"/>
          </a:xfrm>
          <a:prstGeom prst="rect">
            <a:avLst/>
          </a:prstGeom>
          <a:solidFill>
            <a:srgbClr val="F4F6F8"/>
          </a:solidFill>
          <a:ln w="12700">
            <a:solidFill>
              <a:srgbClr val="D1D5DB"/>
            </a:solidFill>
            <a:prstDash val="solid"/>
          </a:ln>
        </p:spPr>
      </p:sp>
      <p:sp>
        <p:nvSpPr>
          <p:cNvPr id="17" name="Text 15"/>
          <p:cNvSpPr/>
          <p:nvPr/>
        </p:nvSpPr>
        <p:spPr>
          <a:xfrm>
            <a:off x="201168" y="6876288"/>
            <a:ext cx="5029200" cy="438912"/>
          </a:xfrm>
          <a:prstGeom prst="rect">
            <a:avLst/>
          </a:prstGeom>
          <a:noFill/>
          <a:ln/>
        </p:spPr>
        <p:txBody>
          <a:bodyPr wrap="square" lIns="0" tIns="0" rIns="0" bIns="0" rtlCol="0" anchor="ctr"/>
          <a:lstStyle/>
          <a:p>
            <a:pPr algn="l" indent="0" marL="0">
              <a:buNone/>
            </a:pPr>
            <a:r>
              <a:rPr lang="en-US" sz="800" dirty="0">
                <a:solidFill>
                  <a:srgbClr val="9CA3AF"/>
                </a:solidFill>
              </a:rPr>
              <a:t>Project SABR  ·  Tennis Channel OTT  ·  CONFIDENTIAL</a:t>
            </a:r>
            <a:endParaRPr lang="en-US" sz="800" dirty="0"/>
          </a:p>
        </p:txBody>
      </p:sp>
      <p:sp>
        <p:nvSpPr>
          <p:cNvPr id="18" name="Text 16"/>
          <p:cNvSpPr/>
          <p:nvPr/>
        </p:nvSpPr>
        <p:spPr>
          <a:xfrm>
            <a:off x="5486400" y="6876288"/>
            <a:ext cx="4572000" cy="438912"/>
          </a:xfrm>
          <a:prstGeom prst="rect">
            <a:avLst/>
          </a:prstGeom>
          <a:noFill/>
          <a:ln/>
        </p:spPr>
        <p:txBody>
          <a:bodyPr wrap="square" lIns="0" tIns="0" rIns="0" bIns="0" rtlCol="0" anchor="ctr"/>
          <a:lstStyle/>
          <a:p>
            <a:pPr algn="ctr" indent="0" marL="0">
              <a:buNone/>
            </a:pPr>
            <a:r>
              <a:rPr lang="en-US" sz="800" dirty="0">
                <a:solidFill>
                  <a:srgbClr val="9CA3AF"/>
                </a:solidFill>
              </a:rPr>
              <a:t>Beta: Sep 30, 2026  ·  55 days remaining</a:t>
            </a:r>
            <a:endParaRPr lang="en-US" sz="800" dirty="0"/>
          </a:p>
        </p:txBody>
      </p:sp>
      <p:sp>
        <p:nvSpPr>
          <p:cNvPr id="19" name="Text 17"/>
          <p:cNvSpPr/>
          <p:nvPr/>
        </p:nvSpPr>
        <p:spPr>
          <a:xfrm>
            <a:off x="10515600" y="6876288"/>
            <a:ext cx="1508760" cy="438912"/>
          </a:xfrm>
          <a:prstGeom prst="rect">
            <a:avLst/>
          </a:prstGeom>
          <a:noFill/>
          <a:ln/>
        </p:spPr>
        <p:txBody>
          <a:bodyPr wrap="square" lIns="0" tIns="0" rIns="0" bIns="0" rtlCol="0" anchor="ctr"/>
          <a:lstStyle/>
          <a:p>
            <a:pPr algn="r" indent="0" marL="0">
              <a:buNone/>
            </a:pPr>
            <a:r>
              <a:rPr lang="en-US" sz="1100" b="1" dirty="0">
                <a:solidFill>
                  <a:srgbClr val="388849"/>
                </a:solidFill>
              </a:rPr>
              <a:t>15% Ready</a:t>
            </a:r>
            <a:endParaRPr lang="en-US" sz="1100" dirty="0"/>
          </a:p>
        </p:txBody>
      </p:sp>
      <p:sp>
        <p:nvSpPr>
          <p:cNvPr id="20" name="Shape 18"/>
          <p:cNvSpPr/>
          <p:nvPr/>
        </p:nvSpPr>
        <p:spPr>
          <a:xfrm>
            <a:off x="164592" y="804672"/>
            <a:ext cx="9116568" cy="1476756"/>
          </a:xfrm>
          <a:prstGeom prst="rect">
            <a:avLst/>
          </a:prstGeom>
          <a:solidFill>
            <a:srgbClr val="FAFBFC"/>
          </a:solidFill>
          <a:ln w="6350">
            <a:solidFill>
              <a:srgbClr val="E5E7EB"/>
            </a:solidFill>
            <a:prstDash val="solid"/>
          </a:ln>
        </p:spPr>
      </p:sp>
      <p:sp>
        <p:nvSpPr>
          <p:cNvPr id="21" name="Shape 19"/>
          <p:cNvSpPr/>
          <p:nvPr/>
        </p:nvSpPr>
        <p:spPr>
          <a:xfrm>
            <a:off x="182880" y="877824"/>
            <a:ext cx="859536" cy="1330452"/>
          </a:xfrm>
          <a:prstGeom prst="roundRect">
            <a:avLst>
              <a:gd name="adj" fmla="val 5319"/>
            </a:avLst>
          </a:prstGeom>
          <a:solidFill>
            <a:srgbClr val="9CA3AF"/>
          </a:solidFill>
          <a:ln w="12700">
            <a:solidFill>
              <a:srgbClr val="9CA3AF"/>
            </a:solidFill>
            <a:prstDash val="solid"/>
          </a:ln>
        </p:spPr>
      </p:sp>
      <p:sp>
        <p:nvSpPr>
          <p:cNvPr id="22" name="Text 20"/>
          <p:cNvSpPr/>
          <p:nvPr/>
        </p:nvSpPr>
        <p:spPr>
          <a:xfrm>
            <a:off x="182880" y="87782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Video</a:t>
            </a:r>
            <a:endParaRPr lang="en-US" sz="800" dirty="0"/>
          </a:p>
          <a:p>
            <a:pPr algn="ctr" indent="0" marL="0">
              <a:buNone/>
            </a:pPr>
            <a:r>
              <a:rPr lang="en-US" sz="800" b="1" dirty="0">
                <a:solidFill>
                  <a:srgbClr val="FFFFFF"/>
                </a:solidFill>
              </a:rPr>
              <a:t>Delivery</a:t>
            </a:r>
            <a:endParaRPr lang="en-US" sz="800" dirty="0"/>
          </a:p>
        </p:txBody>
      </p:sp>
      <p:sp>
        <p:nvSpPr>
          <p:cNvPr id="23" name="Text 21"/>
          <p:cNvSpPr/>
          <p:nvPr/>
        </p:nvSpPr>
        <p:spPr>
          <a:xfrm>
            <a:off x="1170432" y="85039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3 / 3 In Progress</a:t>
            </a:r>
            <a:endParaRPr lang="en-US" sz="750" dirty="0"/>
          </a:p>
        </p:txBody>
      </p:sp>
      <p:sp>
        <p:nvSpPr>
          <p:cNvPr id="24" name="Shape 22"/>
          <p:cNvSpPr/>
          <p:nvPr/>
        </p:nvSpPr>
        <p:spPr>
          <a:xfrm>
            <a:off x="1170432" y="1069848"/>
            <a:ext cx="932688" cy="182880"/>
          </a:xfrm>
          <a:prstGeom prst="roundRect">
            <a:avLst>
              <a:gd name="adj" fmla="val 15000"/>
            </a:avLst>
          </a:prstGeom>
          <a:solidFill>
            <a:srgbClr val="FFFFFF"/>
          </a:solidFill>
          <a:ln w="9525">
            <a:solidFill>
              <a:srgbClr val="CBD5E1"/>
            </a:solidFill>
            <a:prstDash val="solid"/>
          </a:ln>
        </p:spPr>
      </p:sp>
      <p:sp>
        <p:nvSpPr>
          <p:cNvPr id="25" name="Text 23"/>
          <p:cNvSpPr/>
          <p:nvPr/>
        </p:nvSpPr>
        <p:spPr>
          <a:xfrm>
            <a:off x="1170432"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a:t>
            </a:r>
            <a:endParaRPr lang="en-US" sz="750" dirty="0"/>
          </a:p>
        </p:txBody>
      </p:sp>
      <p:sp>
        <p:nvSpPr>
          <p:cNvPr id="26" name="Shape 24"/>
          <p:cNvSpPr/>
          <p:nvPr/>
        </p:nvSpPr>
        <p:spPr>
          <a:xfrm>
            <a:off x="1170432" y="1280160"/>
            <a:ext cx="932688" cy="155448"/>
          </a:xfrm>
          <a:prstGeom prst="roundRect">
            <a:avLst>
              <a:gd name="adj" fmla="val 17647"/>
            </a:avLst>
          </a:prstGeom>
          <a:solidFill>
            <a:srgbClr val="1558A8"/>
          </a:solidFill>
          <a:ln w="12700">
            <a:solidFill>
              <a:srgbClr val="1558A8"/>
            </a:solidFill>
            <a:prstDash val="solid"/>
          </a:ln>
        </p:spPr>
      </p:sp>
      <p:sp>
        <p:nvSpPr>
          <p:cNvPr id="27" name="Text 25"/>
          <p:cNvSpPr/>
          <p:nvPr/>
        </p:nvSpPr>
        <p:spPr>
          <a:xfrm>
            <a:off x="1170432"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28" name="Shape 26"/>
          <p:cNvSpPr/>
          <p:nvPr/>
        </p:nvSpPr>
        <p:spPr>
          <a:xfrm>
            <a:off x="2185416" y="1069848"/>
            <a:ext cx="932688" cy="182880"/>
          </a:xfrm>
          <a:prstGeom prst="roundRect">
            <a:avLst>
              <a:gd name="adj" fmla="val 15000"/>
            </a:avLst>
          </a:prstGeom>
          <a:solidFill>
            <a:srgbClr val="FFFFFF"/>
          </a:solidFill>
          <a:ln w="9525">
            <a:solidFill>
              <a:srgbClr val="CBD5E1"/>
            </a:solidFill>
            <a:prstDash val="solid"/>
          </a:ln>
        </p:spPr>
      </p:sp>
      <p:sp>
        <p:nvSpPr>
          <p:cNvPr id="29" name="Text 27"/>
          <p:cNvSpPr/>
          <p:nvPr/>
        </p:nvSpPr>
        <p:spPr>
          <a:xfrm>
            <a:off x="2185416"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VOD Streams</a:t>
            </a:r>
            <a:endParaRPr lang="en-US" sz="750" dirty="0"/>
          </a:p>
        </p:txBody>
      </p:sp>
      <p:sp>
        <p:nvSpPr>
          <p:cNvPr id="30" name="Shape 28"/>
          <p:cNvSpPr/>
          <p:nvPr/>
        </p:nvSpPr>
        <p:spPr>
          <a:xfrm>
            <a:off x="2185416" y="1280160"/>
            <a:ext cx="932688" cy="155448"/>
          </a:xfrm>
          <a:prstGeom prst="roundRect">
            <a:avLst>
              <a:gd name="adj" fmla="val 17647"/>
            </a:avLst>
          </a:prstGeom>
          <a:solidFill>
            <a:srgbClr val="1558A8"/>
          </a:solidFill>
          <a:ln w="12700">
            <a:solidFill>
              <a:srgbClr val="1558A8"/>
            </a:solidFill>
            <a:prstDash val="solid"/>
          </a:ln>
        </p:spPr>
      </p:sp>
      <p:sp>
        <p:nvSpPr>
          <p:cNvPr id="31" name="Text 29"/>
          <p:cNvSpPr/>
          <p:nvPr/>
        </p:nvSpPr>
        <p:spPr>
          <a:xfrm>
            <a:off x="2185416"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2" name="Shape 30"/>
          <p:cNvSpPr/>
          <p:nvPr/>
        </p:nvSpPr>
        <p:spPr>
          <a:xfrm>
            <a:off x="3200400" y="1069848"/>
            <a:ext cx="932688" cy="182880"/>
          </a:xfrm>
          <a:prstGeom prst="roundRect">
            <a:avLst>
              <a:gd name="adj" fmla="val 15000"/>
            </a:avLst>
          </a:prstGeom>
          <a:solidFill>
            <a:srgbClr val="FFFFFF"/>
          </a:solidFill>
          <a:ln w="9525">
            <a:solidFill>
              <a:srgbClr val="CBD5E1"/>
            </a:solidFill>
            <a:prstDash val="solid"/>
          </a:ln>
        </p:spPr>
      </p:sp>
      <p:sp>
        <p:nvSpPr>
          <p:cNvPr id="33" name="Text 31"/>
          <p:cNvSpPr/>
          <p:nvPr/>
        </p:nvSpPr>
        <p:spPr>
          <a:xfrm>
            <a:off x="3200400"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34" name="Shape 32"/>
          <p:cNvSpPr/>
          <p:nvPr/>
        </p:nvSpPr>
        <p:spPr>
          <a:xfrm>
            <a:off x="3200400" y="1280160"/>
            <a:ext cx="932688" cy="155448"/>
          </a:xfrm>
          <a:prstGeom prst="roundRect">
            <a:avLst>
              <a:gd name="adj" fmla="val 17647"/>
            </a:avLst>
          </a:prstGeom>
          <a:solidFill>
            <a:srgbClr val="1558A8"/>
          </a:solidFill>
          <a:ln w="12700">
            <a:solidFill>
              <a:srgbClr val="1558A8"/>
            </a:solidFill>
            <a:prstDash val="solid"/>
          </a:ln>
        </p:spPr>
      </p:sp>
      <p:sp>
        <p:nvSpPr>
          <p:cNvPr id="35" name="Text 33"/>
          <p:cNvSpPr/>
          <p:nvPr/>
        </p:nvSpPr>
        <p:spPr>
          <a:xfrm>
            <a:off x="3200400"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6" name="Shape 34"/>
          <p:cNvSpPr/>
          <p:nvPr/>
        </p:nvSpPr>
        <p:spPr>
          <a:xfrm>
            <a:off x="164592" y="2336292"/>
            <a:ext cx="9116568" cy="1476756"/>
          </a:xfrm>
          <a:prstGeom prst="rect">
            <a:avLst/>
          </a:prstGeom>
          <a:solidFill>
            <a:srgbClr val="FFFFFF"/>
          </a:solidFill>
          <a:ln w="6350">
            <a:solidFill>
              <a:srgbClr val="E5E7EB"/>
            </a:solidFill>
            <a:prstDash val="solid"/>
          </a:ln>
        </p:spPr>
      </p:sp>
      <p:sp>
        <p:nvSpPr>
          <p:cNvPr id="37" name="Shape 35"/>
          <p:cNvSpPr/>
          <p:nvPr/>
        </p:nvSpPr>
        <p:spPr>
          <a:xfrm>
            <a:off x="182880" y="2409444"/>
            <a:ext cx="859536" cy="1330452"/>
          </a:xfrm>
          <a:prstGeom prst="roundRect">
            <a:avLst>
              <a:gd name="adj" fmla="val 5319"/>
            </a:avLst>
          </a:prstGeom>
          <a:solidFill>
            <a:srgbClr val="9CA3AF"/>
          </a:solidFill>
          <a:ln w="12700">
            <a:solidFill>
              <a:srgbClr val="9CA3AF"/>
            </a:solidFill>
            <a:prstDash val="solid"/>
          </a:ln>
        </p:spPr>
      </p:sp>
      <p:sp>
        <p:nvSpPr>
          <p:cNvPr id="38" name="Text 36"/>
          <p:cNvSpPr/>
          <p:nvPr/>
        </p:nvSpPr>
        <p:spPr>
          <a:xfrm>
            <a:off x="182880" y="240944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Player</a:t>
            </a:r>
            <a:endParaRPr lang="en-US" sz="800" dirty="0"/>
          </a:p>
        </p:txBody>
      </p:sp>
      <p:sp>
        <p:nvSpPr>
          <p:cNvPr id="39" name="Text 37"/>
          <p:cNvSpPr/>
          <p:nvPr/>
        </p:nvSpPr>
        <p:spPr>
          <a:xfrm>
            <a:off x="1170432" y="238201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2 / 2 In Progress</a:t>
            </a:r>
            <a:endParaRPr lang="en-US" sz="750" dirty="0"/>
          </a:p>
        </p:txBody>
      </p:sp>
      <p:sp>
        <p:nvSpPr>
          <p:cNvPr id="40" name="Shape 38"/>
          <p:cNvSpPr/>
          <p:nvPr/>
        </p:nvSpPr>
        <p:spPr>
          <a:xfrm>
            <a:off x="1170432" y="2601468"/>
            <a:ext cx="932688" cy="182880"/>
          </a:xfrm>
          <a:prstGeom prst="roundRect">
            <a:avLst>
              <a:gd name="adj" fmla="val 15000"/>
            </a:avLst>
          </a:prstGeom>
          <a:solidFill>
            <a:srgbClr val="FFFFFF"/>
          </a:solidFill>
          <a:ln w="9525">
            <a:solidFill>
              <a:srgbClr val="CBD5E1"/>
            </a:solidFill>
            <a:prstDash val="solid"/>
          </a:ln>
        </p:spPr>
      </p:sp>
      <p:sp>
        <p:nvSpPr>
          <p:cNvPr id="41" name="Text 39"/>
          <p:cNvSpPr/>
          <p:nvPr/>
        </p:nvSpPr>
        <p:spPr>
          <a:xfrm>
            <a:off x="1170432"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Web Player</a:t>
            </a:r>
            <a:endParaRPr lang="en-US" sz="750" dirty="0"/>
          </a:p>
        </p:txBody>
      </p:sp>
      <p:sp>
        <p:nvSpPr>
          <p:cNvPr id="42" name="Shape 40"/>
          <p:cNvSpPr/>
          <p:nvPr/>
        </p:nvSpPr>
        <p:spPr>
          <a:xfrm>
            <a:off x="1170432" y="2811780"/>
            <a:ext cx="932688" cy="155448"/>
          </a:xfrm>
          <a:prstGeom prst="roundRect">
            <a:avLst>
              <a:gd name="adj" fmla="val 17647"/>
            </a:avLst>
          </a:prstGeom>
          <a:solidFill>
            <a:srgbClr val="1558A8"/>
          </a:solidFill>
          <a:ln w="12700">
            <a:solidFill>
              <a:srgbClr val="1558A8"/>
            </a:solidFill>
            <a:prstDash val="solid"/>
          </a:ln>
        </p:spPr>
      </p:sp>
      <p:sp>
        <p:nvSpPr>
          <p:cNvPr id="43" name="Text 41"/>
          <p:cNvSpPr/>
          <p:nvPr/>
        </p:nvSpPr>
        <p:spPr>
          <a:xfrm>
            <a:off x="1170432"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4" name="Shape 42"/>
          <p:cNvSpPr/>
          <p:nvPr/>
        </p:nvSpPr>
        <p:spPr>
          <a:xfrm>
            <a:off x="2185416" y="2601468"/>
            <a:ext cx="932688" cy="182880"/>
          </a:xfrm>
          <a:prstGeom prst="roundRect">
            <a:avLst>
              <a:gd name="adj" fmla="val 15000"/>
            </a:avLst>
          </a:prstGeom>
          <a:solidFill>
            <a:srgbClr val="FFFFFF"/>
          </a:solidFill>
          <a:ln w="9525">
            <a:solidFill>
              <a:srgbClr val="CBD5E1"/>
            </a:solidFill>
            <a:prstDash val="solid"/>
          </a:ln>
        </p:spPr>
      </p:sp>
      <p:sp>
        <p:nvSpPr>
          <p:cNvPr id="45" name="Text 43"/>
          <p:cNvSpPr/>
          <p:nvPr/>
        </p:nvSpPr>
        <p:spPr>
          <a:xfrm>
            <a:off x="2185416"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HLS/DASH PB</a:t>
            </a:r>
            <a:endParaRPr lang="en-US" sz="750" dirty="0"/>
          </a:p>
        </p:txBody>
      </p:sp>
      <p:sp>
        <p:nvSpPr>
          <p:cNvPr id="46" name="Shape 44"/>
          <p:cNvSpPr/>
          <p:nvPr/>
        </p:nvSpPr>
        <p:spPr>
          <a:xfrm>
            <a:off x="2185416" y="2811780"/>
            <a:ext cx="932688" cy="155448"/>
          </a:xfrm>
          <a:prstGeom prst="roundRect">
            <a:avLst>
              <a:gd name="adj" fmla="val 17647"/>
            </a:avLst>
          </a:prstGeom>
          <a:solidFill>
            <a:srgbClr val="1558A8"/>
          </a:solidFill>
          <a:ln w="12700">
            <a:solidFill>
              <a:srgbClr val="1558A8"/>
            </a:solidFill>
            <a:prstDash val="solid"/>
          </a:ln>
        </p:spPr>
      </p:sp>
      <p:sp>
        <p:nvSpPr>
          <p:cNvPr id="47" name="Text 45"/>
          <p:cNvSpPr/>
          <p:nvPr/>
        </p:nvSpPr>
        <p:spPr>
          <a:xfrm>
            <a:off x="2185416"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8" name="Shape 46"/>
          <p:cNvSpPr/>
          <p:nvPr/>
        </p:nvSpPr>
        <p:spPr>
          <a:xfrm>
            <a:off x="164592" y="3867912"/>
            <a:ext cx="9116568" cy="1476756"/>
          </a:xfrm>
          <a:prstGeom prst="rect">
            <a:avLst/>
          </a:prstGeom>
          <a:solidFill>
            <a:srgbClr val="FAFBFC"/>
          </a:solidFill>
          <a:ln w="6350">
            <a:solidFill>
              <a:srgbClr val="E5E7EB"/>
            </a:solidFill>
            <a:prstDash val="solid"/>
          </a:ln>
        </p:spPr>
      </p:sp>
      <p:sp>
        <p:nvSpPr>
          <p:cNvPr id="49" name="Shape 47"/>
          <p:cNvSpPr/>
          <p:nvPr/>
        </p:nvSpPr>
        <p:spPr>
          <a:xfrm>
            <a:off x="182880" y="3941064"/>
            <a:ext cx="859536" cy="1330452"/>
          </a:xfrm>
          <a:prstGeom prst="roundRect">
            <a:avLst>
              <a:gd name="adj" fmla="val 5319"/>
            </a:avLst>
          </a:prstGeom>
          <a:solidFill>
            <a:srgbClr val="9CA3AF"/>
          </a:solidFill>
          <a:ln w="12700">
            <a:solidFill>
              <a:srgbClr val="9CA3AF"/>
            </a:solidFill>
            <a:prstDash val="solid"/>
          </a:ln>
        </p:spPr>
      </p:sp>
      <p:sp>
        <p:nvSpPr>
          <p:cNvPr id="50" name="Text 48"/>
          <p:cNvSpPr/>
          <p:nvPr/>
        </p:nvSpPr>
        <p:spPr>
          <a:xfrm>
            <a:off x="182880" y="394106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Merchandising</a:t>
            </a:r>
            <a:endParaRPr lang="en-US" sz="800" dirty="0"/>
          </a:p>
        </p:txBody>
      </p:sp>
      <p:sp>
        <p:nvSpPr>
          <p:cNvPr id="51" name="Text 49"/>
          <p:cNvSpPr/>
          <p:nvPr/>
        </p:nvSpPr>
        <p:spPr>
          <a:xfrm>
            <a:off x="1170432" y="391363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9 In Progress · 2 Done</a:t>
            </a:r>
            <a:endParaRPr lang="en-US" sz="750" dirty="0"/>
          </a:p>
        </p:txBody>
      </p:sp>
      <p:sp>
        <p:nvSpPr>
          <p:cNvPr id="52" name="Shape 50"/>
          <p:cNvSpPr/>
          <p:nvPr/>
        </p:nvSpPr>
        <p:spPr>
          <a:xfrm>
            <a:off x="1170432" y="4133088"/>
            <a:ext cx="932688" cy="182880"/>
          </a:xfrm>
          <a:prstGeom prst="roundRect">
            <a:avLst>
              <a:gd name="adj" fmla="val 15000"/>
            </a:avLst>
          </a:prstGeom>
          <a:solidFill>
            <a:srgbClr val="FFFFFF"/>
          </a:solidFill>
          <a:ln w="9525">
            <a:solidFill>
              <a:srgbClr val="CBD5E1"/>
            </a:solidFill>
            <a:prstDash val="solid"/>
          </a:ln>
        </p:spPr>
      </p:sp>
      <p:sp>
        <p:nvSpPr>
          <p:cNvPr id="53" name="Text 51"/>
          <p:cNvSpPr/>
          <p:nvPr/>
        </p:nvSpPr>
        <p:spPr>
          <a:xfrm>
            <a:off x="117043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Metadata</a:t>
            </a:r>
            <a:endParaRPr lang="en-US" sz="750" dirty="0"/>
          </a:p>
        </p:txBody>
      </p:sp>
      <p:sp>
        <p:nvSpPr>
          <p:cNvPr id="54" name="Shape 52"/>
          <p:cNvSpPr/>
          <p:nvPr/>
        </p:nvSpPr>
        <p:spPr>
          <a:xfrm>
            <a:off x="1170432" y="4343400"/>
            <a:ext cx="932688" cy="155448"/>
          </a:xfrm>
          <a:prstGeom prst="roundRect">
            <a:avLst>
              <a:gd name="adj" fmla="val 17647"/>
            </a:avLst>
          </a:prstGeom>
          <a:solidFill>
            <a:srgbClr val="1558A8"/>
          </a:solidFill>
          <a:ln w="12700">
            <a:solidFill>
              <a:srgbClr val="1558A8"/>
            </a:solidFill>
            <a:prstDash val="solid"/>
          </a:ln>
        </p:spPr>
      </p:sp>
      <p:sp>
        <p:nvSpPr>
          <p:cNvPr id="55" name="Text 53"/>
          <p:cNvSpPr/>
          <p:nvPr/>
        </p:nvSpPr>
        <p:spPr>
          <a:xfrm>
            <a:off x="117043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56" name="Shape 54"/>
          <p:cNvSpPr/>
          <p:nvPr/>
        </p:nvSpPr>
        <p:spPr>
          <a:xfrm>
            <a:off x="2185416" y="4133088"/>
            <a:ext cx="932688" cy="182880"/>
          </a:xfrm>
          <a:prstGeom prst="roundRect">
            <a:avLst>
              <a:gd name="adj" fmla="val 15000"/>
            </a:avLst>
          </a:prstGeom>
          <a:solidFill>
            <a:srgbClr val="FFFFFF"/>
          </a:solidFill>
          <a:ln w="9525">
            <a:solidFill>
              <a:srgbClr val="CBD5E1"/>
            </a:solidFill>
            <a:prstDash val="solid"/>
          </a:ln>
        </p:spPr>
      </p:sp>
      <p:sp>
        <p:nvSpPr>
          <p:cNvPr id="57" name="Text 55"/>
          <p:cNvSpPr/>
          <p:nvPr/>
        </p:nvSpPr>
        <p:spPr>
          <a:xfrm>
            <a:off x="218541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Images</a:t>
            </a:r>
            <a:endParaRPr lang="en-US" sz="750" dirty="0"/>
          </a:p>
        </p:txBody>
      </p:sp>
      <p:sp>
        <p:nvSpPr>
          <p:cNvPr id="58" name="Shape 56"/>
          <p:cNvSpPr/>
          <p:nvPr/>
        </p:nvSpPr>
        <p:spPr>
          <a:xfrm>
            <a:off x="2185416" y="4343400"/>
            <a:ext cx="932688" cy="155448"/>
          </a:xfrm>
          <a:prstGeom prst="roundRect">
            <a:avLst>
              <a:gd name="adj" fmla="val 17647"/>
            </a:avLst>
          </a:prstGeom>
          <a:solidFill>
            <a:srgbClr val="1558A8"/>
          </a:solidFill>
          <a:ln w="12700">
            <a:solidFill>
              <a:srgbClr val="1558A8"/>
            </a:solidFill>
            <a:prstDash val="solid"/>
          </a:ln>
        </p:spPr>
      </p:sp>
      <p:sp>
        <p:nvSpPr>
          <p:cNvPr id="59" name="Text 57"/>
          <p:cNvSpPr/>
          <p:nvPr/>
        </p:nvSpPr>
        <p:spPr>
          <a:xfrm>
            <a:off x="2185416"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0" name="Shape 58"/>
          <p:cNvSpPr/>
          <p:nvPr/>
        </p:nvSpPr>
        <p:spPr>
          <a:xfrm>
            <a:off x="3200400" y="4133088"/>
            <a:ext cx="932688" cy="182880"/>
          </a:xfrm>
          <a:prstGeom prst="roundRect">
            <a:avLst>
              <a:gd name="adj" fmla="val 15000"/>
            </a:avLst>
          </a:prstGeom>
          <a:solidFill>
            <a:srgbClr val="FFFFFF"/>
          </a:solidFill>
          <a:ln w="9525">
            <a:solidFill>
              <a:srgbClr val="CBD5E1"/>
            </a:solidFill>
            <a:prstDash val="solid"/>
          </a:ln>
        </p:spPr>
      </p:sp>
      <p:sp>
        <p:nvSpPr>
          <p:cNvPr id="61" name="Text 59"/>
          <p:cNvSpPr/>
          <p:nvPr/>
        </p:nvSpPr>
        <p:spPr>
          <a:xfrm>
            <a:off x="320040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Carousels</a:t>
            </a:r>
            <a:endParaRPr lang="en-US" sz="750" dirty="0"/>
          </a:p>
        </p:txBody>
      </p:sp>
      <p:sp>
        <p:nvSpPr>
          <p:cNvPr id="62" name="Shape 60"/>
          <p:cNvSpPr/>
          <p:nvPr/>
        </p:nvSpPr>
        <p:spPr>
          <a:xfrm>
            <a:off x="3200400" y="4343400"/>
            <a:ext cx="932688" cy="155448"/>
          </a:xfrm>
          <a:prstGeom prst="roundRect">
            <a:avLst>
              <a:gd name="adj" fmla="val 17647"/>
            </a:avLst>
          </a:prstGeom>
          <a:solidFill>
            <a:srgbClr val="1558A8"/>
          </a:solidFill>
          <a:ln w="12700">
            <a:solidFill>
              <a:srgbClr val="1558A8"/>
            </a:solidFill>
            <a:prstDash val="solid"/>
          </a:ln>
        </p:spPr>
      </p:sp>
      <p:sp>
        <p:nvSpPr>
          <p:cNvPr id="63" name="Text 61"/>
          <p:cNvSpPr/>
          <p:nvPr/>
        </p:nvSpPr>
        <p:spPr>
          <a:xfrm>
            <a:off x="3200400"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4" name="Shape 62"/>
          <p:cNvSpPr/>
          <p:nvPr/>
        </p:nvSpPr>
        <p:spPr>
          <a:xfrm>
            <a:off x="4215384" y="4133088"/>
            <a:ext cx="932688" cy="182880"/>
          </a:xfrm>
          <a:prstGeom prst="roundRect">
            <a:avLst>
              <a:gd name="adj" fmla="val 15000"/>
            </a:avLst>
          </a:prstGeom>
          <a:solidFill>
            <a:srgbClr val="FFFFFF"/>
          </a:solidFill>
          <a:ln w="9525">
            <a:solidFill>
              <a:srgbClr val="CBD5E1"/>
            </a:solidFill>
            <a:prstDash val="solid"/>
          </a:ln>
        </p:spPr>
      </p:sp>
      <p:sp>
        <p:nvSpPr>
          <p:cNvPr id="65" name="Text 63"/>
          <p:cNvSpPr/>
          <p:nvPr/>
        </p:nvSpPr>
        <p:spPr>
          <a:xfrm>
            <a:off x="4215384"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Live Events</a:t>
            </a:r>
            <a:endParaRPr lang="en-US" sz="750" dirty="0"/>
          </a:p>
        </p:txBody>
      </p:sp>
      <p:sp>
        <p:nvSpPr>
          <p:cNvPr id="66" name="Shape 64"/>
          <p:cNvSpPr/>
          <p:nvPr/>
        </p:nvSpPr>
        <p:spPr>
          <a:xfrm>
            <a:off x="4215384" y="4343400"/>
            <a:ext cx="932688" cy="155448"/>
          </a:xfrm>
          <a:prstGeom prst="roundRect">
            <a:avLst>
              <a:gd name="adj" fmla="val 17647"/>
            </a:avLst>
          </a:prstGeom>
          <a:solidFill>
            <a:srgbClr val="1558A8"/>
          </a:solidFill>
          <a:ln w="12700">
            <a:solidFill>
              <a:srgbClr val="1558A8"/>
            </a:solidFill>
            <a:prstDash val="solid"/>
          </a:ln>
        </p:spPr>
      </p:sp>
      <p:sp>
        <p:nvSpPr>
          <p:cNvPr id="67" name="Text 65"/>
          <p:cNvSpPr/>
          <p:nvPr/>
        </p:nvSpPr>
        <p:spPr>
          <a:xfrm>
            <a:off x="4215384"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8" name="Shape 66"/>
          <p:cNvSpPr/>
          <p:nvPr/>
        </p:nvSpPr>
        <p:spPr>
          <a:xfrm>
            <a:off x="5230368" y="4133088"/>
            <a:ext cx="932688" cy="182880"/>
          </a:xfrm>
          <a:prstGeom prst="roundRect">
            <a:avLst>
              <a:gd name="adj" fmla="val 15000"/>
            </a:avLst>
          </a:prstGeom>
          <a:solidFill>
            <a:srgbClr val="FFFFFF"/>
          </a:solidFill>
          <a:ln w="9525">
            <a:solidFill>
              <a:srgbClr val="CBD5E1"/>
            </a:solidFill>
            <a:prstDash val="solid"/>
          </a:ln>
        </p:spPr>
      </p:sp>
      <p:sp>
        <p:nvSpPr>
          <p:cNvPr id="69" name="Text 67"/>
          <p:cNvSpPr/>
          <p:nvPr/>
        </p:nvSpPr>
        <p:spPr>
          <a:xfrm>
            <a:off x="5230368"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Back Catalog</a:t>
            </a:r>
            <a:endParaRPr lang="en-US" sz="750" dirty="0"/>
          </a:p>
        </p:txBody>
      </p:sp>
      <p:sp>
        <p:nvSpPr>
          <p:cNvPr id="70" name="Shape 68"/>
          <p:cNvSpPr/>
          <p:nvPr/>
        </p:nvSpPr>
        <p:spPr>
          <a:xfrm>
            <a:off x="5230368" y="4343400"/>
            <a:ext cx="932688" cy="155448"/>
          </a:xfrm>
          <a:prstGeom prst="roundRect">
            <a:avLst>
              <a:gd name="adj" fmla="val 17647"/>
            </a:avLst>
          </a:prstGeom>
          <a:solidFill>
            <a:srgbClr val="F3F4F6"/>
          </a:solidFill>
          <a:ln w="9525">
            <a:solidFill>
              <a:srgbClr val="D1D5DB"/>
            </a:solidFill>
            <a:prstDash val="solid"/>
          </a:ln>
        </p:spPr>
      </p:sp>
      <p:sp>
        <p:nvSpPr>
          <p:cNvPr id="71" name="Text 69"/>
          <p:cNvSpPr/>
          <p:nvPr/>
        </p:nvSpPr>
        <p:spPr>
          <a:xfrm>
            <a:off x="5230368" y="434340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72" name="Shape 70"/>
          <p:cNvSpPr/>
          <p:nvPr/>
        </p:nvSpPr>
        <p:spPr>
          <a:xfrm>
            <a:off x="6245352" y="4133088"/>
            <a:ext cx="932688" cy="182880"/>
          </a:xfrm>
          <a:prstGeom prst="roundRect">
            <a:avLst>
              <a:gd name="adj" fmla="val 15000"/>
            </a:avLst>
          </a:prstGeom>
          <a:solidFill>
            <a:srgbClr val="FFFFFF"/>
          </a:solidFill>
          <a:ln w="9525">
            <a:solidFill>
              <a:srgbClr val="CBD5E1"/>
            </a:solidFill>
            <a:prstDash val="solid"/>
          </a:ln>
        </p:spPr>
      </p:sp>
      <p:sp>
        <p:nvSpPr>
          <p:cNvPr id="73" name="Text 71"/>
          <p:cNvSpPr/>
          <p:nvPr/>
        </p:nvSpPr>
        <p:spPr>
          <a:xfrm>
            <a:off x="624535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Full Replays</a:t>
            </a:r>
            <a:endParaRPr lang="en-US" sz="750" dirty="0"/>
          </a:p>
        </p:txBody>
      </p:sp>
      <p:sp>
        <p:nvSpPr>
          <p:cNvPr id="74" name="Shape 72"/>
          <p:cNvSpPr/>
          <p:nvPr/>
        </p:nvSpPr>
        <p:spPr>
          <a:xfrm>
            <a:off x="6245352" y="4343400"/>
            <a:ext cx="932688" cy="155448"/>
          </a:xfrm>
          <a:prstGeom prst="roundRect">
            <a:avLst>
              <a:gd name="adj" fmla="val 17647"/>
            </a:avLst>
          </a:prstGeom>
          <a:solidFill>
            <a:srgbClr val="1558A8"/>
          </a:solidFill>
          <a:ln w="12700">
            <a:solidFill>
              <a:srgbClr val="1558A8"/>
            </a:solidFill>
            <a:prstDash val="solid"/>
          </a:ln>
        </p:spPr>
      </p:sp>
      <p:sp>
        <p:nvSpPr>
          <p:cNvPr id="75" name="Text 73"/>
          <p:cNvSpPr/>
          <p:nvPr/>
        </p:nvSpPr>
        <p:spPr>
          <a:xfrm>
            <a:off x="624535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76" name="Shape 74"/>
          <p:cNvSpPr/>
          <p:nvPr/>
        </p:nvSpPr>
        <p:spPr>
          <a:xfrm>
            <a:off x="7260336" y="4133088"/>
            <a:ext cx="932688" cy="182880"/>
          </a:xfrm>
          <a:prstGeom prst="roundRect">
            <a:avLst>
              <a:gd name="adj" fmla="val 15000"/>
            </a:avLst>
          </a:prstGeom>
          <a:solidFill>
            <a:srgbClr val="FFFFFF"/>
          </a:solidFill>
          <a:ln w="9525">
            <a:solidFill>
              <a:srgbClr val="CBD5E1"/>
            </a:solidFill>
            <a:prstDash val="solid"/>
          </a:ln>
        </p:spPr>
      </p:sp>
      <p:sp>
        <p:nvSpPr>
          <p:cNvPr id="77" name="Text 75"/>
          <p:cNvSpPr/>
          <p:nvPr/>
        </p:nvSpPr>
        <p:spPr>
          <a:xfrm>
            <a:off x="726033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M15</a:t>
            </a:r>
            <a:endParaRPr lang="en-US" sz="750" dirty="0"/>
          </a:p>
        </p:txBody>
      </p:sp>
      <p:sp>
        <p:nvSpPr>
          <p:cNvPr id="78" name="Shape 76"/>
          <p:cNvSpPr/>
          <p:nvPr/>
        </p:nvSpPr>
        <p:spPr>
          <a:xfrm>
            <a:off x="7260336" y="4343400"/>
            <a:ext cx="932688" cy="155448"/>
          </a:xfrm>
          <a:prstGeom prst="roundRect">
            <a:avLst>
              <a:gd name="adj" fmla="val 17647"/>
            </a:avLst>
          </a:prstGeom>
          <a:solidFill>
            <a:srgbClr val="DCFCE7"/>
          </a:solidFill>
          <a:ln w="12700">
            <a:solidFill>
              <a:srgbClr val="15803D"/>
            </a:solidFill>
            <a:prstDash val="solid"/>
          </a:ln>
        </p:spPr>
      </p:sp>
      <p:sp>
        <p:nvSpPr>
          <p:cNvPr id="79" name="Text 77"/>
          <p:cNvSpPr/>
          <p:nvPr/>
        </p:nvSpPr>
        <p:spPr>
          <a:xfrm>
            <a:off x="7260336"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80" name="Shape 78"/>
          <p:cNvSpPr/>
          <p:nvPr/>
        </p:nvSpPr>
        <p:spPr>
          <a:xfrm>
            <a:off x="8275320" y="4133088"/>
            <a:ext cx="932688" cy="182880"/>
          </a:xfrm>
          <a:prstGeom prst="roundRect">
            <a:avLst>
              <a:gd name="adj" fmla="val 15000"/>
            </a:avLst>
          </a:prstGeom>
          <a:solidFill>
            <a:srgbClr val="FFFFFF"/>
          </a:solidFill>
          <a:ln w="9525">
            <a:solidFill>
              <a:srgbClr val="CBD5E1"/>
            </a:solidFill>
            <a:prstDash val="solid"/>
          </a:ln>
        </p:spPr>
      </p:sp>
      <p:sp>
        <p:nvSpPr>
          <p:cNvPr id="81" name="Text 79"/>
          <p:cNvSpPr/>
          <p:nvPr/>
        </p:nvSpPr>
        <p:spPr>
          <a:xfrm>
            <a:off x="827532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Highlights</a:t>
            </a:r>
            <a:endParaRPr lang="en-US" sz="750" dirty="0"/>
          </a:p>
        </p:txBody>
      </p:sp>
      <p:sp>
        <p:nvSpPr>
          <p:cNvPr id="82" name="Shape 80"/>
          <p:cNvSpPr/>
          <p:nvPr/>
        </p:nvSpPr>
        <p:spPr>
          <a:xfrm>
            <a:off x="8275320" y="4343400"/>
            <a:ext cx="932688" cy="155448"/>
          </a:xfrm>
          <a:prstGeom prst="roundRect">
            <a:avLst>
              <a:gd name="adj" fmla="val 17647"/>
            </a:avLst>
          </a:prstGeom>
          <a:solidFill>
            <a:srgbClr val="DCFCE7"/>
          </a:solidFill>
          <a:ln w="12700">
            <a:solidFill>
              <a:srgbClr val="15803D"/>
            </a:solidFill>
            <a:prstDash val="solid"/>
          </a:ln>
        </p:spPr>
      </p:sp>
      <p:sp>
        <p:nvSpPr>
          <p:cNvPr id="83" name="Text 81"/>
          <p:cNvSpPr/>
          <p:nvPr/>
        </p:nvSpPr>
        <p:spPr>
          <a:xfrm>
            <a:off x="8275320"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84" name="Shape 82"/>
          <p:cNvSpPr/>
          <p:nvPr/>
        </p:nvSpPr>
        <p:spPr>
          <a:xfrm>
            <a:off x="1170432" y="4590288"/>
            <a:ext cx="932688" cy="182880"/>
          </a:xfrm>
          <a:prstGeom prst="roundRect">
            <a:avLst>
              <a:gd name="adj" fmla="val 15000"/>
            </a:avLst>
          </a:prstGeom>
          <a:solidFill>
            <a:srgbClr val="FFFFFF"/>
          </a:solidFill>
          <a:ln w="9525">
            <a:solidFill>
              <a:srgbClr val="CBD5E1"/>
            </a:solidFill>
            <a:prstDash val="solid"/>
          </a:ln>
        </p:spPr>
      </p:sp>
      <p:sp>
        <p:nvSpPr>
          <p:cNvPr id="85" name="Text 83"/>
          <p:cNvSpPr/>
          <p:nvPr/>
        </p:nvSpPr>
        <p:spPr>
          <a:xfrm>
            <a:off x="1170432" y="45902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86" name="Shape 84"/>
          <p:cNvSpPr/>
          <p:nvPr/>
        </p:nvSpPr>
        <p:spPr>
          <a:xfrm>
            <a:off x="1170432" y="4800600"/>
            <a:ext cx="932688" cy="155448"/>
          </a:xfrm>
          <a:prstGeom prst="roundRect">
            <a:avLst>
              <a:gd name="adj" fmla="val 17647"/>
            </a:avLst>
          </a:prstGeom>
          <a:solidFill>
            <a:srgbClr val="1558A8"/>
          </a:solidFill>
          <a:ln w="12700">
            <a:solidFill>
              <a:srgbClr val="1558A8"/>
            </a:solidFill>
            <a:prstDash val="solid"/>
          </a:ln>
        </p:spPr>
      </p:sp>
      <p:sp>
        <p:nvSpPr>
          <p:cNvPr id="87" name="Text 85"/>
          <p:cNvSpPr/>
          <p:nvPr/>
        </p:nvSpPr>
        <p:spPr>
          <a:xfrm>
            <a:off x="1170432" y="48006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8" name="Shape 86"/>
          <p:cNvSpPr/>
          <p:nvPr/>
        </p:nvSpPr>
        <p:spPr>
          <a:xfrm>
            <a:off x="164592" y="5399532"/>
            <a:ext cx="9116568" cy="1476756"/>
          </a:xfrm>
          <a:prstGeom prst="rect">
            <a:avLst/>
          </a:prstGeom>
          <a:solidFill>
            <a:srgbClr val="FFFFFF"/>
          </a:solidFill>
          <a:ln w="6350">
            <a:solidFill>
              <a:srgbClr val="E5E7EB"/>
            </a:solidFill>
            <a:prstDash val="solid"/>
          </a:ln>
        </p:spPr>
      </p:sp>
      <p:sp>
        <p:nvSpPr>
          <p:cNvPr id="89" name="Shape 87"/>
          <p:cNvSpPr/>
          <p:nvPr/>
        </p:nvSpPr>
        <p:spPr>
          <a:xfrm>
            <a:off x="182880" y="5472684"/>
            <a:ext cx="859536" cy="1330452"/>
          </a:xfrm>
          <a:prstGeom prst="roundRect">
            <a:avLst>
              <a:gd name="adj" fmla="val 5319"/>
            </a:avLst>
          </a:prstGeom>
          <a:solidFill>
            <a:srgbClr val="9CA3AF"/>
          </a:solidFill>
          <a:ln w="12700">
            <a:solidFill>
              <a:srgbClr val="9CA3AF"/>
            </a:solidFill>
            <a:prstDash val="solid"/>
          </a:ln>
        </p:spPr>
      </p:sp>
      <p:sp>
        <p:nvSpPr>
          <p:cNvPr id="90" name="Text 88"/>
          <p:cNvSpPr/>
          <p:nvPr/>
        </p:nvSpPr>
        <p:spPr>
          <a:xfrm>
            <a:off x="182880" y="547268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Onboarding</a:t>
            </a:r>
            <a:endParaRPr lang="en-US" sz="800" dirty="0"/>
          </a:p>
        </p:txBody>
      </p:sp>
      <p:sp>
        <p:nvSpPr>
          <p:cNvPr id="91" name="Text 89"/>
          <p:cNvSpPr/>
          <p:nvPr/>
        </p:nvSpPr>
        <p:spPr>
          <a:xfrm>
            <a:off x="1170432" y="544525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4 / 6 In Progress · 1 Done</a:t>
            </a:r>
            <a:endParaRPr lang="en-US" sz="750" dirty="0"/>
          </a:p>
        </p:txBody>
      </p:sp>
      <p:sp>
        <p:nvSpPr>
          <p:cNvPr id="92" name="Shape 90"/>
          <p:cNvSpPr/>
          <p:nvPr/>
        </p:nvSpPr>
        <p:spPr>
          <a:xfrm>
            <a:off x="1170432" y="5664708"/>
            <a:ext cx="932688" cy="182880"/>
          </a:xfrm>
          <a:prstGeom prst="roundRect">
            <a:avLst>
              <a:gd name="adj" fmla="val 15000"/>
            </a:avLst>
          </a:prstGeom>
          <a:solidFill>
            <a:srgbClr val="FFFFFF"/>
          </a:solidFill>
          <a:ln w="9525">
            <a:solidFill>
              <a:srgbClr val="CBD5E1"/>
            </a:solidFill>
            <a:prstDash val="solid"/>
          </a:ln>
        </p:spPr>
      </p:sp>
      <p:sp>
        <p:nvSpPr>
          <p:cNvPr id="93" name="Text 91"/>
          <p:cNvSpPr/>
          <p:nvPr/>
        </p:nvSpPr>
        <p:spPr>
          <a:xfrm>
            <a:off x="117043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Unentitled</a:t>
            </a:r>
            <a:endParaRPr lang="en-US" sz="750" dirty="0"/>
          </a:p>
        </p:txBody>
      </p:sp>
      <p:sp>
        <p:nvSpPr>
          <p:cNvPr id="94" name="Shape 92"/>
          <p:cNvSpPr/>
          <p:nvPr/>
        </p:nvSpPr>
        <p:spPr>
          <a:xfrm>
            <a:off x="1170432" y="5875020"/>
            <a:ext cx="932688" cy="155448"/>
          </a:xfrm>
          <a:prstGeom prst="roundRect">
            <a:avLst>
              <a:gd name="adj" fmla="val 17647"/>
            </a:avLst>
          </a:prstGeom>
          <a:solidFill>
            <a:srgbClr val="1558A8"/>
          </a:solidFill>
          <a:ln w="12700">
            <a:solidFill>
              <a:srgbClr val="1558A8"/>
            </a:solidFill>
            <a:prstDash val="solid"/>
          </a:ln>
        </p:spPr>
      </p:sp>
      <p:sp>
        <p:nvSpPr>
          <p:cNvPr id="95" name="Text 93"/>
          <p:cNvSpPr/>
          <p:nvPr/>
        </p:nvSpPr>
        <p:spPr>
          <a:xfrm>
            <a:off x="1170432"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96" name="Shape 94"/>
          <p:cNvSpPr/>
          <p:nvPr/>
        </p:nvSpPr>
        <p:spPr>
          <a:xfrm>
            <a:off x="2185416" y="5664708"/>
            <a:ext cx="932688" cy="182880"/>
          </a:xfrm>
          <a:prstGeom prst="roundRect">
            <a:avLst>
              <a:gd name="adj" fmla="val 15000"/>
            </a:avLst>
          </a:prstGeom>
          <a:solidFill>
            <a:srgbClr val="FFFFFF"/>
          </a:solidFill>
          <a:ln w="9525">
            <a:solidFill>
              <a:srgbClr val="CBD5E1"/>
            </a:solidFill>
            <a:prstDash val="solid"/>
          </a:ln>
        </p:spPr>
      </p:sp>
      <p:sp>
        <p:nvSpPr>
          <p:cNvPr id="97" name="Text 95"/>
          <p:cNvSpPr/>
          <p:nvPr/>
        </p:nvSpPr>
        <p:spPr>
          <a:xfrm>
            <a:off x="2185416"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Sign-in</a:t>
            </a:r>
            <a:endParaRPr lang="en-US" sz="750" dirty="0"/>
          </a:p>
        </p:txBody>
      </p:sp>
      <p:sp>
        <p:nvSpPr>
          <p:cNvPr id="98" name="Shape 96"/>
          <p:cNvSpPr/>
          <p:nvPr/>
        </p:nvSpPr>
        <p:spPr>
          <a:xfrm>
            <a:off x="2185416" y="5875020"/>
            <a:ext cx="932688" cy="155448"/>
          </a:xfrm>
          <a:prstGeom prst="roundRect">
            <a:avLst>
              <a:gd name="adj" fmla="val 17647"/>
            </a:avLst>
          </a:prstGeom>
          <a:solidFill>
            <a:srgbClr val="1558A8"/>
          </a:solidFill>
          <a:ln w="12700">
            <a:solidFill>
              <a:srgbClr val="1558A8"/>
            </a:solidFill>
            <a:prstDash val="solid"/>
          </a:ln>
        </p:spPr>
      </p:sp>
      <p:sp>
        <p:nvSpPr>
          <p:cNvPr id="99" name="Text 97"/>
          <p:cNvSpPr/>
          <p:nvPr/>
        </p:nvSpPr>
        <p:spPr>
          <a:xfrm>
            <a:off x="2185416"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0" name="Shape 98"/>
          <p:cNvSpPr/>
          <p:nvPr/>
        </p:nvSpPr>
        <p:spPr>
          <a:xfrm>
            <a:off x="3200400" y="5664708"/>
            <a:ext cx="932688" cy="182880"/>
          </a:xfrm>
          <a:prstGeom prst="roundRect">
            <a:avLst>
              <a:gd name="adj" fmla="val 15000"/>
            </a:avLst>
          </a:prstGeom>
          <a:solidFill>
            <a:srgbClr val="FFFFFF"/>
          </a:solidFill>
          <a:ln w="9525">
            <a:solidFill>
              <a:srgbClr val="CBD5E1"/>
            </a:solidFill>
            <a:prstDash val="solid"/>
          </a:ln>
        </p:spPr>
      </p:sp>
      <p:sp>
        <p:nvSpPr>
          <p:cNvPr id="101" name="Text 99"/>
          <p:cNvSpPr/>
          <p:nvPr/>
        </p:nvSpPr>
        <p:spPr>
          <a:xfrm>
            <a:off x="3200400"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Subscription</a:t>
            </a:r>
            <a:endParaRPr lang="en-US" sz="750" dirty="0"/>
          </a:p>
        </p:txBody>
      </p:sp>
      <p:sp>
        <p:nvSpPr>
          <p:cNvPr id="102" name="Shape 100"/>
          <p:cNvSpPr/>
          <p:nvPr/>
        </p:nvSpPr>
        <p:spPr>
          <a:xfrm>
            <a:off x="3200400" y="5875020"/>
            <a:ext cx="932688" cy="155448"/>
          </a:xfrm>
          <a:prstGeom prst="roundRect">
            <a:avLst>
              <a:gd name="adj" fmla="val 17647"/>
            </a:avLst>
          </a:prstGeom>
          <a:solidFill>
            <a:srgbClr val="1558A8"/>
          </a:solidFill>
          <a:ln w="12700">
            <a:solidFill>
              <a:srgbClr val="1558A8"/>
            </a:solidFill>
            <a:prstDash val="solid"/>
          </a:ln>
        </p:spPr>
      </p:sp>
      <p:sp>
        <p:nvSpPr>
          <p:cNvPr id="103" name="Text 101"/>
          <p:cNvSpPr/>
          <p:nvPr/>
        </p:nvSpPr>
        <p:spPr>
          <a:xfrm>
            <a:off x="3200400"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4" name="Shape 102"/>
          <p:cNvSpPr/>
          <p:nvPr/>
        </p:nvSpPr>
        <p:spPr>
          <a:xfrm>
            <a:off x="4215384" y="5664708"/>
            <a:ext cx="932688" cy="182880"/>
          </a:xfrm>
          <a:prstGeom prst="roundRect">
            <a:avLst>
              <a:gd name="adj" fmla="val 15000"/>
            </a:avLst>
          </a:prstGeom>
          <a:solidFill>
            <a:srgbClr val="FFFFFF"/>
          </a:solidFill>
          <a:ln w="9525">
            <a:solidFill>
              <a:srgbClr val="CBD5E1"/>
            </a:solidFill>
            <a:prstDash val="solid"/>
          </a:ln>
        </p:spPr>
      </p:sp>
      <p:sp>
        <p:nvSpPr>
          <p:cNvPr id="105" name="Text 103"/>
          <p:cNvSpPr/>
          <p:nvPr/>
        </p:nvSpPr>
        <p:spPr>
          <a:xfrm>
            <a:off x="4215384"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MVPD</a:t>
            </a:r>
            <a:endParaRPr lang="en-US" sz="750" dirty="0"/>
          </a:p>
        </p:txBody>
      </p:sp>
      <p:sp>
        <p:nvSpPr>
          <p:cNvPr id="106" name="Shape 104"/>
          <p:cNvSpPr/>
          <p:nvPr/>
        </p:nvSpPr>
        <p:spPr>
          <a:xfrm>
            <a:off x="4215384" y="5875020"/>
            <a:ext cx="932688" cy="155448"/>
          </a:xfrm>
          <a:prstGeom prst="roundRect">
            <a:avLst>
              <a:gd name="adj" fmla="val 17647"/>
            </a:avLst>
          </a:prstGeom>
          <a:solidFill>
            <a:srgbClr val="DCFCE7"/>
          </a:solidFill>
          <a:ln w="12700">
            <a:solidFill>
              <a:srgbClr val="15803D"/>
            </a:solidFill>
            <a:prstDash val="solid"/>
          </a:ln>
        </p:spPr>
      </p:sp>
      <p:sp>
        <p:nvSpPr>
          <p:cNvPr id="107" name="Text 105"/>
          <p:cNvSpPr/>
          <p:nvPr/>
        </p:nvSpPr>
        <p:spPr>
          <a:xfrm>
            <a:off x="4215384" y="587502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08" name="Shape 106"/>
          <p:cNvSpPr/>
          <p:nvPr/>
        </p:nvSpPr>
        <p:spPr>
          <a:xfrm>
            <a:off x="5230368" y="5664708"/>
            <a:ext cx="932688" cy="182880"/>
          </a:xfrm>
          <a:prstGeom prst="roundRect">
            <a:avLst>
              <a:gd name="adj" fmla="val 15000"/>
            </a:avLst>
          </a:prstGeom>
          <a:solidFill>
            <a:srgbClr val="FFFFFF"/>
          </a:solidFill>
          <a:ln w="9525">
            <a:solidFill>
              <a:srgbClr val="CBD5E1"/>
            </a:solidFill>
            <a:prstDash val="solid"/>
          </a:ln>
        </p:spPr>
      </p:sp>
      <p:sp>
        <p:nvSpPr>
          <p:cNvPr id="109" name="Text 107"/>
          <p:cNvSpPr/>
          <p:nvPr/>
        </p:nvSpPr>
        <p:spPr>
          <a:xfrm>
            <a:off x="5230368"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Cleeng</a:t>
            </a:r>
            <a:endParaRPr lang="en-US" sz="750" dirty="0"/>
          </a:p>
        </p:txBody>
      </p:sp>
      <p:sp>
        <p:nvSpPr>
          <p:cNvPr id="110" name="Shape 108"/>
          <p:cNvSpPr/>
          <p:nvPr/>
        </p:nvSpPr>
        <p:spPr>
          <a:xfrm>
            <a:off x="5230368" y="5875020"/>
            <a:ext cx="932688" cy="155448"/>
          </a:xfrm>
          <a:prstGeom prst="roundRect">
            <a:avLst>
              <a:gd name="adj" fmla="val 17647"/>
            </a:avLst>
          </a:prstGeom>
          <a:solidFill>
            <a:srgbClr val="1558A8"/>
          </a:solidFill>
          <a:ln w="12700">
            <a:solidFill>
              <a:srgbClr val="1558A8"/>
            </a:solidFill>
            <a:prstDash val="solid"/>
          </a:ln>
        </p:spPr>
      </p:sp>
      <p:sp>
        <p:nvSpPr>
          <p:cNvPr id="111" name="Text 109"/>
          <p:cNvSpPr/>
          <p:nvPr/>
        </p:nvSpPr>
        <p:spPr>
          <a:xfrm>
            <a:off x="5230368"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12" name="Shape 110"/>
          <p:cNvSpPr/>
          <p:nvPr/>
        </p:nvSpPr>
        <p:spPr>
          <a:xfrm>
            <a:off x="6245352" y="5664708"/>
            <a:ext cx="932688" cy="182880"/>
          </a:xfrm>
          <a:prstGeom prst="roundRect">
            <a:avLst>
              <a:gd name="adj" fmla="val 15000"/>
            </a:avLst>
          </a:prstGeom>
          <a:solidFill>
            <a:srgbClr val="FFFFFF"/>
          </a:solidFill>
          <a:ln w="9525">
            <a:solidFill>
              <a:srgbClr val="CBD5E1"/>
            </a:solidFill>
            <a:prstDash val="solid"/>
          </a:ln>
        </p:spPr>
      </p:sp>
      <p:sp>
        <p:nvSpPr>
          <p:cNvPr id="113" name="Text 111"/>
          <p:cNvSpPr/>
          <p:nvPr/>
        </p:nvSpPr>
        <p:spPr>
          <a:xfrm>
            <a:off x="624535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Promos</a:t>
            </a:r>
            <a:endParaRPr lang="en-US" sz="750" dirty="0"/>
          </a:p>
        </p:txBody>
      </p:sp>
      <p:sp>
        <p:nvSpPr>
          <p:cNvPr id="114" name="Shape 112"/>
          <p:cNvSpPr/>
          <p:nvPr/>
        </p:nvSpPr>
        <p:spPr>
          <a:xfrm>
            <a:off x="6245352" y="5875020"/>
            <a:ext cx="932688" cy="155448"/>
          </a:xfrm>
          <a:prstGeom prst="roundRect">
            <a:avLst>
              <a:gd name="adj" fmla="val 17647"/>
            </a:avLst>
          </a:prstGeom>
          <a:solidFill>
            <a:srgbClr val="F3F4F6"/>
          </a:solidFill>
          <a:ln w="9525">
            <a:solidFill>
              <a:srgbClr val="D1D5DB"/>
            </a:solidFill>
            <a:prstDash val="solid"/>
          </a:ln>
        </p:spPr>
      </p:sp>
      <p:sp>
        <p:nvSpPr>
          <p:cNvPr id="115" name="Text 113"/>
          <p:cNvSpPr/>
          <p:nvPr/>
        </p:nvSpPr>
        <p:spPr>
          <a:xfrm>
            <a:off x="6245352" y="587502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116" name="Shape 114"/>
          <p:cNvSpPr/>
          <p:nvPr/>
        </p:nvSpPr>
        <p:spPr>
          <a:xfrm>
            <a:off x="9372600" y="804672"/>
            <a:ext cx="2834640" cy="6071616"/>
          </a:xfrm>
          <a:prstGeom prst="rect">
            <a:avLst/>
          </a:prstGeom>
          <a:solidFill>
            <a:srgbClr val="F8FAFB"/>
          </a:solidFill>
          <a:ln w="12700">
            <a:solidFill>
              <a:srgbClr val="DDE1E6"/>
            </a:solidFill>
            <a:prstDash val="solid"/>
          </a:ln>
        </p:spPr>
      </p:sp>
      <p:sp>
        <p:nvSpPr>
          <p:cNvPr id="117" name="Text 115"/>
          <p:cNvSpPr/>
          <p:nvPr/>
        </p:nvSpPr>
        <p:spPr>
          <a:xfrm>
            <a:off x="9500616" y="950976"/>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Milestones</a:t>
            </a:r>
            <a:endParaRPr lang="en-US" sz="950" dirty="0"/>
          </a:p>
        </p:txBody>
      </p:sp>
      <p:sp>
        <p:nvSpPr>
          <p:cNvPr id="118" name="Shape 116"/>
          <p:cNvSpPr/>
          <p:nvPr/>
        </p:nvSpPr>
        <p:spPr>
          <a:xfrm>
            <a:off x="9464040" y="1225296"/>
            <a:ext cx="2670048" cy="420624"/>
          </a:xfrm>
          <a:prstGeom prst="rect">
            <a:avLst/>
          </a:prstGeom>
          <a:solidFill>
            <a:srgbClr val="FFFFFF"/>
          </a:solidFill>
          <a:ln w="6350">
            <a:solidFill>
              <a:srgbClr val="E5E7EB"/>
            </a:solidFill>
            <a:prstDash val="solid"/>
          </a:ln>
        </p:spPr>
      </p:sp>
      <p:sp>
        <p:nvSpPr>
          <p:cNvPr id="119" name="Shape 117"/>
          <p:cNvSpPr/>
          <p:nvPr/>
        </p:nvSpPr>
        <p:spPr>
          <a:xfrm>
            <a:off x="9537192" y="1316736"/>
            <a:ext cx="109728" cy="109728"/>
          </a:xfrm>
          <a:prstGeom prst="ellipse">
            <a:avLst/>
          </a:prstGeom>
          <a:solidFill>
            <a:srgbClr val="16A34A"/>
          </a:solidFill>
          <a:ln w="12700">
            <a:solidFill>
              <a:srgbClr val="16A34A"/>
            </a:solidFill>
            <a:prstDash val="solid"/>
          </a:ln>
        </p:spPr>
      </p:sp>
      <p:sp>
        <p:nvSpPr>
          <p:cNvPr id="120" name="Text 118"/>
          <p:cNvSpPr/>
          <p:nvPr/>
        </p:nvSpPr>
        <p:spPr>
          <a:xfrm>
            <a:off x="9701784" y="1243584"/>
            <a:ext cx="2304288" cy="173736"/>
          </a:xfrm>
          <a:prstGeom prst="rect">
            <a:avLst/>
          </a:prstGeom>
          <a:noFill/>
          <a:ln/>
        </p:spPr>
        <p:txBody>
          <a:bodyPr wrap="square" lIns="0" tIns="0" rIns="0" bIns="0" rtlCol="0" anchor="ctr"/>
          <a:lstStyle/>
          <a:p>
            <a:pPr indent="0" marL="0">
              <a:buNone/>
            </a:pPr>
            <a:r>
              <a:rPr lang="en-US" sz="800" b="1" dirty="0">
                <a:solidFill>
                  <a:srgbClr val="15803D"/>
                </a:solidFill>
              </a:rPr>
              <a:t>Requirements</a:t>
            </a:r>
            <a:endParaRPr lang="en-US" sz="800" dirty="0"/>
          </a:p>
        </p:txBody>
      </p:sp>
      <p:sp>
        <p:nvSpPr>
          <p:cNvPr id="121" name="Text 119"/>
          <p:cNvSpPr/>
          <p:nvPr/>
        </p:nvSpPr>
        <p:spPr>
          <a:xfrm>
            <a:off x="9701784" y="1453896"/>
            <a:ext cx="1773936" cy="137160"/>
          </a:xfrm>
          <a:prstGeom prst="rect">
            <a:avLst/>
          </a:prstGeom>
          <a:noFill/>
          <a:ln/>
        </p:spPr>
        <p:txBody>
          <a:bodyPr wrap="square" lIns="0" tIns="0" rIns="0" bIns="0" rtlCol="0" anchor="ctr"/>
          <a:lstStyle/>
          <a:p>
            <a:pPr indent="0" marL="0">
              <a:buNone/>
            </a:pPr>
            <a:r>
              <a:rPr lang="en-US" sz="700" dirty="0">
                <a:solidFill>
                  <a:srgbClr val="6B7280"/>
                </a:solidFill>
              </a:rPr>
              <a:t>Jun 30, 2026</a:t>
            </a:r>
            <a:endParaRPr lang="en-US" sz="700" dirty="0"/>
          </a:p>
        </p:txBody>
      </p:sp>
      <p:sp>
        <p:nvSpPr>
          <p:cNvPr id="122" name="Shape 120"/>
          <p:cNvSpPr/>
          <p:nvPr/>
        </p:nvSpPr>
        <p:spPr>
          <a:xfrm>
            <a:off x="11494008" y="1453896"/>
            <a:ext cx="658368" cy="137160"/>
          </a:xfrm>
          <a:prstGeom prst="roundRect">
            <a:avLst>
              <a:gd name="adj" fmla="val 20000"/>
            </a:avLst>
          </a:prstGeom>
          <a:solidFill>
            <a:srgbClr val="DCFCE7"/>
          </a:solidFill>
          <a:ln w="12700">
            <a:solidFill>
              <a:srgbClr val="DCFCE7"/>
            </a:solidFill>
            <a:prstDash val="solid"/>
          </a:ln>
        </p:spPr>
      </p:sp>
      <p:sp>
        <p:nvSpPr>
          <p:cNvPr id="123" name="Text 121"/>
          <p:cNvSpPr/>
          <p:nvPr/>
        </p:nvSpPr>
        <p:spPr>
          <a:xfrm>
            <a:off x="11494008" y="1453896"/>
            <a:ext cx="658368" cy="137160"/>
          </a:xfrm>
          <a:prstGeom prst="rect">
            <a:avLst/>
          </a:prstGeom>
          <a:noFill/>
          <a:ln/>
        </p:spPr>
        <p:txBody>
          <a:bodyPr wrap="square" lIns="0" tIns="0" rIns="0" bIns="0" rtlCol="0" anchor="ctr"/>
          <a:lstStyle/>
          <a:p>
            <a:pPr algn="ctr" indent="0" marL="0">
              <a:buNone/>
            </a:pPr>
            <a:r>
              <a:rPr lang="en-US" sz="600" b="1" dirty="0">
                <a:solidFill>
                  <a:srgbClr val="166534"/>
                </a:solidFill>
              </a:rPr>
              <a:t>Complete</a:t>
            </a:r>
            <a:endParaRPr lang="en-US" sz="600" dirty="0"/>
          </a:p>
        </p:txBody>
      </p:sp>
      <p:sp>
        <p:nvSpPr>
          <p:cNvPr id="124" name="Shape 122"/>
          <p:cNvSpPr/>
          <p:nvPr/>
        </p:nvSpPr>
        <p:spPr>
          <a:xfrm>
            <a:off x="9464040" y="1700784"/>
            <a:ext cx="2670048" cy="420624"/>
          </a:xfrm>
          <a:prstGeom prst="rect">
            <a:avLst/>
          </a:prstGeom>
          <a:solidFill>
            <a:srgbClr val="FFFFFF"/>
          </a:solidFill>
          <a:ln w="6350">
            <a:solidFill>
              <a:srgbClr val="E5E7EB"/>
            </a:solidFill>
            <a:prstDash val="solid"/>
          </a:ln>
        </p:spPr>
      </p:sp>
      <p:sp>
        <p:nvSpPr>
          <p:cNvPr id="125" name="Shape 123"/>
          <p:cNvSpPr/>
          <p:nvPr/>
        </p:nvSpPr>
        <p:spPr>
          <a:xfrm>
            <a:off x="9537192" y="1792224"/>
            <a:ext cx="109728" cy="109728"/>
          </a:xfrm>
          <a:prstGeom prst="ellipse">
            <a:avLst/>
          </a:prstGeom>
          <a:solidFill>
            <a:srgbClr val="1558A8"/>
          </a:solidFill>
          <a:ln w="12700">
            <a:solidFill>
              <a:srgbClr val="1558A8"/>
            </a:solidFill>
            <a:prstDash val="solid"/>
          </a:ln>
        </p:spPr>
      </p:sp>
      <p:sp>
        <p:nvSpPr>
          <p:cNvPr id="126" name="Text 124"/>
          <p:cNvSpPr/>
          <p:nvPr/>
        </p:nvSpPr>
        <p:spPr>
          <a:xfrm>
            <a:off x="9701784" y="1719072"/>
            <a:ext cx="2304288" cy="173736"/>
          </a:xfrm>
          <a:prstGeom prst="rect">
            <a:avLst/>
          </a:prstGeom>
          <a:noFill/>
          <a:ln/>
        </p:spPr>
        <p:txBody>
          <a:bodyPr wrap="square" lIns="0" tIns="0" rIns="0" bIns="0" rtlCol="0" anchor="ctr"/>
          <a:lstStyle/>
          <a:p>
            <a:pPr indent="0" marL="0">
              <a:buNone/>
            </a:pPr>
            <a:r>
              <a:rPr lang="en-US" sz="800" b="1" dirty="0">
                <a:solidFill>
                  <a:srgbClr val="1D4ED8"/>
                </a:solidFill>
              </a:rPr>
              <a:t>Beta</a:t>
            </a:r>
            <a:endParaRPr lang="en-US" sz="800" dirty="0"/>
          </a:p>
        </p:txBody>
      </p:sp>
      <p:sp>
        <p:nvSpPr>
          <p:cNvPr id="127" name="Text 125"/>
          <p:cNvSpPr/>
          <p:nvPr/>
        </p:nvSpPr>
        <p:spPr>
          <a:xfrm>
            <a:off x="9701784" y="1929384"/>
            <a:ext cx="1773936" cy="137160"/>
          </a:xfrm>
          <a:prstGeom prst="rect">
            <a:avLst/>
          </a:prstGeom>
          <a:noFill/>
          <a:ln/>
        </p:spPr>
        <p:txBody>
          <a:bodyPr wrap="square" lIns="0" tIns="0" rIns="0" bIns="0" rtlCol="0" anchor="ctr"/>
          <a:lstStyle/>
          <a:p>
            <a:pPr indent="0" marL="0">
              <a:buNone/>
            </a:pPr>
            <a:r>
              <a:rPr lang="en-US" sz="700" dirty="0">
                <a:solidFill>
                  <a:srgbClr val="6B7280"/>
                </a:solidFill>
              </a:rPr>
              <a:t>Sep 30, 2026</a:t>
            </a:r>
            <a:endParaRPr lang="en-US" sz="700" dirty="0"/>
          </a:p>
        </p:txBody>
      </p:sp>
      <p:sp>
        <p:nvSpPr>
          <p:cNvPr id="128" name="Shape 126"/>
          <p:cNvSpPr/>
          <p:nvPr/>
        </p:nvSpPr>
        <p:spPr>
          <a:xfrm>
            <a:off x="11494008" y="1929384"/>
            <a:ext cx="658368" cy="137160"/>
          </a:xfrm>
          <a:prstGeom prst="roundRect">
            <a:avLst>
              <a:gd name="adj" fmla="val 20000"/>
            </a:avLst>
          </a:prstGeom>
          <a:solidFill>
            <a:srgbClr val="DBEAFE"/>
          </a:solidFill>
          <a:ln w="12700">
            <a:solidFill>
              <a:srgbClr val="DBEAFE"/>
            </a:solidFill>
            <a:prstDash val="solid"/>
          </a:ln>
        </p:spPr>
      </p:sp>
      <p:sp>
        <p:nvSpPr>
          <p:cNvPr id="129" name="Text 127"/>
          <p:cNvSpPr/>
          <p:nvPr/>
        </p:nvSpPr>
        <p:spPr>
          <a:xfrm>
            <a:off x="11494008" y="1929384"/>
            <a:ext cx="658368" cy="137160"/>
          </a:xfrm>
          <a:prstGeom prst="rect">
            <a:avLst/>
          </a:prstGeom>
          <a:noFill/>
          <a:ln/>
        </p:spPr>
        <p:txBody>
          <a:bodyPr wrap="square" lIns="0" tIns="0" rIns="0" bIns="0" rtlCol="0" anchor="ctr"/>
          <a:lstStyle/>
          <a:p>
            <a:pPr algn="ctr" indent="0" marL="0">
              <a:buNone/>
            </a:pPr>
            <a:r>
              <a:rPr lang="en-US" sz="600" b="1" dirty="0">
                <a:solidFill>
                  <a:srgbClr val="1E40AF"/>
                </a:solidFill>
              </a:rPr>
              <a:t>In Progress</a:t>
            </a:r>
            <a:endParaRPr lang="en-US" sz="600" dirty="0"/>
          </a:p>
        </p:txBody>
      </p:sp>
      <p:sp>
        <p:nvSpPr>
          <p:cNvPr id="130" name="Shape 128"/>
          <p:cNvSpPr/>
          <p:nvPr/>
        </p:nvSpPr>
        <p:spPr>
          <a:xfrm>
            <a:off x="9464040" y="2176272"/>
            <a:ext cx="2670048" cy="420624"/>
          </a:xfrm>
          <a:prstGeom prst="rect">
            <a:avLst/>
          </a:prstGeom>
          <a:solidFill>
            <a:srgbClr val="FFFFFF"/>
          </a:solidFill>
          <a:ln w="6350">
            <a:solidFill>
              <a:srgbClr val="E5E7EB"/>
            </a:solidFill>
            <a:prstDash val="solid"/>
          </a:ln>
        </p:spPr>
      </p:sp>
      <p:sp>
        <p:nvSpPr>
          <p:cNvPr id="131" name="Shape 129"/>
          <p:cNvSpPr/>
          <p:nvPr/>
        </p:nvSpPr>
        <p:spPr>
          <a:xfrm>
            <a:off x="9537192" y="2267712"/>
            <a:ext cx="109728" cy="109728"/>
          </a:xfrm>
          <a:prstGeom prst="ellipse">
            <a:avLst/>
          </a:prstGeom>
          <a:solidFill>
            <a:srgbClr val="9CA3AF"/>
          </a:solidFill>
          <a:ln w="12700">
            <a:solidFill>
              <a:srgbClr val="9CA3AF"/>
            </a:solidFill>
            <a:prstDash val="solid"/>
          </a:ln>
        </p:spPr>
      </p:sp>
      <p:sp>
        <p:nvSpPr>
          <p:cNvPr id="132" name="Text 130"/>
          <p:cNvSpPr/>
          <p:nvPr/>
        </p:nvSpPr>
        <p:spPr>
          <a:xfrm>
            <a:off x="9701784" y="2194560"/>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UAT / Testing</a:t>
            </a:r>
            <a:endParaRPr lang="en-US" sz="800" dirty="0"/>
          </a:p>
        </p:txBody>
      </p:sp>
      <p:sp>
        <p:nvSpPr>
          <p:cNvPr id="133" name="Text 131"/>
          <p:cNvSpPr/>
          <p:nvPr/>
        </p:nvSpPr>
        <p:spPr>
          <a:xfrm>
            <a:off x="9701784" y="2404872"/>
            <a:ext cx="1773936" cy="137160"/>
          </a:xfrm>
          <a:prstGeom prst="rect">
            <a:avLst/>
          </a:prstGeom>
          <a:noFill/>
          <a:ln/>
        </p:spPr>
        <p:txBody>
          <a:bodyPr wrap="square" lIns="0" tIns="0" rIns="0" bIns="0" rtlCol="0" anchor="ctr"/>
          <a:lstStyle/>
          <a:p>
            <a:pPr indent="0" marL="0">
              <a:buNone/>
            </a:pPr>
            <a:r>
              <a:rPr lang="en-US" sz="700" dirty="0">
                <a:solidFill>
                  <a:srgbClr val="6B7280"/>
                </a:solidFill>
              </a:rPr>
              <a:t>Nov 30, 2026</a:t>
            </a:r>
            <a:endParaRPr lang="en-US" sz="700" dirty="0"/>
          </a:p>
        </p:txBody>
      </p:sp>
      <p:sp>
        <p:nvSpPr>
          <p:cNvPr id="134" name="Shape 132"/>
          <p:cNvSpPr/>
          <p:nvPr/>
        </p:nvSpPr>
        <p:spPr>
          <a:xfrm>
            <a:off x="11494008" y="2404872"/>
            <a:ext cx="658368" cy="137160"/>
          </a:xfrm>
          <a:prstGeom prst="roundRect">
            <a:avLst>
              <a:gd name="adj" fmla="val 20000"/>
            </a:avLst>
          </a:prstGeom>
          <a:solidFill>
            <a:srgbClr val="F3F4F6"/>
          </a:solidFill>
          <a:ln w="12700">
            <a:solidFill>
              <a:srgbClr val="F3F4F6"/>
            </a:solidFill>
            <a:prstDash val="solid"/>
          </a:ln>
        </p:spPr>
      </p:sp>
      <p:sp>
        <p:nvSpPr>
          <p:cNvPr id="135" name="Text 133"/>
          <p:cNvSpPr/>
          <p:nvPr/>
        </p:nvSpPr>
        <p:spPr>
          <a:xfrm>
            <a:off x="11494008" y="2404872"/>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36" name="Shape 134"/>
          <p:cNvSpPr/>
          <p:nvPr/>
        </p:nvSpPr>
        <p:spPr>
          <a:xfrm>
            <a:off x="9464040" y="2651760"/>
            <a:ext cx="2670048" cy="420624"/>
          </a:xfrm>
          <a:prstGeom prst="rect">
            <a:avLst/>
          </a:prstGeom>
          <a:solidFill>
            <a:srgbClr val="FFFFFF"/>
          </a:solidFill>
          <a:ln w="6350">
            <a:solidFill>
              <a:srgbClr val="E5E7EB"/>
            </a:solidFill>
            <a:prstDash val="solid"/>
          </a:ln>
        </p:spPr>
      </p:sp>
      <p:sp>
        <p:nvSpPr>
          <p:cNvPr id="137" name="Shape 135"/>
          <p:cNvSpPr/>
          <p:nvPr/>
        </p:nvSpPr>
        <p:spPr>
          <a:xfrm>
            <a:off x="9537192" y="2743200"/>
            <a:ext cx="109728" cy="109728"/>
          </a:xfrm>
          <a:prstGeom prst="ellipse">
            <a:avLst/>
          </a:prstGeom>
          <a:solidFill>
            <a:srgbClr val="9CA3AF"/>
          </a:solidFill>
          <a:ln w="12700">
            <a:solidFill>
              <a:srgbClr val="9CA3AF"/>
            </a:solidFill>
            <a:prstDash val="solid"/>
          </a:ln>
        </p:spPr>
      </p:sp>
      <p:sp>
        <p:nvSpPr>
          <p:cNvPr id="138" name="Text 136"/>
          <p:cNvSpPr/>
          <p:nvPr/>
        </p:nvSpPr>
        <p:spPr>
          <a:xfrm>
            <a:off x="9701784" y="2670048"/>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Release</a:t>
            </a:r>
            <a:endParaRPr lang="en-US" sz="800" dirty="0"/>
          </a:p>
        </p:txBody>
      </p:sp>
      <p:sp>
        <p:nvSpPr>
          <p:cNvPr id="139" name="Text 137"/>
          <p:cNvSpPr/>
          <p:nvPr/>
        </p:nvSpPr>
        <p:spPr>
          <a:xfrm>
            <a:off x="9701784" y="2880360"/>
            <a:ext cx="1773936" cy="137160"/>
          </a:xfrm>
          <a:prstGeom prst="rect">
            <a:avLst/>
          </a:prstGeom>
          <a:noFill/>
          <a:ln/>
        </p:spPr>
        <p:txBody>
          <a:bodyPr wrap="square" lIns="0" tIns="0" rIns="0" bIns="0" rtlCol="0" anchor="ctr"/>
          <a:lstStyle/>
          <a:p>
            <a:pPr indent="0" marL="0">
              <a:buNone/>
            </a:pPr>
            <a:r>
              <a:rPr lang="en-US" sz="700" dirty="0">
                <a:solidFill>
                  <a:srgbClr val="6B7280"/>
                </a:solidFill>
              </a:rPr>
              <a:t>Dec 2026</a:t>
            </a:r>
            <a:endParaRPr lang="en-US" sz="700" dirty="0"/>
          </a:p>
        </p:txBody>
      </p:sp>
      <p:sp>
        <p:nvSpPr>
          <p:cNvPr id="140" name="Shape 138"/>
          <p:cNvSpPr/>
          <p:nvPr/>
        </p:nvSpPr>
        <p:spPr>
          <a:xfrm>
            <a:off x="11494008" y="2880360"/>
            <a:ext cx="658368" cy="137160"/>
          </a:xfrm>
          <a:prstGeom prst="roundRect">
            <a:avLst>
              <a:gd name="adj" fmla="val 20000"/>
            </a:avLst>
          </a:prstGeom>
          <a:solidFill>
            <a:srgbClr val="F3F4F6"/>
          </a:solidFill>
          <a:ln w="12700">
            <a:solidFill>
              <a:srgbClr val="F3F4F6"/>
            </a:solidFill>
            <a:prstDash val="solid"/>
          </a:ln>
        </p:spPr>
      </p:sp>
      <p:sp>
        <p:nvSpPr>
          <p:cNvPr id="141" name="Text 139"/>
          <p:cNvSpPr/>
          <p:nvPr/>
        </p:nvSpPr>
        <p:spPr>
          <a:xfrm>
            <a:off x="11494008" y="2880360"/>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42" name="Shape 140"/>
          <p:cNvSpPr/>
          <p:nvPr/>
        </p:nvSpPr>
        <p:spPr>
          <a:xfrm>
            <a:off x="9482328" y="3200400"/>
            <a:ext cx="2633472" cy="0"/>
          </a:xfrm>
          <a:prstGeom prst="line">
            <a:avLst/>
          </a:prstGeom>
          <a:noFill/>
          <a:ln w="9525">
            <a:solidFill>
              <a:srgbClr val="DDE1E6"/>
            </a:solidFill>
            <a:prstDash val="solid"/>
          </a:ln>
        </p:spPr>
      </p:sp>
      <p:sp>
        <p:nvSpPr>
          <p:cNvPr id="143" name="Text 141"/>
          <p:cNvSpPr/>
          <p:nvPr/>
        </p:nvSpPr>
        <p:spPr>
          <a:xfrm>
            <a:off x="9500616" y="3337560"/>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Status Key</a:t>
            </a:r>
            <a:endParaRPr lang="en-US" sz="950" dirty="0"/>
          </a:p>
        </p:txBody>
      </p:sp>
      <p:sp>
        <p:nvSpPr>
          <p:cNvPr id="144" name="Shape 142"/>
          <p:cNvSpPr/>
          <p:nvPr/>
        </p:nvSpPr>
        <p:spPr>
          <a:xfrm>
            <a:off x="9500616" y="3584448"/>
            <a:ext cx="822960" cy="173736"/>
          </a:xfrm>
          <a:prstGeom prst="roundRect">
            <a:avLst>
              <a:gd name="adj" fmla="val 15789"/>
            </a:avLst>
          </a:prstGeom>
          <a:solidFill>
            <a:srgbClr val="F3F4F6"/>
          </a:solidFill>
          <a:ln w="9525">
            <a:solidFill>
              <a:srgbClr val="D1D5DB"/>
            </a:solidFill>
            <a:prstDash val="solid"/>
          </a:ln>
        </p:spPr>
      </p:sp>
      <p:sp>
        <p:nvSpPr>
          <p:cNvPr id="145" name="Text 143"/>
          <p:cNvSpPr/>
          <p:nvPr/>
        </p:nvSpPr>
        <p:spPr>
          <a:xfrm>
            <a:off x="9500616" y="3584448"/>
            <a:ext cx="822960" cy="173736"/>
          </a:xfrm>
          <a:prstGeom prst="rect">
            <a:avLst/>
          </a:prstGeom>
          <a:noFill/>
          <a:ln/>
        </p:spPr>
        <p:txBody>
          <a:bodyPr wrap="square" lIns="0" tIns="0" rIns="0" bIns="0" rtlCol="0" anchor="ctr"/>
          <a:lstStyle/>
          <a:p>
            <a:pPr algn="ctr" indent="0" marL="0">
              <a:buNone/>
            </a:pPr>
            <a:r>
              <a:rPr lang="en-US" sz="700" b="1" dirty="0">
                <a:solidFill>
                  <a:srgbClr val="374151"/>
                </a:solidFill>
              </a:rPr>
              <a:t>Not Started</a:t>
            </a:r>
            <a:endParaRPr lang="en-US" sz="700" dirty="0"/>
          </a:p>
        </p:txBody>
      </p:sp>
      <p:sp>
        <p:nvSpPr>
          <p:cNvPr id="146" name="Shape 144"/>
          <p:cNvSpPr/>
          <p:nvPr/>
        </p:nvSpPr>
        <p:spPr>
          <a:xfrm>
            <a:off x="9500616" y="3813048"/>
            <a:ext cx="822960" cy="173736"/>
          </a:xfrm>
          <a:prstGeom prst="roundRect">
            <a:avLst>
              <a:gd name="adj" fmla="val 15789"/>
            </a:avLst>
          </a:prstGeom>
          <a:solidFill>
            <a:srgbClr val="1558A8"/>
          </a:solidFill>
          <a:ln w="12700">
            <a:solidFill>
              <a:srgbClr val="1558A8"/>
            </a:solidFill>
            <a:prstDash val="solid"/>
          </a:ln>
        </p:spPr>
      </p:sp>
      <p:sp>
        <p:nvSpPr>
          <p:cNvPr id="147" name="Text 145"/>
          <p:cNvSpPr/>
          <p:nvPr/>
        </p:nvSpPr>
        <p:spPr>
          <a:xfrm>
            <a:off x="9500616" y="3813048"/>
            <a:ext cx="822960" cy="173736"/>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48" name="Shape 146"/>
          <p:cNvSpPr/>
          <p:nvPr/>
        </p:nvSpPr>
        <p:spPr>
          <a:xfrm>
            <a:off x="9500616" y="4041648"/>
            <a:ext cx="822960" cy="173736"/>
          </a:xfrm>
          <a:prstGeom prst="roundRect">
            <a:avLst>
              <a:gd name="adj" fmla="val 15789"/>
            </a:avLst>
          </a:prstGeom>
          <a:solidFill>
            <a:srgbClr val="FEE2E2"/>
          </a:solidFill>
          <a:ln w="19050">
            <a:solidFill>
              <a:srgbClr val="DC2626"/>
            </a:solidFill>
            <a:prstDash val="solid"/>
          </a:ln>
        </p:spPr>
      </p:sp>
      <p:sp>
        <p:nvSpPr>
          <p:cNvPr id="149" name="Text 147"/>
          <p:cNvSpPr/>
          <p:nvPr/>
        </p:nvSpPr>
        <p:spPr>
          <a:xfrm>
            <a:off x="9500616" y="4041648"/>
            <a:ext cx="822960" cy="173736"/>
          </a:xfrm>
          <a:prstGeom prst="rect">
            <a:avLst/>
          </a:prstGeom>
          <a:noFill/>
          <a:ln/>
        </p:spPr>
        <p:txBody>
          <a:bodyPr wrap="square" lIns="0" tIns="0" rIns="0" bIns="0" rtlCol="0" anchor="ctr"/>
          <a:lstStyle/>
          <a:p>
            <a:pPr algn="ctr" indent="0" marL="0">
              <a:buNone/>
            </a:pPr>
            <a:r>
              <a:rPr lang="en-US" sz="700" b="1" dirty="0">
                <a:solidFill>
                  <a:srgbClr val="7F1D1D"/>
                </a:solidFill>
              </a:rPr>
              <a:t>Blocked</a:t>
            </a:r>
            <a:endParaRPr lang="en-US" sz="700" dirty="0"/>
          </a:p>
        </p:txBody>
      </p:sp>
      <p:sp>
        <p:nvSpPr>
          <p:cNvPr id="150" name="Shape 148"/>
          <p:cNvSpPr/>
          <p:nvPr/>
        </p:nvSpPr>
        <p:spPr>
          <a:xfrm>
            <a:off x="9500616" y="4270248"/>
            <a:ext cx="822960" cy="173736"/>
          </a:xfrm>
          <a:prstGeom prst="roundRect">
            <a:avLst>
              <a:gd name="adj" fmla="val 15789"/>
            </a:avLst>
          </a:prstGeom>
          <a:solidFill>
            <a:srgbClr val="DCFCE7"/>
          </a:solidFill>
          <a:ln w="12700">
            <a:solidFill>
              <a:srgbClr val="15803D"/>
            </a:solidFill>
            <a:prstDash val="solid"/>
          </a:ln>
        </p:spPr>
      </p:sp>
      <p:sp>
        <p:nvSpPr>
          <p:cNvPr id="151" name="Text 149"/>
          <p:cNvSpPr/>
          <p:nvPr/>
        </p:nvSpPr>
        <p:spPr>
          <a:xfrm>
            <a:off x="9500616" y="4270248"/>
            <a:ext cx="822960" cy="173736"/>
          </a:xfrm>
          <a:prstGeom prst="rect">
            <a:avLst/>
          </a:prstGeom>
          <a:noFill/>
          <a:ln/>
        </p:spPr>
        <p:txBody>
          <a:bodyPr wrap="square" lIns="0" tIns="0" rIns="0" bIns="0" rtlCol="0" anchor="ctr"/>
          <a:lstStyle/>
          <a:p>
            <a:pPr algn="ctr" indent="0" marL="0">
              <a:buNone/>
            </a:pPr>
            <a:r>
              <a:rPr lang="en-US" sz="700" b="1" dirty="0">
                <a:solidFill>
                  <a:srgbClr val="14532D"/>
                </a:solidFill>
              </a:rPr>
              <a:t>Done</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344400" cy="457200"/>
          </a:xfrm>
          <a:prstGeom prst="rect">
            <a:avLst/>
          </a:prstGeom>
          <a:solidFill>
            <a:srgbClr val="8ED973"/>
          </a:solidFill>
          <a:ln w="12700">
            <a:solidFill>
              <a:srgbClr val="8ED973"/>
            </a:solidFill>
            <a:prstDash val="solid"/>
          </a:ln>
        </p:spPr>
      </p:sp>
      <p:sp>
        <p:nvSpPr>
          <p:cNvPr id="3" name="Text 1"/>
          <p:cNvSpPr/>
          <p:nvPr/>
        </p:nvSpPr>
        <p:spPr>
          <a:xfrm>
            <a:off x="201168" y="0"/>
            <a:ext cx="8229600" cy="457200"/>
          </a:xfrm>
          <a:prstGeom prst="rect">
            <a:avLst/>
          </a:prstGeom>
          <a:noFill/>
          <a:ln/>
        </p:spPr>
        <p:txBody>
          <a:bodyPr wrap="square" lIns="0" tIns="0" rIns="0" bIns="0" rtlCol="0" anchor="ctr"/>
          <a:lstStyle/>
          <a:p>
            <a:pPr algn="l" indent="0" marL="0">
              <a:buNone/>
            </a:pPr>
            <a:r>
              <a:rPr lang="en-US" sz="1600" b="1" dirty="0">
                <a:solidFill>
                  <a:srgbClr val="000000"/>
                </a:solidFill>
              </a:rPr>
              <a:t>Project SABR  ·  iOS</a:t>
            </a:r>
            <a:endParaRPr lang="en-US" sz="1600" dirty="0"/>
          </a:p>
        </p:txBody>
      </p:sp>
      <p:sp>
        <p:nvSpPr>
          <p:cNvPr id="4" name="Text 2"/>
          <p:cNvSpPr/>
          <p:nvPr/>
        </p:nvSpPr>
        <p:spPr>
          <a:xfrm>
            <a:off x="8686800" y="0"/>
            <a:ext cx="3337560" cy="457200"/>
          </a:xfrm>
          <a:prstGeom prst="rect">
            <a:avLst/>
          </a:prstGeom>
          <a:noFill/>
          <a:ln/>
        </p:spPr>
        <p:txBody>
          <a:bodyPr wrap="square" lIns="0" tIns="0" rIns="0" bIns="0" rtlCol="0" anchor="ctr"/>
          <a:lstStyle/>
          <a:p>
            <a:pPr algn="r" indent="0" marL="0">
              <a:buNone/>
            </a:pPr>
            <a:r>
              <a:rPr lang="en-US" sz="1100" dirty="0">
                <a:solidFill>
                  <a:srgbClr val="388849"/>
                </a:solidFill>
              </a:rPr>
              <a:t>iPhone · iPad  ·  Aug 6, 2026</a:t>
            </a:r>
            <a:endParaRPr lang="en-US" sz="1100" dirty="0"/>
          </a:p>
        </p:txBody>
      </p:sp>
      <p:sp>
        <p:nvSpPr>
          <p:cNvPr id="5" name="Shape 3"/>
          <p:cNvSpPr/>
          <p:nvPr/>
        </p:nvSpPr>
        <p:spPr>
          <a:xfrm>
            <a:off x="0" y="457200"/>
            <a:ext cx="12344400" cy="347472"/>
          </a:xfrm>
          <a:prstGeom prst="rect">
            <a:avLst/>
          </a:prstGeom>
          <a:solidFill>
            <a:srgbClr val="EFF7F3"/>
          </a:solidFill>
          <a:ln w="12700">
            <a:solidFill>
              <a:srgbClr val="CCE4D8"/>
            </a:solidFill>
            <a:prstDash val="solid"/>
          </a:ln>
        </p:spPr>
      </p:sp>
      <p:sp>
        <p:nvSpPr>
          <p:cNvPr id="6" name="Shape 4"/>
          <p:cNvSpPr/>
          <p:nvPr/>
        </p:nvSpPr>
        <p:spPr>
          <a:xfrm>
            <a:off x="256032" y="521208"/>
            <a:ext cx="1005840" cy="219456"/>
          </a:xfrm>
          <a:prstGeom prst="roundRect">
            <a:avLst>
              <a:gd name="adj" fmla="val 20833"/>
            </a:avLst>
          </a:prstGeom>
          <a:solidFill>
            <a:srgbClr val="DCFCE7"/>
          </a:solidFill>
          <a:ln w="9525">
            <a:solidFill>
              <a:srgbClr val="D1D5DB"/>
            </a:solidFill>
            <a:prstDash val="solid"/>
          </a:ln>
        </p:spPr>
      </p:sp>
      <p:sp>
        <p:nvSpPr>
          <p:cNvPr id="7" name="Text 5"/>
          <p:cNvSpPr/>
          <p:nvPr/>
        </p:nvSpPr>
        <p:spPr>
          <a:xfrm>
            <a:off x="256032" y="521208"/>
            <a:ext cx="1005840" cy="219456"/>
          </a:xfrm>
          <a:prstGeom prst="rect">
            <a:avLst/>
          </a:prstGeom>
          <a:noFill/>
          <a:ln/>
        </p:spPr>
        <p:txBody>
          <a:bodyPr wrap="square" lIns="0" tIns="0" rIns="0" bIns="0" rtlCol="0" anchor="ctr"/>
          <a:lstStyle/>
          <a:p>
            <a:pPr algn="ctr" indent="0" marL="0">
              <a:buNone/>
            </a:pPr>
            <a:r>
              <a:rPr lang="en-US" sz="900" b="1" dirty="0">
                <a:solidFill>
                  <a:srgbClr val="166534"/>
                </a:solidFill>
              </a:rPr>
              <a:t>3  Done</a:t>
            </a:r>
            <a:endParaRPr lang="en-US" sz="900" dirty="0"/>
          </a:p>
        </p:txBody>
      </p:sp>
      <p:sp>
        <p:nvSpPr>
          <p:cNvPr id="8" name="Shape 6"/>
          <p:cNvSpPr/>
          <p:nvPr/>
        </p:nvSpPr>
        <p:spPr>
          <a:xfrm>
            <a:off x="1389888" y="521208"/>
            <a:ext cx="1325880" cy="219456"/>
          </a:xfrm>
          <a:prstGeom prst="roundRect">
            <a:avLst>
              <a:gd name="adj" fmla="val 20833"/>
            </a:avLst>
          </a:prstGeom>
          <a:solidFill>
            <a:srgbClr val="DBEAFE"/>
          </a:solidFill>
          <a:ln w="9525">
            <a:solidFill>
              <a:srgbClr val="D1D5DB"/>
            </a:solidFill>
            <a:prstDash val="solid"/>
          </a:ln>
        </p:spPr>
      </p:sp>
      <p:sp>
        <p:nvSpPr>
          <p:cNvPr id="9" name="Text 7"/>
          <p:cNvSpPr/>
          <p:nvPr/>
        </p:nvSpPr>
        <p:spPr>
          <a:xfrm>
            <a:off x="1389888" y="521208"/>
            <a:ext cx="1325880" cy="219456"/>
          </a:xfrm>
          <a:prstGeom prst="rect">
            <a:avLst/>
          </a:prstGeom>
          <a:noFill/>
          <a:ln/>
        </p:spPr>
        <p:txBody>
          <a:bodyPr wrap="square" lIns="0" tIns="0" rIns="0" bIns="0" rtlCol="0" anchor="ctr"/>
          <a:lstStyle/>
          <a:p>
            <a:pPr algn="ctr" indent="0" marL="0">
              <a:buNone/>
            </a:pPr>
            <a:r>
              <a:rPr lang="en-US" sz="900" b="1" dirty="0">
                <a:solidFill>
                  <a:srgbClr val="1D4ED8"/>
                </a:solidFill>
              </a:rPr>
              <a:t>16  In Progress</a:t>
            </a:r>
            <a:endParaRPr lang="en-US" sz="900" dirty="0"/>
          </a:p>
        </p:txBody>
      </p:sp>
      <p:sp>
        <p:nvSpPr>
          <p:cNvPr id="10" name="Shape 8"/>
          <p:cNvSpPr/>
          <p:nvPr/>
        </p:nvSpPr>
        <p:spPr>
          <a:xfrm>
            <a:off x="2843784" y="521208"/>
            <a:ext cx="1325880" cy="219456"/>
          </a:xfrm>
          <a:prstGeom prst="roundRect">
            <a:avLst>
              <a:gd name="adj" fmla="val 20833"/>
            </a:avLst>
          </a:prstGeom>
          <a:solidFill>
            <a:srgbClr val="F3F4F6"/>
          </a:solidFill>
          <a:ln w="9525">
            <a:solidFill>
              <a:srgbClr val="D1D5DB"/>
            </a:solidFill>
            <a:prstDash val="solid"/>
          </a:ln>
        </p:spPr>
      </p:sp>
      <p:sp>
        <p:nvSpPr>
          <p:cNvPr id="11" name="Text 9"/>
          <p:cNvSpPr/>
          <p:nvPr/>
        </p:nvSpPr>
        <p:spPr>
          <a:xfrm>
            <a:off x="2843784" y="521208"/>
            <a:ext cx="1325880" cy="219456"/>
          </a:xfrm>
          <a:prstGeom prst="rect">
            <a:avLst/>
          </a:prstGeom>
          <a:noFill/>
          <a:ln/>
        </p:spPr>
        <p:txBody>
          <a:bodyPr wrap="square" lIns="0" tIns="0" rIns="0" bIns="0" rtlCol="0" anchor="ctr"/>
          <a:lstStyle/>
          <a:p>
            <a:pPr algn="ctr" indent="0" marL="0">
              <a:buNone/>
            </a:pPr>
            <a:r>
              <a:rPr lang="en-US" sz="900" b="1" dirty="0">
                <a:solidFill>
                  <a:srgbClr val="374151"/>
                </a:solidFill>
              </a:rPr>
              <a:t>2  Not Started</a:t>
            </a:r>
            <a:endParaRPr lang="en-US" sz="900" dirty="0"/>
          </a:p>
        </p:txBody>
      </p:sp>
      <p:sp>
        <p:nvSpPr>
          <p:cNvPr id="12" name="Shape 10"/>
          <p:cNvSpPr/>
          <p:nvPr/>
        </p:nvSpPr>
        <p:spPr>
          <a:xfrm>
            <a:off x="4297680" y="521208"/>
            <a:ext cx="1005840" cy="219456"/>
          </a:xfrm>
          <a:prstGeom prst="roundRect">
            <a:avLst>
              <a:gd name="adj" fmla="val 20833"/>
            </a:avLst>
          </a:prstGeom>
          <a:solidFill>
            <a:srgbClr val="FEE2E2"/>
          </a:solidFill>
          <a:ln w="9525">
            <a:solidFill>
              <a:srgbClr val="D1D5DB"/>
            </a:solidFill>
            <a:prstDash val="solid"/>
          </a:ln>
        </p:spPr>
      </p:sp>
      <p:sp>
        <p:nvSpPr>
          <p:cNvPr id="13" name="Text 11"/>
          <p:cNvSpPr/>
          <p:nvPr/>
        </p:nvSpPr>
        <p:spPr>
          <a:xfrm>
            <a:off x="4297680" y="521208"/>
            <a:ext cx="1005840" cy="219456"/>
          </a:xfrm>
          <a:prstGeom prst="rect">
            <a:avLst/>
          </a:prstGeom>
          <a:noFill/>
          <a:ln/>
        </p:spPr>
        <p:txBody>
          <a:bodyPr wrap="square" lIns="0" tIns="0" rIns="0" bIns="0" rtlCol="0" anchor="ctr"/>
          <a:lstStyle/>
          <a:p>
            <a:pPr algn="ctr" indent="0" marL="0">
              <a:buNone/>
            </a:pPr>
            <a:r>
              <a:rPr lang="en-US" sz="900" b="1" dirty="0">
                <a:solidFill>
                  <a:srgbClr val="7F1D1D"/>
                </a:solidFill>
              </a:rPr>
              <a:t>0  Blocked</a:t>
            </a:r>
            <a:endParaRPr lang="en-US" sz="900" dirty="0"/>
          </a:p>
        </p:txBody>
      </p:sp>
      <p:sp>
        <p:nvSpPr>
          <p:cNvPr id="14" name="Shape 12"/>
          <p:cNvSpPr/>
          <p:nvPr/>
        </p:nvSpPr>
        <p:spPr>
          <a:xfrm>
            <a:off x="5431536" y="521208"/>
            <a:ext cx="2377440" cy="219456"/>
          </a:xfrm>
          <a:prstGeom prst="roundRect">
            <a:avLst>
              <a:gd name="adj" fmla="val 20833"/>
            </a:avLst>
          </a:prstGeom>
          <a:solidFill>
            <a:srgbClr val="FFFFFF"/>
          </a:solidFill>
          <a:ln w="9525">
            <a:solidFill>
              <a:srgbClr val="D1D5DB"/>
            </a:solidFill>
            <a:prstDash val="solid"/>
          </a:ln>
        </p:spPr>
      </p:sp>
      <p:sp>
        <p:nvSpPr>
          <p:cNvPr id="15" name="Text 13"/>
          <p:cNvSpPr/>
          <p:nvPr/>
        </p:nvSpPr>
        <p:spPr>
          <a:xfrm>
            <a:off x="5431536" y="521208"/>
            <a:ext cx="2377440" cy="219456"/>
          </a:xfrm>
          <a:prstGeom prst="rect">
            <a:avLst/>
          </a:prstGeom>
          <a:noFill/>
          <a:ln/>
        </p:spPr>
        <p:txBody>
          <a:bodyPr wrap="square" lIns="0" tIns="0" rIns="0" bIns="0" rtlCol="0" anchor="ctr"/>
          <a:lstStyle/>
          <a:p>
            <a:pPr algn="ctr" indent="0" marL="0">
              <a:buNone/>
            </a:pPr>
            <a:r>
              <a:rPr lang="en-US" sz="900" b="1" dirty="0">
                <a:solidFill>
                  <a:srgbClr val="374151"/>
                </a:solidFill>
              </a:rPr>
              <a:t>Sep 30, 2026  ·  Beta</a:t>
            </a:r>
            <a:endParaRPr lang="en-US" sz="900" dirty="0"/>
          </a:p>
        </p:txBody>
      </p:sp>
      <p:sp>
        <p:nvSpPr>
          <p:cNvPr id="16" name="Shape 14"/>
          <p:cNvSpPr/>
          <p:nvPr/>
        </p:nvSpPr>
        <p:spPr>
          <a:xfrm>
            <a:off x="0" y="6876288"/>
            <a:ext cx="12344400" cy="438912"/>
          </a:xfrm>
          <a:prstGeom prst="rect">
            <a:avLst/>
          </a:prstGeom>
          <a:solidFill>
            <a:srgbClr val="F4F6F8"/>
          </a:solidFill>
          <a:ln w="12700">
            <a:solidFill>
              <a:srgbClr val="D1D5DB"/>
            </a:solidFill>
            <a:prstDash val="solid"/>
          </a:ln>
        </p:spPr>
      </p:sp>
      <p:sp>
        <p:nvSpPr>
          <p:cNvPr id="17" name="Text 15"/>
          <p:cNvSpPr/>
          <p:nvPr/>
        </p:nvSpPr>
        <p:spPr>
          <a:xfrm>
            <a:off x="201168" y="6876288"/>
            <a:ext cx="5029200" cy="438912"/>
          </a:xfrm>
          <a:prstGeom prst="rect">
            <a:avLst/>
          </a:prstGeom>
          <a:noFill/>
          <a:ln/>
        </p:spPr>
        <p:txBody>
          <a:bodyPr wrap="square" lIns="0" tIns="0" rIns="0" bIns="0" rtlCol="0" anchor="ctr"/>
          <a:lstStyle/>
          <a:p>
            <a:pPr algn="l" indent="0" marL="0">
              <a:buNone/>
            </a:pPr>
            <a:r>
              <a:rPr lang="en-US" sz="800" dirty="0">
                <a:solidFill>
                  <a:srgbClr val="9CA3AF"/>
                </a:solidFill>
              </a:rPr>
              <a:t>Project SABR  ·  Tennis Channel OTT  ·  CONFIDENTIAL</a:t>
            </a:r>
            <a:endParaRPr lang="en-US" sz="800" dirty="0"/>
          </a:p>
        </p:txBody>
      </p:sp>
      <p:sp>
        <p:nvSpPr>
          <p:cNvPr id="18" name="Text 16"/>
          <p:cNvSpPr/>
          <p:nvPr/>
        </p:nvSpPr>
        <p:spPr>
          <a:xfrm>
            <a:off x="5486400" y="6876288"/>
            <a:ext cx="4572000" cy="438912"/>
          </a:xfrm>
          <a:prstGeom prst="rect">
            <a:avLst/>
          </a:prstGeom>
          <a:noFill/>
          <a:ln/>
        </p:spPr>
        <p:txBody>
          <a:bodyPr wrap="square" lIns="0" tIns="0" rIns="0" bIns="0" rtlCol="0" anchor="ctr"/>
          <a:lstStyle/>
          <a:p>
            <a:pPr algn="ctr" indent="0" marL="0">
              <a:buNone/>
            </a:pPr>
            <a:r>
              <a:rPr lang="en-US" sz="800" dirty="0">
                <a:solidFill>
                  <a:srgbClr val="9CA3AF"/>
                </a:solidFill>
              </a:rPr>
              <a:t>Beta: Sep 30, 2026  ·  55 days remaining</a:t>
            </a:r>
            <a:endParaRPr lang="en-US" sz="800" dirty="0"/>
          </a:p>
        </p:txBody>
      </p:sp>
      <p:sp>
        <p:nvSpPr>
          <p:cNvPr id="19" name="Text 17"/>
          <p:cNvSpPr/>
          <p:nvPr/>
        </p:nvSpPr>
        <p:spPr>
          <a:xfrm>
            <a:off x="10515600" y="6876288"/>
            <a:ext cx="1508760" cy="438912"/>
          </a:xfrm>
          <a:prstGeom prst="rect">
            <a:avLst/>
          </a:prstGeom>
          <a:noFill/>
          <a:ln/>
        </p:spPr>
        <p:txBody>
          <a:bodyPr wrap="square" lIns="0" tIns="0" rIns="0" bIns="0" rtlCol="0" anchor="ctr"/>
          <a:lstStyle/>
          <a:p>
            <a:pPr algn="r" indent="0" marL="0">
              <a:buNone/>
            </a:pPr>
            <a:r>
              <a:rPr lang="en-US" sz="1100" b="1" dirty="0">
                <a:solidFill>
                  <a:srgbClr val="388849"/>
                </a:solidFill>
              </a:rPr>
              <a:t>14% Ready</a:t>
            </a:r>
            <a:endParaRPr lang="en-US" sz="1100" dirty="0"/>
          </a:p>
        </p:txBody>
      </p:sp>
      <p:sp>
        <p:nvSpPr>
          <p:cNvPr id="20" name="Shape 18"/>
          <p:cNvSpPr/>
          <p:nvPr/>
        </p:nvSpPr>
        <p:spPr>
          <a:xfrm>
            <a:off x="164592" y="804672"/>
            <a:ext cx="9116568" cy="1476756"/>
          </a:xfrm>
          <a:prstGeom prst="rect">
            <a:avLst/>
          </a:prstGeom>
          <a:solidFill>
            <a:srgbClr val="FAFBFC"/>
          </a:solidFill>
          <a:ln w="6350">
            <a:solidFill>
              <a:srgbClr val="E5E7EB"/>
            </a:solidFill>
            <a:prstDash val="solid"/>
          </a:ln>
        </p:spPr>
      </p:sp>
      <p:sp>
        <p:nvSpPr>
          <p:cNvPr id="21" name="Shape 19"/>
          <p:cNvSpPr/>
          <p:nvPr/>
        </p:nvSpPr>
        <p:spPr>
          <a:xfrm>
            <a:off x="182880" y="877824"/>
            <a:ext cx="859536" cy="1330452"/>
          </a:xfrm>
          <a:prstGeom prst="roundRect">
            <a:avLst>
              <a:gd name="adj" fmla="val 5319"/>
            </a:avLst>
          </a:prstGeom>
          <a:solidFill>
            <a:srgbClr val="9CA3AF"/>
          </a:solidFill>
          <a:ln w="12700">
            <a:solidFill>
              <a:srgbClr val="9CA3AF"/>
            </a:solidFill>
            <a:prstDash val="solid"/>
          </a:ln>
        </p:spPr>
      </p:sp>
      <p:sp>
        <p:nvSpPr>
          <p:cNvPr id="22" name="Text 20"/>
          <p:cNvSpPr/>
          <p:nvPr/>
        </p:nvSpPr>
        <p:spPr>
          <a:xfrm>
            <a:off x="182880" y="87782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Video</a:t>
            </a:r>
            <a:endParaRPr lang="en-US" sz="800" dirty="0"/>
          </a:p>
          <a:p>
            <a:pPr algn="ctr" indent="0" marL="0">
              <a:buNone/>
            </a:pPr>
            <a:r>
              <a:rPr lang="en-US" sz="800" b="1" dirty="0">
                <a:solidFill>
                  <a:srgbClr val="FFFFFF"/>
                </a:solidFill>
              </a:rPr>
              <a:t>Delivery</a:t>
            </a:r>
            <a:endParaRPr lang="en-US" sz="800" dirty="0"/>
          </a:p>
        </p:txBody>
      </p:sp>
      <p:sp>
        <p:nvSpPr>
          <p:cNvPr id="23" name="Text 21"/>
          <p:cNvSpPr/>
          <p:nvPr/>
        </p:nvSpPr>
        <p:spPr>
          <a:xfrm>
            <a:off x="1170432" y="85039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4 / 4 In Progress</a:t>
            </a:r>
            <a:endParaRPr lang="en-US" sz="750" dirty="0"/>
          </a:p>
        </p:txBody>
      </p:sp>
      <p:sp>
        <p:nvSpPr>
          <p:cNvPr id="24" name="Shape 22"/>
          <p:cNvSpPr/>
          <p:nvPr/>
        </p:nvSpPr>
        <p:spPr>
          <a:xfrm>
            <a:off x="1170432" y="1069848"/>
            <a:ext cx="932688" cy="182880"/>
          </a:xfrm>
          <a:prstGeom prst="roundRect">
            <a:avLst>
              <a:gd name="adj" fmla="val 15000"/>
            </a:avLst>
          </a:prstGeom>
          <a:solidFill>
            <a:srgbClr val="FFFFFF"/>
          </a:solidFill>
          <a:ln w="9525">
            <a:solidFill>
              <a:srgbClr val="CBD5E1"/>
            </a:solidFill>
            <a:prstDash val="solid"/>
          </a:ln>
        </p:spPr>
      </p:sp>
      <p:sp>
        <p:nvSpPr>
          <p:cNvPr id="25" name="Text 23"/>
          <p:cNvSpPr/>
          <p:nvPr/>
        </p:nvSpPr>
        <p:spPr>
          <a:xfrm>
            <a:off x="1170432"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a:t>
            </a:r>
            <a:endParaRPr lang="en-US" sz="750" dirty="0"/>
          </a:p>
        </p:txBody>
      </p:sp>
      <p:sp>
        <p:nvSpPr>
          <p:cNvPr id="26" name="Shape 24"/>
          <p:cNvSpPr/>
          <p:nvPr/>
        </p:nvSpPr>
        <p:spPr>
          <a:xfrm>
            <a:off x="1170432" y="1280160"/>
            <a:ext cx="932688" cy="155448"/>
          </a:xfrm>
          <a:prstGeom prst="roundRect">
            <a:avLst>
              <a:gd name="adj" fmla="val 17647"/>
            </a:avLst>
          </a:prstGeom>
          <a:solidFill>
            <a:srgbClr val="1558A8"/>
          </a:solidFill>
          <a:ln w="12700">
            <a:solidFill>
              <a:srgbClr val="1558A8"/>
            </a:solidFill>
            <a:prstDash val="solid"/>
          </a:ln>
        </p:spPr>
      </p:sp>
      <p:sp>
        <p:nvSpPr>
          <p:cNvPr id="27" name="Text 25"/>
          <p:cNvSpPr/>
          <p:nvPr/>
        </p:nvSpPr>
        <p:spPr>
          <a:xfrm>
            <a:off x="1170432"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28" name="Shape 26"/>
          <p:cNvSpPr/>
          <p:nvPr/>
        </p:nvSpPr>
        <p:spPr>
          <a:xfrm>
            <a:off x="2185416" y="1069848"/>
            <a:ext cx="932688" cy="182880"/>
          </a:xfrm>
          <a:prstGeom prst="roundRect">
            <a:avLst>
              <a:gd name="adj" fmla="val 15000"/>
            </a:avLst>
          </a:prstGeom>
          <a:solidFill>
            <a:srgbClr val="FFFFFF"/>
          </a:solidFill>
          <a:ln w="9525">
            <a:solidFill>
              <a:srgbClr val="CBD5E1"/>
            </a:solidFill>
            <a:prstDash val="solid"/>
          </a:ln>
        </p:spPr>
      </p:sp>
      <p:sp>
        <p:nvSpPr>
          <p:cNvPr id="29" name="Text 27"/>
          <p:cNvSpPr/>
          <p:nvPr/>
        </p:nvSpPr>
        <p:spPr>
          <a:xfrm>
            <a:off x="2185416"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FairPlay DRM</a:t>
            </a:r>
            <a:endParaRPr lang="en-US" sz="750" dirty="0"/>
          </a:p>
        </p:txBody>
      </p:sp>
      <p:sp>
        <p:nvSpPr>
          <p:cNvPr id="30" name="Shape 28"/>
          <p:cNvSpPr/>
          <p:nvPr/>
        </p:nvSpPr>
        <p:spPr>
          <a:xfrm>
            <a:off x="2185416" y="1280160"/>
            <a:ext cx="932688" cy="155448"/>
          </a:xfrm>
          <a:prstGeom prst="roundRect">
            <a:avLst>
              <a:gd name="adj" fmla="val 17647"/>
            </a:avLst>
          </a:prstGeom>
          <a:solidFill>
            <a:srgbClr val="1558A8"/>
          </a:solidFill>
          <a:ln w="12700">
            <a:solidFill>
              <a:srgbClr val="1558A8"/>
            </a:solidFill>
            <a:prstDash val="solid"/>
          </a:ln>
        </p:spPr>
      </p:sp>
      <p:sp>
        <p:nvSpPr>
          <p:cNvPr id="31" name="Text 29"/>
          <p:cNvSpPr/>
          <p:nvPr/>
        </p:nvSpPr>
        <p:spPr>
          <a:xfrm>
            <a:off x="2185416"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2" name="Shape 30"/>
          <p:cNvSpPr/>
          <p:nvPr/>
        </p:nvSpPr>
        <p:spPr>
          <a:xfrm>
            <a:off x="3200400" y="1069848"/>
            <a:ext cx="932688" cy="182880"/>
          </a:xfrm>
          <a:prstGeom prst="roundRect">
            <a:avLst>
              <a:gd name="adj" fmla="val 15000"/>
            </a:avLst>
          </a:prstGeom>
          <a:solidFill>
            <a:srgbClr val="FFFFFF"/>
          </a:solidFill>
          <a:ln w="9525">
            <a:solidFill>
              <a:srgbClr val="CBD5E1"/>
            </a:solidFill>
            <a:prstDash val="solid"/>
          </a:ln>
        </p:spPr>
      </p:sp>
      <p:sp>
        <p:nvSpPr>
          <p:cNvPr id="33" name="Text 31"/>
          <p:cNvSpPr/>
          <p:nvPr/>
        </p:nvSpPr>
        <p:spPr>
          <a:xfrm>
            <a:off x="3200400"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VOD Streams</a:t>
            </a:r>
            <a:endParaRPr lang="en-US" sz="750" dirty="0"/>
          </a:p>
        </p:txBody>
      </p:sp>
      <p:sp>
        <p:nvSpPr>
          <p:cNvPr id="34" name="Shape 32"/>
          <p:cNvSpPr/>
          <p:nvPr/>
        </p:nvSpPr>
        <p:spPr>
          <a:xfrm>
            <a:off x="3200400" y="1280160"/>
            <a:ext cx="932688" cy="155448"/>
          </a:xfrm>
          <a:prstGeom prst="roundRect">
            <a:avLst>
              <a:gd name="adj" fmla="val 17647"/>
            </a:avLst>
          </a:prstGeom>
          <a:solidFill>
            <a:srgbClr val="1558A8"/>
          </a:solidFill>
          <a:ln w="12700">
            <a:solidFill>
              <a:srgbClr val="1558A8"/>
            </a:solidFill>
            <a:prstDash val="solid"/>
          </a:ln>
        </p:spPr>
      </p:sp>
      <p:sp>
        <p:nvSpPr>
          <p:cNvPr id="35" name="Text 33"/>
          <p:cNvSpPr/>
          <p:nvPr/>
        </p:nvSpPr>
        <p:spPr>
          <a:xfrm>
            <a:off x="3200400"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6" name="Shape 34"/>
          <p:cNvSpPr/>
          <p:nvPr/>
        </p:nvSpPr>
        <p:spPr>
          <a:xfrm>
            <a:off x="4215384" y="1069848"/>
            <a:ext cx="932688" cy="182880"/>
          </a:xfrm>
          <a:prstGeom prst="roundRect">
            <a:avLst>
              <a:gd name="adj" fmla="val 15000"/>
            </a:avLst>
          </a:prstGeom>
          <a:solidFill>
            <a:srgbClr val="FFFFFF"/>
          </a:solidFill>
          <a:ln w="9525">
            <a:solidFill>
              <a:srgbClr val="CBD5E1"/>
            </a:solidFill>
            <a:prstDash val="solid"/>
          </a:ln>
        </p:spPr>
      </p:sp>
      <p:sp>
        <p:nvSpPr>
          <p:cNvPr id="37" name="Text 35"/>
          <p:cNvSpPr/>
          <p:nvPr/>
        </p:nvSpPr>
        <p:spPr>
          <a:xfrm>
            <a:off x="4215384"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38" name="Shape 36"/>
          <p:cNvSpPr/>
          <p:nvPr/>
        </p:nvSpPr>
        <p:spPr>
          <a:xfrm>
            <a:off x="4215384" y="1280160"/>
            <a:ext cx="932688" cy="155448"/>
          </a:xfrm>
          <a:prstGeom prst="roundRect">
            <a:avLst>
              <a:gd name="adj" fmla="val 17647"/>
            </a:avLst>
          </a:prstGeom>
          <a:solidFill>
            <a:srgbClr val="1558A8"/>
          </a:solidFill>
          <a:ln w="12700">
            <a:solidFill>
              <a:srgbClr val="1558A8"/>
            </a:solidFill>
            <a:prstDash val="solid"/>
          </a:ln>
        </p:spPr>
      </p:sp>
      <p:sp>
        <p:nvSpPr>
          <p:cNvPr id="39" name="Text 37"/>
          <p:cNvSpPr/>
          <p:nvPr/>
        </p:nvSpPr>
        <p:spPr>
          <a:xfrm>
            <a:off x="4215384"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0" name="Shape 38"/>
          <p:cNvSpPr/>
          <p:nvPr/>
        </p:nvSpPr>
        <p:spPr>
          <a:xfrm>
            <a:off x="164592" y="2336292"/>
            <a:ext cx="9116568" cy="1476756"/>
          </a:xfrm>
          <a:prstGeom prst="rect">
            <a:avLst/>
          </a:prstGeom>
          <a:solidFill>
            <a:srgbClr val="FFFFFF"/>
          </a:solidFill>
          <a:ln w="6350">
            <a:solidFill>
              <a:srgbClr val="E5E7EB"/>
            </a:solidFill>
            <a:prstDash val="solid"/>
          </a:ln>
        </p:spPr>
      </p:sp>
      <p:sp>
        <p:nvSpPr>
          <p:cNvPr id="41" name="Shape 39"/>
          <p:cNvSpPr/>
          <p:nvPr/>
        </p:nvSpPr>
        <p:spPr>
          <a:xfrm>
            <a:off x="182880" y="2409444"/>
            <a:ext cx="859536" cy="1330452"/>
          </a:xfrm>
          <a:prstGeom prst="roundRect">
            <a:avLst>
              <a:gd name="adj" fmla="val 5319"/>
            </a:avLst>
          </a:prstGeom>
          <a:solidFill>
            <a:srgbClr val="9CA3AF"/>
          </a:solidFill>
          <a:ln w="12700">
            <a:solidFill>
              <a:srgbClr val="9CA3AF"/>
            </a:solidFill>
            <a:prstDash val="solid"/>
          </a:ln>
        </p:spPr>
      </p:sp>
      <p:sp>
        <p:nvSpPr>
          <p:cNvPr id="42" name="Text 40"/>
          <p:cNvSpPr/>
          <p:nvPr/>
        </p:nvSpPr>
        <p:spPr>
          <a:xfrm>
            <a:off x="182880" y="240944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Player</a:t>
            </a:r>
            <a:endParaRPr lang="en-US" sz="800" dirty="0"/>
          </a:p>
        </p:txBody>
      </p:sp>
      <p:sp>
        <p:nvSpPr>
          <p:cNvPr id="43" name="Text 41"/>
          <p:cNvSpPr/>
          <p:nvPr/>
        </p:nvSpPr>
        <p:spPr>
          <a:xfrm>
            <a:off x="1170432" y="238201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2 / 2 In Progress</a:t>
            </a:r>
            <a:endParaRPr lang="en-US" sz="750" dirty="0"/>
          </a:p>
        </p:txBody>
      </p:sp>
      <p:sp>
        <p:nvSpPr>
          <p:cNvPr id="44" name="Shape 42"/>
          <p:cNvSpPr/>
          <p:nvPr/>
        </p:nvSpPr>
        <p:spPr>
          <a:xfrm>
            <a:off x="1170432" y="2601468"/>
            <a:ext cx="932688" cy="182880"/>
          </a:xfrm>
          <a:prstGeom prst="roundRect">
            <a:avLst>
              <a:gd name="adj" fmla="val 15000"/>
            </a:avLst>
          </a:prstGeom>
          <a:solidFill>
            <a:srgbClr val="FFFFFF"/>
          </a:solidFill>
          <a:ln w="9525">
            <a:solidFill>
              <a:srgbClr val="CBD5E1"/>
            </a:solidFill>
            <a:prstDash val="solid"/>
          </a:ln>
        </p:spPr>
      </p:sp>
      <p:sp>
        <p:nvSpPr>
          <p:cNvPr id="45" name="Text 43"/>
          <p:cNvSpPr/>
          <p:nvPr/>
        </p:nvSpPr>
        <p:spPr>
          <a:xfrm>
            <a:off x="1170432"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iOS Player</a:t>
            </a:r>
            <a:endParaRPr lang="en-US" sz="750" dirty="0"/>
          </a:p>
        </p:txBody>
      </p:sp>
      <p:sp>
        <p:nvSpPr>
          <p:cNvPr id="46" name="Shape 44"/>
          <p:cNvSpPr/>
          <p:nvPr/>
        </p:nvSpPr>
        <p:spPr>
          <a:xfrm>
            <a:off x="1170432" y="2811780"/>
            <a:ext cx="932688" cy="155448"/>
          </a:xfrm>
          <a:prstGeom prst="roundRect">
            <a:avLst>
              <a:gd name="adj" fmla="val 17647"/>
            </a:avLst>
          </a:prstGeom>
          <a:solidFill>
            <a:srgbClr val="1558A8"/>
          </a:solidFill>
          <a:ln w="12700">
            <a:solidFill>
              <a:srgbClr val="1558A8"/>
            </a:solidFill>
            <a:prstDash val="solid"/>
          </a:ln>
        </p:spPr>
      </p:sp>
      <p:sp>
        <p:nvSpPr>
          <p:cNvPr id="47" name="Text 45"/>
          <p:cNvSpPr/>
          <p:nvPr/>
        </p:nvSpPr>
        <p:spPr>
          <a:xfrm>
            <a:off x="1170432"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8" name="Shape 46"/>
          <p:cNvSpPr/>
          <p:nvPr/>
        </p:nvSpPr>
        <p:spPr>
          <a:xfrm>
            <a:off x="2185416" y="2601468"/>
            <a:ext cx="932688" cy="182880"/>
          </a:xfrm>
          <a:prstGeom prst="roundRect">
            <a:avLst>
              <a:gd name="adj" fmla="val 15000"/>
            </a:avLst>
          </a:prstGeom>
          <a:solidFill>
            <a:srgbClr val="FFFFFF"/>
          </a:solidFill>
          <a:ln w="9525">
            <a:solidFill>
              <a:srgbClr val="CBD5E1"/>
            </a:solidFill>
            <a:prstDash val="solid"/>
          </a:ln>
        </p:spPr>
      </p:sp>
      <p:sp>
        <p:nvSpPr>
          <p:cNvPr id="49" name="Text 47"/>
          <p:cNvSpPr/>
          <p:nvPr/>
        </p:nvSpPr>
        <p:spPr>
          <a:xfrm>
            <a:off x="2185416"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HLS/DASH PB</a:t>
            </a:r>
            <a:endParaRPr lang="en-US" sz="750" dirty="0"/>
          </a:p>
        </p:txBody>
      </p:sp>
      <p:sp>
        <p:nvSpPr>
          <p:cNvPr id="50" name="Shape 48"/>
          <p:cNvSpPr/>
          <p:nvPr/>
        </p:nvSpPr>
        <p:spPr>
          <a:xfrm>
            <a:off x="2185416" y="2811780"/>
            <a:ext cx="932688" cy="155448"/>
          </a:xfrm>
          <a:prstGeom prst="roundRect">
            <a:avLst>
              <a:gd name="adj" fmla="val 17647"/>
            </a:avLst>
          </a:prstGeom>
          <a:solidFill>
            <a:srgbClr val="1558A8"/>
          </a:solidFill>
          <a:ln w="12700">
            <a:solidFill>
              <a:srgbClr val="1558A8"/>
            </a:solidFill>
            <a:prstDash val="solid"/>
          </a:ln>
        </p:spPr>
      </p:sp>
      <p:sp>
        <p:nvSpPr>
          <p:cNvPr id="51" name="Text 49"/>
          <p:cNvSpPr/>
          <p:nvPr/>
        </p:nvSpPr>
        <p:spPr>
          <a:xfrm>
            <a:off x="2185416"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52" name="Shape 50"/>
          <p:cNvSpPr/>
          <p:nvPr/>
        </p:nvSpPr>
        <p:spPr>
          <a:xfrm>
            <a:off x="164592" y="3867912"/>
            <a:ext cx="9116568" cy="1476756"/>
          </a:xfrm>
          <a:prstGeom prst="rect">
            <a:avLst/>
          </a:prstGeom>
          <a:solidFill>
            <a:srgbClr val="FAFBFC"/>
          </a:solidFill>
          <a:ln w="6350">
            <a:solidFill>
              <a:srgbClr val="E5E7EB"/>
            </a:solidFill>
            <a:prstDash val="solid"/>
          </a:ln>
        </p:spPr>
      </p:sp>
      <p:sp>
        <p:nvSpPr>
          <p:cNvPr id="53" name="Shape 51"/>
          <p:cNvSpPr/>
          <p:nvPr/>
        </p:nvSpPr>
        <p:spPr>
          <a:xfrm>
            <a:off x="182880" y="3941064"/>
            <a:ext cx="859536" cy="1330452"/>
          </a:xfrm>
          <a:prstGeom prst="roundRect">
            <a:avLst>
              <a:gd name="adj" fmla="val 5319"/>
            </a:avLst>
          </a:prstGeom>
          <a:solidFill>
            <a:srgbClr val="9CA3AF"/>
          </a:solidFill>
          <a:ln w="12700">
            <a:solidFill>
              <a:srgbClr val="9CA3AF"/>
            </a:solidFill>
            <a:prstDash val="solid"/>
          </a:ln>
        </p:spPr>
      </p:sp>
      <p:sp>
        <p:nvSpPr>
          <p:cNvPr id="54" name="Text 52"/>
          <p:cNvSpPr/>
          <p:nvPr/>
        </p:nvSpPr>
        <p:spPr>
          <a:xfrm>
            <a:off x="182880" y="394106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Merchandising</a:t>
            </a:r>
            <a:endParaRPr lang="en-US" sz="800" dirty="0"/>
          </a:p>
        </p:txBody>
      </p:sp>
      <p:sp>
        <p:nvSpPr>
          <p:cNvPr id="55" name="Text 53"/>
          <p:cNvSpPr/>
          <p:nvPr/>
        </p:nvSpPr>
        <p:spPr>
          <a:xfrm>
            <a:off x="1170432" y="391363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9 In Progress · 2 Done</a:t>
            </a:r>
            <a:endParaRPr lang="en-US" sz="750" dirty="0"/>
          </a:p>
        </p:txBody>
      </p:sp>
      <p:sp>
        <p:nvSpPr>
          <p:cNvPr id="56" name="Shape 54"/>
          <p:cNvSpPr/>
          <p:nvPr/>
        </p:nvSpPr>
        <p:spPr>
          <a:xfrm>
            <a:off x="1170432" y="4133088"/>
            <a:ext cx="932688" cy="182880"/>
          </a:xfrm>
          <a:prstGeom prst="roundRect">
            <a:avLst>
              <a:gd name="adj" fmla="val 15000"/>
            </a:avLst>
          </a:prstGeom>
          <a:solidFill>
            <a:srgbClr val="FFFFFF"/>
          </a:solidFill>
          <a:ln w="9525">
            <a:solidFill>
              <a:srgbClr val="CBD5E1"/>
            </a:solidFill>
            <a:prstDash val="solid"/>
          </a:ln>
        </p:spPr>
      </p:sp>
      <p:sp>
        <p:nvSpPr>
          <p:cNvPr id="57" name="Text 55"/>
          <p:cNvSpPr/>
          <p:nvPr/>
        </p:nvSpPr>
        <p:spPr>
          <a:xfrm>
            <a:off x="117043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Metadata</a:t>
            </a:r>
            <a:endParaRPr lang="en-US" sz="750" dirty="0"/>
          </a:p>
        </p:txBody>
      </p:sp>
      <p:sp>
        <p:nvSpPr>
          <p:cNvPr id="58" name="Shape 56"/>
          <p:cNvSpPr/>
          <p:nvPr/>
        </p:nvSpPr>
        <p:spPr>
          <a:xfrm>
            <a:off x="1170432" y="4343400"/>
            <a:ext cx="932688" cy="155448"/>
          </a:xfrm>
          <a:prstGeom prst="roundRect">
            <a:avLst>
              <a:gd name="adj" fmla="val 17647"/>
            </a:avLst>
          </a:prstGeom>
          <a:solidFill>
            <a:srgbClr val="1558A8"/>
          </a:solidFill>
          <a:ln w="12700">
            <a:solidFill>
              <a:srgbClr val="1558A8"/>
            </a:solidFill>
            <a:prstDash val="solid"/>
          </a:ln>
        </p:spPr>
      </p:sp>
      <p:sp>
        <p:nvSpPr>
          <p:cNvPr id="59" name="Text 57"/>
          <p:cNvSpPr/>
          <p:nvPr/>
        </p:nvSpPr>
        <p:spPr>
          <a:xfrm>
            <a:off x="117043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0" name="Shape 58"/>
          <p:cNvSpPr/>
          <p:nvPr/>
        </p:nvSpPr>
        <p:spPr>
          <a:xfrm>
            <a:off x="2185416" y="4133088"/>
            <a:ext cx="932688" cy="182880"/>
          </a:xfrm>
          <a:prstGeom prst="roundRect">
            <a:avLst>
              <a:gd name="adj" fmla="val 15000"/>
            </a:avLst>
          </a:prstGeom>
          <a:solidFill>
            <a:srgbClr val="FFFFFF"/>
          </a:solidFill>
          <a:ln w="9525">
            <a:solidFill>
              <a:srgbClr val="CBD5E1"/>
            </a:solidFill>
            <a:prstDash val="solid"/>
          </a:ln>
        </p:spPr>
      </p:sp>
      <p:sp>
        <p:nvSpPr>
          <p:cNvPr id="61" name="Text 59"/>
          <p:cNvSpPr/>
          <p:nvPr/>
        </p:nvSpPr>
        <p:spPr>
          <a:xfrm>
            <a:off x="218541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Images</a:t>
            </a:r>
            <a:endParaRPr lang="en-US" sz="750" dirty="0"/>
          </a:p>
        </p:txBody>
      </p:sp>
      <p:sp>
        <p:nvSpPr>
          <p:cNvPr id="62" name="Shape 60"/>
          <p:cNvSpPr/>
          <p:nvPr/>
        </p:nvSpPr>
        <p:spPr>
          <a:xfrm>
            <a:off x="2185416" y="4343400"/>
            <a:ext cx="932688" cy="155448"/>
          </a:xfrm>
          <a:prstGeom prst="roundRect">
            <a:avLst>
              <a:gd name="adj" fmla="val 17647"/>
            </a:avLst>
          </a:prstGeom>
          <a:solidFill>
            <a:srgbClr val="1558A8"/>
          </a:solidFill>
          <a:ln w="12700">
            <a:solidFill>
              <a:srgbClr val="1558A8"/>
            </a:solidFill>
            <a:prstDash val="solid"/>
          </a:ln>
        </p:spPr>
      </p:sp>
      <p:sp>
        <p:nvSpPr>
          <p:cNvPr id="63" name="Text 61"/>
          <p:cNvSpPr/>
          <p:nvPr/>
        </p:nvSpPr>
        <p:spPr>
          <a:xfrm>
            <a:off x="2185416"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4" name="Shape 62"/>
          <p:cNvSpPr/>
          <p:nvPr/>
        </p:nvSpPr>
        <p:spPr>
          <a:xfrm>
            <a:off x="3200400" y="4133088"/>
            <a:ext cx="932688" cy="182880"/>
          </a:xfrm>
          <a:prstGeom prst="roundRect">
            <a:avLst>
              <a:gd name="adj" fmla="val 15000"/>
            </a:avLst>
          </a:prstGeom>
          <a:solidFill>
            <a:srgbClr val="FFFFFF"/>
          </a:solidFill>
          <a:ln w="9525">
            <a:solidFill>
              <a:srgbClr val="CBD5E1"/>
            </a:solidFill>
            <a:prstDash val="solid"/>
          </a:ln>
        </p:spPr>
      </p:sp>
      <p:sp>
        <p:nvSpPr>
          <p:cNvPr id="65" name="Text 63"/>
          <p:cNvSpPr/>
          <p:nvPr/>
        </p:nvSpPr>
        <p:spPr>
          <a:xfrm>
            <a:off x="320040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Carousels</a:t>
            </a:r>
            <a:endParaRPr lang="en-US" sz="750" dirty="0"/>
          </a:p>
        </p:txBody>
      </p:sp>
      <p:sp>
        <p:nvSpPr>
          <p:cNvPr id="66" name="Shape 64"/>
          <p:cNvSpPr/>
          <p:nvPr/>
        </p:nvSpPr>
        <p:spPr>
          <a:xfrm>
            <a:off x="3200400" y="4343400"/>
            <a:ext cx="932688" cy="155448"/>
          </a:xfrm>
          <a:prstGeom prst="roundRect">
            <a:avLst>
              <a:gd name="adj" fmla="val 17647"/>
            </a:avLst>
          </a:prstGeom>
          <a:solidFill>
            <a:srgbClr val="1558A8"/>
          </a:solidFill>
          <a:ln w="12700">
            <a:solidFill>
              <a:srgbClr val="1558A8"/>
            </a:solidFill>
            <a:prstDash val="solid"/>
          </a:ln>
        </p:spPr>
      </p:sp>
      <p:sp>
        <p:nvSpPr>
          <p:cNvPr id="67" name="Text 65"/>
          <p:cNvSpPr/>
          <p:nvPr/>
        </p:nvSpPr>
        <p:spPr>
          <a:xfrm>
            <a:off x="3200400"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8" name="Shape 66"/>
          <p:cNvSpPr/>
          <p:nvPr/>
        </p:nvSpPr>
        <p:spPr>
          <a:xfrm>
            <a:off x="4215384" y="4133088"/>
            <a:ext cx="932688" cy="182880"/>
          </a:xfrm>
          <a:prstGeom prst="roundRect">
            <a:avLst>
              <a:gd name="adj" fmla="val 15000"/>
            </a:avLst>
          </a:prstGeom>
          <a:solidFill>
            <a:srgbClr val="FFFFFF"/>
          </a:solidFill>
          <a:ln w="9525">
            <a:solidFill>
              <a:srgbClr val="CBD5E1"/>
            </a:solidFill>
            <a:prstDash val="solid"/>
          </a:ln>
        </p:spPr>
      </p:sp>
      <p:sp>
        <p:nvSpPr>
          <p:cNvPr id="69" name="Text 67"/>
          <p:cNvSpPr/>
          <p:nvPr/>
        </p:nvSpPr>
        <p:spPr>
          <a:xfrm>
            <a:off x="4215384"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Live Events</a:t>
            </a:r>
            <a:endParaRPr lang="en-US" sz="750" dirty="0"/>
          </a:p>
        </p:txBody>
      </p:sp>
      <p:sp>
        <p:nvSpPr>
          <p:cNvPr id="70" name="Shape 68"/>
          <p:cNvSpPr/>
          <p:nvPr/>
        </p:nvSpPr>
        <p:spPr>
          <a:xfrm>
            <a:off x="4215384" y="4343400"/>
            <a:ext cx="932688" cy="155448"/>
          </a:xfrm>
          <a:prstGeom prst="roundRect">
            <a:avLst>
              <a:gd name="adj" fmla="val 17647"/>
            </a:avLst>
          </a:prstGeom>
          <a:solidFill>
            <a:srgbClr val="1558A8"/>
          </a:solidFill>
          <a:ln w="12700">
            <a:solidFill>
              <a:srgbClr val="1558A8"/>
            </a:solidFill>
            <a:prstDash val="solid"/>
          </a:ln>
        </p:spPr>
      </p:sp>
      <p:sp>
        <p:nvSpPr>
          <p:cNvPr id="71" name="Text 69"/>
          <p:cNvSpPr/>
          <p:nvPr/>
        </p:nvSpPr>
        <p:spPr>
          <a:xfrm>
            <a:off x="4215384"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72" name="Shape 70"/>
          <p:cNvSpPr/>
          <p:nvPr/>
        </p:nvSpPr>
        <p:spPr>
          <a:xfrm>
            <a:off x="5230368" y="4133088"/>
            <a:ext cx="932688" cy="182880"/>
          </a:xfrm>
          <a:prstGeom prst="roundRect">
            <a:avLst>
              <a:gd name="adj" fmla="val 15000"/>
            </a:avLst>
          </a:prstGeom>
          <a:solidFill>
            <a:srgbClr val="FFFFFF"/>
          </a:solidFill>
          <a:ln w="9525">
            <a:solidFill>
              <a:srgbClr val="CBD5E1"/>
            </a:solidFill>
            <a:prstDash val="solid"/>
          </a:ln>
        </p:spPr>
      </p:sp>
      <p:sp>
        <p:nvSpPr>
          <p:cNvPr id="73" name="Text 71"/>
          <p:cNvSpPr/>
          <p:nvPr/>
        </p:nvSpPr>
        <p:spPr>
          <a:xfrm>
            <a:off x="5230368"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Back Catalog</a:t>
            </a:r>
            <a:endParaRPr lang="en-US" sz="750" dirty="0"/>
          </a:p>
        </p:txBody>
      </p:sp>
      <p:sp>
        <p:nvSpPr>
          <p:cNvPr id="74" name="Shape 72"/>
          <p:cNvSpPr/>
          <p:nvPr/>
        </p:nvSpPr>
        <p:spPr>
          <a:xfrm>
            <a:off x="5230368" y="4343400"/>
            <a:ext cx="932688" cy="155448"/>
          </a:xfrm>
          <a:prstGeom prst="roundRect">
            <a:avLst>
              <a:gd name="adj" fmla="val 17647"/>
            </a:avLst>
          </a:prstGeom>
          <a:solidFill>
            <a:srgbClr val="F3F4F6"/>
          </a:solidFill>
          <a:ln w="9525">
            <a:solidFill>
              <a:srgbClr val="D1D5DB"/>
            </a:solidFill>
            <a:prstDash val="solid"/>
          </a:ln>
        </p:spPr>
      </p:sp>
      <p:sp>
        <p:nvSpPr>
          <p:cNvPr id="75" name="Text 73"/>
          <p:cNvSpPr/>
          <p:nvPr/>
        </p:nvSpPr>
        <p:spPr>
          <a:xfrm>
            <a:off x="5230368" y="434340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76" name="Shape 74"/>
          <p:cNvSpPr/>
          <p:nvPr/>
        </p:nvSpPr>
        <p:spPr>
          <a:xfrm>
            <a:off x="6245352" y="4133088"/>
            <a:ext cx="932688" cy="182880"/>
          </a:xfrm>
          <a:prstGeom prst="roundRect">
            <a:avLst>
              <a:gd name="adj" fmla="val 15000"/>
            </a:avLst>
          </a:prstGeom>
          <a:solidFill>
            <a:srgbClr val="FFFFFF"/>
          </a:solidFill>
          <a:ln w="9525">
            <a:solidFill>
              <a:srgbClr val="CBD5E1"/>
            </a:solidFill>
            <a:prstDash val="solid"/>
          </a:ln>
        </p:spPr>
      </p:sp>
      <p:sp>
        <p:nvSpPr>
          <p:cNvPr id="77" name="Text 75"/>
          <p:cNvSpPr/>
          <p:nvPr/>
        </p:nvSpPr>
        <p:spPr>
          <a:xfrm>
            <a:off x="624535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Full Replays</a:t>
            </a:r>
            <a:endParaRPr lang="en-US" sz="750" dirty="0"/>
          </a:p>
        </p:txBody>
      </p:sp>
      <p:sp>
        <p:nvSpPr>
          <p:cNvPr id="78" name="Shape 76"/>
          <p:cNvSpPr/>
          <p:nvPr/>
        </p:nvSpPr>
        <p:spPr>
          <a:xfrm>
            <a:off x="6245352" y="4343400"/>
            <a:ext cx="932688" cy="155448"/>
          </a:xfrm>
          <a:prstGeom prst="roundRect">
            <a:avLst>
              <a:gd name="adj" fmla="val 17647"/>
            </a:avLst>
          </a:prstGeom>
          <a:solidFill>
            <a:srgbClr val="1558A8"/>
          </a:solidFill>
          <a:ln w="12700">
            <a:solidFill>
              <a:srgbClr val="1558A8"/>
            </a:solidFill>
            <a:prstDash val="solid"/>
          </a:ln>
        </p:spPr>
      </p:sp>
      <p:sp>
        <p:nvSpPr>
          <p:cNvPr id="79" name="Text 77"/>
          <p:cNvSpPr/>
          <p:nvPr/>
        </p:nvSpPr>
        <p:spPr>
          <a:xfrm>
            <a:off x="624535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0" name="Shape 78"/>
          <p:cNvSpPr/>
          <p:nvPr/>
        </p:nvSpPr>
        <p:spPr>
          <a:xfrm>
            <a:off x="7260336" y="4133088"/>
            <a:ext cx="932688" cy="182880"/>
          </a:xfrm>
          <a:prstGeom prst="roundRect">
            <a:avLst>
              <a:gd name="adj" fmla="val 15000"/>
            </a:avLst>
          </a:prstGeom>
          <a:solidFill>
            <a:srgbClr val="FFFFFF"/>
          </a:solidFill>
          <a:ln w="9525">
            <a:solidFill>
              <a:srgbClr val="CBD5E1"/>
            </a:solidFill>
            <a:prstDash val="solid"/>
          </a:ln>
        </p:spPr>
      </p:sp>
      <p:sp>
        <p:nvSpPr>
          <p:cNvPr id="81" name="Text 79"/>
          <p:cNvSpPr/>
          <p:nvPr/>
        </p:nvSpPr>
        <p:spPr>
          <a:xfrm>
            <a:off x="726033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M15</a:t>
            </a:r>
            <a:endParaRPr lang="en-US" sz="750" dirty="0"/>
          </a:p>
        </p:txBody>
      </p:sp>
      <p:sp>
        <p:nvSpPr>
          <p:cNvPr id="82" name="Shape 80"/>
          <p:cNvSpPr/>
          <p:nvPr/>
        </p:nvSpPr>
        <p:spPr>
          <a:xfrm>
            <a:off x="7260336" y="4343400"/>
            <a:ext cx="932688" cy="155448"/>
          </a:xfrm>
          <a:prstGeom prst="roundRect">
            <a:avLst>
              <a:gd name="adj" fmla="val 17647"/>
            </a:avLst>
          </a:prstGeom>
          <a:solidFill>
            <a:srgbClr val="DCFCE7"/>
          </a:solidFill>
          <a:ln w="12700">
            <a:solidFill>
              <a:srgbClr val="15803D"/>
            </a:solidFill>
            <a:prstDash val="solid"/>
          </a:ln>
        </p:spPr>
      </p:sp>
      <p:sp>
        <p:nvSpPr>
          <p:cNvPr id="83" name="Text 81"/>
          <p:cNvSpPr/>
          <p:nvPr/>
        </p:nvSpPr>
        <p:spPr>
          <a:xfrm>
            <a:off x="7260336"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84" name="Shape 82"/>
          <p:cNvSpPr/>
          <p:nvPr/>
        </p:nvSpPr>
        <p:spPr>
          <a:xfrm>
            <a:off x="8275320" y="4133088"/>
            <a:ext cx="932688" cy="182880"/>
          </a:xfrm>
          <a:prstGeom prst="roundRect">
            <a:avLst>
              <a:gd name="adj" fmla="val 15000"/>
            </a:avLst>
          </a:prstGeom>
          <a:solidFill>
            <a:srgbClr val="FFFFFF"/>
          </a:solidFill>
          <a:ln w="9525">
            <a:solidFill>
              <a:srgbClr val="CBD5E1"/>
            </a:solidFill>
            <a:prstDash val="solid"/>
          </a:ln>
        </p:spPr>
      </p:sp>
      <p:sp>
        <p:nvSpPr>
          <p:cNvPr id="85" name="Text 83"/>
          <p:cNvSpPr/>
          <p:nvPr/>
        </p:nvSpPr>
        <p:spPr>
          <a:xfrm>
            <a:off x="827532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Highlights</a:t>
            </a:r>
            <a:endParaRPr lang="en-US" sz="750" dirty="0"/>
          </a:p>
        </p:txBody>
      </p:sp>
      <p:sp>
        <p:nvSpPr>
          <p:cNvPr id="86" name="Shape 84"/>
          <p:cNvSpPr/>
          <p:nvPr/>
        </p:nvSpPr>
        <p:spPr>
          <a:xfrm>
            <a:off x="8275320" y="4343400"/>
            <a:ext cx="932688" cy="155448"/>
          </a:xfrm>
          <a:prstGeom prst="roundRect">
            <a:avLst>
              <a:gd name="adj" fmla="val 17647"/>
            </a:avLst>
          </a:prstGeom>
          <a:solidFill>
            <a:srgbClr val="DCFCE7"/>
          </a:solidFill>
          <a:ln w="12700">
            <a:solidFill>
              <a:srgbClr val="15803D"/>
            </a:solidFill>
            <a:prstDash val="solid"/>
          </a:ln>
        </p:spPr>
      </p:sp>
      <p:sp>
        <p:nvSpPr>
          <p:cNvPr id="87" name="Text 85"/>
          <p:cNvSpPr/>
          <p:nvPr/>
        </p:nvSpPr>
        <p:spPr>
          <a:xfrm>
            <a:off x="8275320"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88" name="Shape 86"/>
          <p:cNvSpPr/>
          <p:nvPr/>
        </p:nvSpPr>
        <p:spPr>
          <a:xfrm>
            <a:off x="1170432" y="4590288"/>
            <a:ext cx="932688" cy="182880"/>
          </a:xfrm>
          <a:prstGeom prst="roundRect">
            <a:avLst>
              <a:gd name="adj" fmla="val 15000"/>
            </a:avLst>
          </a:prstGeom>
          <a:solidFill>
            <a:srgbClr val="FFFFFF"/>
          </a:solidFill>
          <a:ln w="9525">
            <a:solidFill>
              <a:srgbClr val="CBD5E1"/>
            </a:solidFill>
            <a:prstDash val="solid"/>
          </a:ln>
        </p:spPr>
      </p:sp>
      <p:sp>
        <p:nvSpPr>
          <p:cNvPr id="89" name="Text 87"/>
          <p:cNvSpPr/>
          <p:nvPr/>
        </p:nvSpPr>
        <p:spPr>
          <a:xfrm>
            <a:off x="1170432" y="45902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90" name="Shape 88"/>
          <p:cNvSpPr/>
          <p:nvPr/>
        </p:nvSpPr>
        <p:spPr>
          <a:xfrm>
            <a:off x="1170432" y="4800600"/>
            <a:ext cx="932688" cy="155448"/>
          </a:xfrm>
          <a:prstGeom prst="roundRect">
            <a:avLst>
              <a:gd name="adj" fmla="val 17647"/>
            </a:avLst>
          </a:prstGeom>
          <a:solidFill>
            <a:srgbClr val="1558A8"/>
          </a:solidFill>
          <a:ln w="12700">
            <a:solidFill>
              <a:srgbClr val="1558A8"/>
            </a:solidFill>
            <a:prstDash val="solid"/>
          </a:ln>
        </p:spPr>
      </p:sp>
      <p:sp>
        <p:nvSpPr>
          <p:cNvPr id="91" name="Text 89"/>
          <p:cNvSpPr/>
          <p:nvPr/>
        </p:nvSpPr>
        <p:spPr>
          <a:xfrm>
            <a:off x="1170432" y="48006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92" name="Shape 90"/>
          <p:cNvSpPr/>
          <p:nvPr/>
        </p:nvSpPr>
        <p:spPr>
          <a:xfrm>
            <a:off x="164592" y="5399532"/>
            <a:ext cx="9116568" cy="1476756"/>
          </a:xfrm>
          <a:prstGeom prst="rect">
            <a:avLst/>
          </a:prstGeom>
          <a:solidFill>
            <a:srgbClr val="FFFFFF"/>
          </a:solidFill>
          <a:ln w="6350">
            <a:solidFill>
              <a:srgbClr val="E5E7EB"/>
            </a:solidFill>
            <a:prstDash val="solid"/>
          </a:ln>
        </p:spPr>
      </p:sp>
      <p:sp>
        <p:nvSpPr>
          <p:cNvPr id="93" name="Shape 91"/>
          <p:cNvSpPr/>
          <p:nvPr/>
        </p:nvSpPr>
        <p:spPr>
          <a:xfrm>
            <a:off x="182880" y="5472684"/>
            <a:ext cx="859536" cy="1330452"/>
          </a:xfrm>
          <a:prstGeom prst="roundRect">
            <a:avLst>
              <a:gd name="adj" fmla="val 5319"/>
            </a:avLst>
          </a:prstGeom>
          <a:solidFill>
            <a:srgbClr val="9CA3AF"/>
          </a:solidFill>
          <a:ln w="12700">
            <a:solidFill>
              <a:srgbClr val="9CA3AF"/>
            </a:solidFill>
            <a:prstDash val="solid"/>
          </a:ln>
        </p:spPr>
      </p:sp>
      <p:sp>
        <p:nvSpPr>
          <p:cNvPr id="94" name="Text 92"/>
          <p:cNvSpPr/>
          <p:nvPr/>
        </p:nvSpPr>
        <p:spPr>
          <a:xfrm>
            <a:off x="182880" y="547268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Onboarding</a:t>
            </a:r>
            <a:endParaRPr lang="en-US" sz="800" dirty="0"/>
          </a:p>
        </p:txBody>
      </p:sp>
      <p:sp>
        <p:nvSpPr>
          <p:cNvPr id="95" name="Text 93"/>
          <p:cNvSpPr/>
          <p:nvPr/>
        </p:nvSpPr>
        <p:spPr>
          <a:xfrm>
            <a:off x="1170432" y="544525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4 / 6 In Progress · 1 Done</a:t>
            </a:r>
            <a:endParaRPr lang="en-US" sz="750" dirty="0"/>
          </a:p>
        </p:txBody>
      </p:sp>
      <p:sp>
        <p:nvSpPr>
          <p:cNvPr id="96" name="Shape 94"/>
          <p:cNvSpPr/>
          <p:nvPr/>
        </p:nvSpPr>
        <p:spPr>
          <a:xfrm>
            <a:off x="1170432" y="5664708"/>
            <a:ext cx="932688" cy="182880"/>
          </a:xfrm>
          <a:prstGeom prst="roundRect">
            <a:avLst>
              <a:gd name="adj" fmla="val 15000"/>
            </a:avLst>
          </a:prstGeom>
          <a:solidFill>
            <a:srgbClr val="FFFFFF"/>
          </a:solidFill>
          <a:ln w="9525">
            <a:solidFill>
              <a:srgbClr val="CBD5E1"/>
            </a:solidFill>
            <a:prstDash val="solid"/>
          </a:ln>
        </p:spPr>
      </p:sp>
      <p:sp>
        <p:nvSpPr>
          <p:cNvPr id="97" name="Text 95"/>
          <p:cNvSpPr/>
          <p:nvPr/>
        </p:nvSpPr>
        <p:spPr>
          <a:xfrm>
            <a:off x="117043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Unentitled</a:t>
            </a:r>
            <a:endParaRPr lang="en-US" sz="750" dirty="0"/>
          </a:p>
        </p:txBody>
      </p:sp>
      <p:sp>
        <p:nvSpPr>
          <p:cNvPr id="98" name="Shape 96"/>
          <p:cNvSpPr/>
          <p:nvPr/>
        </p:nvSpPr>
        <p:spPr>
          <a:xfrm>
            <a:off x="1170432" y="5875020"/>
            <a:ext cx="932688" cy="155448"/>
          </a:xfrm>
          <a:prstGeom prst="roundRect">
            <a:avLst>
              <a:gd name="adj" fmla="val 17647"/>
            </a:avLst>
          </a:prstGeom>
          <a:solidFill>
            <a:srgbClr val="1558A8"/>
          </a:solidFill>
          <a:ln w="12700">
            <a:solidFill>
              <a:srgbClr val="1558A8"/>
            </a:solidFill>
            <a:prstDash val="solid"/>
          </a:ln>
        </p:spPr>
      </p:sp>
      <p:sp>
        <p:nvSpPr>
          <p:cNvPr id="99" name="Text 97"/>
          <p:cNvSpPr/>
          <p:nvPr/>
        </p:nvSpPr>
        <p:spPr>
          <a:xfrm>
            <a:off x="1170432"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0" name="Shape 98"/>
          <p:cNvSpPr/>
          <p:nvPr/>
        </p:nvSpPr>
        <p:spPr>
          <a:xfrm>
            <a:off x="2185416" y="5664708"/>
            <a:ext cx="932688" cy="182880"/>
          </a:xfrm>
          <a:prstGeom prst="roundRect">
            <a:avLst>
              <a:gd name="adj" fmla="val 15000"/>
            </a:avLst>
          </a:prstGeom>
          <a:solidFill>
            <a:srgbClr val="FFFFFF"/>
          </a:solidFill>
          <a:ln w="9525">
            <a:solidFill>
              <a:srgbClr val="CBD5E1"/>
            </a:solidFill>
            <a:prstDash val="solid"/>
          </a:ln>
        </p:spPr>
      </p:sp>
      <p:sp>
        <p:nvSpPr>
          <p:cNvPr id="101" name="Text 99"/>
          <p:cNvSpPr/>
          <p:nvPr/>
        </p:nvSpPr>
        <p:spPr>
          <a:xfrm>
            <a:off x="2185416"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Sign-in</a:t>
            </a:r>
            <a:endParaRPr lang="en-US" sz="750" dirty="0"/>
          </a:p>
        </p:txBody>
      </p:sp>
      <p:sp>
        <p:nvSpPr>
          <p:cNvPr id="102" name="Shape 100"/>
          <p:cNvSpPr/>
          <p:nvPr/>
        </p:nvSpPr>
        <p:spPr>
          <a:xfrm>
            <a:off x="2185416" y="5875020"/>
            <a:ext cx="932688" cy="155448"/>
          </a:xfrm>
          <a:prstGeom prst="roundRect">
            <a:avLst>
              <a:gd name="adj" fmla="val 17647"/>
            </a:avLst>
          </a:prstGeom>
          <a:solidFill>
            <a:srgbClr val="1558A8"/>
          </a:solidFill>
          <a:ln w="12700">
            <a:solidFill>
              <a:srgbClr val="1558A8"/>
            </a:solidFill>
            <a:prstDash val="solid"/>
          </a:ln>
        </p:spPr>
      </p:sp>
      <p:sp>
        <p:nvSpPr>
          <p:cNvPr id="103" name="Text 101"/>
          <p:cNvSpPr/>
          <p:nvPr/>
        </p:nvSpPr>
        <p:spPr>
          <a:xfrm>
            <a:off x="2185416"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4" name="Shape 102"/>
          <p:cNvSpPr/>
          <p:nvPr/>
        </p:nvSpPr>
        <p:spPr>
          <a:xfrm>
            <a:off x="3200400" y="5664708"/>
            <a:ext cx="932688" cy="182880"/>
          </a:xfrm>
          <a:prstGeom prst="roundRect">
            <a:avLst>
              <a:gd name="adj" fmla="val 15000"/>
            </a:avLst>
          </a:prstGeom>
          <a:solidFill>
            <a:srgbClr val="FFFFFF"/>
          </a:solidFill>
          <a:ln w="9525">
            <a:solidFill>
              <a:srgbClr val="CBD5E1"/>
            </a:solidFill>
            <a:prstDash val="solid"/>
          </a:ln>
        </p:spPr>
      </p:sp>
      <p:sp>
        <p:nvSpPr>
          <p:cNvPr id="105" name="Text 103"/>
          <p:cNvSpPr/>
          <p:nvPr/>
        </p:nvSpPr>
        <p:spPr>
          <a:xfrm>
            <a:off x="3200400"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Subscription</a:t>
            </a:r>
            <a:endParaRPr lang="en-US" sz="750" dirty="0"/>
          </a:p>
        </p:txBody>
      </p:sp>
      <p:sp>
        <p:nvSpPr>
          <p:cNvPr id="106" name="Shape 104"/>
          <p:cNvSpPr/>
          <p:nvPr/>
        </p:nvSpPr>
        <p:spPr>
          <a:xfrm>
            <a:off x="3200400" y="5875020"/>
            <a:ext cx="932688" cy="155448"/>
          </a:xfrm>
          <a:prstGeom prst="roundRect">
            <a:avLst>
              <a:gd name="adj" fmla="val 17647"/>
            </a:avLst>
          </a:prstGeom>
          <a:solidFill>
            <a:srgbClr val="1558A8"/>
          </a:solidFill>
          <a:ln w="12700">
            <a:solidFill>
              <a:srgbClr val="1558A8"/>
            </a:solidFill>
            <a:prstDash val="solid"/>
          </a:ln>
        </p:spPr>
      </p:sp>
      <p:sp>
        <p:nvSpPr>
          <p:cNvPr id="107" name="Text 105"/>
          <p:cNvSpPr/>
          <p:nvPr/>
        </p:nvSpPr>
        <p:spPr>
          <a:xfrm>
            <a:off x="3200400"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8" name="Shape 106"/>
          <p:cNvSpPr/>
          <p:nvPr/>
        </p:nvSpPr>
        <p:spPr>
          <a:xfrm>
            <a:off x="4215384" y="5664708"/>
            <a:ext cx="932688" cy="182880"/>
          </a:xfrm>
          <a:prstGeom prst="roundRect">
            <a:avLst>
              <a:gd name="adj" fmla="val 15000"/>
            </a:avLst>
          </a:prstGeom>
          <a:solidFill>
            <a:srgbClr val="FFFFFF"/>
          </a:solidFill>
          <a:ln w="9525">
            <a:solidFill>
              <a:srgbClr val="CBD5E1"/>
            </a:solidFill>
            <a:prstDash val="solid"/>
          </a:ln>
        </p:spPr>
      </p:sp>
      <p:sp>
        <p:nvSpPr>
          <p:cNvPr id="109" name="Text 107"/>
          <p:cNvSpPr/>
          <p:nvPr/>
        </p:nvSpPr>
        <p:spPr>
          <a:xfrm>
            <a:off x="4215384"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MVPD</a:t>
            </a:r>
            <a:endParaRPr lang="en-US" sz="750" dirty="0"/>
          </a:p>
        </p:txBody>
      </p:sp>
      <p:sp>
        <p:nvSpPr>
          <p:cNvPr id="110" name="Shape 108"/>
          <p:cNvSpPr/>
          <p:nvPr/>
        </p:nvSpPr>
        <p:spPr>
          <a:xfrm>
            <a:off x="4215384" y="5875020"/>
            <a:ext cx="932688" cy="155448"/>
          </a:xfrm>
          <a:prstGeom prst="roundRect">
            <a:avLst>
              <a:gd name="adj" fmla="val 17647"/>
            </a:avLst>
          </a:prstGeom>
          <a:solidFill>
            <a:srgbClr val="DCFCE7"/>
          </a:solidFill>
          <a:ln w="12700">
            <a:solidFill>
              <a:srgbClr val="15803D"/>
            </a:solidFill>
            <a:prstDash val="solid"/>
          </a:ln>
        </p:spPr>
      </p:sp>
      <p:sp>
        <p:nvSpPr>
          <p:cNvPr id="111" name="Text 109"/>
          <p:cNvSpPr/>
          <p:nvPr/>
        </p:nvSpPr>
        <p:spPr>
          <a:xfrm>
            <a:off x="4215384" y="587502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12" name="Shape 110"/>
          <p:cNvSpPr/>
          <p:nvPr/>
        </p:nvSpPr>
        <p:spPr>
          <a:xfrm>
            <a:off x="5230368" y="5664708"/>
            <a:ext cx="932688" cy="182880"/>
          </a:xfrm>
          <a:prstGeom prst="roundRect">
            <a:avLst>
              <a:gd name="adj" fmla="val 15000"/>
            </a:avLst>
          </a:prstGeom>
          <a:solidFill>
            <a:srgbClr val="FFFFFF"/>
          </a:solidFill>
          <a:ln w="9525">
            <a:solidFill>
              <a:srgbClr val="CBD5E1"/>
            </a:solidFill>
            <a:prstDash val="solid"/>
          </a:ln>
        </p:spPr>
      </p:sp>
      <p:sp>
        <p:nvSpPr>
          <p:cNvPr id="113" name="Text 111"/>
          <p:cNvSpPr/>
          <p:nvPr/>
        </p:nvSpPr>
        <p:spPr>
          <a:xfrm>
            <a:off x="5230368"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Cleeng</a:t>
            </a:r>
            <a:endParaRPr lang="en-US" sz="750" dirty="0"/>
          </a:p>
        </p:txBody>
      </p:sp>
      <p:sp>
        <p:nvSpPr>
          <p:cNvPr id="114" name="Shape 112"/>
          <p:cNvSpPr/>
          <p:nvPr/>
        </p:nvSpPr>
        <p:spPr>
          <a:xfrm>
            <a:off x="5230368" y="5875020"/>
            <a:ext cx="932688" cy="155448"/>
          </a:xfrm>
          <a:prstGeom prst="roundRect">
            <a:avLst>
              <a:gd name="adj" fmla="val 17647"/>
            </a:avLst>
          </a:prstGeom>
          <a:solidFill>
            <a:srgbClr val="1558A8"/>
          </a:solidFill>
          <a:ln w="12700">
            <a:solidFill>
              <a:srgbClr val="1558A8"/>
            </a:solidFill>
            <a:prstDash val="solid"/>
          </a:ln>
        </p:spPr>
      </p:sp>
      <p:sp>
        <p:nvSpPr>
          <p:cNvPr id="115" name="Text 113"/>
          <p:cNvSpPr/>
          <p:nvPr/>
        </p:nvSpPr>
        <p:spPr>
          <a:xfrm>
            <a:off x="5230368"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16" name="Shape 114"/>
          <p:cNvSpPr/>
          <p:nvPr/>
        </p:nvSpPr>
        <p:spPr>
          <a:xfrm>
            <a:off x="6245352" y="5664708"/>
            <a:ext cx="932688" cy="182880"/>
          </a:xfrm>
          <a:prstGeom prst="roundRect">
            <a:avLst>
              <a:gd name="adj" fmla="val 15000"/>
            </a:avLst>
          </a:prstGeom>
          <a:solidFill>
            <a:srgbClr val="FFFFFF"/>
          </a:solidFill>
          <a:ln w="9525">
            <a:solidFill>
              <a:srgbClr val="CBD5E1"/>
            </a:solidFill>
            <a:prstDash val="solid"/>
          </a:ln>
        </p:spPr>
      </p:sp>
      <p:sp>
        <p:nvSpPr>
          <p:cNvPr id="117" name="Text 115"/>
          <p:cNvSpPr/>
          <p:nvPr/>
        </p:nvSpPr>
        <p:spPr>
          <a:xfrm>
            <a:off x="624535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Promos</a:t>
            </a:r>
            <a:endParaRPr lang="en-US" sz="750" dirty="0"/>
          </a:p>
        </p:txBody>
      </p:sp>
      <p:sp>
        <p:nvSpPr>
          <p:cNvPr id="118" name="Shape 116"/>
          <p:cNvSpPr/>
          <p:nvPr/>
        </p:nvSpPr>
        <p:spPr>
          <a:xfrm>
            <a:off x="6245352" y="5875020"/>
            <a:ext cx="932688" cy="155448"/>
          </a:xfrm>
          <a:prstGeom prst="roundRect">
            <a:avLst>
              <a:gd name="adj" fmla="val 17647"/>
            </a:avLst>
          </a:prstGeom>
          <a:solidFill>
            <a:srgbClr val="F3F4F6"/>
          </a:solidFill>
          <a:ln w="9525">
            <a:solidFill>
              <a:srgbClr val="D1D5DB"/>
            </a:solidFill>
            <a:prstDash val="solid"/>
          </a:ln>
        </p:spPr>
      </p:sp>
      <p:sp>
        <p:nvSpPr>
          <p:cNvPr id="119" name="Text 117"/>
          <p:cNvSpPr/>
          <p:nvPr/>
        </p:nvSpPr>
        <p:spPr>
          <a:xfrm>
            <a:off x="6245352" y="587502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120" name="Shape 118"/>
          <p:cNvSpPr/>
          <p:nvPr/>
        </p:nvSpPr>
        <p:spPr>
          <a:xfrm>
            <a:off x="9372600" y="804672"/>
            <a:ext cx="2834640" cy="6071616"/>
          </a:xfrm>
          <a:prstGeom prst="rect">
            <a:avLst/>
          </a:prstGeom>
          <a:solidFill>
            <a:srgbClr val="F8FAFB"/>
          </a:solidFill>
          <a:ln w="12700">
            <a:solidFill>
              <a:srgbClr val="DDE1E6"/>
            </a:solidFill>
            <a:prstDash val="solid"/>
          </a:ln>
        </p:spPr>
      </p:sp>
      <p:sp>
        <p:nvSpPr>
          <p:cNvPr id="121" name="Text 119"/>
          <p:cNvSpPr/>
          <p:nvPr/>
        </p:nvSpPr>
        <p:spPr>
          <a:xfrm>
            <a:off x="9500616" y="950976"/>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Milestones</a:t>
            </a:r>
            <a:endParaRPr lang="en-US" sz="950" dirty="0"/>
          </a:p>
        </p:txBody>
      </p:sp>
      <p:sp>
        <p:nvSpPr>
          <p:cNvPr id="122" name="Shape 120"/>
          <p:cNvSpPr/>
          <p:nvPr/>
        </p:nvSpPr>
        <p:spPr>
          <a:xfrm>
            <a:off x="9464040" y="1225296"/>
            <a:ext cx="2670048" cy="420624"/>
          </a:xfrm>
          <a:prstGeom prst="rect">
            <a:avLst/>
          </a:prstGeom>
          <a:solidFill>
            <a:srgbClr val="FFFFFF"/>
          </a:solidFill>
          <a:ln w="6350">
            <a:solidFill>
              <a:srgbClr val="E5E7EB"/>
            </a:solidFill>
            <a:prstDash val="solid"/>
          </a:ln>
        </p:spPr>
      </p:sp>
      <p:sp>
        <p:nvSpPr>
          <p:cNvPr id="123" name="Shape 121"/>
          <p:cNvSpPr/>
          <p:nvPr/>
        </p:nvSpPr>
        <p:spPr>
          <a:xfrm>
            <a:off x="9537192" y="1316736"/>
            <a:ext cx="109728" cy="109728"/>
          </a:xfrm>
          <a:prstGeom prst="ellipse">
            <a:avLst/>
          </a:prstGeom>
          <a:solidFill>
            <a:srgbClr val="16A34A"/>
          </a:solidFill>
          <a:ln w="12700">
            <a:solidFill>
              <a:srgbClr val="16A34A"/>
            </a:solidFill>
            <a:prstDash val="solid"/>
          </a:ln>
        </p:spPr>
      </p:sp>
      <p:sp>
        <p:nvSpPr>
          <p:cNvPr id="124" name="Text 122"/>
          <p:cNvSpPr/>
          <p:nvPr/>
        </p:nvSpPr>
        <p:spPr>
          <a:xfrm>
            <a:off x="9701784" y="1243584"/>
            <a:ext cx="2304288" cy="173736"/>
          </a:xfrm>
          <a:prstGeom prst="rect">
            <a:avLst/>
          </a:prstGeom>
          <a:noFill/>
          <a:ln/>
        </p:spPr>
        <p:txBody>
          <a:bodyPr wrap="square" lIns="0" tIns="0" rIns="0" bIns="0" rtlCol="0" anchor="ctr"/>
          <a:lstStyle/>
          <a:p>
            <a:pPr indent="0" marL="0">
              <a:buNone/>
            </a:pPr>
            <a:r>
              <a:rPr lang="en-US" sz="800" b="1" dirty="0">
                <a:solidFill>
                  <a:srgbClr val="15803D"/>
                </a:solidFill>
              </a:rPr>
              <a:t>Requirements</a:t>
            </a:r>
            <a:endParaRPr lang="en-US" sz="800" dirty="0"/>
          </a:p>
        </p:txBody>
      </p:sp>
      <p:sp>
        <p:nvSpPr>
          <p:cNvPr id="125" name="Text 123"/>
          <p:cNvSpPr/>
          <p:nvPr/>
        </p:nvSpPr>
        <p:spPr>
          <a:xfrm>
            <a:off x="9701784" y="1453896"/>
            <a:ext cx="1773936" cy="137160"/>
          </a:xfrm>
          <a:prstGeom prst="rect">
            <a:avLst/>
          </a:prstGeom>
          <a:noFill/>
          <a:ln/>
        </p:spPr>
        <p:txBody>
          <a:bodyPr wrap="square" lIns="0" tIns="0" rIns="0" bIns="0" rtlCol="0" anchor="ctr"/>
          <a:lstStyle/>
          <a:p>
            <a:pPr indent="0" marL="0">
              <a:buNone/>
            </a:pPr>
            <a:r>
              <a:rPr lang="en-US" sz="700" dirty="0">
                <a:solidFill>
                  <a:srgbClr val="6B7280"/>
                </a:solidFill>
              </a:rPr>
              <a:t>Jun 30, 2026</a:t>
            </a:r>
            <a:endParaRPr lang="en-US" sz="700" dirty="0"/>
          </a:p>
        </p:txBody>
      </p:sp>
      <p:sp>
        <p:nvSpPr>
          <p:cNvPr id="126" name="Shape 124"/>
          <p:cNvSpPr/>
          <p:nvPr/>
        </p:nvSpPr>
        <p:spPr>
          <a:xfrm>
            <a:off x="11494008" y="1453896"/>
            <a:ext cx="658368" cy="137160"/>
          </a:xfrm>
          <a:prstGeom prst="roundRect">
            <a:avLst>
              <a:gd name="adj" fmla="val 20000"/>
            </a:avLst>
          </a:prstGeom>
          <a:solidFill>
            <a:srgbClr val="DCFCE7"/>
          </a:solidFill>
          <a:ln w="12700">
            <a:solidFill>
              <a:srgbClr val="DCFCE7"/>
            </a:solidFill>
            <a:prstDash val="solid"/>
          </a:ln>
        </p:spPr>
      </p:sp>
      <p:sp>
        <p:nvSpPr>
          <p:cNvPr id="127" name="Text 125"/>
          <p:cNvSpPr/>
          <p:nvPr/>
        </p:nvSpPr>
        <p:spPr>
          <a:xfrm>
            <a:off x="11494008" y="1453896"/>
            <a:ext cx="658368" cy="137160"/>
          </a:xfrm>
          <a:prstGeom prst="rect">
            <a:avLst/>
          </a:prstGeom>
          <a:noFill/>
          <a:ln/>
        </p:spPr>
        <p:txBody>
          <a:bodyPr wrap="square" lIns="0" tIns="0" rIns="0" bIns="0" rtlCol="0" anchor="ctr"/>
          <a:lstStyle/>
          <a:p>
            <a:pPr algn="ctr" indent="0" marL="0">
              <a:buNone/>
            </a:pPr>
            <a:r>
              <a:rPr lang="en-US" sz="600" b="1" dirty="0">
                <a:solidFill>
                  <a:srgbClr val="166534"/>
                </a:solidFill>
              </a:rPr>
              <a:t>Complete</a:t>
            </a:r>
            <a:endParaRPr lang="en-US" sz="600" dirty="0"/>
          </a:p>
        </p:txBody>
      </p:sp>
      <p:sp>
        <p:nvSpPr>
          <p:cNvPr id="128" name="Shape 126"/>
          <p:cNvSpPr/>
          <p:nvPr/>
        </p:nvSpPr>
        <p:spPr>
          <a:xfrm>
            <a:off x="9464040" y="1700784"/>
            <a:ext cx="2670048" cy="420624"/>
          </a:xfrm>
          <a:prstGeom prst="rect">
            <a:avLst/>
          </a:prstGeom>
          <a:solidFill>
            <a:srgbClr val="FFFFFF"/>
          </a:solidFill>
          <a:ln w="6350">
            <a:solidFill>
              <a:srgbClr val="E5E7EB"/>
            </a:solidFill>
            <a:prstDash val="solid"/>
          </a:ln>
        </p:spPr>
      </p:sp>
      <p:sp>
        <p:nvSpPr>
          <p:cNvPr id="129" name="Shape 127"/>
          <p:cNvSpPr/>
          <p:nvPr/>
        </p:nvSpPr>
        <p:spPr>
          <a:xfrm>
            <a:off x="9537192" y="1792224"/>
            <a:ext cx="109728" cy="109728"/>
          </a:xfrm>
          <a:prstGeom prst="ellipse">
            <a:avLst/>
          </a:prstGeom>
          <a:solidFill>
            <a:srgbClr val="1558A8"/>
          </a:solidFill>
          <a:ln w="12700">
            <a:solidFill>
              <a:srgbClr val="1558A8"/>
            </a:solidFill>
            <a:prstDash val="solid"/>
          </a:ln>
        </p:spPr>
      </p:sp>
      <p:sp>
        <p:nvSpPr>
          <p:cNvPr id="130" name="Text 128"/>
          <p:cNvSpPr/>
          <p:nvPr/>
        </p:nvSpPr>
        <p:spPr>
          <a:xfrm>
            <a:off x="9701784" y="1719072"/>
            <a:ext cx="2304288" cy="173736"/>
          </a:xfrm>
          <a:prstGeom prst="rect">
            <a:avLst/>
          </a:prstGeom>
          <a:noFill/>
          <a:ln/>
        </p:spPr>
        <p:txBody>
          <a:bodyPr wrap="square" lIns="0" tIns="0" rIns="0" bIns="0" rtlCol="0" anchor="ctr"/>
          <a:lstStyle/>
          <a:p>
            <a:pPr indent="0" marL="0">
              <a:buNone/>
            </a:pPr>
            <a:r>
              <a:rPr lang="en-US" sz="800" b="1" dirty="0">
                <a:solidFill>
                  <a:srgbClr val="1D4ED8"/>
                </a:solidFill>
              </a:rPr>
              <a:t>Beta</a:t>
            </a:r>
            <a:endParaRPr lang="en-US" sz="800" dirty="0"/>
          </a:p>
        </p:txBody>
      </p:sp>
      <p:sp>
        <p:nvSpPr>
          <p:cNvPr id="131" name="Text 129"/>
          <p:cNvSpPr/>
          <p:nvPr/>
        </p:nvSpPr>
        <p:spPr>
          <a:xfrm>
            <a:off x="9701784" y="1929384"/>
            <a:ext cx="1773936" cy="137160"/>
          </a:xfrm>
          <a:prstGeom prst="rect">
            <a:avLst/>
          </a:prstGeom>
          <a:noFill/>
          <a:ln/>
        </p:spPr>
        <p:txBody>
          <a:bodyPr wrap="square" lIns="0" tIns="0" rIns="0" bIns="0" rtlCol="0" anchor="ctr"/>
          <a:lstStyle/>
          <a:p>
            <a:pPr indent="0" marL="0">
              <a:buNone/>
            </a:pPr>
            <a:r>
              <a:rPr lang="en-US" sz="700" dirty="0">
                <a:solidFill>
                  <a:srgbClr val="6B7280"/>
                </a:solidFill>
              </a:rPr>
              <a:t>Sep 30, 2026</a:t>
            </a:r>
            <a:endParaRPr lang="en-US" sz="700" dirty="0"/>
          </a:p>
        </p:txBody>
      </p:sp>
      <p:sp>
        <p:nvSpPr>
          <p:cNvPr id="132" name="Shape 130"/>
          <p:cNvSpPr/>
          <p:nvPr/>
        </p:nvSpPr>
        <p:spPr>
          <a:xfrm>
            <a:off x="11494008" y="1929384"/>
            <a:ext cx="658368" cy="137160"/>
          </a:xfrm>
          <a:prstGeom prst="roundRect">
            <a:avLst>
              <a:gd name="adj" fmla="val 20000"/>
            </a:avLst>
          </a:prstGeom>
          <a:solidFill>
            <a:srgbClr val="DBEAFE"/>
          </a:solidFill>
          <a:ln w="12700">
            <a:solidFill>
              <a:srgbClr val="DBEAFE"/>
            </a:solidFill>
            <a:prstDash val="solid"/>
          </a:ln>
        </p:spPr>
      </p:sp>
      <p:sp>
        <p:nvSpPr>
          <p:cNvPr id="133" name="Text 131"/>
          <p:cNvSpPr/>
          <p:nvPr/>
        </p:nvSpPr>
        <p:spPr>
          <a:xfrm>
            <a:off x="11494008" y="1929384"/>
            <a:ext cx="658368" cy="137160"/>
          </a:xfrm>
          <a:prstGeom prst="rect">
            <a:avLst/>
          </a:prstGeom>
          <a:noFill/>
          <a:ln/>
        </p:spPr>
        <p:txBody>
          <a:bodyPr wrap="square" lIns="0" tIns="0" rIns="0" bIns="0" rtlCol="0" anchor="ctr"/>
          <a:lstStyle/>
          <a:p>
            <a:pPr algn="ctr" indent="0" marL="0">
              <a:buNone/>
            </a:pPr>
            <a:r>
              <a:rPr lang="en-US" sz="600" b="1" dirty="0">
                <a:solidFill>
                  <a:srgbClr val="1E40AF"/>
                </a:solidFill>
              </a:rPr>
              <a:t>In Progress</a:t>
            </a:r>
            <a:endParaRPr lang="en-US" sz="600" dirty="0"/>
          </a:p>
        </p:txBody>
      </p:sp>
      <p:sp>
        <p:nvSpPr>
          <p:cNvPr id="134" name="Shape 132"/>
          <p:cNvSpPr/>
          <p:nvPr/>
        </p:nvSpPr>
        <p:spPr>
          <a:xfrm>
            <a:off x="9464040" y="2176272"/>
            <a:ext cx="2670048" cy="420624"/>
          </a:xfrm>
          <a:prstGeom prst="rect">
            <a:avLst/>
          </a:prstGeom>
          <a:solidFill>
            <a:srgbClr val="FFFFFF"/>
          </a:solidFill>
          <a:ln w="6350">
            <a:solidFill>
              <a:srgbClr val="E5E7EB"/>
            </a:solidFill>
            <a:prstDash val="solid"/>
          </a:ln>
        </p:spPr>
      </p:sp>
      <p:sp>
        <p:nvSpPr>
          <p:cNvPr id="135" name="Shape 133"/>
          <p:cNvSpPr/>
          <p:nvPr/>
        </p:nvSpPr>
        <p:spPr>
          <a:xfrm>
            <a:off x="9537192" y="2267712"/>
            <a:ext cx="109728" cy="109728"/>
          </a:xfrm>
          <a:prstGeom prst="ellipse">
            <a:avLst/>
          </a:prstGeom>
          <a:solidFill>
            <a:srgbClr val="9CA3AF"/>
          </a:solidFill>
          <a:ln w="12700">
            <a:solidFill>
              <a:srgbClr val="9CA3AF"/>
            </a:solidFill>
            <a:prstDash val="solid"/>
          </a:ln>
        </p:spPr>
      </p:sp>
      <p:sp>
        <p:nvSpPr>
          <p:cNvPr id="136" name="Text 134"/>
          <p:cNvSpPr/>
          <p:nvPr/>
        </p:nvSpPr>
        <p:spPr>
          <a:xfrm>
            <a:off x="9701784" y="2194560"/>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UAT / Testing</a:t>
            </a:r>
            <a:endParaRPr lang="en-US" sz="800" dirty="0"/>
          </a:p>
        </p:txBody>
      </p:sp>
      <p:sp>
        <p:nvSpPr>
          <p:cNvPr id="137" name="Text 135"/>
          <p:cNvSpPr/>
          <p:nvPr/>
        </p:nvSpPr>
        <p:spPr>
          <a:xfrm>
            <a:off x="9701784" y="2404872"/>
            <a:ext cx="1773936" cy="137160"/>
          </a:xfrm>
          <a:prstGeom prst="rect">
            <a:avLst/>
          </a:prstGeom>
          <a:noFill/>
          <a:ln/>
        </p:spPr>
        <p:txBody>
          <a:bodyPr wrap="square" lIns="0" tIns="0" rIns="0" bIns="0" rtlCol="0" anchor="ctr"/>
          <a:lstStyle/>
          <a:p>
            <a:pPr indent="0" marL="0">
              <a:buNone/>
            </a:pPr>
            <a:r>
              <a:rPr lang="en-US" sz="700" dirty="0">
                <a:solidFill>
                  <a:srgbClr val="6B7280"/>
                </a:solidFill>
              </a:rPr>
              <a:t>Nov 30, 2026</a:t>
            </a:r>
            <a:endParaRPr lang="en-US" sz="700" dirty="0"/>
          </a:p>
        </p:txBody>
      </p:sp>
      <p:sp>
        <p:nvSpPr>
          <p:cNvPr id="138" name="Shape 136"/>
          <p:cNvSpPr/>
          <p:nvPr/>
        </p:nvSpPr>
        <p:spPr>
          <a:xfrm>
            <a:off x="11494008" y="2404872"/>
            <a:ext cx="658368" cy="137160"/>
          </a:xfrm>
          <a:prstGeom prst="roundRect">
            <a:avLst>
              <a:gd name="adj" fmla="val 20000"/>
            </a:avLst>
          </a:prstGeom>
          <a:solidFill>
            <a:srgbClr val="F3F4F6"/>
          </a:solidFill>
          <a:ln w="12700">
            <a:solidFill>
              <a:srgbClr val="F3F4F6"/>
            </a:solidFill>
            <a:prstDash val="solid"/>
          </a:ln>
        </p:spPr>
      </p:sp>
      <p:sp>
        <p:nvSpPr>
          <p:cNvPr id="139" name="Text 137"/>
          <p:cNvSpPr/>
          <p:nvPr/>
        </p:nvSpPr>
        <p:spPr>
          <a:xfrm>
            <a:off x="11494008" y="2404872"/>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40" name="Shape 138"/>
          <p:cNvSpPr/>
          <p:nvPr/>
        </p:nvSpPr>
        <p:spPr>
          <a:xfrm>
            <a:off x="9464040" y="2651760"/>
            <a:ext cx="2670048" cy="420624"/>
          </a:xfrm>
          <a:prstGeom prst="rect">
            <a:avLst/>
          </a:prstGeom>
          <a:solidFill>
            <a:srgbClr val="FFFFFF"/>
          </a:solidFill>
          <a:ln w="6350">
            <a:solidFill>
              <a:srgbClr val="E5E7EB"/>
            </a:solidFill>
            <a:prstDash val="solid"/>
          </a:ln>
        </p:spPr>
      </p:sp>
      <p:sp>
        <p:nvSpPr>
          <p:cNvPr id="141" name="Shape 139"/>
          <p:cNvSpPr/>
          <p:nvPr/>
        </p:nvSpPr>
        <p:spPr>
          <a:xfrm>
            <a:off x="9537192" y="2743200"/>
            <a:ext cx="109728" cy="109728"/>
          </a:xfrm>
          <a:prstGeom prst="ellipse">
            <a:avLst/>
          </a:prstGeom>
          <a:solidFill>
            <a:srgbClr val="9CA3AF"/>
          </a:solidFill>
          <a:ln w="12700">
            <a:solidFill>
              <a:srgbClr val="9CA3AF"/>
            </a:solidFill>
            <a:prstDash val="solid"/>
          </a:ln>
        </p:spPr>
      </p:sp>
      <p:sp>
        <p:nvSpPr>
          <p:cNvPr id="142" name="Text 140"/>
          <p:cNvSpPr/>
          <p:nvPr/>
        </p:nvSpPr>
        <p:spPr>
          <a:xfrm>
            <a:off x="9701784" y="2670048"/>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Release</a:t>
            </a:r>
            <a:endParaRPr lang="en-US" sz="800" dirty="0"/>
          </a:p>
        </p:txBody>
      </p:sp>
      <p:sp>
        <p:nvSpPr>
          <p:cNvPr id="143" name="Text 141"/>
          <p:cNvSpPr/>
          <p:nvPr/>
        </p:nvSpPr>
        <p:spPr>
          <a:xfrm>
            <a:off x="9701784" y="2880360"/>
            <a:ext cx="1773936" cy="137160"/>
          </a:xfrm>
          <a:prstGeom prst="rect">
            <a:avLst/>
          </a:prstGeom>
          <a:noFill/>
          <a:ln/>
        </p:spPr>
        <p:txBody>
          <a:bodyPr wrap="square" lIns="0" tIns="0" rIns="0" bIns="0" rtlCol="0" anchor="ctr"/>
          <a:lstStyle/>
          <a:p>
            <a:pPr indent="0" marL="0">
              <a:buNone/>
            </a:pPr>
            <a:r>
              <a:rPr lang="en-US" sz="700" dirty="0">
                <a:solidFill>
                  <a:srgbClr val="6B7280"/>
                </a:solidFill>
              </a:rPr>
              <a:t>Dec 2026</a:t>
            </a:r>
            <a:endParaRPr lang="en-US" sz="700" dirty="0"/>
          </a:p>
        </p:txBody>
      </p:sp>
      <p:sp>
        <p:nvSpPr>
          <p:cNvPr id="144" name="Shape 142"/>
          <p:cNvSpPr/>
          <p:nvPr/>
        </p:nvSpPr>
        <p:spPr>
          <a:xfrm>
            <a:off x="11494008" y="2880360"/>
            <a:ext cx="658368" cy="137160"/>
          </a:xfrm>
          <a:prstGeom prst="roundRect">
            <a:avLst>
              <a:gd name="adj" fmla="val 20000"/>
            </a:avLst>
          </a:prstGeom>
          <a:solidFill>
            <a:srgbClr val="F3F4F6"/>
          </a:solidFill>
          <a:ln w="12700">
            <a:solidFill>
              <a:srgbClr val="F3F4F6"/>
            </a:solidFill>
            <a:prstDash val="solid"/>
          </a:ln>
        </p:spPr>
      </p:sp>
      <p:sp>
        <p:nvSpPr>
          <p:cNvPr id="145" name="Text 143"/>
          <p:cNvSpPr/>
          <p:nvPr/>
        </p:nvSpPr>
        <p:spPr>
          <a:xfrm>
            <a:off x="11494008" y="2880360"/>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46" name="Shape 144"/>
          <p:cNvSpPr/>
          <p:nvPr/>
        </p:nvSpPr>
        <p:spPr>
          <a:xfrm>
            <a:off x="9482328" y="3200400"/>
            <a:ext cx="2633472" cy="0"/>
          </a:xfrm>
          <a:prstGeom prst="line">
            <a:avLst/>
          </a:prstGeom>
          <a:noFill/>
          <a:ln w="9525">
            <a:solidFill>
              <a:srgbClr val="DDE1E6"/>
            </a:solidFill>
            <a:prstDash val="solid"/>
          </a:ln>
        </p:spPr>
      </p:sp>
      <p:sp>
        <p:nvSpPr>
          <p:cNvPr id="147" name="Text 145"/>
          <p:cNvSpPr/>
          <p:nvPr/>
        </p:nvSpPr>
        <p:spPr>
          <a:xfrm>
            <a:off x="9500616" y="3337560"/>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Status Key</a:t>
            </a:r>
            <a:endParaRPr lang="en-US" sz="950" dirty="0"/>
          </a:p>
        </p:txBody>
      </p:sp>
      <p:sp>
        <p:nvSpPr>
          <p:cNvPr id="148" name="Shape 146"/>
          <p:cNvSpPr/>
          <p:nvPr/>
        </p:nvSpPr>
        <p:spPr>
          <a:xfrm>
            <a:off x="9500616" y="3584448"/>
            <a:ext cx="822960" cy="173736"/>
          </a:xfrm>
          <a:prstGeom prst="roundRect">
            <a:avLst>
              <a:gd name="adj" fmla="val 15789"/>
            </a:avLst>
          </a:prstGeom>
          <a:solidFill>
            <a:srgbClr val="F3F4F6"/>
          </a:solidFill>
          <a:ln w="9525">
            <a:solidFill>
              <a:srgbClr val="D1D5DB"/>
            </a:solidFill>
            <a:prstDash val="solid"/>
          </a:ln>
        </p:spPr>
      </p:sp>
      <p:sp>
        <p:nvSpPr>
          <p:cNvPr id="149" name="Text 147"/>
          <p:cNvSpPr/>
          <p:nvPr/>
        </p:nvSpPr>
        <p:spPr>
          <a:xfrm>
            <a:off x="9500616" y="3584448"/>
            <a:ext cx="822960" cy="173736"/>
          </a:xfrm>
          <a:prstGeom prst="rect">
            <a:avLst/>
          </a:prstGeom>
          <a:noFill/>
          <a:ln/>
        </p:spPr>
        <p:txBody>
          <a:bodyPr wrap="square" lIns="0" tIns="0" rIns="0" bIns="0" rtlCol="0" anchor="ctr"/>
          <a:lstStyle/>
          <a:p>
            <a:pPr algn="ctr" indent="0" marL="0">
              <a:buNone/>
            </a:pPr>
            <a:r>
              <a:rPr lang="en-US" sz="700" b="1" dirty="0">
                <a:solidFill>
                  <a:srgbClr val="374151"/>
                </a:solidFill>
              </a:rPr>
              <a:t>Not Started</a:t>
            </a:r>
            <a:endParaRPr lang="en-US" sz="700" dirty="0"/>
          </a:p>
        </p:txBody>
      </p:sp>
      <p:sp>
        <p:nvSpPr>
          <p:cNvPr id="150" name="Shape 148"/>
          <p:cNvSpPr/>
          <p:nvPr/>
        </p:nvSpPr>
        <p:spPr>
          <a:xfrm>
            <a:off x="9500616" y="3813048"/>
            <a:ext cx="822960" cy="173736"/>
          </a:xfrm>
          <a:prstGeom prst="roundRect">
            <a:avLst>
              <a:gd name="adj" fmla="val 15789"/>
            </a:avLst>
          </a:prstGeom>
          <a:solidFill>
            <a:srgbClr val="1558A8"/>
          </a:solidFill>
          <a:ln w="12700">
            <a:solidFill>
              <a:srgbClr val="1558A8"/>
            </a:solidFill>
            <a:prstDash val="solid"/>
          </a:ln>
        </p:spPr>
      </p:sp>
      <p:sp>
        <p:nvSpPr>
          <p:cNvPr id="151" name="Text 149"/>
          <p:cNvSpPr/>
          <p:nvPr/>
        </p:nvSpPr>
        <p:spPr>
          <a:xfrm>
            <a:off x="9500616" y="3813048"/>
            <a:ext cx="822960" cy="173736"/>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52" name="Shape 150"/>
          <p:cNvSpPr/>
          <p:nvPr/>
        </p:nvSpPr>
        <p:spPr>
          <a:xfrm>
            <a:off x="9500616" y="4041648"/>
            <a:ext cx="822960" cy="173736"/>
          </a:xfrm>
          <a:prstGeom prst="roundRect">
            <a:avLst>
              <a:gd name="adj" fmla="val 15789"/>
            </a:avLst>
          </a:prstGeom>
          <a:solidFill>
            <a:srgbClr val="FEE2E2"/>
          </a:solidFill>
          <a:ln w="19050">
            <a:solidFill>
              <a:srgbClr val="DC2626"/>
            </a:solidFill>
            <a:prstDash val="solid"/>
          </a:ln>
        </p:spPr>
      </p:sp>
      <p:sp>
        <p:nvSpPr>
          <p:cNvPr id="153" name="Text 151"/>
          <p:cNvSpPr/>
          <p:nvPr/>
        </p:nvSpPr>
        <p:spPr>
          <a:xfrm>
            <a:off x="9500616" y="4041648"/>
            <a:ext cx="822960" cy="173736"/>
          </a:xfrm>
          <a:prstGeom prst="rect">
            <a:avLst/>
          </a:prstGeom>
          <a:noFill/>
          <a:ln/>
        </p:spPr>
        <p:txBody>
          <a:bodyPr wrap="square" lIns="0" tIns="0" rIns="0" bIns="0" rtlCol="0" anchor="ctr"/>
          <a:lstStyle/>
          <a:p>
            <a:pPr algn="ctr" indent="0" marL="0">
              <a:buNone/>
            </a:pPr>
            <a:r>
              <a:rPr lang="en-US" sz="700" b="1" dirty="0">
                <a:solidFill>
                  <a:srgbClr val="7F1D1D"/>
                </a:solidFill>
              </a:rPr>
              <a:t>Blocked</a:t>
            </a:r>
            <a:endParaRPr lang="en-US" sz="700" dirty="0"/>
          </a:p>
        </p:txBody>
      </p:sp>
      <p:sp>
        <p:nvSpPr>
          <p:cNvPr id="154" name="Shape 152"/>
          <p:cNvSpPr/>
          <p:nvPr/>
        </p:nvSpPr>
        <p:spPr>
          <a:xfrm>
            <a:off x="9500616" y="4270248"/>
            <a:ext cx="822960" cy="173736"/>
          </a:xfrm>
          <a:prstGeom prst="roundRect">
            <a:avLst>
              <a:gd name="adj" fmla="val 15789"/>
            </a:avLst>
          </a:prstGeom>
          <a:solidFill>
            <a:srgbClr val="DCFCE7"/>
          </a:solidFill>
          <a:ln w="12700">
            <a:solidFill>
              <a:srgbClr val="15803D"/>
            </a:solidFill>
            <a:prstDash val="solid"/>
          </a:ln>
        </p:spPr>
      </p:sp>
      <p:sp>
        <p:nvSpPr>
          <p:cNvPr id="155" name="Text 153"/>
          <p:cNvSpPr/>
          <p:nvPr/>
        </p:nvSpPr>
        <p:spPr>
          <a:xfrm>
            <a:off x="9500616" y="4270248"/>
            <a:ext cx="822960" cy="173736"/>
          </a:xfrm>
          <a:prstGeom prst="rect">
            <a:avLst/>
          </a:prstGeom>
          <a:noFill/>
          <a:ln/>
        </p:spPr>
        <p:txBody>
          <a:bodyPr wrap="square" lIns="0" tIns="0" rIns="0" bIns="0" rtlCol="0" anchor="ctr"/>
          <a:lstStyle/>
          <a:p>
            <a:pPr algn="ctr" indent="0" marL="0">
              <a:buNone/>
            </a:pPr>
            <a:r>
              <a:rPr lang="en-US" sz="700" b="1" dirty="0">
                <a:solidFill>
                  <a:srgbClr val="14532D"/>
                </a:solidFill>
              </a:rPr>
              <a:t>Done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344400" cy="457200"/>
          </a:xfrm>
          <a:prstGeom prst="rect">
            <a:avLst/>
          </a:prstGeom>
          <a:solidFill>
            <a:srgbClr val="8ED973"/>
          </a:solidFill>
          <a:ln w="12700">
            <a:solidFill>
              <a:srgbClr val="8ED973"/>
            </a:solidFill>
            <a:prstDash val="solid"/>
          </a:ln>
        </p:spPr>
      </p:sp>
      <p:sp>
        <p:nvSpPr>
          <p:cNvPr id="3" name="Text 1"/>
          <p:cNvSpPr/>
          <p:nvPr/>
        </p:nvSpPr>
        <p:spPr>
          <a:xfrm>
            <a:off x="201168" y="0"/>
            <a:ext cx="8229600" cy="457200"/>
          </a:xfrm>
          <a:prstGeom prst="rect">
            <a:avLst/>
          </a:prstGeom>
          <a:noFill/>
          <a:ln/>
        </p:spPr>
        <p:txBody>
          <a:bodyPr wrap="square" lIns="0" tIns="0" rIns="0" bIns="0" rtlCol="0" anchor="ctr"/>
          <a:lstStyle/>
          <a:p>
            <a:pPr algn="l" indent="0" marL="0">
              <a:buNone/>
            </a:pPr>
            <a:r>
              <a:rPr lang="en-US" sz="1600" b="1" dirty="0">
                <a:solidFill>
                  <a:srgbClr val="000000"/>
                </a:solidFill>
              </a:rPr>
              <a:t>Project SABR  ·  Android</a:t>
            </a:r>
            <a:endParaRPr lang="en-US" sz="1600" dirty="0"/>
          </a:p>
        </p:txBody>
      </p:sp>
      <p:sp>
        <p:nvSpPr>
          <p:cNvPr id="4" name="Text 2"/>
          <p:cNvSpPr/>
          <p:nvPr/>
        </p:nvSpPr>
        <p:spPr>
          <a:xfrm>
            <a:off x="8686800" y="0"/>
            <a:ext cx="3337560" cy="457200"/>
          </a:xfrm>
          <a:prstGeom prst="rect">
            <a:avLst/>
          </a:prstGeom>
          <a:noFill/>
          <a:ln/>
        </p:spPr>
        <p:txBody>
          <a:bodyPr wrap="square" lIns="0" tIns="0" rIns="0" bIns="0" rtlCol="0" anchor="ctr"/>
          <a:lstStyle/>
          <a:p>
            <a:pPr algn="r" indent="0" marL="0">
              <a:buNone/>
            </a:pPr>
            <a:r>
              <a:rPr lang="en-US" sz="1100" dirty="0">
                <a:solidFill>
                  <a:srgbClr val="388849"/>
                </a:solidFill>
              </a:rPr>
              <a:t>Android Phone · Tablet  ·  Aug 6, 2026</a:t>
            </a:r>
            <a:endParaRPr lang="en-US" sz="1100" dirty="0"/>
          </a:p>
        </p:txBody>
      </p:sp>
      <p:sp>
        <p:nvSpPr>
          <p:cNvPr id="5" name="Shape 3"/>
          <p:cNvSpPr/>
          <p:nvPr/>
        </p:nvSpPr>
        <p:spPr>
          <a:xfrm>
            <a:off x="0" y="457200"/>
            <a:ext cx="12344400" cy="347472"/>
          </a:xfrm>
          <a:prstGeom prst="rect">
            <a:avLst/>
          </a:prstGeom>
          <a:solidFill>
            <a:srgbClr val="EFF7F3"/>
          </a:solidFill>
          <a:ln w="12700">
            <a:solidFill>
              <a:srgbClr val="CCE4D8"/>
            </a:solidFill>
            <a:prstDash val="solid"/>
          </a:ln>
        </p:spPr>
      </p:sp>
      <p:sp>
        <p:nvSpPr>
          <p:cNvPr id="6" name="Shape 4"/>
          <p:cNvSpPr/>
          <p:nvPr/>
        </p:nvSpPr>
        <p:spPr>
          <a:xfrm>
            <a:off x="256032" y="521208"/>
            <a:ext cx="1005840" cy="219456"/>
          </a:xfrm>
          <a:prstGeom prst="roundRect">
            <a:avLst>
              <a:gd name="adj" fmla="val 20833"/>
            </a:avLst>
          </a:prstGeom>
          <a:solidFill>
            <a:srgbClr val="DCFCE7"/>
          </a:solidFill>
          <a:ln w="9525">
            <a:solidFill>
              <a:srgbClr val="D1D5DB"/>
            </a:solidFill>
            <a:prstDash val="solid"/>
          </a:ln>
        </p:spPr>
      </p:sp>
      <p:sp>
        <p:nvSpPr>
          <p:cNvPr id="7" name="Text 5"/>
          <p:cNvSpPr/>
          <p:nvPr/>
        </p:nvSpPr>
        <p:spPr>
          <a:xfrm>
            <a:off x="256032" y="521208"/>
            <a:ext cx="1005840" cy="219456"/>
          </a:xfrm>
          <a:prstGeom prst="rect">
            <a:avLst/>
          </a:prstGeom>
          <a:noFill/>
          <a:ln/>
        </p:spPr>
        <p:txBody>
          <a:bodyPr wrap="square" lIns="0" tIns="0" rIns="0" bIns="0" rtlCol="0" anchor="ctr"/>
          <a:lstStyle/>
          <a:p>
            <a:pPr algn="ctr" indent="0" marL="0">
              <a:buNone/>
            </a:pPr>
            <a:r>
              <a:rPr lang="en-US" sz="900" b="1" dirty="0">
                <a:solidFill>
                  <a:srgbClr val="166534"/>
                </a:solidFill>
              </a:rPr>
              <a:t>3  Done</a:t>
            </a:r>
            <a:endParaRPr lang="en-US" sz="900" dirty="0"/>
          </a:p>
        </p:txBody>
      </p:sp>
      <p:sp>
        <p:nvSpPr>
          <p:cNvPr id="8" name="Shape 6"/>
          <p:cNvSpPr/>
          <p:nvPr/>
        </p:nvSpPr>
        <p:spPr>
          <a:xfrm>
            <a:off x="1389888" y="521208"/>
            <a:ext cx="1325880" cy="219456"/>
          </a:xfrm>
          <a:prstGeom prst="roundRect">
            <a:avLst>
              <a:gd name="adj" fmla="val 20833"/>
            </a:avLst>
          </a:prstGeom>
          <a:solidFill>
            <a:srgbClr val="DBEAFE"/>
          </a:solidFill>
          <a:ln w="9525">
            <a:solidFill>
              <a:srgbClr val="D1D5DB"/>
            </a:solidFill>
            <a:prstDash val="solid"/>
          </a:ln>
        </p:spPr>
      </p:sp>
      <p:sp>
        <p:nvSpPr>
          <p:cNvPr id="9" name="Text 7"/>
          <p:cNvSpPr/>
          <p:nvPr/>
        </p:nvSpPr>
        <p:spPr>
          <a:xfrm>
            <a:off x="1389888" y="521208"/>
            <a:ext cx="1325880" cy="219456"/>
          </a:xfrm>
          <a:prstGeom prst="rect">
            <a:avLst/>
          </a:prstGeom>
          <a:noFill/>
          <a:ln/>
        </p:spPr>
        <p:txBody>
          <a:bodyPr wrap="square" lIns="0" tIns="0" rIns="0" bIns="0" rtlCol="0" anchor="ctr"/>
          <a:lstStyle/>
          <a:p>
            <a:pPr algn="ctr" indent="0" marL="0">
              <a:buNone/>
            </a:pPr>
            <a:r>
              <a:rPr lang="en-US" sz="900" b="1" dirty="0">
                <a:solidFill>
                  <a:srgbClr val="1D4ED8"/>
                </a:solidFill>
              </a:rPr>
              <a:t>17  In Progress</a:t>
            </a:r>
            <a:endParaRPr lang="en-US" sz="900" dirty="0"/>
          </a:p>
        </p:txBody>
      </p:sp>
      <p:sp>
        <p:nvSpPr>
          <p:cNvPr id="10" name="Shape 8"/>
          <p:cNvSpPr/>
          <p:nvPr/>
        </p:nvSpPr>
        <p:spPr>
          <a:xfrm>
            <a:off x="2843784" y="521208"/>
            <a:ext cx="1325880" cy="219456"/>
          </a:xfrm>
          <a:prstGeom prst="roundRect">
            <a:avLst>
              <a:gd name="adj" fmla="val 20833"/>
            </a:avLst>
          </a:prstGeom>
          <a:solidFill>
            <a:srgbClr val="F3F4F6"/>
          </a:solidFill>
          <a:ln w="9525">
            <a:solidFill>
              <a:srgbClr val="D1D5DB"/>
            </a:solidFill>
            <a:prstDash val="solid"/>
          </a:ln>
        </p:spPr>
      </p:sp>
      <p:sp>
        <p:nvSpPr>
          <p:cNvPr id="11" name="Text 9"/>
          <p:cNvSpPr/>
          <p:nvPr/>
        </p:nvSpPr>
        <p:spPr>
          <a:xfrm>
            <a:off x="2843784" y="521208"/>
            <a:ext cx="1325880" cy="219456"/>
          </a:xfrm>
          <a:prstGeom prst="rect">
            <a:avLst/>
          </a:prstGeom>
          <a:noFill/>
          <a:ln/>
        </p:spPr>
        <p:txBody>
          <a:bodyPr wrap="square" lIns="0" tIns="0" rIns="0" bIns="0" rtlCol="0" anchor="ctr"/>
          <a:lstStyle/>
          <a:p>
            <a:pPr algn="ctr" indent="0" marL="0">
              <a:buNone/>
            </a:pPr>
            <a:r>
              <a:rPr lang="en-US" sz="900" b="1" dirty="0">
                <a:solidFill>
                  <a:srgbClr val="374151"/>
                </a:solidFill>
              </a:rPr>
              <a:t>2  Not Started</a:t>
            </a:r>
            <a:endParaRPr lang="en-US" sz="900" dirty="0"/>
          </a:p>
        </p:txBody>
      </p:sp>
      <p:sp>
        <p:nvSpPr>
          <p:cNvPr id="12" name="Shape 10"/>
          <p:cNvSpPr/>
          <p:nvPr/>
        </p:nvSpPr>
        <p:spPr>
          <a:xfrm>
            <a:off x="4297680" y="521208"/>
            <a:ext cx="1005840" cy="219456"/>
          </a:xfrm>
          <a:prstGeom prst="roundRect">
            <a:avLst>
              <a:gd name="adj" fmla="val 20833"/>
            </a:avLst>
          </a:prstGeom>
          <a:solidFill>
            <a:srgbClr val="FEE2E2"/>
          </a:solidFill>
          <a:ln w="9525">
            <a:solidFill>
              <a:srgbClr val="D1D5DB"/>
            </a:solidFill>
            <a:prstDash val="solid"/>
          </a:ln>
        </p:spPr>
      </p:sp>
      <p:sp>
        <p:nvSpPr>
          <p:cNvPr id="13" name="Text 11"/>
          <p:cNvSpPr/>
          <p:nvPr/>
        </p:nvSpPr>
        <p:spPr>
          <a:xfrm>
            <a:off x="4297680" y="521208"/>
            <a:ext cx="1005840" cy="219456"/>
          </a:xfrm>
          <a:prstGeom prst="rect">
            <a:avLst/>
          </a:prstGeom>
          <a:noFill/>
          <a:ln/>
        </p:spPr>
        <p:txBody>
          <a:bodyPr wrap="square" lIns="0" tIns="0" rIns="0" bIns="0" rtlCol="0" anchor="ctr"/>
          <a:lstStyle/>
          <a:p>
            <a:pPr algn="ctr" indent="0" marL="0">
              <a:buNone/>
            </a:pPr>
            <a:r>
              <a:rPr lang="en-US" sz="900" b="1" dirty="0">
                <a:solidFill>
                  <a:srgbClr val="7F1D1D"/>
                </a:solidFill>
              </a:rPr>
              <a:t>0  Blocked</a:t>
            </a:r>
            <a:endParaRPr lang="en-US" sz="900" dirty="0"/>
          </a:p>
        </p:txBody>
      </p:sp>
      <p:sp>
        <p:nvSpPr>
          <p:cNvPr id="14" name="Shape 12"/>
          <p:cNvSpPr/>
          <p:nvPr/>
        </p:nvSpPr>
        <p:spPr>
          <a:xfrm>
            <a:off x="5431536" y="521208"/>
            <a:ext cx="2377440" cy="219456"/>
          </a:xfrm>
          <a:prstGeom prst="roundRect">
            <a:avLst>
              <a:gd name="adj" fmla="val 20833"/>
            </a:avLst>
          </a:prstGeom>
          <a:solidFill>
            <a:srgbClr val="FFFFFF"/>
          </a:solidFill>
          <a:ln w="9525">
            <a:solidFill>
              <a:srgbClr val="D1D5DB"/>
            </a:solidFill>
            <a:prstDash val="solid"/>
          </a:ln>
        </p:spPr>
      </p:sp>
      <p:sp>
        <p:nvSpPr>
          <p:cNvPr id="15" name="Text 13"/>
          <p:cNvSpPr/>
          <p:nvPr/>
        </p:nvSpPr>
        <p:spPr>
          <a:xfrm>
            <a:off x="5431536" y="521208"/>
            <a:ext cx="2377440" cy="219456"/>
          </a:xfrm>
          <a:prstGeom prst="rect">
            <a:avLst/>
          </a:prstGeom>
          <a:noFill/>
          <a:ln/>
        </p:spPr>
        <p:txBody>
          <a:bodyPr wrap="square" lIns="0" tIns="0" rIns="0" bIns="0" rtlCol="0" anchor="ctr"/>
          <a:lstStyle/>
          <a:p>
            <a:pPr algn="ctr" indent="0" marL="0">
              <a:buNone/>
            </a:pPr>
            <a:r>
              <a:rPr lang="en-US" sz="900" b="1" dirty="0">
                <a:solidFill>
                  <a:srgbClr val="374151"/>
                </a:solidFill>
              </a:rPr>
              <a:t>Sep 30, 2026  ·  Beta</a:t>
            </a:r>
            <a:endParaRPr lang="en-US" sz="900" dirty="0"/>
          </a:p>
        </p:txBody>
      </p:sp>
      <p:sp>
        <p:nvSpPr>
          <p:cNvPr id="16" name="Shape 14"/>
          <p:cNvSpPr/>
          <p:nvPr/>
        </p:nvSpPr>
        <p:spPr>
          <a:xfrm>
            <a:off x="0" y="6876288"/>
            <a:ext cx="12344400" cy="438912"/>
          </a:xfrm>
          <a:prstGeom prst="rect">
            <a:avLst/>
          </a:prstGeom>
          <a:solidFill>
            <a:srgbClr val="F4F6F8"/>
          </a:solidFill>
          <a:ln w="12700">
            <a:solidFill>
              <a:srgbClr val="D1D5DB"/>
            </a:solidFill>
            <a:prstDash val="solid"/>
          </a:ln>
        </p:spPr>
      </p:sp>
      <p:sp>
        <p:nvSpPr>
          <p:cNvPr id="17" name="Text 15"/>
          <p:cNvSpPr/>
          <p:nvPr/>
        </p:nvSpPr>
        <p:spPr>
          <a:xfrm>
            <a:off x="201168" y="6876288"/>
            <a:ext cx="5029200" cy="438912"/>
          </a:xfrm>
          <a:prstGeom prst="rect">
            <a:avLst/>
          </a:prstGeom>
          <a:noFill/>
          <a:ln/>
        </p:spPr>
        <p:txBody>
          <a:bodyPr wrap="square" lIns="0" tIns="0" rIns="0" bIns="0" rtlCol="0" anchor="ctr"/>
          <a:lstStyle/>
          <a:p>
            <a:pPr algn="l" indent="0" marL="0">
              <a:buNone/>
            </a:pPr>
            <a:r>
              <a:rPr lang="en-US" sz="800" dirty="0">
                <a:solidFill>
                  <a:srgbClr val="9CA3AF"/>
                </a:solidFill>
              </a:rPr>
              <a:t>Project SABR  ·  Tennis Channel OTT  ·  CONFIDENTIAL</a:t>
            </a:r>
            <a:endParaRPr lang="en-US" sz="800" dirty="0"/>
          </a:p>
        </p:txBody>
      </p:sp>
      <p:sp>
        <p:nvSpPr>
          <p:cNvPr id="18" name="Text 16"/>
          <p:cNvSpPr/>
          <p:nvPr/>
        </p:nvSpPr>
        <p:spPr>
          <a:xfrm>
            <a:off x="5486400" y="6876288"/>
            <a:ext cx="4572000" cy="438912"/>
          </a:xfrm>
          <a:prstGeom prst="rect">
            <a:avLst/>
          </a:prstGeom>
          <a:noFill/>
          <a:ln/>
        </p:spPr>
        <p:txBody>
          <a:bodyPr wrap="square" lIns="0" tIns="0" rIns="0" bIns="0" rtlCol="0" anchor="ctr"/>
          <a:lstStyle/>
          <a:p>
            <a:pPr algn="ctr" indent="0" marL="0">
              <a:buNone/>
            </a:pPr>
            <a:r>
              <a:rPr lang="en-US" sz="800" dirty="0">
                <a:solidFill>
                  <a:srgbClr val="9CA3AF"/>
                </a:solidFill>
              </a:rPr>
              <a:t>Beta: Sep 30, 2026  ·  55 days remaining</a:t>
            </a:r>
            <a:endParaRPr lang="en-US" sz="800" dirty="0"/>
          </a:p>
        </p:txBody>
      </p:sp>
      <p:sp>
        <p:nvSpPr>
          <p:cNvPr id="19" name="Text 17"/>
          <p:cNvSpPr/>
          <p:nvPr/>
        </p:nvSpPr>
        <p:spPr>
          <a:xfrm>
            <a:off x="10515600" y="6876288"/>
            <a:ext cx="1508760" cy="438912"/>
          </a:xfrm>
          <a:prstGeom prst="rect">
            <a:avLst/>
          </a:prstGeom>
          <a:noFill/>
          <a:ln/>
        </p:spPr>
        <p:txBody>
          <a:bodyPr wrap="square" lIns="0" tIns="0" rIns="0" bIns="0" rtlCol="0" anchor="ctr"/>
          <a:lstStyle/>
          <a:p>
            <a:pPr algn="r" indent="0" marL="0">
              <a:buNone/>
            </a:pPr>
            <a:r>
              <a:rPr lang="en-US" sz="1100" b="1" dirty="0">
                <a:solidFill>
                  <a:srgbClr val="388849"/>
                </a:solidFill>
              </a:rPr>
              <a:t>14% Ready</a:t>
            </a:r>
            <a:endParaRPr lang="en-US" sz="1100" dirty="0"/>
          </a:p>
        </p:txBody>
      </p:sp>
      <p:sp>
        <p:nvSpPr>
          <p:cNvPr id="20" name="Shape 18"/>
          <p:cNvSpPr/>
          <p:nvPr/>
        </p:nvSpPr>
        <p:spPr>
          <a:xfrm>
            <a:off x="164592" y="804672"/>
            <a:ext cx="9116568" cy="1476756"/>
          </a:xfrm>
          <a:prstGeom prst="rect">
            <a:avLst/>
          </a:prstGeom>
          <a:solidFill>
            <a:srgbClr val="FAFBFC"/>
          </a:solidFill>
          <a:ln w="6350">
            <a:solidFill>
              <a:srgbClr val="E5E7EB"/>
            </a:solidFill>
            <a:prstDash val="solid"/>
          </a:ln>
        </p:spPr>
      </p:sp>
      <p:sp>
        <p:nvSpPr>
          <p:cNvPr id="21" name="Shape 19"/>
          <p:cNvSpPr/>
          <p:nvPr/>
        </p:nvSpPr>
        <p:spPr>
          <a:xfrm>
            <a:off x="182880" y="877824"/>
            <a:ext cx="859536" cy="1330452"/>
          </a:xfrm>
          <a:prstGeom prst="roundRect">
            <a:avLst>
              <a:gd name="adj" fmla="val 5319"/>
            </a:avLst>
          </a:prstGeom>
          <a:solidFill>
            <a:srgbClr val="9CA3AF"/>
          </a:solidFill>
          <a:ln w="12700">
            <a:solidFill>
              <a:srgbClr val="9CA3AF"/>
            </a:solidFill>
            <a:prstDash val="solid"/>
          </a:ln>
        </p:spPr>
      </p:sp>
      <p:sp>
        <p:nvSpPr>
          <p:cNvPr id="22" name="Text 20"/>
          <p:cNvSpPr/>
          <p:nvPr/>
        </p:nvSpPr>
        <p:spPr>
          <a:xfrm>
            <a:off x="182880" y="87782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Video</a:t>
            </a:r>
            <a:endParaRPr lang="en-US" sz="800" dirty="0"/>
          </a:p>
          <a:p>
            <a:pPr algn="ctr" indent="0" marL="0">
              <a:buNone/>
            </a:pPr>
            <a:r>
              <a:rPr lang="en-US" sz="800" b="1" dirty="0">
                <a:solidFill>
                  <a:srgbClr val="FFFFFF"/>
                </a:solidFill>
              </a:rPr>
              <a:t>Delivery</a:t>
            </a:r>
            <a:endParaRPr lang="en-US" sz="800" dirty="0"/>
          </a:p>
        </p:txBody>
      </p:sp>
      <p:sp>
        <p:nvSpPr>
          <p:cNvPr id="23" name="Text 21"/>
          <p:cNvSpPr/>
          <p:nvPr/>
        </p:nvSpPr>
        <p:spPr>
          <a:xfrm>
            <a:off x="1170432" y="85039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5 / 5 In Progress</a:t>
            </a:r>
            <a:endParaRPr lang="en-US" sz="750" dirty="0"/>
          </a:p>
        </p:txBody>
      </p:sp>
      <p:sp>
        <p:nvSpPr>
          <p:cNvPr id="24" name="Shape 22"/>
          <p:cNvSpPr/>
          <p:nvPr/>
        </p:nvSpPr>
        <p:spPr>
          <a:xfrm>
            <a:off x="1170432" y="1069848"/>
            <a:ext cx="932688" cy="182880"/>
          </a:xfrm>
          <a:prstGeom prst="roundRect">
            <a:avLst>
              <a:gd name="adj" fmla="val 15000"/>
            </a:avLst>
          </a:prstGeom>
          <a:solidFill>
            <a:srgbClr val="FFFFFF"/>
          </a:solidFill>
          <a:ln w="9525">
            <a:solidFill>
              <a:srgbClr val="CBD5E1"/>
            </a:solidFill>
            <a:prstDash val="solid"/>
          </a:ln>
        </p:spPr>
      </p:sp>
      <p:sp>
        <p:nvSpPr>
          <p:cNvPr id="25" name="Text 23"/>
          <p:cNvSpPr/>
          <p:nvPr/>
        </p:nvSpPr>
        <p:spPr>
          <a:xfrm>
            <a:off x="1170432"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a:t>
            </a:r>
            <a:endParaRPr lang="en-US" sz="750" dirty="0"/>
          </a:p>
        </p:txBody>
      </p:sp>
      <p:sp>
        <p:nvSpPr>
          <p:cNvPr id="26" name="Shape 24"/>
          <p:cNvSpPr/>
          <p:nvPr/>
        </p:nvSpPr>
        <p:spPr>
          <a:xfrm>
            <a:off x="1170432" y="1280160"/>
            <a:ext cx="932688" cy="155448"/>
          </a:xfrm>
          <a:prstGeom prst="roundRect">
            <a:avLst>
              <a:gd name="adj" fmla="val 17647"/>
            </a:avLst>
          </a:prstGeom>
          <a:solidFill>
            <a:srgbClr val="1558A8"/>
          </a:solidFill>
          <a:ln w="12700">
            <a:solidFill>
              <a:srgbClr val="1558A8"/>
            </a:solidFill>
            <a:prstDash val="solid"/>
          </a:ln>
        </p:spPr>
      </p:sp>
      <p:sp>
        <p:nvSpPr>
          <p:cNvPr id="27" name="Text 25"/>
          <p:cNvSpPr/>
          <p:nvPr/>
        </p:nvSpPr>
        <p:spPr>
          <a:xfrm>
            <a:off x="1170432"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28" name="Shape 26"/>
          <p:cNvSpPr/>
          <p:nvPr/>
        </p:nvSpPr>
        <p:spPr>
          <a:xfrm>
            <a:off x="2185416" y="1069848"/>
            <a:ext cx="932688" cy="182880"/>
          </a:xfrm>
          <a:prstGeom prst="roundRect">
            <a:avLst>
              <a:gd name="adj" fmla="val 15000"/>
            </a:avLst>
          </a:prstGeom>
          <a:solidFill>
            <a:srgbClr val="FFFFFF"/>
          </a:solidFill>
          <a:ln w="9525">
            <a:solidFill>
              <a:srgbClr val="CBD5E1"/>
            </a:solidFill>
            <a:prstDash val="solid"/>
          </a:ln>
        </p:spPr>
      </p:sp>
      <p:sp>
        <p:nvSpPr>
          <p:cNvPr id="29" name="Text 27"/>
          <p:cNvSpPr/>
          <p:nvPr/>
        </p:nvSpPr>
        <p:spPr>
          <a:xfrm>
            <a:off x="2185416"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MPEG-DASH</a:t>
            </a:r>
            <a:endParaRPr lang="en-US" sz="750" dirty="0"/>
          </a:p>
        </p:txBody>
      </p:sp>
      <p:sp>
        <p:nvSpPr>
          <p:cNvPr id="30" name="Shape 28"/>
          <p:cNvSpPr/>
          <p:nvPr/>
        </p:nvSpPr>
        <p:spPr>
          <a:xfrm>
            <a:off x="2185416" y="1280160"/>
            <a:ext cx="932688" cy="155448"/>
          </a:xfrm>
          <a:prstGeom prst="roundRect">
            <a:avLst>
              <a:gd name="adj" fmla="val 17647"/>
            </a:avLst>
          </a:prstGeom>
          <a:solidFill>
            <a:srgbClr val="1558A8"/>
          </a:solidFill>
          <a:ln w="12700">
            <a:solidFill>
              <a:srgbClr val="1558A8"/>
            </a:solidFill>
            <a:prstDash val="solid"/>
          </a:ln>
        </p:spPr>
      </p:sp>
      <p:sp>
        <p:nvSpPr>
          <p:cNvPr id="31" name="Text 29"/>
          <p:cNvSpPr/>
          <p:nvPr/>
        </p:nvSpPr>
        <p:spPr>
          <a:xfrm>
            <a:off x="2185416"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2" name="Shape 30"/>
          <p:cNvSpPr/>
          <p:nvPr/>
        </p:nvSpPr>
        <p:spPr>
          <a:xfrm>
            <a:off x="3200400" y="1069848"/>
            <a:ext cx="932688" cy="182880"/>
          </a:xfrm>
          <a:prstGeom prst="roundRect">
            <a:avLst>
              <a:gd name="adj" fmla="val 15000"/>
            </a:avLst>
          </a:prstGeom>
          <a:solidFill>
            <a:srgbClr val="FFFFFF"/>
          </a:solidFill>
          <a:ln w="9525">
            <a:solidFill>
              <a:srgbClr val="CBD5E1"/>
            </a:solidFill>
            <a:prstDash val="solid"/>
          </a:ln>
        </p:spPr>
      </p:sp>
      <p:sp>
        <p:nvSpPr>
          <p:cNvPr id="33" name="Text 31"/>
          <p:cNvSpPr/>
          <p:nvPr/>
        </p:nvSpPr>
        <p:spPr>
          <a:xfrm>
            <a:off x="3200400"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Widevine DRM</a:t>
            </a:r>
            <a:endParaRPr lang="en-US" sz="750" dirty="0"/>
          </a:p>
        </p:txBody>
      </p:sp>
      <p:sp>
        <p:nvSpPr>
          <p:cNvPr id="34" name="Shape 32"/>
          <p:cNvSpPr/>
          <p:nvPr/>
        </p:nvSpPr>
        <p:spPr>
          <a:xfrm>
            <a:off x="3200400" y="1280160"/>
            <a:ext cx="932688" cy="155448"/>
          </a:xfrm>
          <a:prstGeom prst="roundRect">
            <a:avLst>
              <a:gd name="adj" fmla="val 17647"/>
            </a:avLst>
          </a:prstGeom>
          <a:solidFill>
            <a:srgbClr val="1558A8"/>
          </a:solidFill>
          <a:ln w="12700">
            <a:solidFill>
              <a:srgbClr val="1558A8"/>
            </a:solidFill>
            <a:prstDash val="solid"/>
          </a:ln>
        </p:spPr>
      </p:sp>
      <p:sp>
        <p:nvSpPr>
          <p:cNvPr id="35" name="Text 33"/>
          <p:cNvSpPr/>
          <p:nvPr/>
        </p:nvSpPr>
        <p:spPr>
          <a:xfrm>
            <a:off x="3200400"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6" name="Shape 34"/>
          <p:cNvSpPr/>
          <p:nvPr/>
        </p:nvSpPr>
        <p:spPr>
          <a:xfrm>
            <a:off x="4215384" y="1069848"/>
            <a:ext cx="932688" cy="182880"/>
          </a:xfrm>
          <a:prstGeom prst="roundRect">
            <a:avLst>
              <a:gd name="adj" fmla="val 15000"/>
            </a:avLst>
          </a:prstGeom>
          <a:solidFill>
            <a:srgbClr val="FFFFFF"/>
          </a:solidFill>
          <a:ln w="9525">
            <a:solidFill>
              <a:srgbClr val="CBD5E1"/>
            </a:solidFill>
            <a:prstDash val="solid"/>
          </a:ln>
        </p:spPr>
      </p:sp>
      <p:sp>
        <p:nvSpPr>
          <p:cNvPr id="37" name="Text 35"/>
          <p:cNvSpPr/>
          <p:nvPr/>
        </p:nvSpPr>
        <p:spPr>
          <a:xfrm>
            <a:off x="4215384"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VOD Streams</a:t>
            </a:r>
            <a:endParaRPr lang="en-US" sz="750" dirty="0"/>
          </a:p>
        </p:txBody>
      </p:sp>
      <p:sp>
        <p:nvSpPr>
          <p:cNvPr id="38" name="Shape 36"/>
          <p:cNvSpPr/>
          <p:nvPr/>
        </p:nvSpPr>
        <p:spPr>
          <a:xfrm>
            <a:off x="4215384" y="1280160"/>
            <a:ext cx="932688" cy="155448"/>
          </a:xfrm>
          <a:prstGeom prst="roundRect">
            <a:avLst>
              <a:gd name="adj" fmla="val 17647"/>
            </a:avLst>
          </a:prstGeom>
          <a:solidFill>
            <a:srgbClr val="1558A8"/>
          </a:solidFill>
          <a:ln w="12700">
            <a:solidFill>
              <a:srgbClr val="1558A8"/>
            </a:solidFill>
            <a:prstDash val="solid"/>
          </a:ln>
        </p:spPr>
      </p:sp>
      <p:sp>
        <p:nvSpPr>
          <p:cNvPr id="39" name="Text 37"/>
          <p:cNvSpPr/>
          <p:nvPr/>
        </p:nvSpPr>
        <p:spPr>
          <a:xfrm>
            <a:off x="4215384"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0" name="Shape 38"/>
          <p:cNvSpPr/>
          <p:nvPr/>
        </p:nvSpPr>
        <p:spPr>
          <a:xfrm>
            <a:off x="5230368" y="1069848"/>
            <a:ext cx="932688" cy="182880"/>
          </a:xfrm>
          <a:prstGeom prst="roundRect">
            <a:avLst>
              <a:gd name="adj" fmla="val 15000"/>
            </a:avLst>
          </a:prstGeom>
          <a:solidFill>
            <a:srgbClr val="FFFFFF"/>
          </a:solidFill>
          <a:ln w="9525">
            <a:solidFill>
              <a:srgbClr val="CBD5E1"/>
            </a:solidFill>
            <a:prstDash val="solid"/>
          </a:ln>
        </p:spPr>
      </p:sp>
      <p:sp>
        <p:nvSpPr>
          <p:cNvPr id="41" name="Text 39"/>
          <p:cNvSpPr/>
          <p:nvPr/>
        </p:nvSpPr>
        <p:spPr>
          <a:xfrm>
            <a:off x="5230368"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42" name="Shape 40"/>
          <p:cNvSpPr/>
          <p:nvPr/>
        </p:nvSpPr>
        <p:spPr>
          <a:xfrm>
            <a:off x="5230368" y="1280160"/>
            <a:ext cx="932688" cy="155448"/>
          </a:xfrm>
          <a:prstGeom prst="roundRect">
            <a:avLst>
              <a:gd name="adj" fmla="val 17647"/>
            </a:avLst>
          </a:prstGeom>
          <a:solidFill>
            <a:srgbClr val="1558A8"/>
          </a:solidFill>
          <a:ln w="12700">
            <a:solidFill>
              <a:srgbClr val="1558A8"/>
            </a:solidFill>
            <a:prstDash val="solid"/>
          </a:ln>
        </p:spPr>
      </p:sp>
      <p:sp>
        <p:nvSpPr>
          <p:cNvPr id="43" name="Text 41"/>
          <p:cNvSpPr/>
          <p:nvPr/>
        </p:nvSpPr>
        <p:spPr>
          <a:xfrm>
            <a:off x="5230368"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4" name="Shape 42"/>
          <p:cNvSpPr/>
          <p:nvPr/>
        </p:nvSpPr>
        <p:spPr>
          <a:xfrm>
            <a:off x="164592" y="2336292"/>
            <a:ext cx="9116568" cy="1476756"/>
          </a:xfrm>
          <a:prstGeom prst="rect">
            <a:avLst/>
          </a:prstGeom>
          <a:solidFill>
            <a:srgbClr val="FFFFFF"/>
          </a:solidFill>
          <a:ln w="6350">
            <a:solidFill>
              <a:srgbClr val="E5E7EB"/>
            </a:solidFill>
            <a:prstDash val="solid"/>
          </a:ln>
        </p:spPr>
      </p:sp>
      <p:sp>
        <p:nvSpPr>
          <p:cNvPr id="45" name="Shape 43"/>
          <p:cNvSpPr/>
          <p:nvPr/>
        </p:nvSpPr>
        <p:spPr>
          <a:xfrm>
            <a:off x="182880" y="2409444"/>
            <a:ext cx="859536" cy="1330452"/>
          </a:xfrm>
          <a:prstGeom prst="roundRect">
            <a:avLst>
              <a:gd name="adj" fmla="val 5319"/>
            </a:avLst>
          </a:prstGeom>
          <a:solidFill>
            <a:srgbClr val="9CA3AF"/>
          </a:solidFill>
          <a:ln w="12700">
            <a:solidFill>
              <a:srgbClr val="9CA3AF"/>
            </a:solidFill>
            <a:prstDash val="solid"/>
          </a:ln>
        </p:spPr>
      </p:sp>
      <p:sp>
        <p:nvSpPr>
          <p:cNvPr id="46" name="Text 44"/>
          <p:cNvSpPr/>
          <p:nvPr/>
        </p:nvSpPr>
        <p:spPr>
          <a:xfrm>
            <a:off x="182880" y="240944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Player</a:t>
            </a:r>
            <a:endParaRPr lang="en-US" sz="800" dirty="0"/>
          </a:p>
        </p:txBody>
      </p:sp>
      <p:sp>
        <p:nvSpPr>
          <p:cNvPr id="47" name="Text 45"/>
          <p:cNvSpPr/>
          <p:nvPr/>
        </p:nvSpPr>
        <p:spPr>
          <a:xfrm>
            <a:off x="1170432" y="238201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2 / 2 In Progress</a:t>
            </a:r>
            <a:endParaRPr lang="en-US" sz="750" dirty="0"/>
          </a:p>
        </p:txBody>
      </p:sp>
      <p:sp>
        <p:nvSpPr>
          <p:cNvPr id="48" name="Shape 46"/>
          <p:cNvSpPr/>
          <p:nvPr/>
        </p:nvSpPr>
        <p:spPr>
          <a:xfrm>
            <a:off x="1170432" y="2601468"/>
            <a:ext cx="932688" cy="182880"/>
          </a:xfrm>
          <a:prstGeom prst="roundRect">
            <a:avLst>
              <a:gd name="adj" fmla="val 15000"/>
            </a:avLst>
          </a:prstGeom>
          <a:solidFill>
            <a:srgbClr val="FFFFFF"/>
          </a:solidFill>
          <a:ln w="9525">
            <a:solidFill>
              <a:srgbClr val="CBD5E1"/>
            </a:solidFill>
            <a:prstDash val="solid"/>
          </a:ln>
        </p:spPr>
      </p:sp>
      <p:sp>
        <p:nvSpPr>
          <p:cNvPr id="49" name="Text 47"/>
          <p:cNvSpPr/>
          <p:nvPr/>
        </p:nvSpPr>
        <p:spPr>
          <a:xfrm>
            <a:off x="1170432"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Android Player</a:t>
            </a:r>
            <a:endParaRPr lang="en-US" sz="750" dirty="0"/>
          </a:p>
        </p:txBody>
      </p:sp>
      <p:sp>
        <p:nvSpPr>
          <p:cNvPr id="50" name="Shape 48"/>
          <p:cNvSpPr/>
          <p:nvPr/>
        </p:nvSpPr>
        <p:spPr>
          <a:xfrm>
            <a:off x="1170432" y="2811780"/>
            <a:ext cx="932688" cy="155448"/>
          </a:xfrm>
          <a:prstGeom prst="roundRect">
            <a:avLst>
              <a:gd name="adj" fmla="val 17647"/>
            </a:avLst>
          </a:prstGeom>
          <a:solidFill>
            <a:srgbClr val="1558A8"/>
          </a:solidFill>
          <a:ln w="12700">
            <a:solidFill>
              <a:srgbClr val="1558A8"/>
            </a:solidFill>
            <a:prstDash val="solid"/>
          </a:ln>
        </p:spPr>
      </p:sp>
      <p:sp>
        <p:nvSpPr>
          <p:cNvPr id="51" name="Text 49"/>
          <p:cNvSpPr/>
          <p:nvPr/>
        </p:nvSpPr>
        <p:spPr>
          <a:xfrm>
            <a:off x="1170432"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52" name="Shape 50"/>
          <p:cNvSpPr/>
          <p:nvPr/>
        </p:nvSpPr>
        <p:spPr>
          <a:xfrm>
            <a:off x="2185416" y="2601468"/>
            <a:ext cx="932688" cy="182880"/>
          </a:xfrm>
          <a:prstGeom prst="roundRect">
            <a:avLst>
              <a:gd name="adj" fmla="val 15000"/>
            </a:avLst>
          </a:prstGeom>
          <a:solidFill>
            <a:srgbClr val="FFFFFF"/>
          </a:solidFill>
          <a:ln w="9525">
            <a:solidFill>
              <a:srgbClr val="CBD5E1"/>
            </a:solidFill>
            <a:prstDash val="solid"/>
          </a:ln>
        </p:spPr>
      </p:sp>
      <p:sp>
        <p:nvSpPr>
          <p:cNvPr id="53" name="Text 51"/>
          <p:cNvSpPr/>
          <p:nvPr/>
        </p:nvSpPr>
        <p:spPr>
          <a:xfrm>
            <a:off x="2185416"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HLS/DASH PB</a:t>
            </a:r>
            <a:endParaRPr lang="en-US" sz="750" dirty="0"/>
          </a:p>
        </p:txBody>
      </p:sp>
      <p:sp>
        <p:nvSpPr>
          <p:cNvPr id="54" name="Shape 52"/>
          <p:cNvSpPr/>
          <p:nvPr/>
        </p:nvSpPr>
        <p:spPr>
          <a:xfrm>
            <a:off x="2185416" y="2811780"/>
            <a:ext cx="932688" cy="155448"/>
          </a:xfrm>
          <a:prstGeom prst="roundRect">
            <a:avLst>
              <a:gd name="adj" fmla="val 17647"/>
            </a:avLst>
          </a:prstGeom>
          <a:solidFill>
            <a:srgbClr val="1558A8"/>
          </a:solidFill>
          <a:ln w="12700">
            <a:solidFill>
              <a:srgbClr val="1558A8"/>
            </a:solidFill>
            <a:prstDash val="solid"/>
          </a:ln>
        </p:spPr>
      </p:sp>
      <p:sp>
        <p:nvSpPr>
          <p:cNvPr id="55" name="Text 53"/>
          <p:cNvSpPr/>
          <p:nvPr/>
        </p:nvSpPr>
        <p:spPr>
          <a:xfrm>
            <a:off x="2185416"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56" name="Shape 54"/>
          <p:cNvSpPr/>
          <p:nvPr/>
        </p:nvSpPr>
        <p:spPr>
          <a:xfrm>
            <a:off x="164592" y="3867912"/>
            <a:ext cx="9116568" cy="1476756"/>
          </a:xfrm>
          <a:prstGeom prst="rect">
            <a:avLst/>
          </a:prstGeom>
          <a:solidFill>
            <a:srgbClr val="FAFBFC"/>
          </a:solidFill>
          <a:ln w="6350">
            <a:solidFill>
              <a:srgbClr val="E5E7EB"/>
            </a:solidFill>
            <a:prstDash val="solid"/>
          </a:ln>
        </p:spPr>
      </p:sp>
      <p:sp>
        <p:nvSpPr>
          <p:cNvPr id="57" name="Shape 55"/>
          <p:cNvSpPr/>
          <p:nvPr/>
        </p:nvSpPr>
        <p:spPr>
          <a:xfrm>
            <a:off x="182880" y="3941064"/>
            <a:ext cx="859536" cy="1330452"/>
          </a:xfrm>
          <a:prstGeom prst="roundRect">
            <a:avLst>
              <a:gd name="adj" fmla="val 5319"/>
            </a:avLst>
          </a:prstGeom>
          <a:solidFill>
            <a:srgbClr val="9CA3AF"/>
          </a:solidFill>
          <a:ln w="12700">
            <a:solidFill>
              <a:srgbClr val="9CA3AF"/>
            </a:solidFill>
            <a:prstDash val="solid"/>
          </a:ln>
        </p:spPr>
      </p:sp>
      <p:sp>
        <p:nvSpPr>
          <p:cNvPr id="58" name="Text 56"/>
          <p:cNvSpPr/>
          <p:nvPr/>
        </p:nvSpPr>
        <p:spPr>
          <a:xfrm>
            <a:off x="182880" y="394106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Merchandising</a:t>
            </a:r>
            <a:endParaRPr lang="en-US" sz="800" dirty="0"/>
          </a:p>
        </p:txBody>
      </p:sp>
      <p:sp>
        <p:nvSpPr>
          <p:cNvPr id="59" name="Text 57"/>
          <p:cNvSpPr/>
          <p:nvPr/>
        </p:nvSpPr>
        <p:spPr>
          <a:xfrm>
            <a:off x="1170432" y="391363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9 In Progress · 2 Done</a:t>
            </a:r>
            <a:endParaRPr lang="en-US" sz="750" dirty="0"/>
          </a:p>
        </p:txBody>
      </p:sp>
      <p:sp>
        <p:nvSpPr>
          <p:cNvPr id="60" name="Shape 58"/>
          <p:cNvSpPr/>
          <p:nvPr/>
        </p:nvSpPr>
        <p:spPr>
          <a:xfrm>
            <a:off x="1170432" y="4133088"/>
            <a:ext cx="932688" cy="182880"/>
          </a:xfrm>
          <a:prstGeom prst="roundRect">
            <a:avLst>
              <a:gd name="adj" fmla="val 15000"/>
            </a:avLst>
          </a:prstGeom>
          <a:solidFill>
            <a:srgbClr val="FFFFFF"/>
          </a:solidFill>
          <a:ln w="9525">
            <a:solidFill>
              <a:srgbClr val="CBD5E1"/>
            </a:solidFill>
            <a:prstDash val="solid"/>
          </a:ln>
        </p:spPr>
      </p:sp>
      <p:sp>
        <p:nvSpPr>
          <p:cNvPr id="61" name="Text 59"/>
          <p:cNvSpPr/>
          <p:nvPr/>
        </p:nvSpPr>
        <p:spPr>
          <a:xfrm>
            <a:off x="117043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Metadata</a:t>
            </a:r>
            <a:endParaRPr lang="en-US" sz="750" dirty="0"/>
          </a:p>
        </p:txBody>
      </p:sp>
      <p:sp>
        <p:nvSpPr>
          <p:cNvPr id="62" name="Shape 60"/>
          <p:cNvSpPr/>
          <p:nvPr/>
        </p:nvSpPr>
        <p:spPr>
          <a:xfrm>
            <a:off x="1170432" y="4343400"/>
            <a:ext cx="932688" cy="155448"/>
          </a:xfrm>
          <a:prstGeom prst="roundRect">
            <a:avLst>
              <a:gd name="adj" fmla="val 17647"/>
            </a:avLst>
          </a:prstGeom>
          <a:solidFill>
            <a:srgbClr val="1558A8"/>
          </a:solidFill>
          <a:ln w="12700">
            <a:solidFill>
              <a:srgbClr val="1558A8"/>
            </a:solidFill>
            <a:prstDash val="solid"/>
          </a:ln>
        </p:spPr>
      </p:sp>
      <p:sp>
        <p:nvSpPr>
          <p:cNvPr id="63" name="Text 61"/>
          <p:cNvSpPr/>
          <p:nvPr/>
        </p:nvSpPr>
        <p:spPr>
          <a:xfrm>
            <a:off x="117043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4" name="Shape 62"/>
          <p:cNvSpPr/>
          <p:nvPr/>
        </p:nvSpPr>
        <p:spPr>
          <a:xfrm>
            <a:off x="2185416" y="4133088"/>
            <a:ext cx="932688" cy="182880"/>
          </a:xfrm>
          <a:prstGeom prst="roundRect">
            <a:avLst>
              <a:gd name="adj" fmla="val 15000"/>
            </a:avLst>
          </a:prstGeom>
          <a:solidFill>
            <a:srgbClr val="FFFFFF"/>
          </a:solidFill>
          <a:ln w="9525">
            <a:solidFill>
              <a:srgbClr val="CBD5E1"/>
            </a:solidFill>
            <a:prstDash val="solid"/>
          </a:ln>
        </p:spPr>
      </p:sp>
      <p:sp>
        <p:nvSpPr>
          <p:cNvPr id="65" name="Text 63"/>
          <p:cNvSpPr/>
          <p:nvPr/>
        </p:nvSpPr>
        <p:spPr>
          <a:xfrm>
            <a:off x="218541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Images</a:t>
            </a:r>
            <a:endParaRPr lang="en-US" sz="750" dirty="0"/>
          </a:p>
        </p:txBody>
      </p:sp>
      <p:sp>
        <p:nvSpPr>
          <p:cNvPr id="66" name="Shape 64"/>
          <p:cNvSpPr/>
          <p:nvPr/>
        </p:nvSpPr>
        <p:spPr>
          <a:xfrm>
            <a:off x="2185416" y="4343400"/>
            <a:ext cx="932688" cy="155448"/>
          </a:xfrm>
          <a:prstGeom prst="roundRect">
            <a:avLst>
              <a:gd name="adj" fmla="val 17647"/>
            </a:avLst>
          </a:prstGeom>
          <a:solidFill>
            <a:srgbClr val="1558A8"/>
          </a:solidFill>
          <a:ln w="12700">
            <a:solidFill>
              <a:srgbClr val="1558A8"/>
            </a:solidFill>
            <a:prstDash val="solid"/>
          </a:ln>
        </p:spPr>
      </p:sp>
      <p:sp>
        <p:nvSpPr>
          <p:cNvPr id="67" name="Text 65"/>
          <p:cNvSpPr/>
          <p:nvPr/>
        </p:nvSpPr>
        <p:spPr>
          <a:xfrm>
            <a:off x="2185416"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8" name="Shape 66"/>
          <p:cNvSpPr/>
          <p:nvPr/>
        </p:nvSpPr>
        <p:spPr>
          <a:xfrm>
            <a:off x="3200400" y="4133088"/>
            <a:ext cx="932688" cy="182880"/>
          </a:xfrm>
          <a:prstGeom prst="roundRect">
            <a:avLst>
              <a:gd name="adj" fmla="val 15000"/>
            </a:avLst>
          </a:prstGeom>
          <a:solidFill>
            <a:srgbClr val="FFFFFF"/>
          </a:solidFill>
          <a:ln w="9525">
            <a:solidFill>
              <a:srgbClr val="CBD5E1"/>
            </a:solidFill>
            <a:prstDash val="solid"/>
          </a:ln>
        </p:spPr>
      </p:sp>
      <p:sp>
        <p:nvSpPr>
          <p:cNvPr id="69" name="Text 67"/>
          <p:cNvSpPr/>
          <p:nvPr/>
        </p:nvSpPr>
        <p:spPr>
          <a:xfrm>
            <a:off x="320040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Carousels</a:t>
            </a:r>
            <a:endParaRPr lang="en-US" sz="750" dirty="0"/>
          </a:p>
        </p:txBody>
      </p:sp>
      <p:sp>
        <p:nvSpPr>
          <p:cNvPr id="70" name="Shape 68"/>
          <p:cNvSpPr/>
          <p:nvPr/>
        </p:nvSpPr>
        <p:spPr>
          <a:xfrm>
            <a:off x="3200400" y="4343400"/>
            <a:ext cx="932688" cy="155448"/>
          </a:xfrm>
          <a:prstGeom prst="roundRect">
            <a:avLst>
              <a:gd name="adj" fmla="val 17647"/>
            </a:avLst>
          </a:prstGeom>
          <a:solidFill>
            <a:srgbClr val="1558A8"/>
          </a:solidFill>
          <a:ln w="12700">
            <a:solidFill>
              <a:srgbClr val="1558A8"/>
            </a:solidFill>
            <a:prstDash val="solid"/>
          </a:ln>
        </p:spPr>
      </p:sp>
      <p:sp>
        <p:nvSpPr>
          <p:cNvPr id="71" name="Text 69"/>
          <p:cNvSpPr/>
          <p:nvPr/>
        </p:nvSpPr>
        <p:spPr>
          <a:xfrm>
            <a:off x="3200400"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72" name="Shape 70"/>
          <p:cNvSpPr/>
          <p:nvPr/>
        </p:nvSpPr>
        <p:spPr>
          <a:xfrm>
            <a:off x="4215384" y="4133088"/>
            <a:ext cx="932688" cy="182880"/>
          </a:xfrm>
          <a:prstGeom prst="roundRect">
            <a:avLst>
              <a:gd name="adj" fmla="val 15000"/>
            </a:avLst>
          </a:prstGeom>
          <a:solidFill>
            <a:srgbClr val="FFFFFF"/>
          </a:solidFill>
          <a:ln w="9525">
            <a:solidFill>
              <a:srgbClr val="CBD5E1"/>
            </a:solidFill>
            <a:prstDash val="solid"/>
          </a:ln>
        </p:spPr>
      </p:sp>
      <p:sp>
        <p:nvSpPr>
          <p:cNvPr id="73" name="Text 71"/>
          <p:cNvSpPr/>
          <p:nvPr/>
        </p:nvSpPr>
        <p:spPr>
          <a:xfrm>
            <a:off x="4215384"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Live Events</a:t>
            </a:r>
            <a:endParaRPr lang="en-US" sz="750" dirty="0"/>
          </a:p>
        </p:txBody>
      </p:sp>
      <p:sp>
        <p:nvSpPr>
          <p:cNvPr id="74" name="Shape 72"/>
          <p:cNvSpPr/>
          <p:nvPr/>
        </p:nvSpPr>
        <p:spPr>
          <a:xfrm>
            <a:off x="4215384" y="4343400"/>
            <a:ext cx="932688" cy="155448"/>
          </a:xfrm>
          <a:prstGeom prst="roundRect">
            <a:avLst>
              <a:gd name="adj" fmla="val 17647"/>
            </a:avLst>
          </a:prstGeom>
          <a:solidFill>
            <a:srgbClr val="1558A8"/>
          </a:solidFill>
          <a:ln w="12700">
            <a:solidFill>
              <a:srgbClr val="1558A8"/>
            </a:solidFill>
            <a:prstDash val="solid"/>
          </a:ln>
        </p:spPr>
      </p:sp>
      <p:sp>
        <p:nvSpPr>
          <p:cNvPr id="75" name="Text 73"/>
          <p:cNvSpPr/>
          <p:nvPr/>
        </p:nvSpPr>
        <p:spPr>
          <a:xfrm>
            <a:off x="4215384"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76" name="Shape 74"/>
          <p:cNvSpPr/>
          <p:nvPr/>
        </p:nvSpPr>
        <p:spPr>
          <a:xfrm>
            <a:off x="5230368" y="4133088"/>
            <a:ext cx="932688" cy="182880"/>
          </a:xfrm>
          <a:prstGeom prst="roundRect">
            <a:avLst>
              <a:gd name="adj" fmla="val 15000"/>
            </a:avLst>
          </a:prstGeom>
          <a:solidFill>
            <a:srgbClr val="FFFFFF"/>
          </a:solidFill>
          <a:ln w="9525">
            <a:solidFill>
              <a:srgbClr val="CBD5E1"/>
            </a:solidFill>
            <a:prstDash val="solid"/>
          </a:ln>
        </p:spPr>
      </p:sp>
      <p:sp>
        <p:nvSpPr>
          <p:cNvPr id="77" name="Text 75"/>
          <p:cNvSpPr/>
          <p:nvPr/>
        </p:nvSpPr>
        <p:spPr>
          <a:xfrm>
            <a:off x="5230368"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Back Catalog</a:t>
            </a:r>
            <a:endParaRPr lang="en-US" sz="750" dirty="0"/>
          </a:p>
        </p:txBody>
      </p:sp>
      <p:sp>
        <p:nvSpPr>
          <p:cNvPr id="78" name="Shape 76"/>
          <p:cNvSpPr/>
          <p:nvPr/>
        </p:nvSpPr>
        <p:spPr>
          <a:xfrm>
            <a:off x="5230368" y="4343400"/>
            <a:ext cx="932688" cy="155448"/>
          </a:xfrm>
          <a:prstGeom prst="roundRect">
            <a:avLst>
              <a:gd name="adj" fmla="val 17647"/>
            </a:avLst>
          </a:prstGeom>
          <a:solidFill>
            <a:srgbClr val="F3F4F6"/>
          </a:solidFill>
          <a:ln w="9525">
            <a:solidFill>
              <a:srgbClr val="D1D5DB"/>
            </a:solidFill>
            <a:prstDash val="solid"/>
          </a:ln>
        </p:spPr>
      </p:sp>
      <p:sp>
        <p:nvSpPr>
          <p:cNvPr id="79" name="Text 77"/>
          <p:cNvSpPr/>
          <p:nvPr/>
        </p:nvSpPr>
        <p:spPr>
          <a:xfrm>
            <a:off x="5230368" y="434340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80" name="Shape 78"/>
          <p:cNvSpPr/>
          <p:nvPr/>
        </p:nvSpPr>
        <p:spPr>
          <a:xfrm>
            <a:off x="6245352" y="4133088"/>
            <a:ext cx="932688" cy="182880"/>
          </a:xfrm>
          <a:prstGeom prst="roundRect">
            <a:avLst>
              <a:gd name="adj" fmla="val 15000"/>
            </a:avLst>
          </a:prstGeom>
          <a:solidFill>
            <a:srgbClr val="FFFFFF"/>
          </a:solidFill>
          <a:ln w="9525">
            <a:solidFill>
              <a:srgbClr val="CBD5E1"/>
            </a:solidFill>
            <a:prstDash val="solid"/>
          </a:ln>
        </p:spPr>
      </p:sp>
      <p:sp>
        <p:nvSpPr>
          <p:cNvPr id="81" name="Text 79"/>
          <p:cNvSpPr/>
          <p:nvPr/>
        </p:nvSpPr>
        <p:spPr>
          <a:xfrm>
            <a:off x="624535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Full Replays</a:t>
            </a:r>
            <a:endParaRPr lang="en-US" sz="750" dirty="0"/>
          </a:p>
        </p:txBody>
      </p:sp>
      <p:sp>
        <p:nvSpPr>
          <p:cNvPr id="82" name="Shape 80"/>
          <p:cNvSpPr/>
          <p:nvPr/>
        </p:nvSpPr>
        <p:spPr>
          <a:xfrm>
            <a:off x="6245352" y="4343400"/>
            <a:ext cx="932688" cy="155448"/>
          </a:xfrm>
          <a:prstGeom prst="roundRect">
            <a:avLst>
              <a:gd name="adj" fmla="val 17647"/>
            </a:avLst>
          </a:prstGeom>
          <a:solidFill>
            <a:srgbClr val="1558A8"/>
          </a:solidFill>
          <a:ln w="12700">
            <a:solidFill>
              <a:srgbClr val="1558A8"/>
            </a:solidFill>
            <a:prstDash val="solid"/>
          </a:ln>
        </p:spPr>
      </p:sp>
      <p:sp>
        <p:nvSpPr>
          <p:cNvPr id="83" name="Text 81"/>
          <p:cNvSpPr/>
          <p:nvPr/>
        </p:nvSpPr>
        <p:spPr>
          <a:xfrm>
            <a:off x="624535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4" name="Shape 82"/>
          <p:cNvSpPr/>
          <p:nvPr/>
        </p:nvSpPr>
        <p:spPr>
          <a:xfrm>
            <a:off x="7260336" y="4133088"/>
            <a:ext cx="932688" cy="182880"/>
          </a:xfrm>
          <a:prstGeom prst="roundRect">
            <a:avLst>
              <a:gd name="adj" fmla="val 15000"/>
            </a:avLst>
          </a:prstGeom>
          <a:solidFill>
            <a:srgbClr val="FFFFFF"/>
          </a:solidFill>
          <a:ln w="9525">
            <a:solidFill>
              <a:srgbClr val="CBD5E1"/>
            </a:solidFill>
            <a:prstDash val="solid"/>
          </a:ln>
        </p:spPr>
      </p:sp>
      <p:sp>
        <p:nvSpPr>
          <p:cNvPr id="85" name="Text 83"/>
          <p:cNvSpPr/>
          <p:nvPr/>
        </p:nvSpPr>
        <p:spPr>
          <a:xfrm>
            <a:off x="726033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M15</a:t>
            </a:r>
            <a:endParaRPr lang="en-US" sz="750" dirty="0"/>
          </a:p>
        </p:txBody>
      </p:sp>
      <p:sp>
        <p:nvSpPr>
          <p:cNvPr id="86" name="Shape 84"/>
          <p:cNvSpPr/>
          <p:nvPr/>
        </p:nvSpPr>
        <p:spPr>
          <a:xfrm>
            <a:off x="7260336" y="4343400"/>
            <a:ext cx="932688" cy="155448"/>
          </a:xfrm>
          <a:prstGeom prst="roundRect">
            <a:avLst>
              <a:gd name="adj" fmla="val 17647"/>
            </a:avLst>
          </a:prstGeom>
          <a:solidFill>
            <a:srgbClr val="DCFCE7"/>
          </a:solidFill>
          <a:ln w="12700">
            <a:solidFill>
              <a:srgbClr val="15803D"/>
            </a:solidFill>
            <a:prstDash val="solid"/>
          </a:ln>
        </p:spPr>
      </p:sp>
      <p:sp>
        <p:nvSpPr>
          <p:cNvPr id="87" name="Text 85"/>
          <p:cNvSpPr/>
          <p:nvPr/>
        </p:nvSpPr>
        <p:spPr>
          <a:xfrm>
            <a:off x="7260336"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88" name="Shape 86"/>
          <p:cNvSpPr/>
          <p:nvPr/>
        </p:nvSpPr>
        <p:spPr>
          <a:xfrm>
            <a:off x="8275320" y="4133088"/>
            <a:ext cx="932688" cy="182880"/>
          </a:xfrm>
          <a:prstGeom prst="roundRect">
            <a:avLst>
              <a:gd name="adj" fmla="val 15000"/>
            </a:avLst>
          </a:prstGeom>
          <a:solidFill>
            <a:srgbClr val="FFFFFF"/>
          </a:solidFill>
          <a:ln w="9525">
            <a:solidFill>
              <a:srgbClr val="CBD5E1"/>
            </a:solidFill>
            <a:prstDash val="solid"/>
          </a:ln>
        </p:spPr>
      </p:sp>
      <p:sp>
        <p:nvSpPr>
          <p:cNvPr id="89" name="Text 87"/>
          <p:cNvSpPr/>
          <p:nvPr/>
        </p:nvSpPr>
        <p:spPr>
          <a:xfrm>
            <a:off x="827532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Highlights</a:t>
            </a:r>
            <a:endParaRPr lang="en-US" sz="750" dirty="0"/>
          </a:p>
        </p:txBody>
      </p:sp>
      <p:sp>
        <p:nvSpPr>
          <p:cNvPr id="90" name="Shape 88"/>
          <p:cNvSpPr/>
          <p:nvPr/>
        </p:nvSpPr>
        <p:spPr>
          <a:xfrm>
            <a:off x="8275320" y="4343400"/>
            <a:ext cx="932688" cy="155448"/>
          </a:xfrm>
          <a:prstGeom prst="roundRect">
            <a:avLst>
              <a:gd name="adj" fmla="val 17647"/>
            </a:avLst>
          </a:prstGeom>
          <a:solidFill>
            <a:srgbClr val="DCFCE7"/>
          </a:solidFill>
          <a:ln w="12700">
            <a:solidFill>
              <a:srgbClr val="15803D"/>
            </a:solidFill>
            <a:prstDash val="solid"/>
          </a:ln>
        </p:spPr>
      </p:sp>
      <p:sp>
        <p:nvSpPr>
          <p:cNvPr id="91" name="Text 89"/>
          <p:cNvSpPr/>
          <p:nvPr/>
        </p:nvSpPr>
        <p:spPr>
          <a:xfrm>
            <a:off x="8275320"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92" name="Shape 90"/>
          <p:cNvSpPr/>
          <p:nvPr/>
        </p:nvSpPr>
        <p:spPr>
          <a:xfrm>
            <a:off x="1170432" y="4590288"/>
            <a:ext cx="932688" cy="182880"/>
          </a:xfrm>
          <a:prstGeom prst="roundRect">
            <a:avLst>
              <a:gd name="adj" fmla="val 15000"/>
            </a:avLst>
          </a:prstGeom>
          <a:solidFill>
            <a:srgbClr val="FFFFFF"/>
          </a:solidFill>
          <a:ln w="9525">
            <a:solidFill>
              <a:srgbClr val="CBD5E1"/>
            </a:solidFill>
            <a:prstDash val="solid"/>
          </a:ln>
        </p:spPr>
      </p:sp>
      <p:sp>
        <p:nvSpPr>
          <p:cNvPr id="93" name="Text 91"/>
          <p:cNvSpPr/>
          <p:nvPr/>
        </p:nvSpPr>
        <p:spPr>
          <a:xfrm>
            <a:off x="1170432" y="45902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94" name="Shape 92"/>
          <p:cNvSpPr/>
          <p:nvPr/>
        </p:nvSpPr>
        <p:spPr>
          <a:xfrm>
            <a:off x="1170432" y="4800600"/>
            <a:ext cx="932688" cy="155448"/>
          </a:xfrm>
          <a:prstGeom prst="roundRect">
            <a:avLst>
              <a:gd name="adj" fmla="val 17647"/>
            </a:avLst>
          </a:prstGeom>
          <a:solidFill>
            <a:srgbClr val="1558A8"/>
          </a:solidFill>
          <a:ln w="12700">
            <a:solidFill>
              <a:srgbClr val="1558A8"/>
            </a:solidFill>
            <a:prstDash val="solid"/>
          </a:ln>
        </p:spPr>
      </p:sp>
      <p:sp>
        <p:nvSpPr>
          <p:cNvPr id="95" name="Text 93"/>
          <p:cNvSpPr/>
          <p:nvPr/>
        </p:nvSpPr>
        <p:spPr>
          <a:xfrm>
            <a:off x="1170432" y="48006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96" name="Shape 94"/>
          <p:cNvSpPr/>
          <p:nvPr/>
        </p:nvSpPr>
        <p:spPr>
          <a:xfrm>
            <a:off x="164592" y="5399532"/>
            <a:ext cx="9116568" cy="1476756"/>
          </a:xfrm>
          <a:prstGeom prst="rect">
            <a:avLst/>
          </a:prstGeom>
          <a:solidFill>
            <a:srgbClr val="FFFFFF"/>
          </a:solidFill>
          <a:ln w="6350">
            <a:solidFill>
              <a:srgbClr val="E5E7EB"/>
            </a:solidFill>
            <a:prstDash val="solid"/>
          </a:ln>
        </p:spPr>
      </p:sp>
      <p:sp>
        <p:nvSpPr>
          <p:cNvPr id="97" name="Shape 95"/>
          <p:cNvSpPr/>
          <p:nvPr/>
        </p:nvSpPr>
        <p:spPr>
          <a:xfrm>
            <a:off x="182880" y="5472684"/>
            <a:ext cx="859536" cy="1330452"/>
          </a:xfrm>
          <a:prstGeom prst="roundRect">
            <a:avLst>
              <a:gd name="adj" fmla="val 5319"/>
            </a:avLst>
          </a:prstGeom>
          <a:solidFill>
            <a:srgbClr val="9CA3AF"/>
          </a:solidFill>
          <a:ln w="12700">
            <a:solidFill>
              <a:srgbClr val="9CA3AF"/>
            </a:solidFill>
            <a:prstDash val="solid"/>
          </a:ln>
        </p:spPr>
      </p:sp>
      <p:sp>
        <p:nvSpPr>
          <p:cNvPr id="98" name="Text 96"/>
          <p:cNvSpPr/>
          <p:nvPr/>
        </p:nvSpPr>
        <p:spPr>
          <a:xfrm>
            <a:off x="182880" y="547268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Onboarding</a:t>
            </a:r>
            <a:endParaRPr lang="en-US" sz="800" dirty="0"/>
          </a:p>
        </p:txBody>
      </p:sp>
      <p:sp>
        <p:nvSpPr>
          <p:cNvPr id="99" name="Text 97"/>
          <p:cNvSpPr/>
          <p:nvPr/>
        </p:nvSpPr>
        <p:spPr>
          <a:xfrm>
            <a:off x="1170432" y="544525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4 / 6 In Progress · 1 Done</a:t>
            </a:r>
            <a:endParaRPr lang="en-US" sz="750" dirty="0"/>
          </a:p>
        </p:txBody>
      </p:sp>
      <p:sp>
        <p:nvSpPr>
          <p:cNvPr id="100" name="Shape 98"/>
          <p:cNvSpPr/>
          <p:nvPr/>
        </p:nvSpPr>
        <p:spPr>
          <a:xfrm>
            <a:off x="1170432" y="5664708"/>
            <a:ext cx="932688" cy="182880"/>
          </a:xfrm>
          <a:prstGeom prst="roundRect">
            <a:avLst>
              <a:gd name="adj" fmla="val 15000"/>
            </a:avLst>
          </a:prstGeom>
          <a:solidFill>
            <a:srgbClr val="FFFFFF"/>
          </a:solidFill>
          <a:ln w="9525">
            <a:solidFill>
              <a:srgbClr val="CBD5E1"/>
            </a:solidFill>
            <a:prstDash val="solid"/>
          </a:ln>
        </p:spPr>
      </p:sp>
      <p:sp>
        <p:nvSpPr>
          <p:cNvPr id="101" name="Text 99"/>
          <p:cNvSpPr/>
          <p:nvPr/>
        </p:nvSpPr>
        <p:spPr>
          <a:xfrm>
            <a:off x="117043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Unentitled</a:t>
            </a:r>
            <a:endParaRPr lang="en-US" sz="750" dirty="0"/>
          </a:p>
        </p:txBody>
      </p:sp>
      <p:sp>
        <p:nvSpPr>
          <p:cNvPr id="102" name="Shape 100"/>
          <p:cNvSpPr/>
          <p:nvPr/>
        </p:nvSpPr>
        <p:spPr>
          <a:xfrm>
            <a:off x="1170432" y="5875020"/>
            <a:ext cx="932688" cy="155448"/>
          </a:xfrm>
          <a:prstGeom prst="roundRect">
            <a:avLst>
              <a:gd name="adj" fmla="val 17647"/>
            </a:avLst>
          </a:prstGeom>
          <a:solidFill>
            <a:srgbClr val="1558A8"/>
          </a:solidFill>
          <a:ln w="12700">
            <a:solidFill>
              <a:srgbClr val="1558A8"/>
            </a:solidFill>
            <a:prstDash val="solid"/>
          </a:ln>
        </p:spPr>
      </p:sp>
      <p:sp>
        <p:nvSpPr>
          <p:cNvPr id="103" name="Text 101"/>
          <p:cNvSpPr/>
          <p:nvPr/>
        </p:nvSpPr>
        <p:spPr>
          <a:xfrm>
            <a:off x="1170432"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4" name="Shape 102"/>
          <p:cNvSpPr/>
          <p:nvPr/>
        </p:nvSpPr>
        <p:spPr>
          <a:xfrm>
            <a:off x="2185416" y="5664708"/>
            <a:ext cx="932688" cy="182880"/>
          </a:xfrm>
          <a:prstGeom prst="roundRect">
            <a:avLst>
              <a:gd name="adj" fmla="val 15000"/>
            </a:avLst>
          </a:prstGeom>
          <a:solidFill>
            <a:srgbClr val="FFFFFF"/>
          </a:solidFill>
          <a:ln w="9525">
            <a:solidFill>
              <a:srgbClr val="CBD5E1"/>
            </a:solidFill>
            <a:prstDash val="solid"/>
          </a:ln>
        </p:spPr>
      </p:sp>
      <p:sp>
        <p:nvSpPr>
          <p:cNvPr id="105" name="Text 103"/>
          <p:cNvSpPr/>
          <p:nvPr/>
        </p:nvSpPr>
        <p:spPr>
          <a:xfrm>
            <a:off x="2185416"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Sign-in</a:t>
            </a:r>
            <a:endParaRPr lang="en-US" sz="750" dirty="0"/>
          </a:p>
        </p:txBody>
      </p:sp>
      <p:sp>
        <p:nvSpPr>
          <p:cNvPr id="106" name="Shape 104"/>
          <p:cNvSpPr/>
          <p:nvPr/>
        </p:nvSpPr>
        <p:spPr>
          <a:xfrm>
            <a:off x="2185416" y="5875020"/>
            <a:ext cx="932688" cy="155448"/>
          </a:xfrm>
          <a:prstGeom prst="roundRect">
            <a:avLst>
              <a:gd name="adj" fmla="val 17647"/>
            </a:avLst>
          </a:prstGeom>
          <a:solidFill>
            <a:srgbClr val="1558A8"/>
          </a:solidFill>
          <a:ln w="12700">
            <a:solidFill>
              <a:srgbClr val="1558A8"/>
            </a:solidFill>
            <a:prstDash val="solid"/>
          </a:ln>
        </p:spPr>
      </p:sp>
      <p:sp>
        <p:nvSpPr>
          <p:cNvPr id="107" name="Text 105"/>
          <p:cNvSpPr/>
          <p:nvPr/>
        </p:nvSpPr>
        <p:spPr>
          <a:xfrm>
            <a:off x="2185416"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8" name="Shape 106"/>
          <p:cNvSpPr/>
          <p:nvPr/>
        </p:nvSpPr>
        <p:spPr>
          <a:xfrm>
            <a:off x="3200400" y="5664708"/>
            <a:ext cx="932688" cy="182880"/>
          </a:xfrm>
          <a:prstGeom prst="roundRect">
            <a:avLst>
              <a:gd name="adj" fmla="val 15000"/>
            </a:avLst>
          </a:prstGeom>
          <a:solidFill>
            <a:srgbClr val="FFFFFF"/>
          </a:solidFill>
          <a:ln w="9525">
            <a:solidFill>
              <a:srgbClr val="CBD5E1"/>
            </a:solidFill>
            <a:prstDash val="solid"/>
          </a:ln>
        </p:spPr>
      </p:sp>
      <p:sp>
        <p:nvSpPr>
          <p:cNvPr id="109" name="Text 107"/>
          <p:cNvSpPr/>
          <p:nvPr/>
        </p:nvSpPr>
        <p:spPr>
          <a:xfrm>
            <a:off x="3200400"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Subscription</a:t>
            </a:r>
            <a:endParaRPr lang="en-US" sz="750" dirty="0"/>
          </a:p>
        </p:txBody>
      </p:sp>
      <p:sp>
        <p:nvSpPr>
          <p:cNvPr id="110" name="Shape 108"/>
          <p:cNvSpPr/>
          <p:nvPr/>
        </p:nvSpPr>
        <p:spPr>
          <a:xfrm>
            <a:off x="3200400" y="5875020"/>
            <a:ext cx="932688" cy="155448"/>
          </a:xfrm>
          <a:prstGeom prst="roundRect">
            <a:avLst>
              <a:gd name="adj" fmla="val 17647"/>
            </a:avLst>
          </a:prstGeom>
          <a:solidFill>
            <a:srgbClr val="1558A8"/>
          </a:solidFill>
          <a:ln w="12700">
            <a:solidFill>
              <a:srgbClr val="1558A8"/>
            </a:solidFill>
            <a:prstDash val="solid"/>
          </a:ln>
        </p:spPr>
      </p:sp>
      <p:sp>
        <p:nvSpPr>
          <p:cNvPr id="111" name="Text 109"/>
          <p:cNvSpPr/>
          <p:nvPr/>
        </p:nvSpPr>
        <p:spPr>
          <a:xfrm>
            <a:off x="3200400"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12" name="Shape 110"/>
          <p:cNvSpPr/>
          <p:nvPr/>
        </p:nvSpPr>
        <p:spPr>
          <a:xfrm>
            <a:off x="4215384" y="5664708"/>
            <a:ext cx="932688" cy="182880"/>
          </a:xfrm>
          <a:prstGeom prst="roundRect">
            <a:avLst>
              <a:gd name="adj" fmla="val 15000"/>
            </a:avLst>
          </a:prstGeom>
          <a:solidFill>
            <a:srgbClr val="FFFFFF"/>
          </a:solidFill>
          <a:ln w="9525">
            <a:solidFill>
              <a:srgbClr val="CBD5E1"/>
            </a:solidFill>
            <a:prstDash val="solid"/>
          </a:ln>
        </p:spPr>
      </p:sp>
      <p:sp>
        <p:nvSpPr>
          <p:cNvPr id="113" name="Text 111"/>
          <p:cNvSpPr/>
          <p:nvPr/>
        </p:nvSpPr>
        <p:spPr>
          <a:xfrm>
            <a:off x="4215384"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MVPD</a:t>
            </a:r>
            <a:endParaRPr lang="en-US" sz="750" dirty="0"/>
          </a:p>
        </p:txBody>
      </p:sp>
      <p:sp>
        <p:nvSpPr>
          <p:cNvPr id="114" name="Shape 112"/>
          <p:cNvSpPr/>
          <p:nvPr/>
        </p:nvSpPr>
        <p:spPr>
          <a:xfrm>
            <a:off x="4215384" y="5875020"/>
            <a:ext cx="932688" cy="155448"/>
          </a:xfrm>
          <a:prstGeom prst="roundRect">
            <a:avLst>
              <a:gd name="adj" fmla="val 17647"/>
            </a:avLst>
          </a:prstGeom>
          <a:solidFill>
            <a:srgbClr val="DCFCE7"/>
          </a:solidFill>
          <a:ln w="12700">
            <a:solidFill>
              <a:srgbClr val="15803D"/>
            </a:solidFill>
            <a:prstDash val="solid"/>
          </a:ln>
        </p:spPr>
      </p:sp>
      <p:sp>
        <p:nvSpPr>
          <p:cNvPr id="115" name="Text 113"/>
          <p:cNvSpPr/>
          <p:nvPr/>
        </p:nvSpPr>
        <p:spPr>
          <a:xfrm>
            <a:off x="4215384" y="587502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16" name="Shape 114"/>
          <p:cNvSpPr/>
          <p:nvPr/>
        </p:nvSpPr>
        <p:spPr>
          <a:xfrm>
            <a:off x="5230368" y="5664708"/>
            <a:ext cx="932688" cy="182880"/>
          </a:xfrm>
          <a:prstGeom prst="roundRect">
            <a:avLst>
              <a:gd name="adj" fmla="val 15000"/>
            </a:avLst>
          </a:prstGeom>
          <a:solidFill>
            <a:srgbClr val="FFFFFF"/>
          </a:solidFill>
          <a:ln w="9525">
            <a:solidFill>
              <a:srgbClr val="CBD5E1"/>
            </a:solidFill>
            <a:prstDash val="solid"/>
          </a:ln>
        </p:spPr>
      </p:sp>
      <p:sp>
        <p:nvSpPr>
          <p:cNvPr id="117" name="Text 115"/>
          <p:cNvSpPr/>
          <p:nvPr/>
        </p:nvSpPr>
        <p:spPr>
          <a:xfrm>
            <a:off x="5230368"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Cleeng</a:t>
            </a:r>
            <a:endParaRPr lang="en-US" sz="750" dirty="0"/>
          </a:p>
        </p:txBody>
      </p:sp>
      <p:sp>
        <p:nvSpPr>
          <p:cNvPr id="118" name="Shape 116"/>
          <p:cNvSpPr/>
          <p:nvPr/>
        </p:nvSpPr>
        <p:spPr>
          <a:xfrm>
            <a:off x="5230368" y="5875020"/>
            <a:ext cx="932688" cy="155448"/>
          </a:xfrm>
          <a:prstGeom prst="roundRect">
            <a:avLst>
              <a:gd name="adj" fmla="val 17647"/>
            </a:avLst>
          </a:prstGeom>
          <a:solidFill>
            <a:srgbClr val="1558A8"/>
          </a:solidFill>
          <a:ln w="12700">
            <a:solidFill>
              <a:srgbClr val="1558A8"/>
            </a:solidFill>
            <a:prstDash val="solid"/>
          </a:ln>
        </p:spPr>
      </p:sp>
      <p:sp>
        <p:nvSpPr>
          <p:cNvPr id="119" name="Text 117"/>
          <p:cNvSpPr/>
          <p:nvPr/>
        </p:nvSpPr>
        <p:spPr>
          <a:xfrm>
            <a:off x="5230368"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20" name="Shape 118"/>
          <p:cNvSpPr/>
          <p:nvPr/>
        </p:nvSpPr>
        <p:spPr>
          <a:xfrm>
            <a:off x="6245352" y="5664708"/>
            <a:ext cx="932688" cy="182880"/>
          </a:xfrm>
          <a:prstGeom prst="roundRect">
            <a:avLst>
              <a:gd name="adj" fmla="val 15000"/>
            </a:avLst>
          </a:prstGeom>
          <a:solidFill>
            <a:srgbClr val="FFFFFF"/>
          </a:solidFill>
          <a:ln w="9525">
            <a:solidFill>
              <a:srgbClr val="CBD5E1"/>
            </a:solidFill>
            <a:prstDash val="solid"/>
          </a:ln>
        </p:spPr>
      </p:sp>
      <p:sp>
        <p:nvSpPr>
          <p:cNvPr id="121" name="Text 119"/>
          <p:cNvSpPr/>
          <p:nvPr/>
        </p:nvSpPr>
        <p:spPr>
          <a:xfrm>
            <a:off x="624535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Promos</a:t>
            </a:r>
            <a:endParaRPr lang="en-US" sz="750" dirty="0"/>
          </a:p>
        </p:txBody>
      </p:sp>
      <p:sp>
        <p:nvSpPr>
          <p:cNvPr id="122" name="Shape 120"/>
          <p:cNvSpPr/>
          <p:nvPr/>
        </p:nvSpPr>
        <p:spPr>
          <a:xfrm>
            <a:off x="6245352" y="5875020"/>
            <a:ext cx="932688" cy="155448"/>
          </a:xfrm>
          <a:prstGeom prst="roundRect">
            <a:avLst>
              <a:gd name="adj" fmla="val 17647"/>
            </a:avLst>
          </a:prstGeom>
          <a:solidFill>
            <a:srgbClr val="F3F4F6"/>
          </a:solidFill>
          <a:ln w="9525">
            <a:solidFill>
              <a:srgbClr val="D1D5DB"/>
            </a:solidFill>
            <a:prstDash val="solid"/>
          </a:ln>
        </p:spPr>
      </p:sp>
      <p:sp>
        <p:nvSpPr>
          <p:cNvPr id="123" name="Text 121"/>
          <p:cNvSpPr/>
          <p:nvPr/>
        </p:nvSpPr>
        <p:spPr>
          <a:xfrm>
            <a:off x="6245352" y="587502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124" name="Shape 122"/>
          <p:cNvSpPr/>
          <p:nvPr/>
        </p:nvSpPr>
        <p:spPr>
          <a:xfrm>
            <a:off x="9372600" y="804672"/>
            <a:ext cx="2834640" cy="6071616"/>
          </a:xfrm>
          <a:prstGeom prst="rect">
            <a:avLst/>
          </a:prstGeom>
          <a:solidFill>
            <a:srgbClr val="F8FAFB"/>
          </a:solidFill>
          <a:ln w="12700">
            <a:solidFill>
              <a:srgbClr val="DDE1E6"/>
            </a:solidFill>
            <a:prstDash val="solid"/>
          </a:ln>
        </p:spPr>
      </p:sp>
      <p:sp>
        <p:nvSpPr>
          <p:cNvPr id="125" name="Text 123"/>
          <p:cNvSpPr/>
          <p:nvPr/>
        </p:nvSpPr>
        <p:spPr>
          <a:xfrm>
            <a:off x="9500616" y="950976"/>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Milestones</a:t>
            </a:r>
            <a:endParaRPr lang="en-US" sz="950" dirty="0"/>
          </a:p>
        </p:txBody>
      </p:sp>
      <p:sp>
        <p:nvSpPr>
          <p:cNvPr id="126" name="Shape 124"/>
          <p:cNvSpPr/>
          <p:nvPr/>
        </p:nvSpPr>
        <p:spPr>
          <a:xfrm>
            <a:off x="9464040" y="1225296"/>
            <a:ext cx="2670048" cy="420624"/>
          </a:xfrm>
          <a:prstGeom prst="rect">
            <a:avLst/>
          </a:prstGeom>
          <a:solidFill>
            <a:srgbClr val="FFFFFF"/>
          </a:solidFill>
          <a:ln w="6350">
            <a:solidFill>
              <a:srgbClr val="E5E7EB"/>
            </a:solidFill>
            <a:prstDash val="solid"/>
          </a:ln>
        </p:spPr>
      </p:sp>
      <p:sp>
        <p:nvSpPr>
          <p:cNvPr id="127" name="Shape 125"/>
          <p:cNvSpPr/>
          <p:nvPr/>
        </p:nvSpPr>
        <p:spPr>
          <a:xfrm>
            <a:off x="9537192" y="1316736"/>
            <a:ext cx="109728" cy="109728"/>
          </a:xfrm>
          <a:prstGeom prst="ellipse">
            <a:avLst/>
          </a:prstGeom>
          <a:solidFill>
            <a:srgbClr val="16A34A"/>
          </a:solidFill>
          <a:ln w="12700">
            <a:solidFill>
              <a:srgbClr val="16A34A"/>
            </a:solidFill>
            <a:prstDash val="solid"/>
          </a:ln>
        </p:spPr>
      </p:sp>
      <p:sp>
        <p:nvSpPr>
          <p:cNvPr id="128" name="Text 126"/>
          <p:cNvSpPr/>
          <p:nvPr/>
        </p:nvSpPr>
        <p:spPr>
          <a:xfrm>
            <a:off x="9701784" y="1243584"/>
            <a:ext cx="2304288" cy="173736"/>
          </a:xfrm>
          <a:prstGeom prst="rect">
            <a:avLst/>
          </a:prstGeom>
          <a:noFill/>
          <a:ln/>
        </p:spPr>
        <p:txBody>
          <a:bodyPr wrap="square" lIns="0" tIns="0" rIns="0" bIns="0" rtlCol="0" anchor="ctr"/>
          <a:lstStyle/>
          <a:p>
            <a:pPr indent="0" marL="0">
              <a:buNone/>
            </a:pPr>
            <a:r>
              <a:rPr lang="en-US" sz="800" b="1" dirty="0">
                <a:solidFill>
                  <a:srgbClr val="15803D"/>
                </a:solidFill>
              </a:rPr>
              <a:t>Requirements</a:t>
            </a:r>
            <a:endParaRPr lang="en-US" sz="800" dirty="0"/>
          </a:p>
        </p:txBody>
      </p:sp>
      <p:sp>
        <p:nvSpPr>
          <p:cNvPr id="129" name="Text 127"/>
          <p:cNvSpPr/>
          <p:nvPr/>
        </p:nvSpPr>
        <p:spPr>
          <a:xfrm>
            <a:off x="9701784" y="1453896"/>
            <a:ext cx="1773936" cy="137160"/>
          </a:xfrm>
          <a:prstGeom prst="rect">
            <a:avLst/>
          </a:prstGeom>
          <a:noFill/>
          <a:ln/>
        </p:spPr>
        <p:txBody>
          <a:bodyPr wrap="square" lIns="0" tIns="0" rIns="0" bIns="0" rtlCol="0" anchor="ctr"/>
          <a:lstStyle/>
          <a:p>
            <a:pPr indent="0" marL="0">
              <a:buNone/>
            </a:pPr>
            <a:r>
              <a:rPr lang="en-US" sz="700" dirty="0">
                <a:solidFill>
                  <a:srgbClr val="6B7280"/>
                </a:solidFill>
              </a:rPr>
              <a:t>Jun 30, 2026</a:t>
            </a:r>
            <a:endParaRPr lang="en-US" sz="700" dirty="0"/>
          </a:p>
        </p:txBody>
      </p:sp>
      <p:sp>
        <p:nvSpPr>
          <p:cNvPr id="130" name="Shape 128"/>
          <p:cNvSpPr/>
          <p:nvPr/>
        </p:nvSpPr>
        <p:spPr>
          <a:xfrm>
            <a:off x="11494008" y="1453896"/>
            <a:ext cx="658368" cy="137160"/>
          </a:xfrm>
          <a:prstGeom prst="roundRect">
            <a:avLst>
              <a:gd name="adj" fmla="val 20000"/>
            </a:avLst>
          </a:prstGeom>
          <a:solidFill>
            <a:srgbClr val="DCFCE7"/>
          </a:solidFill>
          <a:ln w="12700">
            <a:solidFill>
              <a:srgbClr val="DCFCE7"/>
            </a:solidFill>
            <a:prstDash val="solid"/>
          </a:ln>
        </p:spPr>
      </p:sp>
      <p:sp>
        <p:nvSpPr>
          <p:cNvPr id="131" name="Text 129"/>
          <p:cNvSpPr/>
          <p:nvPr/>
        </p:nvSpPr>
        <p:spPr>
          <a:xfrm>
            <a:off x="11494008" y="1453896"/>
            <a:ext cx="658368" cy="137160"/>
          </a:xfrm>
          <a:prstGeom prst="rect">
            <a:avLst/>
          </a:prstGeom>
          <a:noFill/>
          <a:ln/>
        </p:spPr>
        <p:txBody>
          <a:bodyPr wrap="square" lIns="0" tIns="0" rIns="0" bIns="0" rtlCol="0" anchor="ctr"/>
          <a:lstStyle/>
          <a:p>
            <a:pPr algn="ctr" indent="0" marL="0">
              <a:buNone/>
            </a:pPr>
            <a:r>
              <a:rPr lang="en-US" sz="600" b="1" dirty="0">
                <a:solidFill>
                  <a:srgbClr val="166534"/>
                </a:solidFill>
              </a:rPr>
              <a:t>Complete</a:t>
            </a:r>
            <a:endParaRPr lang="en-US" sz="600" dirty="0"/>
          </a:p>
        </p:txBody>
      </p:sp>
      <p:sp>
        <p:nvSpPr>
          <p:cNvPr id="132" name="Shape 130"/>
          <p:cNvSpPr/>
          <p:nvPr/>
        </p:nvSpPr>
        <p:spPr>
          <a:xfrm>
            <a:off x="9464040" y="1700784"/>
            <a:ext cx="2670048" cy="420624"/>
          </a:xfrm>
          <a:prstGeom prst="rect">
            <a:avLst/>
          </a:prstGeom>
          <a:solidFill>
            <a:srgbClr val="FFFFFF"/>
          </a:solidFill>
          <a:ln w="6350">
            <a:solidFill>
              <a:srgbClr val="E5E7EB"/>
            </a:solidFill>
            <a:prstDash val="solid"/>
          </a:ln>
        </p:spPr>
      </p:sp>
      <p:sp>
        <p:nvSpPr>
          <p:cNvPr id="133" name="Shape 131"/>
          <p:cNvSpPr/>
          <p:nvPr/>
        </p:nvSpPr>
        <p:spPr>
          <a:xfrm>
            <a:off x="9537192" y="1792224"/>
            <a:ext cx="109728" cy="109728"/>
          </a:xfrm>
          <a:prstGeom prst="ellipse">
            <a:avLst/>
          </a:prstGeom>
          <a:solidFill>
            <a:srgbClr val="1558A8"/>
          </a:solidFill>
          <a:ln w="12700">
            <a:solidFill>
              <a:srgbClr val="1558A8"/>
            </a:solidFill>
            <a:prstDash val="solid"/>
          </a:ln>
        </p:spPr>
      </p:sp>
      <p:sp>
        <p:nvSpPr>
          <p:cNvPr id="134" name="Text 132"/>
          <p:cNvSpPr/>
          <p:nvPr/>
        </p:nvSpPr>
        <p:spPr>
          <a:xfrm>
            <a:off x="9701784" y="1719072"/>
            <a:ext cx="2304288" cy="173736"/>
          </a:xfrm>
          <a:prstGeom prst="rect">
            <a:avLst/>
          </a:prstGeom>
          <a:noFill/>
          <a:ln/>
        </p:spPr>
        <p:txBody>
          <a:bodyPr wrap="square" lIns="0" tIns="0" rIns="0" bIns="0" rtlCol="0" anchor="ctr"/>
          <a:lstStyle/>
          <a:p>
            <a:pPr indent="0" marL="0">
              <a:buNone/>
            </a:pPr>
            <a:r>
              <a:rPr lang="en-US" sz="800" b="1" dirty="0">
                <a:solidFill>
                  <a:srgbClr val="1D4ED8"/>
                </a:solidFill>
              </a:rPr>
              <a:t>Beta</a:t>
            </a:r>
            <a:endParaRPr lang="en-US" sz="800" dirty="0"/>
          </a:p>
        </p:txBody>
      </p:sp>
      <p:sp>
        <p:nvSpPr>
          <p:cNvPr id="135" name="Text 133"/>
          <p:cNvSpPr/>
          <p:nvPr/>
        </p:nvSpPr>
        <p:spPr>
          <a:xfrm>
            <a:off x="9701784" y="1929384"/>
            <a:ext cx="1773936" cy="137160"/>
          </a:xfrm>
          <a:prstGeom prst="rect">
            <a:avLst/>
          </a:prstGeom>
          <a:noFill/>
          <a:ln/>
        </p:spPr>
        <p:txBody>
          <a:bodyPr wrap="square" lIns="0" tIns="0" rIns="0" bIns="0" rtlCol="0" anchor="ctr"/>
          <a:lstStyle/>
          <a:p>
            <a:pPr indent="0" marL="0">
              <a:buNone/>
            </a:pPr>
            <a:r>
              <a:rPr lang="en-US" sz="700" dirty="0">
                <a:solidFill>
                  <a:srgbClr val="6B7280"/>
                </a:solidFill>
              </a:rPr>
              <a:t>Sep 30, 2026</a:t>
            </a:r>
            <a:endParaRPr lang="en-US" sz="700" dirty="0"/>
          </a:p>
        </p:txBody>
      </p:sp>
      <p:sp>
        <p:nvSpPr>
          <p:cNvPr id="136" name="Shape 134"/>
          <p:cNvSpPr/>
          <p:nvPr/>
        </p:nvSpPr>
        <p:spPr>
          <a:xfrm>
            <a:off x="11494008" y="1929384"/>
            <a:ext cx="658368" cy="137160"/>
          </a:xfrm>
          <a:prstGeom prst="roundRect">
            <a:avLst>
              <a:gd name="adj" fmla="val 20000"/>
            </a:avLst>
          </a:prstGeom>
          <a:solidFill>
            <a:srgbClr val="DBEAFE"/>
          </a:solidFill>
          <a:ln w="12700">
            <a:solidFill>
              <a:srgbClr val="DBEAFE"/>
            </a:solidFill>
            <a:prstDash val="solid"/>
          </a:ln>
        </p:spPr>
      </p:sp>
      <p:sp>
        <p:nvSpPr>
          <p:cNvPr id="137" name="Text 135"/>
          <p:cNvSpPr/>
          <p:nvPr/>
        </p:nvSpPr>
        <p:spPr>
          <a:xfrm>
            <a:off x="11494008" y="1929384"/>
            <a:ext cx="658368" cy="137160"/>
          </a:xfrm>
          <a:prstGeom prst="rect">
            <a:avLst/>
          </a:prstGeom>
          <a:noFill/>
          <a:ln/>
        </p:spPr>
        <p:txBody>
          <a:bodyPr wrap="square" lIns="0" tIns="0" rIns="0" bIns="0" rtlCol="0" anchor="ctr"/>
          <a:lstStyle/>
          <a:p>
            <a:pPr algn="ctr" indent="0" marL="0">
              <a:buNone/>
            </a:pPr>
            <a:r>
              <a:rPr lang="en-US" sz="600" b="1" dirty="0">
                <a:solidFill>
                  <a:srgbClr val="1E40AF"/>
                </a:solidFill>
              </a:rPr>
              <a:t>In Progress</a:t>
            </a:r>
            <a:endParaRPr lang="en-US" sz="600" dirty="0"/>
          </a:p>
        </p:txBody>
      </p:sp>
      <p:sp>
        <p:nvSpPr>
          <p:cNvPr id="138" name="Shape 136"/>
          <p:cNvSpPr/>
          <p:nvPr/>
        </p:nvSpPr>
        <p:spPr>
          <a:xfrm>
            <a:off x="9464040" y="2176272"/>
            <a:ext cx="2670048" cy="420624"/>
          </a:xfrm>
          <a:prstGeom prst="rect">
            <a:avLst/>
          </a:prstGeom>
          <a:solidFill>
            <a:srgbClr val="FFFFFF"/>
          </a:solidFill>
          <a:ln w="6350">
            <a:solidFill>
              <a:srgbClr val="E5E7EB"/>
            </a:solidFill>
            <a:prstDash val="solid"/>
          </a:ln>
        </p:spPr>
      </p:sp>
      <p:sp>
        <p:nvSpPr>
          <p:cNvPr id="139" name="Shape 137"/>
          <p:cNvSpPr/>
          <p:nvPr/>
        </p:nvSpPr>
        <p:spPr>
          <a:xfrm>
            <a:off x="9537192" y="2267712"/>
            <a:ext cx="109728" cy="109728"/>
          </a:xfrm>
          <a:prstGeom prst="ellipse">
            <a:avLst/>
          </a:prstGeom>
          <a:solidFill>
            <a:srgbClr val="9CA3AF"/>
          </a:solidFill>
          <a:ln w="12700">
            <a:solidFill>
              <a:srgbClr val="9CA3AF"/>
            </a:solidFill>
            <a:prstDash val="solid"/>
          </a:ln>
        </p:spPr>
      </p:sp>
      <p:sp>
        <p:nvSpPr>
          <p:cNvPr id="140" name="Text 138"/>
          <p:cNvSpPr/>
          <p:nvPr/>
        </p:nvSpPr>
        <p:spPr>
          <a:xfrm>
            <a:off x="9701784" y="2194560"/>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UAT / Testing</a:t>
            </a:r>
            <a:endParaRPr lang="en-US" sz="800" dirty="0"/>
          </a:p>
        </p:txBody>
      </p:sp>
      <p:sp>
        <p:nvSpPr>
          <p:cNvPr id="141" name="Text 139"/>
          <p:cNvSpPr/>
          <p:nvPr/>
        </p:nvSpPr>
        <p:spPr>
          <a:xfrm>
            <a:off x="9701784" y="2404872"/>
            <a:ext cx="1773936" cy="137160"/>
          </a:xfrm>
          <a:prstGeom prst="rect">
            <a:avLst/>
          </a:prstGeom>
          <a:noFill/>
          <a:ln/>
        </p:spPr>
        <p:txBody>
          <a:bodyPr wrap="square" lIns="0" tIns="0" rIns="0" bIns="0" rtlCol="0" anchor="ctr"/>
          <a:lstStyle/>
          <a:p>
            <a:pPr indent="0" marL="0">
              <a:buNone/>
            </a:pPr>
            <a:r>
              <a:rPr lang="en-US" sz="700" dirty="0">
                <a:solidFill>
                  <a:srgbClr val="6B7280"/>
                </a:solidFill>
              </a:rPr>
              <a:t>Nov 30, 2026</a:t>
            </a:r>
            <a:endParaRPr lang="en-US" sz="700" dirty="0"/>
          </a:p>
        </p:txBody>
      </p:sp>
      <p:sp>
        <p:nvSpPr>
          <p:cNvPr id="142" name="Shape 140"/>
          <p:cNvSpPr/>
          <p:nvPr/>
        </p:nvSpPr>
        <p:spPr>
          <a:xfrm>
            <a:off x="11494008" y="2404872"/>
            <a:ext cx="658368" cy="137160"/>
          </a:xfrm>
          <a:prstGeom prst="roundRect">
            <a:avLst>
              <a:gd name="adj" fmla="val 20000"/>
            </a:avLst>
          </a:prstGeom>
          <a:solidFill>
            <a:srgbClr val="F3F4F6"/>
          </a:solidFill>
          <a:ln w="12700">
            <a:solidFill>
              <a:srgbClr val="F3F4F6"/>
            </a:solidFill>
            <a:prstDash val="solid"/>
          </a:ln>
        </p:spPr>
      </p:sp>
      <p:sp>
        <p:nvSpPr>
          <p:cNvPr id="143" name="Text 141"/>
          <p:cNvSpPr/>
          <p:nvPr/>
        </p:nvSpPr>
        <p:spPr>
          <a:xfrm>
            <a:off x="11494008" y="2404872"/>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44" name="Shape 142"/>
          <p:cNvSpPr/>
          <p:nvPr/>
        </p:nvSpPr>
        <p:spPr>
          <a:xfrm>
            <a:off x="9464040" y="2651760"/>
            <a:ext cx="2670048" cy="420624"/>
          </a:xfrm>
          <a:prstGeom prst="rect">
            <a:avLst/>
          </a:prstGeom>
          <a:solidFill>
            <a:srgbClr val="FFFFFF"/>
          </a:solidFill>
          <a:ln w="6350">
            <a:solidFill>
              <a:srgbClr val="E5E7EB"/>
            </a:solidFill>
            <a:prstDash val="solid"/>
          </a:ln>
        </p:spPr>
      </p:sp>
      <p:sp>
        <p:nvSpPr>
          <p:cNvPr id="145" name="Shape 143"/>
          <p:cNvSpPr/>
          <p:nvPr/>
        </p:nvSpPr>
        <p:spPr>
          <a:xfrm>
            <a:off x="9537192" y="2743200"/>
            <a:ext cx="109728" cy="109728"/>
          </a:xfrm>
          <a:prstGeom prst="ellipse">
            <a:avLst/>
          </a:prstGeom>
          <a:solidFill>
            <a:srgbClr val="9CA3AF"/>
          </a:solidFill>
          <a:ln w="12700">
            <a:solidFill>
              <a:srgbClr val="9CA3AF"/>
            </a:solidFill>
            <a:prstDash val="solid"/>
          </a:ln>
        </p:spPr>
      </p:sp>
      <p:sp>
        <p:nvSpPr>
          <p:cNvPr id="146" name="Text 144"/>
          <p:cNvSpPr/>
          <p:nvPr/>
        </p:nvSpPr>
        <p:spPr>
          <a:xfrm>
            <a:off x="9701784" y="2670048"/>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Release</a:t>
            </a:r>
            <a:endParaRPr lang="en-US" sz="800" dirty="0"/>
          </a:p>
        </p:txBody>
      </p:sp>
      <p:sp>
        <p:nvSpPr>
          <p:cNvPr id="147" name="Text 145"/>
          <p:cNvSpPr/>
          <p:nvPr/>
        </p:nvSpPr>
        <p:spPr>
          <a:xfrm>
            <a:off x="9701784" y="2880360"/>
            <a:ext cx="1773936" cy="137160"/>
          </a:xfrm>
          <a:prstGeom prst="rect">
            <a:avLst/>
          </a:prstGeom>
          <a:noFill/>
          <a:ln/>
        </p:spPr>
        <p:txBody>
          <a:bodyPr wrap="square" lIns="0" tIns="0" rIns="0" bIns="0" rtlCol="0" anchor="ctr"/>
          <a:lstStyle/>
          <a:p>
            <a:pPr indent="0" marL="0">
              <a:buNone/>
            </a:pPr>
            <a:r>
              <a:rPr lang="en-US" sz="700" dirty="0">
                <a:solidFill>
                  <a:srgbClr val="6B7280"/>
                </a:solidFill>
              </a:rPr>
              <a:t>Dec 2026</a:t>
            </a:r>
            <a:endParaRPr lang="en-US" sz="700" dirty="0"/>
          </a:p>
        </p:txBody>
      </p:sp>
      <p:sp>
        <p:nvSpPr>
          <p:cNvPr id="148" name="Shape 146"/>
          <p:cNvSpPr/>
          <p:nvPr/>
        </p:nvSpPr>
        <p:spPr>
          <a:xfrm>
            <a:off x="11494008" y="2880360"/>
            <a:ext cx="658368" cy="137160"/>
          </a:xfrm>
          <a:prstGeom prst="roundRect">
            <a:avLst>
              <a:gd name="adj" fmla="val 20000"/>
            </a:avLst>
          </a:prstGeom>
          <a:solidFill>
            <a:srgbClr val="F3F4F6"/>
          </a:solidFill>
          <a:ln w="12700">
            <a:solidFill>
              <a:srgbClr val="F3F4F6"/>
            </a:solidFill>
            <a:prstDash val="solid"/>
          </a:ln>
        </p:spPr>
      </p:sp>
      <p:sp>
        <p:nvSpPr>
          <p:cNvPr id="149" name="Text 147"/>
          <p:cNvSpPr/>
          <p:nvPr/>
        </p:nvSpPr>
        <p:spPr>
          <a:xfrm>
            <a:off x="11494008" y="2880360"/>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50" name="Shape 148"/>
          <p:cNvSpPr/>
          <p:nvPr/>
        </p:nvSpPr>
        <p:spPr>
          <a:xfrm>
            <a:off x="9482328" y="3200400"/>
            <a:ext cx="2633472" cy="0"/>
          </a:xfrm>
          <a:prstGeom prst="line">
            <a:avLst/>
          </a:prstGeom>
          <a:noFill/>
          <a:ln w="9525">
            <a:solidFill>
              <a:srgbClr val="DDE1E6"/>
            </a:solidFill>
            <a:prstDash val="solid"/>
          </a:ln>
        </p:spPr>
      </p:sp>
      <p:sp>
        <p:nvSpPr>
          <p:cNvPr id="151" name="Text 149"/>
          <p:cNvSpPr/>
          <p:nvPr/>
        </p:nvSpPr>
        <p:spPr>
          <a:xfrm>
            <a:off x="9500616" y="3337560"/>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Status Key</a:t>
            </a:r>
            <a:endParaRPr lang="en-US" sz="950" dirty="0"/>
          </a:p>
        </p:txBody>
      </p:sp>
      <p:sp>
        <p:nvSpPr>
          <p:cNvPr id="152" name="Shape 150"/>
          <p:cNvSpPr/>
          <p:nvPr/>
        </p:nvSpPr>
        <p:spPr>
          <a:xfrm>
            <a:off x="9500616" y="3584448"/>
            <a:ext cx="822960" cy="173736"/>
          </a:xfrm>
          <a:prstGeom prst="roundRect">
            <a:avLst>
              <a:gd name="adj" fmla="val 15789"/>
            </a:avLst>
          </a:prstGeom>
          <a:solidFill>
            <a:srgbClr val="F3F4F6"/>
          </a:solidFill>
          <a:ln w="9525">
            <a:solidFill>
              <a:srgbClr val="D1D5DB"/>
            </a:solidFill>
            <a:prstDash val="solid"/>
          </a:ln>
        </p:spPr>
      </p:sp>
      <p:sp>
        <p:nvSpPr>
          <p:cNvPr id="153" name="Text 151"/>
          <p:cNvSpPr/>
          <p:nvPr/>
        </p:nvSpPr>
        <p:spPr>
          <a:xfrm>
            <a:off x="9500616" y="3584448"/>
            <a:ext cx="822960" cy="173736"/>
          </a:xfrm>
          <a:prstGeom prst="rect">
            <a:avLst/>
          </a:prstGeom>
          <a:noFill/>
          <a:ln/>
        </p:spPr>
        <p:txBody>
          <a:bodyPr wrap="square" lIns="0" tIns="0" rIns="0" bIns="0" rtlCol="0" anchor="ctr"/>
          <a:lstStyle/>
          <a:p>
            <a:pPr algn="ctr" indent="0" marL="0">
              <a:buNone/>
            </a:pPr>
            <a:r>
              <a:rPr lang="en-US" sz="700" b="1" dirty="0">
                <a:solidFill>
                  <a:srgbClr val="374151"/>
                </a:solidFill>
              </a:rPr>
              <a:t>Not Started</a:t>
            </a:r>
            <a:endParaRPr lang="en-US" sz="700" dirty="0"/>
          </a:p>
        </p:txBody>
      </p:sp>
      <p:sp>
        <p:nvSpPr>
          <p:cNvPr id="154" name="Shape 152"/>
          <p:cNvSpPr/>
          <p:nvPr/>
        </p:nvSpPr>
        <p:spPr>
          <a:xfrm>
            <a:off x="9500616" y="3813048"/>
            <a:ext cx="822960" cy="173736"/>
          </a:xfrm>
          <a:prstGeom prst="roundRect">
            <a:avLst>
              <a:gd name="adj" fmla="val 15789"/>
            </a:avLst>
          </a:prstGeom>
          <a:solidFill>
            <a:srgbClr val="1558A8"/>
          </a:solidFill>
          <a:ln w="12700">
            <a:solidFill>
              <a:srgbClr val="1558A8"/>
            </a:solidFill>
            <a:prstDash val="solid"/>
          </a:ln>
        </p:spPr>
      </p:sp>
      <p:sp>
        <p:nvSpPr>
          <p:cNvPr id="155" name="Text 153"/>
          <p:cNvSpPr/>
          <p:nvPr/>
        </p:nvSpPr>
        <p:spPr>
          <a:xfrm>
            <a:off x="9500616" y="3813048"/>
            <a:ext cx="822960" cy="173736"/>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56" name="Shape 154"/>
          <p:cNvSpPr/>
          <p:nvPr/>
        </p:nvSpPr>
        <p:spPr>
          <a:xfrm>
            <a:off x="9500616" y="4041648"/>
            <a:ext cx="822960" cy="173736"/>
          </a:xfrm>
          <a:prstGeom prst="roundRect">
            <a:avLst>
              <a:gd name="adj" fmla="val 15789"/>
            </a:avLst>
          </a:prstGeom>
          <a:solidFill>
            <a:srgbClr val="FEE2E2"/>
          </a:solidFill>
          <a:ln w="19050">
            <a:solidFill>
              <a:srgbClr val="DC2626"/>
            </a:solidFill>
            <a:prstDash val="solid"/>
          </a:ln>
        </p:spPr>
      </p:sp>
      <p:sp>
        <p:nvSpPr>
          <p:cNvPr id="157" name="Text 155"/>
          <p:cNvSpPr/>
          <p:nvPr/>
        </p:nvSpPr>
        <p:spPr>
          <a:xfrm>
            <a:off x="9500616" y="4041648"/>
            <a:ext cx="822960" cy="173736"/>
          </a:xfrm>
          <a:prstGeom prst="rect">
            <a:avLst/>
          </a:prstGeom>
          <a:noFill/>
          <a:ln/>
        </p:spPr>
        <p:txBody>
          <a:bodyPr wrap="square" lIns="0" tIns="0" rIns="0" bIns="0" rtlCol="0" anchor="ctr"/>
          <a:lstStyle/>
          <a:p>
            <a:pPr algn="ctr" indent="0" marL="0">
              <a:buNone/>
            </a:pPr>
            <a:r>
              <a:rPr lang="en-US" sz="700" b="1" dirty="0">
                <a:solidFill>
                  <a:srgbClr val="7F1D1D"/>
                </a:solidFill>
              </a:rPr>
              <a:t>Blocked</a:t>
            </a:r>
            <a:endParaRPr lang="en-US" sz="700" dirty="0"/>
          </a:p>
        </p:txBody>
      </p:sp>
      <p:sp>
        <p:nvSpPr>
          <p:cNvPr id="158" name="Shape 156"/>
          <p:cNvSpPr/>
          <p:nvPr/>
        </p:nvSpPr>
        <p:spPr>
          <a:xfrm>
            <a:off x="9500616" y="4270248"/>
            <a:ext cx="822960" cy="173736"/>
          </a:xfrm>
          <a:prstGeom prst="roundRect">
            <a:avLst>
              <a:gd name="adj" fmla="val 15789"/>
            </a:avLst>
          </a:prstGeom>
          <a:solidFill>
            <a:srgbClr val="DCFCE7"/>
          </a:solidFill>
          <a:ln w="12700">
            <a:solidFill>
              <a:srgbClr val="15803D"/>
            </a:solidFill>
            <a:prstDash val="solid"/>
          </a:ln>
        </p:spPr>
      </p:sp>
      <p:sp>
        <p:nvSpPr>
          <p:cNvPr id="159" name="Text 157"/>
          <p:cNvSpPr/>
          <p:nvPr/>
        </p:nvSpPr>
        <p:spPr>
          <a:xfrm>
            <a:off x="9500616" y="4270248"/>
            <a:ext cx="822960" cy="173736"/>
          </a:xfrm>
          <a:prstGeom prst="rect">
            <a:avLst/>
          </a:prstGeom>
          <a:noFill/>
          <a:ln/>
        </p:spPr>
        <p:txBody>
          <a:bodyPr wrap="square" lIns="0" tIns="0" rIns="0" bIns="0" rtlCol="0" anchor="ctr"/>
          <a:lstStyle/>
          <a:p>
            <a:pPr algn="ctr" indent="0" marL="0">
              <a:buNone/>
            </a:pPr>
            <a:r>
              <a:rPr lang="en-US" sz="700" b="1" dirty="0">
                <a:solidFill>
                  <a:srgbClr val="14532D"/>
                </a:solidFill>
              </a:rPr>
              <a:t>Done</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344400" cy="457200"/>
          </a:xfrm>
          <a:prstGeom prst="rect">
            <a:avLst/>
          </a:prstGeom>
          <a:solidFill>
            <a:srgbClr val="8ED973"/>
          </a:solidFill>
          <a:ln w="12700">
            <a:solidFill>
              <a:srgbClr val="8ED973"/>
            </a:solidFill>
            <a:prstDash val="solid"/>
          </a:ln>
        </p:spPr>
      </p:sp>
      <p:sp>
        <p:nvSpPr>
          <p:cNvPr id="3" name="Text 1"/>
          <p:cNvSpPr/>
          <p:nvPr/>
        </p:nvSpPr>
        <p:spPr>
          <a:xfrm>
            <a:off x="201168" y="0"/>
            <a:ext cx="8229600" cy="457200"/>
          </a:xfrm>
          <a:prstGeom prst="rect">
            <a:avLst/>
          </a:prstGeom>
          <a:noFill/>
          <a:ln/>
        </p:spPr>
        <p:txBody>
          <a:bodyPr wrap="square" lIns="0" tIns="0" rIns="0" bIns="0" rtlCol="0" anchor="ctr"/>
          <a:lstStyle/>
          <a:p>
            <a:pPr algn="l" indent="0" marL="0">
              <a:buNone/>
            </a:pPr>
            <a:r>
              <a:rPr lang="en-US" sz="1600" b="1" dirty="0">
                <a:solidFill>
                  <a:srgbClr val="000000"/>
                </a:solidFill>
              </a:rPr>
              <a:t>Project SABR  ·  FOXXUM</a:t>
            </a:r>
            <a:endParaRPr lang="en-US" sz="1600" dirty="0"/>
          </a:p>
        </p:txBody>
      </p:sp>
      <p:sp>
        <p:nvSpPr>
          <p:cNvPr id="4" name="Text 2"/>
          <p:cNvSpPr/>
          <p:nvPr/>
        </p:nvSpPr>
        <p:spPr>
          <a:xfrm>
            <a:off x="8686800" y="0"/>
            <a:ext cx="3337560" cy="457200"/>
          </a:xfrm>
          <a:prstGeom prst="rect">
            <a:avLst/>
          </a:prstGeom>
          <a:noFill/>
          <a:ln/>
        </p:spPr>
        <p:txBody>
          <a:bodyPr wrap="square" lIns="0" tIns="0" rIns="0" bIns="0" rtlCol="0" anchor="ctr"/>
          <a:lstStyle/>
          <a:p>
            <a:pPr algn="r" indent="0" marL="0">
              <a:buNone/>
            </a:pPr>
            <a:r>
              <a:rPr lang="en-US" sz="1100" dirty="0">
                <a:solidFill>
                  <a:srgbClr val="388849"/>
                </a:solidFill>
              </a:rPr>
              <a:t>Roku · Fire TV · Samsung · tvOS  ·  Aug 6, 2026</a:t>
            </a:r>
            <a:endParaRPr lang="en-US" sz="1100" dirty="0"/>
          </a:p>
        </p:txBody>
      </p:sp>
      <p:sp>
        <p:nvSpPr>
          <p:cNvPr id="5" name="Shape 3"/>
          <p:cNvSpPr/>
          <p:nvPr/>
        </p:nvSpPr>
        <p:spPr>
          <a:xfrm>
            <a:off x="0" y="457200"/>
            <a:ext cx="12344400" cy="347472"/>
          </a:xfrm>
          <a:prstGeom prst="rect">
            <a:avLst/>
          </a:prstGeom>
          <a:solidFill>
            <a:srgbClr val="EFF7F3"/>
          </a:solidFill>
          <a:ln w="12700">
            <a:solidFill>
              <a:srgbClr val="CCE4D8"/>
            </a:solidFill>
            <a:prstDash val="solid"/>
          </a:ln>
        </p:spPr>
      </p:sp>
      <p:sp>
        <p:nvSpPr>
          <p:cNvPr id="6" name="Shape 4"/>
          <p:cNvSpPr/>
          <p:nvPr/>
        </p:nvSpPr>
        <p:spPr>
          <a:xfrm>
            <a:off x="256032" y="521208"/>
            <a:ext cx="1005840" cy="219456"/>
          </a:xfrm>
          <a:prstGeom prst="roundRect">
            <a:avLst>
              <a:gd name="adj" fmla="val 20833"/>
            </a:avLst>
          </a:prstGeom>
          <a:solidFill>
            <a:srgbClr val="DCFCE7"/>
          </a:solidFill>
          <a:ln w="9525">
            <a:solidFill>
              <a:srgbClr val="D1D5DB"/>
            </a:solidFill>
            <a:prstDash val="solid"/>
          </a:ln>
        </p:spPr>
      </p:sp>
      <p:sp>
        <p:nvSpPr>
          <p:cNvPr id="7" name="Text 5"/>
          <p:cNvSpPr/>
          <p:nvPr/>
        </p:nvSpPr>
        <p:spPr>
          <a:xfrm>
            <a:off x="256032" y="521208"/>
            <a:ext cx="1005840" cy="219456"/>
          </a:xfrm>
          <a:prstGeom prst="rect">
            <a:avLst/>
          </a:prstGeom>
          <a:noFill/>
          <a:ln/>
        </p:spPr>
        <p:txBody>
          <a:bodyPr wrap="square" lIns="0" tIns="0" rIns="0" bIns="0" rtlCol="0" anchor="ctr"/>
          <a:lstStyle/>
          <a:p>
            <a:pPr algn="ctr" indent="0" marL="0">
              <a:buNone/>
            </a:pPr>
            <a:r>
              <a:rPr lang="en-US" sz="900" b="1" dirty="0">
                <a:solidFill>
                  <a:srgbClr val="166534"/>
                </a:solidFill>
              </a:rPr>
              <a:t>3  Done</a:t>
            </a:r>
            <a:endParaRPr lang="en-US" sz="900" dirty="0"/>
          </a:p>
        </p:txBody>
      </p:sp>
      <p:sp>
        <p:nvSpPr>
          <p:cNvPr id="8" name="Shape 6"/>
          <p:cNvSpPr/>
          <p:nvPr/>
        </p:nvSpPr>
        <p:spPr>
          <a:xfrm>
            <a:off x="1389888" y="521208"/>
            <a:ext cx="1325880" cy="219456"/>
          </a:xfrm>
          <a:prstGeom prst="roundRect">
            <a:avLst>
              <a:gd name="adj" fmla="val 20833"/>
            </a:avLst>
          </a:prstGeom>
          <a:solidFill>
            <a:srgbClr val="DBEAFE"/>
          </a:solidFill>
          <a:ln w="9525">
            <a:solidFill>
              <a:srgbClr val="D1D5DB"/>
            </a:solidFill>
            <a:prstDash val="solid"/>
          </a:ln>
        </p:spPr>
      </p:sp>
      <p:sp>
        <p:nvSpPr>
          <p:cNvPr id="9" name="Text 7"/>
          <p:cNvSpPr/>
          <p:nvPr/>
        </p:nvSpPr>
        <p:spPr>
          <a:xfrm>
            <a:off x="1389888" y="521208"/>
            <a:ext cx="1325880" cy="219456"/>
          </a:xfrm>
          <a:prstGeom prst="rect">
            <a:avLst/>
          </a:prstGeom>
          <a:noFill/>
          <a:ln/>
        </p:spPr>
        <p:txBody>
          <a:bodyPr wrap="square" lIns="0" tIns="0" rIns="0" bIns="0" rtlCol="0" anchor="ctr"/>
          <a:lstStyle/>
          <a:p>
            <a:pPr algn="ctr" indent="0" marL="0">
              <a:buNone/>
            </a:pPr>
            <a:r>
              <a:rPr lang="en-US" sz="900" b="1" dirty="0">
                <a:solidFill>
                  <a:srgbClr val="1D4ED8"/>
                </a:solidFill>
              </a:rPr>
              <a:t>19  In Progress</a:t>
            </a:r>
            <a:endParaRPr lang="en-US" sz="900" dirty="0"/>
          </a:p>
        </p:txBody>
      </p:sp>
      <p:sp>
        <p:nvSpPr>
          <p:cNvPr id="10" name="Shape 8"/>
          <p:cNvSpPr/>
          <p:nvPr/>
        </p:nvSpPr>
        <p:spPr>
          <a:xfrm>
            <a:off x="2843784" y="521208"/>
            <a:ext cx="1325880" cy="219456"/>
          </a:xfrm>
          <a:prstGeom prst="roundRect">
            <a:avLst>
              <a:gd name="adj" fmla="val 20833"/>
            </a:avLst>
          </a:prstGeom>
          <a:solidFill>
            <a:srgbClr val="F3F4F6"/>
          </a:solidFill>
          <a:ln w="9525">
            <a:solidFill>
              <a:srgbClr val="D1D5DB"/>
            </a:solidFill>
            <a:prstDash val="solid"/>
          </a:ln>
        </p:spPr>
      </p:sp>
      <p:sp>
        <p:nvSpPr>
          <p:cNvPr id="11" name="Text 9"/>
          <p:cNvSpPr/>
          <p:nvPr/>
        </p:nvSpPr>
        <p:spPr>
          <a:xfrm>
            <a:off x="2843784" y="521208"/>
            <a:ext cx="1325880" cy="219456"/>
          </a:xfrm>
          <a:prstGeom prst="rect">
            <a:avLst/>
          </a:prstGeom>
          <a:noFill/>
          <a:ln/>
        </p:spPr>
        <p:txBody>
          <a:bodyPr wrap="square" lIns="0" tIns="0" rIns="0" bIns="0" rtlCol="0" anchor="ctr"/>
          <a:lstStyle/>
          <a:p>
            <a:pPr algn="ctr" indent="0" marL="0">
              <a:buNone/>
            </a:pPr>
            <a:r>
              <a:rPr lang="en-US" sz="900" b="1" dirty="0">
                <a:solidFill>
                  <a:srgbClr val="374151"/>
                </a:solidFill>
              </a:rPr>
              <a:t>2  Not Started</a:t>
            </a:r>
            <a:endParaRPr lang="en-US" sz="900" dirty="0"/>
          </a:p>
        </p:txBody>
      </p:sp>
      <p:sp>
        <p:nvSpPr>
          <p:cNvPr id="12" name="Shape 10"/>
          <p:cNvSpPr/>
          <p:nvPr/>
        </p:nvSpPr>
        <p:spPr>
          <a:xfrm>
            <a:off x="4297680" y="521208"/>
            <a:ext cx="1005840" cy="219456"/>
          </a:xfrm>
          <a:prstGeom prst="roundRect">
            <a:avLst>
              <a:gd name="adj" fmla="val 20833"/>
            </a:avLst>
          </a:prstGeom>
          <a:solidFill>
            <a:srgbClr val="FEE2E2"/>
          </a:solidFill>
          <a:ln w="9525">
            <a:solidFill>
              <a:srgbClr val="D1D5DB"/>
            </a:solidFill>
            <a:prstDash val="solid"/>
          </a:ln>
        </p:spPr>
      </p:sp>
      <p:sp>
        <p:nvSpPr>
          <p:cNvPr id="13" name="Text 11"/>
          <p:cNvSpPr/>
          <p:nvPr/>
        </p:nvSpPr>
        <p:spPr>
          <a:xfrm>
            <a:off x="4297680" y="521208"/>
            <a:ext cx="1005840" cy="219456"/>
          </a:xfrm>
          <a:prstGeom prst="rect">
            <a:avLst/>
          </a:prstGeom>
          <a:noFill/>
          <a:ln/>
        </p:spPr>
        <p:txBody>
          <a:bodyPr wrap="square" lIns="0" tIns="0" rIns="0" bIns="0" rtlCol="0" anchor="ctr"/>
          <a:lstStyle/>
          <a:p>
            <a:pPr algn="ctr" indent="0" marL="0">
              <a:buNone/>
            </a:pPr>
            <a:r>
              <a:rPr lang="en-US" sz="900" b="1" dirty="0">
                <a:solidFill>
                  <a:srgbClr val="7F1D1D"/>
                </a:solidFill>
              </a:rPr>
              <a:t>0  Blocked</a:t>
            </a:r>
            <a:endParaRPr lang="en-US" sz="900" dirty="0"/>
          </a:p>
        </p:txBody>
      </p:sp>
      <p:sp>
        <p:nvSpPr>
          <p:cNvPr id="14" name="Shape 12"/>
          <p:cNvSpPr/>
          <p:nvPr/>
        </p:nvSpPr>
        <p:spPr>
          <a:xfrm>
            <a:off x="5431536" y="521208"/>
            <a:ext cx="2377440" cy="219456"/>
          </a:xfrm>
          <a:prstGeom prst="roundRect">
            <a:avLst>
              <a:gd name="adj" fmla="val 20833"/>
            </a:avLst>
          </a:prstGeom>
          <a:solidFill>
            <a:srgbClr val="FFFFFF"/>
          </a:solidFill>
          <a:ln w="9525">
            <a:solidFill>
              <a:srgbClr val="D1D5DB"/>
            </a:solidFill>
            <a:prstDash val="solid"/>
          </a:ln>
        </p:spPr>
      </p:sp>
      <p:sp>
        <p:nvSpPr>
          <p:cNvPr id="15" name="Text 13"/>
          <p:cNvSpPr/>
          <p:nvPr/>
        </p:nvSpPr>
        <p:spPr>
          <a:xfrm>
            <a:off x="5431536" y="521208"/>
            <a:ext cx="2377440" cy="219456"/>
          </a:xfrm>
          <a:prstGeom prst="rect">
            <a:avLst/>
          </a:prstGeom>
          <a:noFill/>
          <a:ln/>
        </p:spPr>
        <p:txBody>
          <a:bodyPr wrap="square" lIns="0" tIns="0" rIns="0" bIns="0" rtlCol="0" anchor="ctr"/>
          <a:lstStyle/>
          <a:p>
            <a:pPr algn="ctr" indent="0" marL="0">
              <a:buNone/>
            </a:pPr>
            <a:r>
              <a:rPr lang="en-US" sz="900" b="1" dirty="0">
                <a:solidFill>
                  <a:srgbClr val="374151"/>
                </a:solidFill>
              </a:rPr>
              <a:t>Sep 30, 2026  ·  Beta</a:t>
            </a:r>
            <a:endParaRPr lang="en-US" sz="900" dirty="0"/>
          </a:p>
        </p:txBody>
      </p:sp>
      <p:sp>
        <p:nvSpPr>
          <p:cNvPr id="16" name="Text 14"/>
          <p:cNvSpPr/>
          <p:nvPr/>
        </p:nvSpPr>
        <p:spPr>
          <a:xfrm>
            <a:off x="8028432" y="521208"/>
            <a:ext cx="548640" cy="219456"/>
          </a:xfrm>
          <a:prstGeom prst="rect">
            <a:avLst/>
          </a:prstGeom>
          <a:noFill/>
          <a:ln/>
        </p:spPr>
        <p:txBody>
          <a:bodyPr wrap="square" lIns="0" tIns="0" rIns="0" bIns="0" rtlCol="0" anchor="ctr"/>
          <a:lstStyle/>
          <a:p>
            <a:pPr algn="l" indent="0" marL="0">
              <a:buNone/>
            </a:pPr>
            <a:r>
              <a:rPr lang="en-US" sz="800" b="1" dirty="0">
                <a:solidFill>
                  <a:srgbClr val="374151"/>
                </a:solidFill>
              </a:rPr>
              <a:t>Covers:</a:t>
            </a:r>
            <a:endParaRPr lang="en-US" sz="800" dirty="0"/>
          </a:p>
        </p:txBody>
      </p:sp>
      <p:sp>
        <p:nvSpPr>
          <p:cNvPr id="17" name="Shape 15"/>
          <p:cNvSpPr/>
          <p:nvPr/>
        </p:nvSpPr>
        <p:spPr>
          <a:xfrm>
            <a:off x="8613648" y="512064"/>
            <a:ext cx="585216" cy="237744"/>
          </a:xfrm>
          <a:prstGeom prst="roundRect">
            <a:avLst>
              <a:gd name="adj" fmla="val 15385"/>
            </a:avLst>
          </a:prstGeom>
          <a:solidFill>
            <a:srgbClr val="F0FDF4"/>
          </a:solidFill>
          <a:ln w="12700">
            <a:solidFill>
              <a:srgbClr val="8ED973"/>
            </a:solidFill>
            <a:prstDash val="solid"/>
          </a:ln>
        </p:spPr>
      </p:sp>
      <p:sp>
        <p:nvSpPr>
          <p:cNvPr id="18" name="Text 16"/>
          <p:cNvSpPr/>
          <p:nvPr/>
        </p:nvSpPr>
        <p:spPr>
          <a:xfrm>
            <a:off x="8613648" y="512064"/>
            <a:ext cx="585216" cy="237744"/>
          </a:xfrm>
          <a:prstGeom prst="rect">
            <a:avLst/>
          </a:prstGeom>
          <a:noFill/>
          <a:ln/>
        </p:spPr>
        <p:txBody>
          <a:bodyPr wrap="square" lIns="0" tIns="0" rIns="0" bIns="0" rtlCol="0" anchor="ctr"/>
          <a:lstStyle/>
          <a:p>
            <a:pPr algn="ctr" indent="0" marL="0">
              <a:buNone/>
            </a:pPr>
            <a:r>
              <a:rPr lang="en-US" sz="800" b="1" dirty="0">
                <a:solidFill>
                  <a:srgbClr val="388849"/>
                </a:solidFill>
              </a:rPr>
              <a:t>Roku</a:t>
            </a:r>
            <a:endParaRPr lang="en-US" sz="800" dirty="0"/>
          </a:p>
        </p:txBody>
      </p:sp>
      <p:sp>
        <p:nvSpPr>
          <p:cNvPr id="19" name="Shape 17"/>
          <p:cNvSpPr/>
          <p:nvPr/>
        </p:nvSpPr>
        <p:spPr>
          <a:xfrm>
            <a:off x="9272016" y="512064"/>
            <a:ext cx="658368" cy="237744"/>
          </a:xfrm>
          <a:prstGeom prst="roundRect">
            <a:avLst>
              <a:gd name="adj" fmla="val 15385"/>
            </a:avLst>
          </a:prstGeom>
          <a:solidFill>
            <a:srgbClr val="F0FDF4"/>
          </a:solidFill>
          <a:ln w="12700">
            <a:solidFill>
              <a:srgbClr val="8ED973"/>
            </a:solidFill>
            <a:prstDash val="solid"/>
          </a:ln>
        </p:spPr>
      </p:sp>
      <p:sp>
        <p:nvSpPr>
          <p:cNvPr id="20" name="Text 18"/>
          <p:cNvSpPr/>
          <p:nvPr/>
        </p:nvSpPr>
        <p:spPr>
          <a:xfrm>
            <a:off x="9272016" y="512064"/>
            <a:ext cx="658368" cy="237744"/>
          </a:xfrm>
          <a:prstGeom prst="rect">
            <a:avLst/>
          </a:prstGeom>
          <a:noFill/>
          <a:ln/>
        </p:spPr>
        <p:txBody>
          <a:bodyPr wrap="square" lIns="0" tIns="0" rIns="0" bIns="0" rtlCol="0" anchor="ctr"/>
          <a:lstStyle/>
          <a:p>
            <a:pPr algn="ctr" indent="0" marL="0">
              <a:buNone/>
            </a:pPr>
            <a:r>
              <a:rPr lang="en-US" sz="800" b="1" dirty="0">
                <a:solidFill>
                  <a:srgbClr val="388849"/>
                </a:solidFill>
              </a:rPr>
              <a:t>Fire TV</a:t>
            </a:r>
            <a:endParaRPr lang="en-US" sz="800" dirty="0"/>
          </a:p>
        </p:txBody>
      </p:sp>
      <p:sp>
        <p:nvSpPr>
          <p:cNvPr id="21" name="Shape 19"/>
          <p:cNvSpPr/>
          <p:nvPr/>
        </p:nvSpPr>
        <p:spPr>
          <a:xfrm>
            <a:off x="10003536" y="512064"/>
            <a:ext cx="731520" cy="237744"/>
          </a:xfrm>
          <a:prstGeom prst="roundRect">
            <a:avLst>
              <a:gd name="adj" fmla="val 15385"/>
            </a:avLst>
          </a:prstGeom>
          <a:solidFill>
            <a:srgbClr val="F0FDF4"/>
          </a:solidFill>
          <a:ln w="12700">
            <a:solidFill>
              <a:srgbClr val="8ED973"/>
            </a:solidFill>
            <a:prstDash val="solid"/>
          </a:ln>
        </p:spPr>
      </p:sp>
      <p:sp>
        <p:nvSpPr>
          <p:cNvPr id="22" name="Text 20"/>
          <p:cNvSpPr/>
          <p:nvPr/>
        </p:nvSpPr>
        <p:spPr>
          <a:xfrm>
            <a:off x="10003536" y="512064"/>
            <a:ext cx="731520" cy="237744"/>
          </a:xfrm>
          <a:prstGeom prst="rect">
            <a:avLst/>
          </a:prstGeom>
          <a:noFill/>
          <a:ln/>
        </p:spPr>
        <p:txBody>
          <a:bodyPr wrap="square" lIns="0" tIns="0" rIns="0" bIns="0" rtlCol="0" anchor="ctr"/>
          <a:lstStyle/>
          <a:p>
            <a:pPr algn="ctr" indent="0" marL="0">
              <a:buNone/>
            </a:pPr>
            <a:r>
              <a:rPr lang="en-US" sz="800" b="1" dirty="0">
                <a:solidFill>
                  <a:srgbClr val="388849"/>
                </a:solidFill>
              </a:rPr>
              <a:t>Samsung</a:t>
            </a:r>
            <a:endParaRPr lang="en-US" sz="800" dirty="0"/>
          </a:p>
        </p:txBody>
      </p:sp>
      <p:sp>
        <p:nvSpPr>
          <p:cNvPr id="23" name="Shape 21"/>
          <p:cNvSpPr/>
          <p:nvPr/>
        </p:nvSpPr>
        <p:spPr>
          <a:xfrm>
            <a:off x="10808208" y="512064"/>
            <a:ext cx="585216" cy="237744"/>
          </a:xfrm>
          <a:prstGeom prst="roundRect">
            <a:avLst>
              <a:gd name="adj" fmla="val 15385"/>
            </a:avLst>
          </a:prstGeom>
          <a:solidFill>
            <a:srgbClr val="F0FDF4"/>
          </a:solidFill>
          <a:ln w="12700">
            <a:solidFill>
              <a:srgbClr val="8ED973"/>
            </a:solidFill>
            <a:prstDash val="solid"/>
          </a:ln>
        </p:spPr>
      </p:sp>
      <p:sp>
        <p:nvSpPr>
          <p:cNvPr id="24" name="Text 22"/>
          <p:cNvSpPr/>
          <p:nvPr/>
        </p:nvSpPr>
        <p:spPr>
          <a:xfrm>
            <a:off x="10808208" y="512064"/>
            <a:ext cx="585216" cy="237744"/>
          </a:xfrm>
          <a:prstGeom prst="rect">
            <a:avLst/>
          </a:prstGeom>
          <a:noFill/>
          <a:ln/>
        </p:spPr>
        <p:txBody>
          <a:bodyPr wrap="square" lIns="0" tIns="0" rIns="0" bIns="0" rtlCol="0" anchor="ctr"/>
          <a:lstStyle/>
          <a:p>
            <a:pPr algn="ctr" indent="0" marL="0">
              <a:buNone/>
            </a:pPr>
            <a:r>
              <a:rPr lang="en-US" sz="800" b="1" dirty="0">
                <a:solidFill>
                  <a:srgbClr val="388849"/>
                </a:solidFill>
              </a:rPr>
              <a:t>tvOS</a:t>
            </a:r>
            <a:endParaRPr lang="en-US" sz="800" dirty="0"/>
          </a:p>
        </p:txBody>
      </p:sp>
      <p:sp>
        <p:nvSpPr>
          <p:cNvPr id="25" name="Shape 23"/>
          <p:cNvSpPr/>
          <p:nvPr/>
        </p:nvSpPr>
        <p:spPr>
          <a:xfrm>
            <a:off x="0" y="6876288"/>
            <a:ext cx="12344400" cy="438912"/>
          </a:xfrm>
          <a:prstGeom prst="rect">
            <a:avLst/>
          </a:prstGeom>
          <a:solidFill>
            <a:srgbClr val="F4F6F8"/>
          </a:solidFill>
          <a:ln w="12700">
            <a:solidFill>
              <a:srgbClr val="D1D5DB"/>
            </a:solidFill>
            <a:prstDash val="solid"/>
          </a:ln>
        </p:spPr>
      </p:sp>
      <p:sp>
        <p:nvSpPr>
          <p:cNvPr id="26" name="Text 24"/>
          <p:cNvSpPr/>
          <p:nvPr/>
        </p:nvSpPr>
        <p:spPr>
          <a:xfrm>
            <a:off x="201168" y="6876288"/>
            <a:ext cx="5029200" cy="438912"/>
          </a:xfrm>
          <a:prstGeom prst="rect">
            <a:avLst/>
          </a:prstGeom>
          <a:noFill/>
          <a:ln/>
        </p:spPr>
        <p:txBody>
          <a:bodyPr wrap="square" lIns="0" tIns="0" rIns="0" bIns="0" rtlCol="0" anchor="ctr"/>
          <a:lstStyle/>
          <a:p>
            <a:pPr algn="l" indent="0" marL="0">
              <a:buNone/>
            </a:pPr>
            <a:r>
              <a:rPr lang="en-US" sz="800" dirty="0">
                <a:solidFill>
                  <a:srgbClr val="9CA3AF"/>
                </a:solidFill>
              </a:rPr>
              <a:t>Project SABR  ·  Tennis Channel OTT  ·  CONFIDENTIAL</a:t>
            </a:r>
            <a:endParaRPr lang="en-US" sz="800" dirty="0"/>
          </a:p>
        </p:txBody>
      </p:sp>
      <p:sp>
        <p:nvSpPr>
          <p:cNvPr id="27" name="Text 25"/>
          <p:cNvSpPr/>
          <p:nvPr/>
        </p:nvSpPr>
        <p:spPr>
          <a:xfrm>
            <a:off x="5486400" y="6876288"/>
            <a:ext cx="4572000" cy="438912"/>
          </a:xfrm>
          <a:prstGeom prst="rect">
            <a:avLst/>
          </a:prstGeom>
          <a:noFill/>
          <a:ln/>
        </p:spPr>
        <p:txBody>
          <a:bodyPr wrap="square" lIns="0" tIns="0" rIns="0" bIns="0" rtlCol="0" anchor="ctr"/>
          <a:lstStyle/>
          <a:p>
            <a:pPr algn="ctr" indent="0" marL="0">
              <a:buNone/>
            </a:pPr>
            <a:r>
              <a:rPr lang="en-US" sz="800" dirty="0">
                <a:solidFill>
                  <a:srgbClr val="9CA3AF"/>
                </a:solidFill>
              </a:rPr>
              <a:t>Beta: Sep 30, 2026  ·  55 days remaining</a:t>
            </a:r>
            <a:endParaRPr lang="en-US" sz="800" dirty="0"/>
          </a:p>
        </p:txBody>
      </p:sp>
      <p:sp>
        <p:nvSpPr>
          <p:cNvPr id="28" name="Text 26"/>
          <p:cNvSpPr/>
          <p:nvPr/>
        </p:nvSpPr>
        <p:spPr>
          <a:xfrm>
            <a:off x="10515600" y="6876288"/>
            <a:ext cx="1508760" cy="438912"/>
          </a:xfrm>
          <a:prstGeom prst="rect">
            <a:avLst/>
          </a:prstGeom>
          <a:noFill/>
          <a:ln/>
        </p:spPr>
        <p:txBody>
          <a:bodyPr wrap="square" lIns="0" tIns="0" rIns="0" bIns="0" rtlCol="0" anchor="ctr"/>
          <a:lstStyle/>
          <a:p>
            <a:pPr algn="r" indent="0" marL="0">
              <a:buNone/>
            </a:pPr>
            <a:r>
              <a:rPr lang="en-US" sz="1100" b="1" dirty="0">
                <a:solidFill>
                  <a:srgbClr val="388849"/>
                </a:solidFill>
              </a:rPr>
              <a:t>13% Ready</a:t>
            </a:r>
            <a:endParaRPr lang="en-US" sz="1100" dirty="0"/>
          </a:p>
        </p:txBody>
      </p:sp>
      <p:sp>
        <p:nvSpPr>
          <p:cNvPr id="29" name="Shape 27"/>
          <p:cNvSpPr/>
          <p:nvPr/>
        </p:nvSpPr>
        <p:spPr>
          <a:xfrm>
            <a:off x="164592" y="804672"/>
            <a:ext cx="9116568" cy="1476756"/>
          </a:xfrm>
          <a:prstGeom prst="rect">
            <a:avLst/>
          </a:prstGeom>
          <a:solidFill>
            <a:srgbClr val="FAFBFC"/>
          </a:solidFill>
          <a:ln w="6350">
            <a:solidFill>
              <a:srgbClr val="E5E7EB"/>
            </a:solidFill>
            <a:prstDash val="solid"/>
          </a:ln>
        </p:spPr>
      </p:sp>
      <p:sp>
        <p:nvSpPr>
          <p:cNvPr id="30" name="Shape 28"/>
          <p:cNvSpPr/>
          <p:nvPr/>
        </p:nvSpPr>
        <p:spPr>
          <a:xfrm>
            <a:off x="182880" y="877824"/>
            <a:ext cx="859536" cy="1330452"/>
          </a:xfrm>
          <a:prstGeom prst="roundRect">
            <a:avLst>
              <a:gd name="adj" fmla="val 5319"/>
            </a:avLst>
          </a:prstGeom>
          <a:solidFill>
            <a:srgbClr val="9CA3AF"/>
          </a:solidFill>
          <a:ln w="12700">
            <a:solidFill>
              <a:srgbClr val="9CA3AF"/>
            </a:solidFill>
            <a:prstDash val="solid"/>
          </a:ln>
        </p:spPr>
      </p:sp>
      <p:sp>
        <p:nvSpPr>
          <p:cNvPr id="31" name="Text 29"/>
          <p:cNvSpPr/>
          <p:nvPr/>
        </p:nvSpPr>
        <p:spPr>
          <a:xfrm>
            <a:off x="182880" y="87782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Video</a:t>
            </a:r>
            <a:endParaRPr lang="en-US" sz="800" dirty="0"/>
          </a:p>
          <a:p>
            <a:pPr algn="ctr" indent="0" marL="0">
              <a:buNone/>
            </a:pPr>
            <a:r>
              <a:rPr lang="en-US" sz="800" b="1" dirty="0">
                <a:solidFill>
                  <a:srgbClr val="FFFFFF"/>
                </a:solidFill>
              </a:rPr>
              <a:t>Delivery</a:t>
            </a:r>
            <a:endParaRPr lang="en-US" sz="800" dirty="0"/>
          </a:p>
        </p:txBody>
      </p:sp>
      <p:sp>
        <p:nvSpPr>
          <p:cNvPr id="32" name="Text 30"/>
          <p:cNvSpPr/>
          <p:nvPr/>
        </p:nvSpPr>
        <p:spPr>
          <a:xfrm>
            <a:off x="1170432" y="85039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6 In Progress</a:t>
            </a:r>
            <a:endParaRPr lang="en-US" sz="750" dirty="0"/>
          </a:p>
        </p:txBody>
      </p:sp>
      <p:sp>
        <p:nvSpPr>
          <p:cNvPr id="33" name="Shape 31"/>
          <p:cNvSpPr/>
          <p:nvPr/>
        </p:nvSpPr>
        <p:spPr>
          <a:xfrm>
            <a:off x="1170432" y="1069848"/>
            <a:ext cx="932688" cy="182880"/>
          </a:xfrm>
          <a:prstGeom prst="roundRect">
            <a:avLst>
              <a:gd name="adj" fmla="val 15000"/>
            </a:avLst>
          </a:prstGeom>
          <a:solidFill>
            <a:srgbClr val="FFFFFF"/>
          </a:solidFill>
          <a:ln w="9525">
            <a:solidFill>
              <a:srgbClr val="CBD5E1"/>
            </a:solidFill>
            <a:prstDash val="solid"/>
          </a:ln>
        </p:spPr>
      </p:sp>
      <p:sp>
        <p:nvSpPr>
          <p:cNvPr id="34" name="Text 32"/>
          <p:cNvSpPr/>
          <p:nvPr/>
        </p:nvSpPr>
        <p:spPr>
          <a:xfrm>
            <a:off x="1170432"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a:t>
            </a:r>
            <a:endParaRPr lang="en-US" sz="750" dirty="0"/>
          </a:p>
        </p:txBody>
      </p:sp>
      <p:sp>
        <p:nvSpPr>
          <p:cNvPr id="35" name="Shape 33"/>
          <p:cNvSpPr/>
          <p:nvPr/>
        </p:nvSpPr>
        <p:spPr>
          <a:xfrm>
            <a:off x="1170432" y="1280160"/>
            <a:ext cx="932688" cy="155448"/>
          </a:xfrm>
          <a:prstGeom prst="roundRect">
            <a:avLst>
              <a:gd name="adj" fmla="val 17647"/>
            </a:avLst>
          </a:prstGeom>
          <a:solidFill>
            <a:srgbClr val="1558A8"/>
          </a:solidFill>
          <a:ln w="12700">
            <a:solidFill>
              <a:srgbClr val="1558A8"/>
            </a:solidFill>
            <a:prstDash val="solid"/>
          </a:ln>
        </p:spPr>
      </p:sp>
      <p:sp>
        <p:nvSpPr>
          <p:cNvPr id="36" name="Text 34"/>
          <p:cNvSpPr/>
          <p:nvPr/>
        </p:nvSpPr>
        <p:spPr>
          <a:xfrm>
            <a:off x="1170432"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37" name="Shape 35"/>
          <p:cNvSpPr/>
          <p:nvPr/>
        </p:nvSpPr>
        <p:spPr>
          <a:xfrm>
            <a:off x="2185416" y="1069848"/>
            <a:ext cx="932688" cy="182880"/>
          </a:xfrm>
          <a:prstGeom prst="roundRect">
            <a:avLst>
              <a:gd name="adj" fmla="val 15000"/>
            </a:avLst>
          </a:prstGeom>
          <a:solidFill>
            <a:srgbClr val="FFFFFF"/>
          </a:solidFill>
          <a:ln w="9525">
            <a:solidFill>
              <a:srgbClr val="CBD5E1"/>
            </a:solidFill>
            <a:prstDash val="solid"/>
          </a:ln>
        </p:spPr>
      </p:sp>
      <p:sp>
        <p:nvSpPr>
          <p:cNvPr id="38" name="Text 36"/>
          <p:cNvSpPr/>
          <p:nvPr/>
        </p:nvSpPr>
        <p:spPr>
          <a:xfrm>
            <a:off x="2185416"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MPEG-DASH</a:t>
            </a:r>
            <a:endParaRPr lang="en-US" sz="750" dirty="0"/>
          </a:p>
        </p:txBody>
      </p:sp>
      <p:sp>
        <p:nvSpPr>
          <p:cNvPr id="39" name="Shape 37"/>
          <p:cNvSpPr/>
          <p:nvPr/>
        </p:nvSpPr>
        <p:spPr>
          <a:xfrm>
            <a:off x="2185416" y="1280160"/>
            <a:ext cx="932688" cy="155448"/>
          </a:xfrm>
          <a:prstGeom prst="roundRect">
            <a:avLst>
              <a:gd name="adj" fmla="val 17647"/>
            </a:avLst>
          </a:prstGeom>
          <a:solidFill>
            <a:srgbClr val="1558A8"/>
          </a:solidFill>
          <a:ln w="12700">
            <a:solidFill>
              <a:srgbClr val="1558A8"/>
            </a:solidFill>
            <a:prstDash val="solid"/>
          </a:ln>
        </p:spPr>
      </p:sp>
      <p:sp>
        <p:nvSpPr>
          <p:cNvPr id="40" name="Text 38"/>
          <p:cNvSpPr/>
          <p:nvPr/>
        </p:nvSpPr>
        <p:spPr>
          <a:xfrm>
            <a:off x="2185416"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1" name="Shape 39"/>
          <p:cNvSpPr/>
          <p:nvPr/>
        </p:nvSpPr>
        <p:spPr>
          <a:xfrm>
            <a:off x="3200400" y="1069848"/>
            <a:ext cx="932688" cy="182880"/>
          </a:xfrm>
          <a:prstGeom prst="roundRect">
            <a:avLst>
              <a:gd name="adj" fmla="val 15000"/>
            </a:avLst>
          </a:prstGeom>
          <a:solidFill>
            <a:srgbClr val="FFFFFF"/>
          </a:solidFill>
          <a:ln w="9525">
            <a:solidFill>
              <a:srgbClr val="CBD5E1"/>
            </a:solidFill>
            <a:prstDash val="solid"/>
          </a:ln>
        </p:spPr>
      </p:sp>
      <p:sp>
        <p:nvSpPr>
          <p:cNvPr id="42" name="Text 40"/>
          <p:cNvSpPr/>
          <p:nvPr/>
        </p:nvSpPr>
        <p:spPr>
          <a:xfrm>
            <a:off x="3200400"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FairPlay DRM</a:t>
            </a:r>
            <a:endParaRPr lang="en-US" sz="750" dirty="0"/>
          </a:p>
        </p:txBody>
      </p:sp>
      <p:sp>
        <p:nvSpPr>
          <p:cNvPr id="43" name="Shape 41"/>
          <p:cNvSpPr/>
          <p:nvPr/>
        </p:nvSpPr>
        <p:spPr>
          <a:xfrm>
            <a:off x="3200400" y="1280160"/>
            <a:ext cx="932688" cy="155448"/>
          </a:xfrm>
          <a:prstGeom prst="roundRect">
            <a:avLst>
              <a:gd name="adj" fmla="val 17647"/>
            </a:avLst>
          </a:prstGeom>
          <a:solidFill>
            <a:srgbClr val="1558A8"/>
          </a:solidFill>
          <a:ln w="12700">
            <a:solidFill>
              <a:srgbClr val="1558A8"/>
            </a:solidFill>
            <a:prstDash val="solid"/>
          </a:ln>
        </p:spPr>
      </p:sp>
      <p:sp>
        <p:nvSpPr>
          <p:cNvPr id="44" name="Text 42"/>
          <p:cNvSpPr/>
          <p:nvPr/>
        </p:nvSpPr>
        <p:spPr>
          <a:xfrm>
            <a:off x="3200400"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5" name="Shape 43"/>
          <p:cNvSpPr/>
          <p:nvPr/>
        </p:nvSpPr>
        <p:spPr>
          <a:xfrm>
            <a:off x="4215384" y="1069848"/>
            <a:ext cx="932688" cy="182880"/>
          </a:xfrm>
          <a:prstGeom prst="roundRect">
            <a:avLst>
              <a:gd name="adj" fmla="val 15000"/>
            </a:avLst>
          </a:prstGeom>
          <a:solidFill>
            <a:srgbClr val="FFFFFF"/>
          </a:solidFill>
          <a:ln w="9525">
            <a:solidFill>
              <a:srgbClr val="CBD5E1"/>
            </a:solidFill>
            <a:prstDash val="solid"/>
          </a:ln>
        </p:spPr>
      </p:sp>
      <p:sp>
        <p:nvSpPr>
          <p:cNvPr id="46" name="Text 44"/>
          <p:cNvSpPr/>
          <p:nvPr/>
        </p:nvSpPr>
        <p:spPr>
          <a:xfrm>
            <a:off x="4215384"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Widevine DRM</a:t>
            </a:r>
            <a:endParaRPr lang="en-US" sz="750" dirty="0"/>
          </a:p>
        </p:txBody>
      </p:sp>
      <p:sp>
        <p:nvSpPr>
          <p:cNvPr id="47" name="Shape 45"/>
          <p:cNvSpPr/>
          <p:nvPr/>
        </p:nvSpPr>
        <p:spPr>
          <a:xfrm>
            <a:off x="4215384" y="1280160"/>
            <a:ext cx="932688" cy="155448"/>
          </a:xfrm>
          <a:prstGeom prst="roundRect">
            <a:avLst>
              <a:gd name="adj" fmla="val 17647"/>
            </a:avLst>
          </a:prstGeom>
          <a:solidFill>
            <a:srgbClr val="1558A8"/>
          </a:solidFill>
          <a:ln w="12700">
            <a:solidFill>
              <a:srgbClr val="1558A8"/>
            </a:solidFill>
            <a:prstDash val="solid"/>
          </a:ln>
        </p:spPr>
      </p:sp>
      <p:sp>
        <p:nvSpPr>
          <p:cNvPr id="48" name="Text 46"/>
          <p:cNvSpPr/>
          <p:nvPr/>
        </p:nvSpPr>
        <p:spPr>
          <a:xfrm>
            <a:off x="4215384"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49" name="Shape 47"/>
          <p:cNvSpPr/>
          <p:nvPr/>
        </p:nvSpPr>
        <p:spPr>
          <a:xfrm>
            <a:off x="5230368" y="1069848"/>
            <a:ext cx="932688" cy="182880"/>
          </a:xfrm>
          <a:prstGeom prst="roundRect">
            <a:avLst>
              <a:gd name="adj" fmla="val 15000"/>
            </a:avLst>
          </a:prstGeom>
          <a:solidFill>
            <a:srgbClr val="FFFFFF"/>
          </a:solidFill>
          <a:ln w="9525">
            <a:solidFill>
              <a:srgbClr val="CBD5E1"/>
            </a:solidFill>
            <a:prstDash val="solid"/>
          </a:ln>
        </p:spPr>
      </p:sp>
      <p:sp>
        <p:nvSpPr>
          <p:cNvPr id="50" name="Text 48"/>
          <p:cNvSpPr/>
          <p:nvPr/>
        </p:nvSpPr>
        <p:spPr>
          <a:xfrm>
            <a:off x="5230368"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VOD Streams</a:t>
            </a:r>
            <a:endParaRPr lang="en-US" sz="750" dirty="0"/>
          </a:p>
        </p:txBody>
      </p:sp>
      <p:sp>
        <p:nvSpPr>
          <p:cNvPr id="51" name="Shape 49"/>
          <p:cNvSpPr/>
          <p:nvPr/>
        </p:nvSpPr>
        <p:spPr>
          <a:xfrm>
            <a:off x="5230368" y="1280160"/>
            <a:ext cx="932688" cy="155448"/>
          </a:xfrm>
          <a:prstGeom prst="roundRect">
            <a:avLst>
              <a:gd name="adj" fmla="val 17647"/>
            </a:avLst>
          </a:prstGeom>
          <a:solidFill>
            <a:srgbClr val="1558A8"/>
          </a:solidFill>
          <a:ln w="12700">
            <a:solidFill>
              <a:srgbClr val="1558A8"/>
            </a:solidFill>
            <a:prstDash val="solid"/>
          </a:ln>
        </p:spPr>
      </p:sp>
      <p:sp>
        <p:nvSpPr>
          <p:cNvPr id="52" name="Text 50"/>
          <p:cNvSpPr/>
          <p:nvPr/>
        </p:nvSpPr>
        <p:spPr>
          <a:xfrm>
            <a:off x="5230368"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53" name="Shape 51"/>
          <p:cNvSpPr/>
          <p:nvPr/>
        </p:nvSpPr>
        <p:spPr>
          <a:xfrm>
            <a:off x="6245352" y="1069848"/>
            <a:ext cx="932688" cy="182880"/>
          </a:xfrm>
          <a:prstGeom prst="roundRect">
            <a:avLst>
              <a:gd name="adj" fmla="val 15000"/>
            </a:avLst>
          </a:prstGeom>
          <a:solidFill>
            <a:srgbClr val="FFFFFF"/>
          </a:solidFill>
          <a:ln w="9525">
            <a:solidFill>
              <a:srgbClr val="CBD5E1"/>
            </a:solidFill>
            <a:prstDash val="solid"/>
          </a:ln>
        </p:spPr>
      </p:sp>
      <p:sp>
        <p:nvSpPr>
          <p:cNvPr id="54" name="Text 52"/>
          <p:cNvSpPr/>
          <p:nvPr/>
        </p:nvSpPr>
        <p:spPr>
          <a:xfrm>
            <a:off x="6245352" y="106984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55" name="Shape 53"/>
          <p:cNvSpPr/>
          <p:nvPr/>
        </p:nvSpPr>
        <p:spPr>
          <a:xfrm>
            <a:off x="6245352" y="1280160"/>
            <a:ext cx="932688" cy="155448"/>
          </a:xfrm>
          <a:prstGeom prst="roundRect">
            <a:avLst>
              <a:gd name="adj" fmla="val 17647"/>
            </a:avLst>
          </a:prstGeom>
          <a:solidFill>
            <a:srgbClr val="1558A8"/>
          </a:solidFill>
          <a:ln w="12700">
            <a:solidFill>
              <a:srgbClr val="1558A8"/>
            </a:solidFill>
            <a:prstDash val="solid"/>
          </a:ln>
        </p:spPr>
      </p:sp>
      <p:sp>
        <p:nvSpPr>
          <p:cNvPr id="56" name="Text 54"/>
          <p:cNvSpPr/>
          <p:nvPr/>
        </p:nvSpPr>
        <p:spPr>
          <a:xfrm>
            <a:off x="6245352" y="128016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57" name="Shape 55"/>
          <p:cNvSpPr/>
          <p:nvPr/>
        </p:nvSpPr>
        <p:spPr>
          <a:xfrm>
            <a:off x="164592" y="2336292"/>
            <a:ext cx="9116568" cy="1476756"/>
          </a:xfrm>
          <a:prstGeom prst="rect">
            <a:avLst/>
          </a:prstGeom>
          <a:solidFill>
            <a:srgbClr val="FFFFFF"/>
          </a:solidFill>
          <a:ln w="6350">
            <a:solidFill>
              <a:srgbClr val="E5E7EB"/>
            </a:solidFill>
            <a:prstDash val="solid"/>
          </a:ln>
        </p:spPr>
      </p:sp>
      <p:sp>
        <p:nvSpPr>
          <p:cNvPr id="58" name="Shape 56"/>
          <p:cNvSpPr/>
          <p:nvPr/>
        </p:nvSpPr>
        <p:spPr>
          <a:xfrm>
            <a:off x="182880" y="2409444"/>
            <a:ext cx="859536" cy="1330452"/>
          </a:xfrm>
          <a:prstGeom prst="roundRect">
            <a:avLst>
              <a:gd name="adj" fmla="val 5319"/>
            </a:avLst>
          </a:prstGeom>
          <a:solidFill>
            <a:srgbClr val="9CA3AF"/>
          </a:solidFill>
          <a:ln w="12700">
            <a:solidFill>
              <a:srgbClr val="9CA3AF"/>
            </a:solidFill>
            <a:prstDash val="solid"/>
          </a:ln>
        </p:spPr>
      </p:sp>
      <p:sp>
        <p:nvSpPr>
          <p:cNvPr id="59" name="Text 57"/>
          <p:cNvSpPr/>
          <p:nvPr/>
        </p:nvSpPr>
        <p:spPr>
          <a:xfrm>
            <a:off x="182880" y="240944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Player</a:t>
            </a:r>
            <a:endParaRPr lang="en-US" sz="800" dirty="0"/>
          </a:p>
        </p:txBody>
      </p:sp>
      <p:sp>
        <p:nvSpPr>
          <p:cNvPr id="60" name="Text 58"/>
          <p:cNvSpPr/>
          <p:nvPr/>
        </p:nvSpPr>
        <p:spPr>
          <a:xfrm>
            <a:off x="1170432" y="238201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3 / 3 In Progress</a:t>
            </a:r>
            <a:endParaRPr lang="en-US" sz="750" dirty="0"/>
          </a:p>
        </p:txBody>
      </p:sp>
      <p:sp>
        <p:nvSpPr>
          <p:cNvPr id="61" name="Shape 59"/>
          <p:cNvSpPr/>
          <p:nvPr/>
        </p:nvSpPr>
        <p:spPr>
          <a:xfrm>
            <a:off x="1170432" y="2601468"/>
            <a:ext cx="932688" cy="182880"/>
          </a:xfrm>
          <a:prstGeom prst="roundRect">
            <a:avLst>
              <a:gd name="adj" fmla="val 15000"/>
            </a:avLst>
          </a:prstGeom>
          <a:solidFill>
            <a:srgbClr val="FFFFFF"/>
          </a:solidFill>
          <a:ln w="9525">
            <a:solidFill>
              <a:srgbClr val="CBD5E1"/>
            </a:solidFill>
            <a:prstDash val="solid"/>
          </a:ln>
        </p:spPr>
      </p:sp>
      <p:sp>
        <p:nvSpPr>
          <p:cNvPr id="62" name="Text 60"/>
          <p:cNvSpPr/>
          <p:nvPr/>
        </p:nvSpPr>
        <p:spPr>
          <a:xfrm>
            <a:off x="1170432"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iOS Player</a:t>
            </a:r>
            <a:endParaRPr lang="en-US" sz="750" dirty="0"/>
          </a:p>
        </p:txBody>
      </p:sp>
      <p:sp>
        <p:nvSpPr>
          <p:cNvPr id="63" name="Shape 61"/>
          <p:cNvSpPr/>
          <p:nvPr/>
        </p:nvSpPr>
        <p:spPr>
          <a:xfrm>
            <a:off x="1170432" y="2811780"/>
            <a:ext cx="932688" cy="155448"/>
          </a:xfrm>
          <a:prstGeom prst="roundRect">
            <a:avLst>
              <a:gd name="adj" fmla="val 17647"/>
            </a:avLst>
          </a:prstGeom>
          <a:solidFill>
            <a:srgbClr val="1558A8"/>
          </a:solidFill>
          <a:ln w="12700">
            <a:solidFill>
              <a:srgbClr val="1558A8"/>
            </a:solidFill>
            <a:prstDash val="solid"/>
          </a:ln>
        </p:spPr>
      </p:sp>
      <p:sp>
        <p:nvSpPr>
          <p:cNvPr id="64" name="Text 62"/>
          <p:cNvSpPr/>
          <p:nvPr/>
        </p:nvSpPr>
        <p:spPr>
          <a:xfrm>
            <a:off x="1170432"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5" name="Shape 63"/>
          <p:cNvSpPr/>
          <p:nvPr/>
        </p:nvSpPr>
        <p:spPr>
          <a:xfrm>
            <a:off x="2185416" y="2601468"/>
            <a:ext cx="932688" cy="182880"/>
          </a:xfrm>
          <a:prstGeom prst="roundRect">
            <a:avLst>
              <a:gd name="adj" fmla="val 15000"/>
            </a:avLst>
          </a:prstGeom>
          <a:solidFill>
            <a:srgbClr val="FFFFFF"/>
          </a:solidFill>
          <a:ln w="9525">
            <a:solidFill>
              <a:srgbClr val="CBD5E1"/>
            </a:solidFill>
            <a:prstDash val="solid"/>
          </a:ln>
        </p:spPr>
      </p:sp>
      <p:sp>
        <p:nvSpPr>
          <p:cNvPr id="66" name="Text 64"/>
          <p:cNvSpPr/>
          <p:nvPr/>
        </p:nvSpPr>
        <p:spPr>
          <a:xfrm>
            <a:off x="2185416"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Android Player</a:t>
            </a:r>
            <a:endParaRPr lang="en-US" sz="750" dirty="0"/>
          </a:p>
        </p:txBody>
      </p:sp>
      <p:sp>
        <p:nvSpPr>
          <p:cNvPr id="67" name="Shape 65"/>
          <p:cNvSpPr/>
          <p:nvPr/>
        </p:nvSpPr>
        <p:spPr>
          <a:xfrm>
            <a:off x="2185416" y="2811780"/>
            <a:ext cx="932688" cy="155448"/>
          </a:xfrm>
          <a:prstGeom prst="roundRect">
            <a:avLst>
              <a:gd name="adj" fmla="val 17647"/>
            </a:avLst>
          </a:prstGeom>
          <a:solidFill>
            <a:srgbClr val="1558A8"/>
          </a:solidFill>
          <a:ln w="12700">
            <a:solidFill>
              <a:srgbClr val="1558A8"/>
            </a:solidFill>
            <a:prstDash val="solid"/>
          </a:ln>
        </p:spPr>
      </p:sp>
      <p:sp>
        <p:nvSpPr>
          <p:cNvPr id="68" name="Text 66"/>
          <p:cNvSpPr/>
          <p:nvPr/>
        </p:nvSpPr>
        <p:spPr>
          <a:xfrm>
            <a:off x="2185416"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69" name="Shape 67"/>
          <p:cNvSpPr/>
          <p:nvPr/>
        </p:nvSpPr>
        <p:spPr>
          <a:xfrm>
            <a:off x="3200400" y="2601468"/>
            <a:ext cx="932688" cy="182880"/>
          </a:xfrm>
          <a:prstGeom prst="roundRect">
            <a:avLst>
              <a:gd name="adj" fmla="val 15000"/>
            </a:avLst>
          </a:prstGeom>
          <a:solidFill>
            <a:srgbClr val="FFFFFF"/>
          </a:solidFill>
          <a:ln w="9525">
            <a:solidFill>
              <a:srgbClr val="CBD5E1"/>
            </a:solidFill>
            <a:prstDash val="solid"/>
          </a:ln>
        </p:spPr>
      </p:sp>
      <p:sp>
        <p:nvSpPr>
          <p:cNvPr id="70" name="Text 68"/>
          <p:cNvSpPr/>
          <p:nvPr/>
        </p:nvSpPr>
        <p:spPr>
          <a:xfrm>
            <a:off x="3200400" y="260146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HLS/DASH PB</a:t>
            </a:r>
            <a:endParaRPr lang="en-US" sz="750" dirty="0"/>
          </a:p>
        </p:txBody>
      </p:sp>
      <p:sp>
        <p:nvSpPr>
          <p:cNvPr id="71" name="Shape 69"/>
          <p:cNvSpPr/>
          <p:nvPr/>
        </p:nvSpPr>
        <p:spPr>
          <a:xfrm>
            <a:off x="3200400" y="2811780"/>
            <a:ext cx="932688" cy="155448"/>
          </a:xfrm>
          <a:prstGeom prst="roundRect">
            <a:avLst>
              <a:gd name="adj" fmla="val 17647"/>
            </a:avLst>
          </a:prstGeom>
          <a:solidFill>
            <a:srgbClr val="1558A8"/>
          </a:solidFill>
          <a:ln w="12700">
            <a:solidFill>
              <a:srgbClr val="1558A8"/>
            </a:solidFill>
            <a:prstDash val="solid"/>
          </a:ln>
        </p:spPr>
      </p:sp>
      <p:sp>
        <p:nvSpPr>
          <p:cNvPr id="72" name="Text 70"/>
          <p:cNvSpPr/>
          <p:nvPr/>
        </p:nvSpPr>
        <p:spPr>
          <a:xfrm>
            <a:off x="3200400" y="281178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73" name="Shape 71"/>
          <p:cNvSpPr/>
          <p:nvPr/>
        </p:nvSpPr>
        <p:spPr>
          <a:xfrm>
            <a:off x="164592" y="3867912"/>
            <a:ext cx="9116568" cy="1476756"/>
          </a:xfrm>
          <a:prstGeom prst="rect">
            <a:avLst/>
          </a:prstGeom>
          <a:solidFill>
            <a:srgbClr val="FAFBFC"/>
          </a:solidFill>
          <a:ln w="6350">
            <a:solidFill>
              <a:srgbClr val="E5E7EB"/>
            </a:solidFill>
            <a:prstDash val="solid"/>
          </a:ln>
        </p:spPr>
      </p:sp>
      <p:sp>
        <p:nvSpPr>
          <p:cNvPr id="74" name="Shape 72"/>
          <p:cNvSpPr/>
          <p:nvPr/>
        </p:nvSpPr>
        <p:spPr>
          <a:xfrm>
            <a:off x="182880" y="3941064"/>
            <a:ext cx="859536" cy="1330452"/>
          </a:xfrm>
          <a:prstGeom prst="roundRect">
            <a:avLst>
              <a:gd name="adj" fmla="val 5319"/>
            </a:avLst>
          </a:prstGeom>
          <a:solidFill>
            <a:srgbClr val="9CA3AF"/>
          </a:solidFill>
          <a:ln w="12700">
            <a:solidFill>
              <a:srgbClr val="9CA3AF"/>
            </a:solidFill>
            <a:prstDash val="solid"/>
          </a:ln>
        </p:spPr>
      </p:sp>
      <p:sp>
        <p:nvSpPr>
          <p:cNvPr id="75" name="Text 73"/>
          <p:cNvSpPr/>
          <p:nvPr/>
        </p:nvSpPr>
        <p:spPr>
          <a:xfrm>
            <a:off x="182880" y="394106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Merchandising</a:t>
            </a:r>
            <a:endParaRPr lang="en-US" sz="800" dirty="0"/>
          </a:p>
        </p:txBody>
      </p:sp>
      <p:sp>
        <p:nvSpPr>
          <p:cNvPr id="76" name="Text 74"/>
          <p:cNvSpPr/>
          <p:nvPr/>
        </p:nvSpPr>
        <p:spPr>
          <a:xfrm>
            <a:off x="1170432" y="391363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6 / 9 In Progress · 2 Done</a:t>
            </a:r>
            <a:endParaRPr lang="en-US" sz="750" dirty="0"/>
          </a:p>
        </p:txBody>
      </p:sp>
      <p:sp>
        <p:nvSpPr>
          <p:cNvPr id="77" name="Shape 75"/>
          <p:cNvSpPr/>
          <p:nvPr/>
        </p:nvSpPr>
        <p:spPr>
          <a:xfrm>
            <a:off x="1170432" y="4133088"/>
            <a:ext cx="932688" cy="182880"/>
          </a:xfrm>
          <a:prstGeom prst="roundRect">
            <a:avLst>
              <a:gd name="adj" fmla="val 15000"/>
            </a:avLst>
          </a:prstGeom>
          <a:solidFill>
            <a:srgbClr val="FFFFFF"/>
          </a:solidFill>
          <a:ln w="9525">
            <a:solidFill>
              <a:srgbClr val="CBD5E1"/>
            </a:solidFill>
            <a:prstDash val="solid"/>
          </a:ln>
        </p:spPr>
      </p:sp>
      <p:sp>
        <p:nvSpPr>
          <p:cNvPr id="78" name="Text 76"/>
          <p:cNvSpPr/>
          <p:nvPr/>
        </p:nvSpPr>
        <p:spPr>
          <a:xfrm>
            <a:off x="117043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Metadata</a:t>
            </a:r>
            <a:endParaRPr lang="en-US" sz="750" dirty="0"/>
          </a:p>
        </p:txBody>
      </p:sp>
      <p:sp>
        <p:nvSpPr>
          <p:cNvPr id="79" name="Shape 77"/>
          <p:cNvSpPr/>
          <p:nvPr/>
        </p:nvSpPr>
        <p:spPr>
          <a:xfrm>
            <a:off x="1170432" y="4343400"/>
            <a:ext cx="932688" cy="155448"/>
          </a:xfrm>
          <a:prstGeom prst="roundRect">
            <a:avLst>
              <a:gd name="adj" fmla="val 17647"/>
            </a:avLst>
          </a:prstGeom>
          <a:solidFill>
            <a:srgbClr val="1558A8"/>
          </a:solidFill>
          <a:ln w="12700">
            <a:solidFill>
              <a:srgbClr val="1558A8"/>
            </a:solidFill>
            <a:prstDash val="solid"/>
          </a:ln>
        </p:spPr>
      </p:sp>
      <p:sp>
        <p:nvSpPr>
          <p:cNvPr id="80" name="Text 78"/>
          <p:cNvSpPr/>
          <p:nvPr/>
        </p:nvSpPr>
        <p:spPr>
          <a:xfrm>
            <a:off x="117043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1" name="Shape 79"/>
          <p:cNvSpPr/>
          <p:nvPr/>
        </p:nvSpPr>
        <p:spPr>
          <a:xfrm>
            <a:off x="2185416" y="4133088"/>
            <a:ext cx="932688" cy="182880"/>
          </a:xfrm>
          <a:prstGeom prst="roundRect">
            <a:avLst>
              <a:gd name="adj" fmla="val 15000"/>
            </a:avLst>
          </a:prstGeom>
          <a:solidFill>
            <a:srgbClr val="FFFFFF"/>
          </a:solidFill>
          <a:ln w="9525">
            <a:solidFill>
              <a:srgbClr val="CBD5E1"/>
            </a:solidFill>
            <a:prstDash val="solid"/>
          </a:ln>
        </p:spPr>
      </p:sp>
      <p:sp>
        <p:nvSpPr>
          <p:cNvPr id="82" name="Text 80"/>
          <p:cNvSpPr/>
          <p:nvPr/>
        </p:nvSpPr>
        <p:spPr>
          <a:xfrm>
            <a:off x="218541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Images</a:t>
            </a:r>
            <a:endParaRPr lang="en-US" sz="750" dirty="0"/>
          </a:p>
        </p:txBody>
      </p:sp>
      <p:sp>
        <p:nvSpPr>
          <p:cNvPr id="83" name="Shape 81"/>
          <p:cNvSpPr/>
          <p:nvPr/>
        </p:nvSpPr>
        <p:spPr>
          <a:xfrm>
            <a:off x="2185416" y="4343400"/>
            <a:ext cx="932688" cy="155448"/>
          </a:xfrm>
          <a:prstGeom prst="roundRect">
            <a:avLst>
              <a:gd name="adj" fmla="val 17647"/>
            </a:avLst>
          </a:prstGeom>
          <a:solidFill>
            <a:srgbClr val="1558A8"/>
          </a:solidFill>
          <a:ln w="12700">
            <a:solidFill>
              <a:srgbClr val="1558A8"/>
            </a:solidFill>
            <a:prstDash val="solid"/>
          </a:ln>
        </p:spPr>
      </p:sp>
      <p:sp>
        <p:nvSpPr>
          <p:cNvPr id="84" name="Text 82"/>
          <p:cNvSpPr/>
          <p:nvPr/>
        </p:nvSpPr>
        <p:spPr>
          <a:xfrm>
            <a:off x="2185416"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5" name="Shape 83"/>
          <p:cNvSpPr/>
          <p:nvPr/>
        </p:nvSpPr>
        <p:spPr>
          <a:xfrm>
            <a:off x="3200400" y="4133088"/>
            <a:ext cx="932688" cy="182880"/>
          </a:xfrm>
          <a:prstGeom prst="roundRect">
            <a:avLst>
              <a:gd name="adj" fmla="val 15000"/>
            </a:avLst>
          </a:prstGeom>
          <a:solidFill>
            <a:srgbClr val="FFFFFF"/>
          </a:solidFill>
          <a:ln w="9525">
            <a:solidFill>
              <a:srgbClr val="CBD5E1"/>
            </a:solidFill>
            <a:prstDash val="solid"/>
          </a:ln>
        </p:spPr>
      </p:sp>
      <p:sp>
        <p:nvSpPr>
          <p:cNvPr id="86" name="Text 84"/>
          <p:cNvSpPr/>
          <p:nvPr/>
        </p:nvSpPr>
        <p:spPr>
          <a:xfrm>
            <a:off x="320040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Carousels</a:t>
            </a:r>
            <a:endParaRPr lang="en-US" sz="750" dirty="0"/>
          </a:p>
        </p:txBody>
      </p:sp>
      <p:sp>
        <p:nvSpPr>
          <p:cNvPr id="87" name="Shape 85"/>
          <p:cNvSpPr/>
          <p:nvPr/>
        </p:nvSpPr>
        <p:spPr>
          <a:xfrm>
            <a:off x="3200400" y="4343400"/>
            <a:ext cx="932688" cy="155448"/>
          </a:xfrm>
          <a:prstGeom prst="roundRect">
            <a:avLst>
              <a:gd name="adj" fmla="val 17647"/>
            </a:avLst>
          </a:prstGeom>
          <a:solidFill>
            <a:srgbClr val="1558A8"/>
          </a:solidFill>
          <a:ln w="12700">
            <a:solidFill>
              <a:srgbClr val="1558A8"/>
            </a:solidFill>
            <a:prstDash val="solid"/>
          </a:ln>
        </p:spPr>
      </p:sp>
      <p:sp>
        <p:nvSpPr>
          <p:cNvPr id="88" name="Text 86"/>
          <p:cNvSpPr/>
          <p:nvPr/>
        </p:nvSpPr>
        <p:spPr>
          <a:xfrm>
            <a:off x="3200400"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89" name="Shape 87"/>
          <p:cNvSpPr/>
          <p:nvPr/>
        </p:nvSpPr>
        <p:spPr>
          <a:xfrm>
            <a:off x="4215384" y="4133088"/>
            <a:ext cx="932688" cy="182880"/>
          </a:xfrm>
          <a:prstGeom prst="roundRect">
            <a:avLst>
              <a:gd name="adj" fmla="val 15000"/>
            </a:avLst>
          </a:prstGeom>
          <a:solidFill>
            <a:srgbClr val="FFFFFF"/>
          </a:solidFill>
          <a:ln w="9525">
            <a:solidFill>
              <a:srgbClr val="CBD5E1"/>
            </a:solidFill>
            <a:prstDash val="solid"/>
          </a:ln>
        </p:spPr>
      </p:sp>
      <p:sp>
        <p:nvSpPr>
          <p:cNvPr id="90" name="Text 88"/>
          <p:cNvSpPr/>
          <p:nvPr/>
        </p:nvSpPr>
        <p:spPr>
          <a:xfrm>
            <a:off x="4215384"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Live Events</a:t>
            </a:r>
            <a:endParaRPr lang="en-US" sz="750" dirty="0"/>
          </a:p>
        </p:txBody>
      </p:sp>
      <p:sp>
        <p:nvSpPr>
          <p:cNvPr id="91" name="Shape 89"/>
          <p:cNvSpPr/>
          <p:nvPr/>
        </p:nvSpPr>
        <p:spPr>
          <a:xfrm>
            <a:off x="4215384" y="4343400"/>
            <a:ext cx="932688" cy="155448"/>
          </a:xfrm>
          <a:prstGeom prst="roundRect">
            <a:avLst>
              <a:gd name="adj" fmla="val 17647"/>
            </a:avLst>
          </a:prstGeom>
          <a:solidFill>
            <a:srgbClr val="1558A8"/>
          </a:solidFill>
          <a:ln w="12700">
            <a:solidFill>
              <a:srgbClr val="1558A8"/>
            </a:solidFill>
            <a:prstDash val="solid"/>
          </a:ln>
        </p:spPr>
      </p:sp>
      <p:sp>
        <p:nvSpPr>
          <p:cNvPr id="92" name="Text 90"/>
          <p:cNvSpPr/>
          <p:nvPr/>
        </p:nvSpPr>
        <p:spPr>
          <a:xfrm>
            <a:off x="4215384"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93" name="Shape 91"/>
          <p:cNvSpPr/>
          <p:nvPr/>
        </p:nvSpPr>
        <p:spPr>
          <a:xfrm>
            <a:off x="5230368" y="4133088"/>
            <a:ext cx="932688" cy="182880"/>
          </a:xfrm>
          <a:prstGeom prst="roundRect">
            <a:avLst>
              <a:gd name="adj" fmla="val 15000"/>
            </a:avLst>
          </a:prstGeom>
          <a:solidFill>
            <a:srgbClr val="FFFFFF"/>
          </a:solidFill>
          <a:ln w="9525">
            <a:solidFill>
              <a:srgbClr val="CBD5E1"/>
            </a:solidFill>
            <a:prstDash val="solid"/>
          </a:ln>
        </p:spPr>
      </p:sp>
      <p:sp>
        <p:nvSpPr>
          <p:cNvPr id="94" name="Text 92"/>
          <p:cNvSpPr/>
          <p:nvPr/>
        </p:nvSpPr>
        <p:spPr>
          <a:xfrm>
            <a:off x="5230368"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Back Catalog</a:t>
            </a:r>
            <a:endParaRPr lang="en-US" sz="750" dirty="0"/>
          </a:p>
        </p:txBody>
      </p:sp>
      <p:sp>
        <p:nvSpPr>
          <p:cNvPr id="95" name="Shape 93"/>
          <p:cNvSpPr/>
          <p:nvPr/>
        </p:nvSpPr>
        <p:spPr>
          <a:xfrm>
            <a:off x="5230368" y="4343400"/>
            <a:ext cx="932688" cy="155448"/>
          </a:xfrm>
          <a:prstGeom prst="roundRect">
            <a:avLst>
              <a:gd name="adj" fmla="val 17647"/>
            </a:avLst>
          </a:prstGeom>
          <a:solidFill>
            <a:srgbClr val="F3F4F6"/>
          </a:solidFill>
          <a:ln w="9525">
            <a:solidFill>
              <a:srgbClr val="D1D5DB"/>
            </a:solidFill>
            <a:prstDash val="solid"/>
          </a:ln>
        </p:spPr>
      </p:sp>
      <p:sp>
        <p:nvSpPr>
          <p:cNvPr id="96" name="Text 94"/>
          <p:cNvSpPr/>
          <p:nvPr/>
        </p:nvSpPr>
        <p:spPr>
          <a:xfrm>
            <a:off x="5230368" y="434340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97" name="Shape 95"/>
          <p:cNvSpPr/>
          <p:nvPr/>
        </p:nvSpPr>
        <p:spPr>
          <a:xfrm>
            <a:off x="6245352" y="4133088"/>
            <a:ext cx="932688" cy="182880"/>
          </a:xfrm>
          <a:prstGeom prst="roundRect">
            <a:avLst>
              <a:gd name="adj" fmla="val 15000"/>
            </a:avLst>
          </a:prstGeom>
          <a:solidFill>
            <a:srgbClr val="FFFFFF"/>
          </a:solidFill>
          <a:ln w="9525">
            <a:solidFill>
              <a:srgbClr val="CBD5E1"/>
            </a:solidFill>
            <a:prstDash val="solid"/>
          </a:ln>
        </p:spPr>
      </p:sp>
      <p:sp>
        <p:nvSpPr>
          <p:cNvPr id="98" name="Text 96"/>
          <p:cNvSpPr/>
          <p:nvPr/>
        </p:nvSpPr>
        <p:spPr>
          <a:xfrm>
            <a:off x="6245352"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Full Replays</a:t>
            </a:r>
            <a:endParaRPr lang="en-US" sz="750" dirty="0"/>
          </a:p>
        </p:txBody>
      </p:sp>
      <p:sp>
        <p:nvSpPr>
          <p:cNvPr id="99" name="Shape 97"/>
          <p:cNvSpPr/>
          <p:nvPr/>
        </p:nvSpPr>
        <p:spPr>
          <a:xfrm>
            <a:off x="6245352" y="4343400"/>
            <a:ext cx="932688" cy="155448"/>
          </a:xfrm>
          <a:prstGeom prst="roundRect">
            <a:avLst>
              <a:gd name="adj" fmla="val 17647"/>
            </a:avLst>
          </a:prstGeom>
          <a:solidFill>
            <a:srgbClr val="1558A8"/>
          </a:solidFill>
          <a:ln w="12700">
            <a:solidFill>
              <a:srgbClr val="1558A8"/>
            </a:solidFill>
            <a:prstDash val="solid"/>
          </a:ln>
        </p:spPr>
      </p:sp>
      <p:sp>
        <p:nvSpPr>
          <p:cNvPr id="100" name="Text 98"/>
          <p:cNvSpPr/>
          <p:nvPr/>
        </p:nvSpPr>
        <p:spPr>
          <a:xfrm>
            <a:off x="6245352" y="43434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01" name="Shape 99"/>
          <p:cNvSpPr/>
          <p:nvPr/>
        </p:nvSpPr>
        <p:spPr>
          <a:xfrm>
            <a:off x="7260336" y="4133088"/>
            <a:ext cx="932688" cy="182880"/>
          </a:xfrm>
          <a:prstGeom prst="roundRect">
            <a:avLst>
              <a:gd name="adj" fmla="val 15000"/>
            </a:avLst>
          </a:prstGeom>
          <a:solidFill>
            <a:srgbClr val="FFFFFF"/>
          </a:solidFill>
          <a:ln w="9525">
            <a:solidFill>
              <a:srgbClr val="CBD5E1"/>
            </a:solidFill>
            <a:prstDash val="solid"/>
          </a:ln>
        </p:spPr>
      </p:sp>
      <p:sp>
        <p:nvSpPr>
          <p:cNvPr id="102" name="Text 100"/>
          <p:cNvSpPr/>
          <p:nvPr/>
        </p:nvSpPr>
        <p:spPr>
          <a:xfrm>
            <a:off x="7260336"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M15</a:t>
            </a:r>
            <a:endParaRPr lang="en-US" sz="750" dirty="0"/>
          </a:p>
        </p:txBody>
      </p:sp>
      <p:sp>
        <p:nvSpPr>
          <p:cNvPr id="103" name="Shape 101"/>
          <p:cNvSpPr/>
          <p:nvPr/>
        </p:nvSpPr>
        <p:spPr>
          <a:xfrm>
            <a:off x="7260336" y="4343400"/>
            <a:ext cx="932688" cy="155448"/>
          </a:xfrm>
          <a:prstGeom prst="roundRect">
            <a:avLst>
              <a:gd name="adj" fmla="val 17647"/>
            </a:avLst>
          </a:prstGeom>
          <a:solidFill>
            <a:srgbClr val="DCFCE7"/>
          </a:solidFill>
          <a:ln w="12700">
            <a:solidFill>
              <a:srgbClr val="15803D"/>
            </a:solidFill>
            <a:prstDash val="solid"/>
          </a:ln>
        </p:spPr>
      </p:sp>
      <p:sp>
        <p:nvSpPr>
          <p:cNvPr id="104" name="Text 102"/>
          <p:cNvSpPr/>
          <p:nvPr/>
        </p:nvSpPr>
        <p:spPr>
          <a:xfrm>
            <a:off x="7260336"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05" name="Shape 103"/>
          <p:cNvSpPr/>
          <p:nvPr/>
        </p:nvSpPr>
        <p:spPr>
          <a:xfrm>
            <a:off x="8275320" y="4133088"/>
            <a:ext cx="932688" cy="182880"/>
          </a:xfrm>
          <a:prstGeom prst="roundRect">
            <a:avLst>
              <a:gd name="adj" fmla="val 15000"/>
            </a:avLst>
          </a:prstGeom>
          <a:solidFill>
            <a:srgbClr val="FFFFFF"/>
          </a:solidFill>
          <a:ln w="9525">
            <a:solidFill>
              <a:srgbClr val="CBD5E1"/>
            </a:solidFill>
            <a:prstDash val="solid"/>
          </a:ln>
        </p:spPr>
      </p:sp>
      <p:sp>
        <p:nvSpPr>
          <p:cNvPr id="106" name="Text 104"/>
          <p:cNvSpPr/>
          <p:nvPr/>
        </p:nvSpPr>
        <p:spPr>
          <a:xfrm>
            <a:off x="8275320" y="41330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Highlights</a:t>
            </a:r>
            <a:endParaRPr lang="en-US" sz="750" dirty="0"/>
          </a:p>
        </p:txBody>
      </p:sp>
      <p:sp>
        <p:nvSpPr>
          <p:cNvPr id="107" name="Shape 105"/>
          <p:cNvSpPr/>
          <p:nvPr/>
        </p:nvSpPr>
        <p:spPr>
          <a:xfrm>
            <a:off x="8275320" y="4343400"/>
            <a:ext cx="932688" cy="155448"/>
          </a:xfrm>
          <a:prstGeom prst="roundRect">
            <a:avLst>
              <a:gd name="adj" fmla="val 17647"/>
            </a:avLst>
          </a:prstGeom>
          <a:solidFill>
            <a:srgbClr val="DCFCE7"/>
          </a:solidFill>
          <a:ln w="12700">
            <a:solidFill>
              <a:srgbClr val="15803D"/>
            </a:solidFill>
            <a:prstDash val="solid"/>
          </a:ln>
        </p:spPr>
      </p:sp>
      <p:sp>
        <p:nvSpPr>
          <p:cNvPr id="108" name="Text 106"/>
          <p:cNvSpPr/>
          <p:nvPr/>
        </p:nvSpPr>
        <p:spPr>
          <a:xfrm>
            <a:off x="8275320" y="434340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09" name="Shape 107"/>
          <p:cNvSpPr/>
          <p:nvPr/>
        </p:nvSpPr>
        <p:spPr>
          <a:xfrm>
            <a:off x="1170432" y="4590288"/>
            <a:ext cx="932688" cy="182880"/>
          </a:xfrm>
          <a:prstGeom prst="roundRect">
            <a:avLst>
              <a:gd name="adj" fmla="val 15000"/>
            </a:avLst>
          </a:prstGeom>
          <a:solidFill>
            <a:srgbClr val="FFFFFF"/>
          </a:solidFill>
          <a:ln w="9525">
            <a:solidFill>
              <a:srgbClr val="CBD5E1"/>
            </a:solidFill>
            <a:prstDash val="solid"/>
          </a:ln>
        </p:spPr>
      </p:sp>
      <p:sp>
        <p:nvSpPr>
          <p:cNvPr id="110" name="Text 108"/>
          <p:cNvSpPr/>
          <p:nvPr/>
        </p:nvSpPr>
        <p:spPr>
          <a:xfrm>
            <a:off x="1170432" y="459028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Linear</a:t>
            </a:r>
            <a:endParaRPr lang="en-US" sz="750" dirty="0"/>
          </a:p>
        </p:txBody>
      </p:sp>
      <p:sp>
        <p:nvSpPr>
          <p:cNvPr id="111" name="Shape 109"/>
          <p:cNvSpPr/>
          <p:nvPr/>
        </p:nvSpPr>
        <p:spPr>
          <a:xfrm>
            <a:off x="1170432" y="4800600"/>
            <a:ext cx="932688" cy="155448"/>
          </a:xfrm>
          <a:prstGeom prst="roundRect">
            <a:avLst>
              <a:gd name="adj" fmla="val 17647"/>
            </a:avLst>
          </a:prstGeom>
          <a:solidFill>
            <a:srgbClr val="1558A8"/>
          </a:solidFill>
          <a:ln w="12700">
            <a:solidFill>
              <a:srgbClr val="1558A8"/>
            </a:solidFill>
            <a:prstDash val="solid"/>
          </a:ln>
        </p:spPr>
      </p:sp>
      <p:sp>
        <p:nvSpPr>
          <p:cNvPr id="112" name="Text 110"/>
          <p:cNvSpPr/>
          <p:nvPr/>
        </p:nvSpPr>
        <p:spPr>
          <a:xfrm>
            <a:off x="1170432" y="480060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13" name="Shape 111"/>
          <p:cNvSpPr/>
          <p:nvPr/>
        </p:nvSpPr>
        <p:spPr>
          <a:xfrm>
            <a:off x="164592" y="5399532"/>
            <a:ext cx="9116568" cy="1476756"/>
          </a:xfrm>
          <a:prstGeom prst="rect">
            <a:avLst/>
          </a:prstGeom>
          <a:solidFill>
            <a:srgbClr val="FFFFFF"/>
          </a:solidFill>
          <a:ln w="6350">
            <a:solidFill>
              <a:srgbClr val="E5E7EB"/>
            </a:solidFill>
            <a:prstDash val="solid"/>
          </a:ln>
        </p:spPr>
      </p:sp>
      <p:sp>
        <p:nvSpPr>
          <p:cNvPr id="114" name="Shape 112"/>
          <p:cNvSpPr/>
          <p:nvPr/>
        </p:nvSpPr>
        <p:spPr>
          <a:xfrm>
            <a:off x="182880" y="5472684"/>
            <a:ext cx="859536" cy="1330452"/>
          </a:xfrm>
          <a:prstGeom prst="roundRect">
            <a:avLst>
              <a:gd name="adj" fmla="val 5319"/>
            </a:avLst>
          </a:prstGeom>
          <a:solidFill>
            <a:srgbClr val="9CA3AF"/>
          </a:solidFill>
          <a:ln w="12700">
            <a:solidFill>
              <a:srgbClr val="9CA3AF"/>
            </a:solidFill>
            <a:prstDash val="solid"/>
          </a:ln>
        </p:spPr>
      </p:sp>
      <p:sp>
        <p:nvSpPr>
          <p:cNvPr id="115" name="Text 113"/>
          <p:cNvSpPr/>
          <p:nvPr/>
        </p:nvSpPr>
        <p:spPr>
          <a:xfrm>
            <a:off x="182880" y="5472684"/>
            <a:ext cx="859536" cy="1330452"/>
          </a:xfrm>
          <a:prstGeom prst="rect">
            <a:avLst/>
          </a:prstGeom>
          <a:noFill/>
          <a:ln/>
        </p:spPr>
        <p:txBody>
          <a:bodyPr wrap="square" lIns="0" tIns="0" rIns="0" bIns="0" rtlCol="0" anchor="ctr"/>
          <a:lstStyle/>
          <a:p>
            <a:pPr algn="ctr" indent="0" marL="0">
              <a:buNone/>
            </a:pPr>
            <a:r>
              <a:rPr lang="en-US" sz="800" b="1" dirty="0">
                <a:solidFill>
                  <a:srgbClr val="FFFFFF"/>
                </a:solidFill>
              </a:rPr>
              <a:t>Onboarding</a:t>
            </a:r>
            <a:endParaRPr lang="en-US" sz="800" dirty="0"/>
          </a:p>
        </p:txBody>
      </p:sp>
      <p:sp>
        <p:nvSpPr>
          <p:cNvPr id="116" name="Text 114"/>
          <p:cNvSpPr/>
          <p:nvPr/>
        </p:nvSpPr>
        <p:spPr>
          <a:xfrm>
            <a:off x="1170432" y="5445252"/>
            <a:ext cx="8110728" cy="182880"/>
          </a:xfrm>
          <a:prstGeom prst="rect">
            <a:avLst/>
          </a:prstGeom>
          <a:noFill/>
          <a:ln/>
        </p:spPr>
        <p:txBody>
          <a:bodyPr wrap="square" lIns="0" tIns="0" rIns="0" bIns="0" rtlCol="0" anchor="ctr"/>
          <a:lstStyle/>
          <a:p>
            <a:pPr algn="l" indent="0" marL="0">
              <a:buNone/>
            </a:pPr>
            <a:r>
              <a:rPr lang="en-US" sz="750" dirty="0">
                <a:solidFill>
                  <a:srgbClr val="9CA3AF"/>
                </a:solidFill>
              </a:rPr>
              <a:t>4 / 6 In Progress · 1 Done</a:t>
            </a:r>
            <a:endParaRPr lang="en-US" sz="750" dirty="0"/>
          </a:p>
        </p:txBody>
      </p:sp>
      <p:sp>
        <p:nvSpPr>
          <p:cNvPr id="117" name="Shape 115"/>
          <p:cNvSpPr/>
          <p:nvPr/>
        </p:nvSpPr>
        <p:spPr>
          <a:xfrm>
            <a:off x="1170432" y="5664708"/>
            <a:ext cx="932688" cy="182880"/>
          </a:xfrm>
          <a:prstGeom prst="roundRect">
            <a:avLst>
              <a:gd name="adj" fmla="val 15000"/>
            </a:avLst>
          </a:prstGeom>
          <a:solidFill>
            <a:srgbClr val="FFFFFF"/>
          </a:solidFill>
          <a:ln w="9525">
            <a:solidFill>
              <a:srgbClr val="CBD5E1"/>
            </a:solidFill>
            <a:prstDash val="solid"/>
          </a:ln>
        </p:spPr>
      </p:sp>
      <p:sp>
        <p:nvSpPr>
          <p:cNvPr id="118" name="Text 116"/>
          <p:cNvSpPr/>
          <p:nvPr/>
        </p:nvSpPr>
        <p:spPr>
          <a:xfrm>
            <a:off x="117043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Unentitled</a:t>
            </a:r>
            <a:endParaRPr lang="en-US" sz="750" dirty="0"/>
          </a:p>
        </p:txBody>
      </p:sp>
      <p:sp>
        <p:nvSpPr>
          <p:cNvPr id="119" name="Shape 117"/>
          <p:cNvSpPr/>
          <p:nvPr/>
        </p:nvSpPr>
        <p:spPr>
          <a:xfrm>
            <a:off x="1170432" y="5875020"/>
            <a:ext cx="932688" cy="155448"/>
          </a:xfrm>
          <a:prstGeom prst="roundRect">
            <a:avLst>
              <a:gd name="adj" fmla="val 17647"/>
            </a:avLst>
          </a:prstGeom>
          <a:solidFill>
            <a:srgbClr val="1558A8"/>
          </a:solidFill>
          <a:ln w="12700">
            <a:solidFill>
              <a:srgbClr val="1558A8"/>
            </a:solidFill>
            <a:prstDash val="solid"/>
          </a:ln>
        </p:spPr>
      </p:sp>
      <p:sp>
        <p:nvSpPr>
          <p:cNvPr id="120" name="Text 118"/>
          <p:cNvSpPr/>
          <p:nvPr/>
        </p:nvSpPr>
        <p:spPr>
          <a:xfrm>
            <a:off x="1170432"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21" name="Shape 119"/>
          <p:cNvSpPr/>
          <p:nvPr/>
        </p:nvSpPr>
        <p:spPr>
          <a:xfrm>
            <a:off x="2185416" y="5664708"/>
            <a:ext cx="932688" cy="182880"/>
          </a:xfrm>
          <a:prstGeom prst="roundRect">
            <a:avLst>
              <a:gd name="adj" fmla="val 15000"/>
            </a:avLst>
          </a:prstGeom>
          <a:solidFill>
            <a:srgbClr val="FFFFFF"/>
          </a:solidFill>
          <a:ln w="9525">
            <a:solidFill>
              <a:srgbClr val="CBD5E1"/>
            </a:solidFill>
            <a:prstDash val="solid"/>
          </a:ln>
        </p:spPr>
      </p:sp>
      <p:sp>
        <p:nvSpPr>
          <p:cNvPr id="122" name="Text 120"/>
          <p:cNvSpPr/>
          <p:nvPr/>
        </p:nvSpPr>
        <p:spPr>
          <a:xfrm>
            <a:off x="2185416"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Sign-in</a:t>
            </a:r>
            <a:endParaRPr lang="en-US" sz="750" dirty="0"/>
          </a:p>
        </p:txBody>
      </p:sp>
      <p:sp>
        <p:nvSpPr>
          <p:cNvPr id="123" name="Shape 121"/>
          <p:cNvSpPr/>
          <p:nvPr/>
        </p:nvSpPr>
        <p:spPr>
          <a:xfrm>
            <a:off x="2185416" y="5875020"/>
            <a:ext cx="932688" cy="155448"/>
          </a:xfrm>
          <a:prstGeom prst="roundRect">
            <a:avLst>
              <a:gd name="adj" fmla="val 17647"/>
            </a:avLst>
          </a:prstGeom>
          <a:solidFill>
            <a:srgbClr val="1558A8"/>
          </a:solidFill>
          <a:ln w="12700">
            <a:solidFill>
              <a:srgbClr val="1558A8"/>
            </a:solidFill>
            <a:prstDash val="solid"/>
          </a:ln>
        </p:spPr>
      </p:sp>
      <p:sp>
        <p:nvSpPr>
          <p:cNvPr id="124" name="Text 122"/>
          <p:cNvSpPr/>
          <p:nvPr/>
        </p:nvSpPr>
        <p:spPr>
          <a:xfrm>
            <a:off x="2185416"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25" name="Shape 123"/>
          <p:cNvSpPr/>
          <p:nvPr/>
        </p:nvSpPr>
        <p:spPr>
          <a:xfrm>
            <a:off x="3200400" y="5664708"/>
            <a:ext cx="932688" cy="182880"/>
          </a:xfrm>
          <a:prstGeom prst="roundRect">
            <a:avLst>
              <a:gd name="adj" fmla="val 15000"/>
            </a:avLst>
          </a:prstGeom>
          <a:solidFill>
            <a:srgbClr val="FFFFFF"/>
          </a:solidFill>
          <a:ln w="9525">
            <a:solidFill>
              <a:srgbClr val="CBD5E1"/>
            </a:solidFill>
            <a:prstDash val="solid"/>
          </a:ln>
        </p:spPr>
      </p:sp>
      <p:sp>
        <p:nvSpPr>
          <p:cNvPr id="126" name="Text 124"/>
          <p:cNvSpPr/>
          <p:nvPr/>
        </p:nvSpPr>
        <p:spPr>
          <a:xfrm>
            <a:off x="3200400"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Subscription</a:t>
            </a:r>
            <a:endParaRPr lang="en-US" sz="750" dirty="0"/>
          </a:p>
        </p:txBody>
      </p:sp>
      <p:sp>
        <p:nvSpPr>
          <p:cNvPr id="127" name="Shape 125"/>
          <p:cNvSpPr/>
          <p:nvPr/>
        </p:nvSpPr>
        <p:spPr>
          <a:xfrm>
            <a:off x="3200400" y="5875020"/>
            <a:ext cx="932688" cy="155448"/>
          </a:xfrm>
          <a:prstGeom prst="roundRect">
            <a:avLst>
              <a:gd name="adj" fmla="val 17647"/>
            </a:avLst>
          </a:prstGeom>
          <a:solidFill>
            <a:srgbClr val="1558A8"/>
          </a:solidFill>
          <a:ln w="12700">
            <a:solidFill>
              <a:srgbClr val="1558A8"/>
            </a:solidFill>
            <a:prstDash val="solid"/>
          </a:ln>
        </p:spPr>
      </p:sp>
      <p:sp>
        <p:nvSpPr>
          <p:cNvPr id="128" name="Text 126"/>
          <p:cNvSpPr/>
          <p:nvPr/>
        </p:nvSpPr>
        <p:spPr>
          <a:xfrm>
            <a:off x="3200400"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29" name="Shape 127"/>
          <p:cNvSpPr/>
          <p:nvPr/>
        </p:nvSpPr>
        <p:spPr>
          <a:xfrm>
            <a:off x="4215384" y="5664708"/>
            <a:ext cx="932688" cy="182880"/>
          </a:xfrm>
          <a:prstGeom prst="roundRect">
            <a:avLst>
              <a:gd name="adj" fmla="val 15000"/>
            </a:avLst>
          </a:prstGeom>
          <a:solidFill>
            <a:srgbClr val="FFFFFF"/>
          </a:solidFill>
          <a:ln w="9525">
            <a:solidFill>
              <a:srgbClr val="CBD5E1"/>
            </a:solidFill>
            <a:prstDash val="solid"/>
          </a:ln>
        </p:spPr>
      </p:sp>
      <p:sp>
        <p:nvSpPr>
          <p:cNvPr id="130" name="Text 128"/>
          <p:cNvSpPr/>
          <p:nvPr/>
        </p:nvSpPr>
        <p:spPr>
          <a:xfrm>
            <a:off x="4215384"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MVPD</a:t>
            </a:r>
            <a:endParaRPr lang="en-US" sz="750" dirty="0"/>
          </a:p>
        </p:txBody>
      </p:sp>
      <p:sp>
        <p:nvSpPr>
          <p:cNvPr id="131" name="Shape 129"/>
          <p:cNvSpPr/>
          <p:nvPr/>
        </p:nvSpPr>
        <p:spPr>
          <a:xfrm>
            <a:off x="4215384" y="5875020"/>
            <a:ext cx="932688" cy="155448"/>
          </a:xfrm>
          <a:prstGeom prst="roundRect">
            <a:avLst>
              <a:gd name="adj" fmla="val 17647"/>
            </a:avLst>
          </a:prstGeom>
          <a:solidFill>
            <a:srgbClr val="DCFCE7"/>
          </a:solidFill>
          <a:ln w="12700">
            <a:solidFill>
              <a:srgbClr val="15803D"/>
            </a:solidFill>
            <a:prstDash val="solid"/>
          </a:ln>
        </p:spPr>
      </p:sp>
      <p:sp>
        <p:nvSpPr>
          <p:cNvPr id="132" name="Text 130"/>
          <p:cNvSpPr/>
          <p:nvPr/>
        </p:nvSpPr>
        <p:spPr>
          <a:xfrm>
            <a:off x="4215384" y="5875020"/>
            <a:ext cx="932688" cy="155448"/>
          </a:xfrm>
          <a:prstGeom prst="rect">
            <a:avLst/>
          </a:prstGeom>
          <a:noFill/>
          <a:ln/>
        </p:spPr>
        <p:txBody>
          <a:bodyPr wrap="square" lIns="0" tIns="0" rIns="0" bIns="0" rtlCol="0" anchor="ctr"/>
          <a:lstStyle/>
          <a:p>
            <a:pPr algn="ctr" indent="0" marL="0">
              <a:buNone/>
            </a:pPr>
            <a:r>
              <a:rPr lang="en-US" sz="700" dirty="0">
                <a:solidFill>
                  <a:srgbClr val="14532D"/>
                </a:solidFill>
              </a:rPr>
              <a:t>Done</a:t>
            </a:r>
            <a:endParaRPr lang="en-US" sz="700" dirty="0"/>
          </a:p>
        </p:txBody>
      </p:sp>
      <p:sp>
        <p:nvSpPr>
          <p:cNvPr id="133" name="Shape 131"/>
          <p:cNvSpPr/>
          <p:nvPr/>
        </p:nvSpPr>
        <p:spPr>
          <a:xfrm>
            <a:off x="5230368" y="5664708"/>
            <a:ext cx="932688" cy="182880"/>
          </a:xfrm>
          <a:prstGeom prst="roundRect">
            <a:avLst>
              <a:gd name="adj" fmla="val 15000"/>
            </a:avLst>
          </a:prstGeom>
          <a:solidFill>
            <a:srgbClr val="FFFFFF"/>
          </a:solidFill>
          <a:ln w="9525">
            <a:solidFill>
              <a:srgbClr val="CBD5E1"/>
            </a:solidFill>
            <a:prstDash val="solid"/>
          </a:ln>
        </p:spPr>
      </p:sp>
      <p:sp>
        <p:nvSpPr>
          <p:cNvPr id="134" name="Text 132"/>
          <p:cNvSpPr/>
          <p:nvPr/>
        </p:nvSpPr>
        <p:spPr>
          <a:xfrm>
            <a:off x="5230368"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Cleeng</a:t>
            </a:r>
            <a:endParaRPr lang="en-US" sz="750" dirty="0"/>
          </a:p>
        </p:txBody>
      </p:sp>
      <p:sp>
        <p:nvSpPr>
          <p:cNvPr id="135" name="Shape 133"/>
          <p:cNvSpPr/>
          <p:nvPr/>
        </p:nvSpPr>
        <p:spPr>
          <a:xfrm>
            <a:off x="5230368" y="5875020"/>
            <a:ext cx="932688" cy="155448"/>
          </a:xfrm>
          <a:prstGeom prst="roundRect">
            <a:avLst>
              <a:gd name="adj" fmla="val 17647"/>
            </a:avLst>
          </a:prstGeom>
          <a:solidFill>
            <a:srgbClr val="1558A8"/>
          </a:solidFill>
          <a:ln w="12700">
            <a:solidFill>
              <a:srgbClr val="1558A8"/>
            </a:solidFill>
            <a:prstDash val="solid"/>
          </a:ln>
        </p:spPr>
      </p:sp>
      <p:sp>
        <p:nvSpPr>
          <p:cNvPr id="136" name="Text 134"/>
          <p:cNvSpPr/>
          <p:nvPr/>
        </p:nvSpPr>
        <p:spPr>
          <a:xfrm>
            <a:off x="5230368" y="5875020"/>
            <a:ext cx="932688" cy="155448"/>
          </a:xfrm>
          <a:prstGeom prst="rect">
            <a:avLst/>
          </a:prstGeom>
          <a:noFill/>
          <a:ln/>
        </p:spPr>
        <p:txBody>
          <a:bodyPr wrap="square" lIns="0" tIns="0" rIns="0" bIns="0" rtlCol="0" anchor="ctr"/>
          <a:lstStyle/>
          <a:p>
            <a:pPr algn="ctr" indent="0" marL="0">
              <a:buNone/>
            </a:pPr>
            <a:r>
              <a:rPr lang="en-US" sz="700" dirty="0">
                <a:solidFill>
                  <a:srgbClr val="FFFFFF"/>
                </a:solidFill>
              </a:rPr>
              <a:t>In Progress</a:t>
            </a:r>
            <a:endParaRPr lang="en-US" sz="700" dirty="0"/>
          </a:p>
        </p:txBody>
      </p:sp>
      <p:sp>
        <p:nvSpPr>
          <p:cNvPr id="137" name="Shape 135"/>
          <p:cNvSpPr/>
          <p:nvPr/>
        </p:nvSpPr>
        <p:spPr>
          <a:xfrm>
            <a:off x="6245352" y="5664708"/>
            <a:ext cx="932688" cy="182880"/>
          </a:xfrm>
          <a:prstGeom prst="roundRect">
            <a:avLst>
              <a:gd name="adj" fmla="val 15000"/>
            </a:avLst>
          </a:prstGeom>
          <a:solidFill>
            <a:srgbClr val="FFFFFF"/>
          </a:solidFill>
          <a:ln w="9525">
            <a:solidFill>
              <a:srgbClr val="CBD5E1"/>
            </a:solidFill>
            <a:prstDash val="solid"/>
          </a:ln>
        </p:spPr>
      </p:sp>
      <p:sp>
        <p:nvSpPr>
          <p:cNvPr id="138" name="Text 136"/>
          <p:cNvSpPr/>
          <p:nvPr/>
        </p:nvSpPr>
        <p:spPr>
          <a:xfrm>
            <a:off x="6245352" y="5664708"/>
            <a:ext cx="932688" cy="182880"/>
          </a:xfrm>
          <a:prstGeom prst="rect">
            <a:avLst/>
          </a:prstGeom>
          <a:noFill/>
          <a:ln/>
        </p:spPr>
        <p:txBody>
          <a:bodyPr wrap="square" lIns="0" tIns="0" rIns="0" bIns="0" rtlCol="0" anchor="ctr"/>
          <a:lstStyle/>
          <a:p>
            <a:pPr algn="ctr" indent="0" marL="0">
              <a:buNone/>
            </a:pPr>
            <a:r>
              <a:rPr lang="en-US" sz="750" b="1" dirty="0">
                <a:solidFill>
                  <a:srgbClr val="1E293B"/>
                </a:solidFill>
              </a:rPr>
              <a:t>Promos</a:t>
            </a:r>
            <a:endParaRPr lang="en-US" sz="750" dirty="0"/>
          </a:p>
        </p:txBody>
      </p:sp>
      <p:sp>
        <p:nvSpPr>
          <p:cNvPr id="139" name="Shape 137"/>
          <p:cNvSpPr/>
          <p:nvPr/>
        </p:nvSpPr>
        <p:spPr>
          <a:xfrm>
            <a:off x="6245352" y="5875020"/>
            <a:ext cx="932688" cy="155448"/>
          </a:xfrm>
          <a:prstGeom prst="roundRect">
            <a:avLst>
              <a:gd name="adj" fmla="val 17647"/>
            </a:avLst>
          </a:prstGeom>
          <a:solidFill>
            <a:srgbClr val="F3F4F6"/>
          </a:solidFill>
          <a:ln w="9525">
            <a:solidFill>
              <a:srgbClr val="D1D5DB"/>
            </a:solidFill>
            <a:prstDash val="solid"/>
          </a:ln>
        </p:spPr>
      </p:sp>
      <p:sp>
        <p:nvSpPr>
          <p:cNvPr id="140" name="Text 138"/>
          <p:cNvSpPr/>
          <p:nvPr/>
        </p:nvSpPr>
        <p:spPr>
          <a:xfrm>
            <a:off x="6245352" y="5875020"/>
            <a:ext cx="932688" cy="155448"/>
          </a:xfrm>
          <a:prstGeom prst="rect">
            <a:avLst/>
          </a:prstGeom>
          <a:noFill/>
          <a:ln/>
        </p:spPr>
        <p:txBody>
          <a:bodyPr wrap="square" lIns="0" tIns="0" rIns="0" bIns="0" rtlCol="0" anchor="ctr"/>
          <a:lstStyle/>
          <a:p>
            <a:pPr algn="ctr" indent="0" marL="0">
              <a:buNone/>
            </a:pPr>
            <a:r>
              <a:rPr lang="en-US" sz="700" dirty="0">
                <a:solidFill>
                  <a:srgbClr val="374151"/>
                </a:solidFill>
              </a:rPr>
              <a:t>Not Started</a:t>
            </a:r>
            <a:endParaRPr lang="en-US" sz="700" dirty="0"/>
          </a:p>
        </p:txBody>
      </p:sp>
      <p:sp>
        <p:nvSpPr>
          <p:cNvPr id="141" name="Shape 139"/>
          <p:cNvSpPr/>
          <p:nvPr/>
        </p:nvSpPr>
        <p:spPr>
          <a:xfrm>
            <a:off x="9372600" y="804672"/>
            <a:ext cx="2834640" cy="6071616"/>
          </a:xfrm>
          <a:prstGeom prst="rect">
            <a:avLst/>
          </a:prstGeom>
          <a:solidFill>
            <a:srgbClr val="F8FAFB"/>
          </a:solidFill>
          <a:ln w="12700">
            <a:solidFill>
              <a:srgbClr val="DDE1E6"/>
            </a:solidFill>
            <a:prstDash val="solid"/>
          </a:ln>
        </p:spPr>
      </p:sp>
      <p:sp>
        <p:nvSpPr>
          <p:cNvPr id="142" name="Text 140"/>
          <p:cNvSpPr/>
          <p:nvPr/>
        </p:nvSpPr>
        <p:spPr>
          <a:xfrm>
            <a:off x="9500616" y="950976"/>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Milestones</a:t>
            </a:r>
            <a:endParaRPr lang="en-US" sz="950" dirty="0"/>
          </a:p>
        </p:txBody>
      </p:sp>
      <p:sp>
        <p:nvSpPr>
          <p:cNvPr id="143" name="Shape 141"/>
          <p:cNvSpPr/>
          <p:nvPr/>
        </p:nvSpPr>
        <p:spPr>
          <a:xfrm>
            <a:off x="9464040" y="1225296"/>
            <a:ext cx="2670048" cy="420624"/>
          </a:xfrm>
          <a:prstGeom prst="rect">
            <a:avLst/>
          </a:prstGeom>
          <a:solidFill>
            <a:srgbClr val="FFFFFF"/>
          </a:solidFill>
          <a:ln w="6350">
            <a:solidFill>
              <a:srgbClr val="E5E7EB"/>
            </a:solidFill>
            <a:prstDash val="solid"/>
          </a:ln>
        </p:spPr>
      </p:sp>
      <p:sp>
        <p:nvSpPr>
          <p:cNvPr id="144" name="Shape 142"/>
          <p:cNvSpPr/>
          <p:nvPr/>
        </p:nvSpPr>
        <p:spPr>
          <a:xfrm>
            <a:off x="9537192" y="1316736"/>
            <a:ext cx="109728" cy="109728"/>
          </a:xfrm>
          <a:prstGeom prst="ellipse">
            <a:avLst/>
          </a:prstGeom>
          <a:solidFill>
            <a:srgbClr val="16A34A"/>
          </a:solidFill>
          <a:ln w="12700">
            <a:solidFill>
              <a:srgbClr val="16A34A"/>
            </a:solidFill>
            <a:prstDash val="solid"/>
          </a:ln>
        </p:spPr>
      </p:sp>
      <p:sp>
        <p:nvSpPr>
          <p:cNvPr id="145" name="Text 143"/>
          <p:cNvSpPr/>
          <p:nvPr/>
        </p:nvSpPr>
        <p:spPr>
          <a:xfrm>
            <a:off x="9701784" y="1243584"/>
            <a:ext cx="2304288" cy="173736"/>
          </a:xfrm>
          <a:prstGeom prst="rect">
            <a:avLst/>
          </a:prstGeom>
          <a:noFill/>
          <a:ln/>
        </p:spPr>
        <p:txBody>
          <a:bodyPr wrap="square" lIns="0" tIns="0" rIns="0" bIns="0" rtlCol="0" anchor="ctr"/>
          <a:lstStyle/>
          <a:p>
            <a:pPr indent="0" marL="0">
              <a:buNone/>
            </a:pPr>
            <a:r>
              <a:rPr lang="en-US" sz="800" b="1" dirty="0">
                <a:solidFill>
                  <a:srgbClr val="15803D"/>
                </a:solidFill>
              </a:rPr>
              <a:t>Requirements</a:t>
            </a:r>
            <a:endParaRPr lang="en-US" sz="800" dirty="0"/>
          </a:p>
        </p:txBody>
      </p:sp>
      <p:sp>
        <p:nvSpPr>
          <p:cNvPr id="146" name="Text 144"/>
          <p:cNvSpPr/>
          <p:nvPr/>
        </p:nvSpPr>
        <p:spPr>
          <a:xfrm>
            <a:off x="9701784" y="1453896"/>
            <a:ext cx="1773936" cy="137160"/>
          </a:xfrm>
          <a:prstGeom prst="rect">
            <a:avLst/>
          </a:prstGeom>
          <a:noFill/>
          <a:ln/>
        </p:spPr>
        <p:txBody>
          <a:bodyPr wrap="square" lIns="0" tIns="0" rIns="0" bIns="0" rtlCol="0" anchor="ctr"/>
          <a:lstStyle/>
          <a:p>
            <a:pPr indent="0" marL="0">
              <a:buNone/>
            </a:pPr>
            <a:r>
              <a:rPr lang="en-US" sz="700" dirty="0">
                <a:solidFill>
                  <a:srgbClr val="6B7280"/>
                </a:solidFill>
              </a:rPr>
              <a:t>Jun 30, 2026</a:t>
            </a:r>
            <a:endParaRPr lang="en-US" sz="700" dirty="0"/>
          </a:p>
        </p:txBody>
      </p:sp>
      <p:sp>
        <p:nvSpPr>
          <p:cNvPr id="147" name="Shape 145"/>
          <p:cNvSpPr/>
          <p:nvPr/>
        </p:nvSpPr>
        <p:spPr>
          <a:xfrm>
            <a:off x="11494008" y="1453896"/>
            <a:ext cx="658368" cy="137160"/>
          </a:xfrm>
          <a:prstGeom prst="roundRect">
            <a:avLst>
              <a:gd name="adj" fmla="val 20000"/>
            </a:avLst>
          </a:prstGeom>
          <a:solidFill>
            <a:srgbClr val="DCFCE7"/>
          </a:solidFill>
          <a:ln w="12700">
            <a:solidFill>
              <a:srgbClr val="DCFCE7"/>
            </a:solidFill>
            <a:prstDash val="solid"/>
          </a:ln>
        </p:spPr>
      </p:sp>
      <p:sp>
        <p:nvSpPr>
          <p:cNvPr id="148" name="Text 146"/>
          <p:cNvSpPr/>
          <p:nvPr/>
        </p:nvSpPr>
        <p:spPr>
          <a:xfrm>
            <a:off x="11494008" y="1453896"/>
            <a:ext cx="658368" cy="137160"/>
          </a:xfrm>
          <a:prstGeom prst="rect">
            <a:avLst/>
          </a:prstGeom>
          <a:noFill/>
          <a:ln/>
        </p:spPr>
        <p:txBody>
          <a:bodyPr wrap="square" lIns="0" tIns="0" rIns="0" bIns="0" rtlCol="0" anchor="ctr"/>
          <a:lstStyle/>
          <a:p>
            <a:pPr algn="ctr" indent="0" marL="0">
              <a:buNone/>
            </a:pPr>
            <a:r>
              <a:rPr lang="en-US" sz="600" b="1" dirty="0">
                <a:solidFill>
                  <a:srgbClr val="166534"/>
                </a:solidFill>
              </a:rPr>
              <a:t>Complete</a:t>
            </a:r>
            <a:endParaRPr lang="en-US" sz="600" dirty="0"/>
          </a:p>
        </p:txBody>
      </p:sp>
      <p:sp>
        <p:nvSpPr>
          <p:cNvPr id="149" name="Shape 147"/>
          <p:cNvSpPr/>
          <p:nvPr/>
        </p:nvSpPr>
        <p:spPr>
          <a:xfrm>
            <a:off x="9464040" y="1700784"/>
            <a:ext cx="2670048" cy="420624"/>
          </a:xfrm>
          <a:prstGeom prst="rect">
            <a:avLst/>
          </a:prstGeom>
          <a:solidFill>
            <a:srgbClr val="FFFFFF"/>
          </a:solidFill>
          <a:ln w="6350">
            <a:solidFill>
              <a:srgbClr val="E5E7EB"/>
            </a:solidFill>
            <a:prstDash val="solid"/>
          </a:ln>
        </p:spPr>
      </p:sp>
      <p:sp>
        <p:nvSpPr>
          <p:cNvPr id="150" name="Shape 148"/>
          <p:cNvSpPr/>
          <p:nvPr/>
        </p:nvSpPr>
        <p:spPr>
          <a:xfrm>
            <a:off x="9537192" y="1792224"/>
            <a:ext cx="109728" cy="109728"/>
          </a:xfrm>
          <a:prstGeom prst="ellipse">
            <a:avLst/>
          </a:prstGeom>
          <a:solidFill>
            <a:srgbClr val="1558A8"/>
          </a:solidFill>
          <a:ln w="12700">
            <a:solidFill>
              <a:srgbClr val="1558A8"/>
            </a:solidFill>
            <a:prstDash val="solid"/>
          </a:ln>
        </p:spPr>
      </p:sp>
      <p:sp>
        <p:nvSpPr>
          <p:cNvPr id="151" name="Text 149"/>
          <p:cNvSpPr/>
          <p:nvPr/>
        </p:nvSpPr>
        <p:spPr>
          <a:xfrm>
            <a:off x="9701784" y="1719072"/>
            <a:ext cx="2304288" cy="173736"/>
          </a:xfrm>
          <a:prstGeom prst="rect">
            <a:avLst/>
          </a:prstGeom>
          <a:noFill/>
          <a:ln/>
        </p:spPr>
        <p:txBody>
          <a:bodyPr wrap="square" lIns="0" tIns="0" rIns="0" bIns="0" rtlCol="0" anchor="ctr"/>
          <a:lstStyle/>
          <a:p>
            <a:pPr indent="0" marL="0">
              <a:buNone/>
            </a:pPr>
            <a:r>
              <a:rPr lang="en-US" sz="800" b="1" dirty="0">
                <a:solidFill>
                  <a:srgbClr val="1D4ED8"/>
                </a:solidFill>
              </a:rPr>
              <a:t>Beta</a:t>
            </a:r>
            <a:endParaRPr lang="en-US" sz="800" dirty="0"/>
          </a:p>
        </p:txBody>
      </p:sp>
      <p:sp>
        <p:nvSpPr>
          <p:cNvPr id="152" name="Text 150"/>
          <p:cNvSpPr/>
          <p:nvPr/>
        </p:nvSpPr>
        <p:spPr>
          <a:xfrm>
            <a:off x="9701784" y="1929384"/>
            <a:ext cx="1773936" cy="137160"/>
          </a:xfrm>
          <a:prstGeom prst="rect">
            <a:avLst/>
          </a:prstGeom>
          <a:noFill/>
          <a:ln/>
        </p:spPr>
        <p:txBody>
          <a:bodyPr wrap="square" lIns="0" tIns="0" rIns="0" bIns="0" rtlCol="0" anchor="ctr"/>
          <a:lstStyle/>
          <a:p>
            <a:pPr indent="0" marL="0">
              <a:buNone/>
            </a:pPr>
            <a:r>
              <a:rPr lang="en-US" sz="700" dirty="0">
                <a:solidFill>
                  <a:srgbClr val="6B7280"/>
                </a:solidFill>
              </a:rPr>
              <a:t>Sep 30, 2026</a:t>
            </a:r>
            <a:endParaRPr lang="en-US" sz="700" dirty="0"/>
          </a:p>
        </p:txBody>
      </p:sp>
      <p:sp>
        <p:nvSpPr>
          <p:cNvPr id="153" name="Shape 151"/>
          <p:cNvSpPr/>
          <p:nvPr/>
        </p:nvSpPr>
        <p:spPr>
          <a:xfrm>
            <a:off x="11494008" y="1929384"/>
            <a:ext cx="658368" cy="137160"/>
          </a:xfrm>
          <a:prstGeom prst="roundRect">
            <a:avLst>
              <a:gd name="adj" fmla="val 20000"/>
            </a:avLst>
          </a:prstGeom>
          <a:solidFill>
            <a:srgbClr val="DBEAFE"/>
          </a:solidFill>
          <a:ln w="12700">
            <a:solidFill>
              <a:srgbClr val="DBEAFE"/>
            </a:solidFill>
            <a:prstDash val="solid"/>
          </a:ln>
        </p:spPr>
      </p:sp>
      <p:sp>
        <p:nvSpPr>
          <p:cNvPr id="154" name="Text 152"/>
          <p:cNvSpPr/>
          <p:nvPr/>
        </p:nvSpPr>
        <p:spPr>
          <a:xfrm>
            <a:off x="11494008" y="1929384"/>
            <a:ext cx="658368" cy="137160"/>
          </a:xfrm>
          <a:prstGeom prst="rect">
            <a:avLst/>
          </a:prstGeom>
          <a:noFill/>
          <a:ln/>
        </p:spPr>
        <p:txBody>
          <a:bodyPr wrap="square" lIns="0" tIns="0" rIns="0" bIns="0" rtlCol="0" anchor="ctr"/>
          <a:lstStyle/>
          <a:p>
            <a:pPr algn="ctr" indent="0" marL="0">
              <a:buNone/>
            </a:pPr>
            <a:r>
              <a:rPr lang="en-US" sz="600" b="1" dirty="0">
                <a:solidFill>
                  <a:srgbClr val="1E40AF"/>
                </a:solidFill>
              </a:rPr>
              <a:t>In Progress</a:t>
            </a:r>
            <a:endParaRPr lang="en-US" sz="600" dirty="0"/>
          </a:p>
        </p:txBody>
      </p:sp>
      <p:sp>
        <p:nvSpPr>
          <p:cNvPr id="155" name="Shape 153"/>
          <p:cNvSpPr/>
          <p:nvPr/>
        </p:nvSpPr>
        <p:spPr>
          <a:xfrm>
            <a:off x="9464040" y="2176272"/>
            <a:ext cx="2670048" cy="420624"/>
          </a:xfrm>
          <a:prstGeom prst="rect">
            <a:avLst/>
          </a:prstGeom>
          <a:solidFill>
            <a:srgbClr val="FFFFFF"/>
          </a:solidFill>
          <a:ln w="6350">
            <a:solidFill>
              <a:srgbClr val="E5E7EB"/>
            </a:solidFill>
            <a:prstDash val="solid"/>
          </a:ln>
        </p:spPr>
      </p:sp>
      <p:sp>
        <p:nvSpPr>
          <p:cNvPr id="156" name="Shape 154"/>
          <p:cNvSpPr/>
          <p:nvPr/>
        </p:nvSpPr>
        <p:spPr>
          <a:xfrm>
            <a:off x="9537192" y="2267712"/>
            <a:ext cx="109728" cy="109728"/>
          </a:xfrm>
          <a:prstGeom prst="ellipse">
            <a:avLst/>
          </a:prstGeom>
          <a:solidFill>
            <a:srgbClr val="9CA3AF"/>
          </a:solidFill>
          <a:ln w="12700">
            <a:solidFill>
              <a:srgbClr val="9CA3AF"/>
            </a:solidFill>
            <a:prstDash val="solid"/>
          </a:ln>
        </p:spPr>
      </p:sp>
      <p:sp>
        <p:nvSpPr>
          <p:cNvPr id="157" name="Text 155"/>
          <p:cNvSpPr/>
          <p:nvPr/>
        </p:nvSpPr>
        <p:spPr>
          <a:xfrm>
            <a:off x="9701784" y="2194560"/>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UAT / Testing</a:t>
            </a:r>
            <a:endParaRPr lang="en-US" sz="800" dirty="0"/>
          </a:p>
        </p:txBody>
      </p:sp>
      <p:sp>
        <p:nvSpPr>
          <p:cNvPr id="158" name="Text 156"/>
          <p:cNvSpPr/>
          <p:nvPr/>
        </p:nvSpPr>
        <p:spPr>
          <a:xfrm>
            <a:off x="9701784" y="2404872"/>
            <a:ext cx="1773936" cy="137160"/>
          </a:xfrm>
          <a:prstGeom prst="rect">
            <a:avLst/>
          </a:prstGeom>
          <a:noFill/>
          <a:ln/>
        </p:spPr>
        <p:txBody>
          <a:bodyPr wrap="square" lIns="0" tIns="0" rIns="0" bIns="0" rtlCol="0" anchor="ctr"/>
          <a:lstStyle/>
          <a:p>
            <a:pPr indent="0" marL="0">
              <a:buNone/>
            </a:pPr>
            <a:r>
              <a:rPr lang="en-US" sz="700" dirty="0">
                <a:solidFill>
                  <a:srgbClr val="6B7280"/>
                </a:solidFill>
              </a:rPr>
              <a:t>Nov 30, 2026</a:t>
            </a:r>
            <a:endParaRPr lang="en-US" sz="700" dirty="0"/>
          </a:p>
        </p:txBody>
      </p:sp>
      <p:sp>
        <p:nvSpPr>
          <p:cNvPr id="159" name="Shape 157"/>
          <p:cNvSpPr/>
          <p:nvPr/>
        </p:nvSpPr>
        <p:spPr>
          <a:xfrm>
            <a:off x="11494008" y="2404872"/>
            <a:ext cx="658368" cy="137160"/>
          </a:xfrm>
          <a:prstGeom prst="roundRect">
            <a:avLst>
              <a:gd name="adj" fmla="val 20000"/>
            </a:avLst>
          </a:prstGeom>
          <a:solidFill>
            <a:srgbClr val="F3F4F6"/>
          </a:solidFill>
          <a:ln w="12700">
            <a:solidFill>
              <a:srgbClr val="F3F4F6"/>
            </a:solidFill>
            <a:prstDash val="solid"/>
          </a:ln>
        </p:spPr>
      </p:sp>
      <p:sp>
        <p:nvSpPr>
          <p:cNvPr id="160" name="Text 158"/>
          <p:cNvSpPr/>
          <p:nvPr/>
        </p:nvSpPr>
        <p:spPr>
          <a:xfrm>
            <a:off x="11494008" y="2404872"/>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61" name="Shape 159"/>
          <p:cNvSpPr/>
          <p:nvPr/>
        </p:nvSpPr>
        <p:spPr>
          <a:xfrm>
            <a:off x="9464040" y="2651760"/>
            <a:ext cx="2670048" cy="420624"/>
          </a:xfrm>
          <a:prstGeom prst="rect">
            <a:avLst/>
          </a:prstGeom>
          <a:solidFill>
            <a:srgbClr val="FFFFFF"/>
          </a:solidFill>
          <a:ln w="6350">
            <a:solidFill>
              <a:srgbClr val="E5E7EB"/>
            </a:solidFill>
            <a:prstDash val="solid"/>
          </a:ln>
        </p:spPr>
      </p:sp>
      <p:sp>
        <p:nvSpPr>
          <p:cNvPr id="162" name="Shape 160"/>
          <p:cNvSpPr/>
          <p:nvPr/>
        </p:nvSpPr>
        <p:spPr>
          <a:xfrm>
            <a:off x="9537192" y="2743200"/>
            <a:ext cx="109728" cy="109728"/>
          </a:xfrm>
          <a:prstGeom prst="ellipse">
            <a:avLst/>
          </a:prstGeom>
          <a:solidFill>
            <a:srgbClr val="9CA3AF"/>
          </a:solidFill>
          <a:ln w="12700">
            <a:solidFill>
              <a:srgbClr val="9CA3AF"/>
            </a:solidFill>
            <a:prstDash val="solid"/>
          </a:ln>
        </p:spPr>
      </p:sp>
      <p:sp>
        <p:nvSpPr>
          <p:cNvPr id="163" name="Text 161"/>
          <p:cNvSpPr/>
          <p:nvPr/>
        </p:nvSpPr>
        <p:spPr>
          <a:xfrm>
            <a:off x="9701784" y="2670048"/>
            <a:ext cx="2304288" cy="173736"/>
          </a:xfrm>
          <a:prstGeom prst="rect">
            <a:avLst/>
          </a:prstGeom>
          <a:noFill/>
          <a:ln/>
        </p:spPr>
        <p:txBody>
          <a:bodyPr wrap="square" lIns="0" tIns="0" rIns="0" bIns="0" rtlCol="0" anchor="ctr"/>
          <a:lstStyle/>
          <a:p>
            <a:pPr indent="0" marL="0">
              <a:buNone/>
            </a:pPr>
            <a:r>
              <a:rPr lang="en-US" sz="800" b="1" dirty="0">
                <a:solidFill>
                  <a:srgbClr val="1F2937"/>
                </a:solidFill>
              </a:rPr>
              <a:t>Release</a:t>
            </a:r>
            <a:endParaRPr lang="en-US" sz="800" dirty="0"/>
          </a:p>
        </p:txBody>
      </p:sp>
      <p:sp>
        <p:nvSpPr>
          <p:cNvPr id="164" name="Text 162"/>
          <p:cNvSpPr/>
          <p:nvPr/>
        </p:nvSpPr>
        <p:spPr>
          <a:xfrm>
            <a:off x="9701784" y="2880360"/>
            <a:ext cx="1773936" cy="137160"/>
          </a:xfrm>
          <a:prstGeom prst="rect">
            <a:avLst/>
          </a:prstGeom>
          <a:noFill/>
          <a:ln/>
        </p:spPr>
        <p:txBody>
          <a:bodyPr wrap="square" lIns="0" tIns="0" rIns="0" bIns="0" rtlCol="0" anchor="ctr"/>
          <a:lstStyle/>
          <a:p>
            <a:pPr indent="0" marL="0">
              <a:buNone/>
            </a:pPr>
            <a:r>
              <a:rPr lang="en-US" sz="700" dirty="0">
                <a:solidFill>
                  <a:srgbClr val="6B7280"/>
                </a:solidFill>
              </a:rPr>
              <a:t>Dec 2026</a:t>
            </a:r>
            <a:endParaRPr lang="en-US" sz="700" dirty="0"/>
          </a:p>
        </p:txBody>
      </p:sp>
      <p:sp>
        <p:nvSpPr>
          <p:cNvPr id="165" name="Shape 163"/>
          <p:cNvSpPr/>
          <p:nvPr/>
        </p:nvSpPr>
        <p:spPr>
          <a:xfrm>
            <a:off x="11494008" y="2880360"/>
            <a:ext cx="658368" cy="137160"/>
          </a:xfrm>
          <a:prstGeom prst="roundRect">
            <a:avLst>
              <a:gd name="adj" fmla="val 20000"/>
            </a:avLst>
          </a:prstGeom>
          <a:solidFill>
            <a:srgbClr val="F3F4F6"/>
          </a:solidFill>
          <a:ln w="12700">
            <a:solidFill>
              <a:srgbClr val="F3F4F6"/>
            </a:solidFill>
            <a:prstDash val="solid"/>
          </a:ln>
        </p:spPr>
      </p:sp>
      <p:sp>
        <p:nvSpPr>
          <p:cNvPr id="166" name="Text 164"/>
          <p:cNvSpPr/>
          <p:nvPr/>
        </p:nvSpPr>
        <p:spPr>
          <a:xfrm>
            <a:off x="11494008" y="2880360"/>
            <a:ext cx="658368" cy="137160"/>
          </a:xfrm>
          <a:prstGeom prst="rect">
            <a:avLst/>
          </a:prstGeom>
          <a:noFill/>
          <a:ln/>
        </p:spPr>
        <p:txBody>
          <a:bodyPr wrap="square" lIns="0" tIns="0" rIns="0" bIns="0" rtlCol="0" anchor="ctr"/>
          <a:lstStyle/>
          <a:p>
            <a:pPr algn="ctr" indent="0" marL="0">
              <a:buNone/>
            </a:pPr>
            <a:r>
              <a:rPr lang="en-US" sz="600" b="1" dirty="0">
                <a:solidFill>
                  <a:srgbClr val="6B7280"/>
                </a:solidFill>
              </a:rPr>
              <a:t>Upcoming</a:t>
            </a:r>
            <a:endParaRPr lang="en-US" sz="600" dirty="0"/>
          </a:p>
        </p:txBody>
      </p:sp>
      <p:sp>
        <p:nvSpPr>
          <p:cNvPr id="167" name="Shape 165"/>
          <p:cNvSpPr/>
          <p:nvPr/>
        </p:nvSpPr>
        <p:spPr>
          <a:xfrm>
            <a:off x="9482328" y="3200400"/>
            <a:ext cx="2633472" cy="0"/>
          </a:xfrm>
          <a:prstGeom prst="line">
            <a:avLst/>
          </a:prstGeom>
          <a:noFill/>
          <a:ln w="9525">
            <a:solidFill>
              <a:srgbClr val="DDE1E6"/>
            </a:solidFill>
            <a:prstDash val="solid"/>
          </a:ln>
        </p:spPr>
      </p:sp>
      <p:sp>
        <p:nvSpPr>
          <p:cNvPr id="168" name="Text 166"/>
          <p:cNvSpPr/>
          <p:nvPr/>
        </p:nvSpPr>
        <p:spPr>
          <a:xfrm>
            <a:off x="9500616" y="3337560"/>
            <a:ext cx="2633472" cy="201168"/>
          </a:xfrm>
          <a:prstGeom prst="rect">
            <a:avLst/>
          </a:prstGeom>
          <a:noFill/>
          <a:ln/>
        </p:spPr>
        <p:txBody>
          <a:bodyPr wrap="square" lIns="0" tIns="0" rIns="0" bIns="0" rtlCol="0" anchor="ctr"/>
          <a:lstStyle/>
          <a:p>
            <a:pPr indent="0" marL="0">
              <a:buNone/>
            </a:pPr>
            <a:r>
              <a:rPr lang="en-US" sz="950" b="1" dirty="0">
                <a:solidFill>
                  <a:srgbClr val="111827"/>
                </a:solidFill>
              </a:rPr>
              <a:t>Status Key</a:t>
            </a:r>
            <a:endParaRPr lang="en-US" sz="950" dirty="0"/>
          </a:p>
        </p:txBody>
      </p:sp>
      <p:sp>
        <p:nvSpPr>
          <p:cNvPr id="169" name="Shape 167"/>
          <p:cNvSpPr/>
          <p:nvPr/>
        </p:nvSpPr>
        <p:spPr>
          <a:xfrm>
            <a:off x="9500616" y="3584448"/>
            <a:ext cx="822960" cy="173736"/>
          </a:xfrm>
          <a:prstGeom prst="roundRect">
            <a:avLst>
              <a:gd name="adj" fmla="val 15789"/>
            </a:avLst>
          </a:prstGeom>
          <a:solidFill>
            <a:srgbClr val="F3F4F6"/>
          </a:solidFill>
          <a:ln w="9525">
            <a:solidFill>
              <a:srgbClr val="D1D5DB"/>
            </a:solidFill>
            <a:prstDash val="solid"/>
          </a:ln>
        </p:spPr>
      </p:sp>
      <p:sp>
        <p:nvSpPr>
          <p:cNvPr id="170" name="Text 168"/>
          <p:cNvSpPr/>
          <p:nvPr/>
        </p:nvSpPr>
        <p:spPr>
          <a:xfrm>
            <a:off x="9500616" y="3584448"/>
            <a:ext cx="822960" cy="173736"/>
          </a:xfrm>
          <a:prstGeom prst="rect">
            <a:avLst/>
          </a:prstGeom>
          <a:noFill/>
          <a:ln/>
        </p:spPr>
        <p:txBody>
          <a:bodyPr wrap="square" lIns="0" tIns="0" rIns="0" bIns="0" rtlCol="0" anchor="ctr"/>
          <a:lstStyle/>
          <a:p>
            <a:pPr algn="ctr" indent="0" marL="0">
              <a:buNone/>
            </a:pPr>
            <a:r>
              <a:rPr lang="en-US" sz="700" b="1" dirty="0">
                <a:solidFill>
                  <a:srgbClr val="374151"/>
                </a:solidFill>
              </a:rPr>
              <a:t>Not Started</a:t>
            </a:r>
            <a:endParaRPr lang="en-US" sz="700" dirty="0"/>
          </a:p>
        </p:txBody>
      </p:sp>
      <p:sp>
        <p:nvSpPr>
          <p:cNvPr id="171" name="Shape 169"/>
          <p:cNvSpPr/>
          <p:nvPr/>
        </p:nvSpPr>
        <p:spPr>
          <a:xfrm>
            <a:off x="9500616" y="3813048"/>
            <a:ext cx="822960" cy="173736"/>
          </a:xfrm>
          <a:prstGeom prst="roundRect">
            <a:avLst>
              <a:gd name="adj" fmla="val 15789"/>
            </a:avLst>
          </a:prstGeom>
          <a:solidFill>
            <a:srgbClr val="1558A8"/>
          </a:solidFill>
          <a:ln w="12700">
            <a:solidFill>
              <a:srgbClr val="1558A8"/>
            </a:solidFill>
            <a:prstDash val="solid"/>
          </a:ln>
        </p:spPr>
      </p:sp>
      <p:sp>
        <p:nvSpPr>
          <p:cNvPr id="172" name="Text 170"/>
          <p:cNvSpPr/>
          <p:nvPr/>
        </p:nvSpPr>
        <p:spPr>
          <a:xfrm>
            <a:off x="9500616" y="3813048"/>
            <a:ext cx="822960" cy="173736"/>
          </a:xfrm>
          <a:prstGeom prst="rect">
            <a:avLst/>
          </a:prstGeom>
          <a:noFill/>
          <a:ln/>
        </p:spPr>
        <p:txBody>
          <a:bodyPr wrap="square" lIns="0" tIns="0" rIns="0" bIns="0" rtlCol="0" anchor="ctr"/>
          <a:lstStyle/>
          <a:p>
            <a:pPr algn="ctr" indent="0" marL="0">
              <a:buNone/>
            </a:pPr>
            <a:r>
              <a:rPr lang="en-US" sz="700" b="1" dirty="0">
                <a:solidFill>
                  <a:srgbClr val="FFFFFF"/>
                </a:solidFill>
              </a:rPr>
              <a:t>In Progress</a:t>
            </a:r>
            <a:endParaRPr lang="en-US" sz="700" dirty="0"/>
          </a:p>
        </p:txBody>
      </p:sp>
      <p:sp>
        <p:nvSpPr>
          <p:cNvPr id="173" name="Shape 171"/>
          <p:cNvSpPr/>
          <p:nvPr/>
        </p:nvSpPr>
        <p:spPr>
          <a:xfrm>
            <a:off x="9500616" y="4041648"/>
            <a:ext cx="822960" cy="173736"/>
          </a:xfrm>
          <a:prstGeom prst="roundRect">
            <a:avLst>
              <a:gd name="adj" fmla="val 15789"/>
            </a:avLst>
          </a:prstGeom>
          <a:solidFill>
            <a:srgbClr val="FEE2E2"/>
          </a:solidFill>
          <a:ln w="19050">
            <a:solidFill>
              <a:srgbClr val="DC2626"/>
            </a:solidFill>
            <a:prstDash val="solid"/>
          </a:ln>
        </p:spPr>
      </p:sp>
      <p:sp>
        <p:nvSpPr>
          <p:cNvPr id="174" name="Text 172"/>
          <p:cNvSpPr/>
          <p:nvPr/>
        </p:nvSpPr>
        <p:spPr>
          <a:xfrm>
            <a:off x="9500616" y="4041648"/>
            <a:ext cx="822960" cy="173736"/>
          </a:xfrm>
          <a:prstGeom prst="rect">
            <a:avLst/>
          </a:prstGeom>
          <a:noFill/>
          <a:ln/>
        </p:spPr>
        <p:txBody>
          <a:bodyPr wrap="square" lIns="0" tIns="0" rIns="0" bIns="0" rtlCol="0" anchor="ctr"/>
          <a:lstStyle/>
          <a:p>
            <a:pPr algn="ctr" indent="0" marL="0">
              <a:buNone/>
            </a:pPr>
            <a:r>
              <a:rPr lang="en-US" sz="700" b="1" dirty="0">
                <a:solidFill>
                  <a:srgbClr val="7F1D1D"/>
                </a:solidFill>
              </a:rPr>
              <a:t>Blocked</a:t>
            </a:r>
            <a:endParaRPr lang="en-US" sz="700" dirty="0"/>
          </a:p>
        </p:txBody>
      </p:sp>
      <p:sp>
        <p:nvSpPr>
          <p:cNvPr id="175" name="Shape 173"/>
          <p:cNvSpPr/>
          <p:nvPr/>
        </p:nvSpPr>
        <p:spPr>
          <a:xfrm>
            <a:off x="9500616" y="4270248"/>
            <a:ext cx="822960" cy="173736"/>
          </a:xfrm>
          <a:prstGeom prst="roundRect">
            <a:avLst>
              <a:gd name="adj" fmla="val 15789"/>
            </a:avLst>
          </a:prstGeom>
          <a:solidFill>
            <a:srgbClr val="DCFCE7"/>
          </a:solidFill>
          <a:ln w="12700">
            <a:solidFill>
              <a:srgbClr val="15803D"/>
            </a:solidFill>
            <a:prstDash val="solid"/>
          </a:ln>
        </p:spPr>
      </p:sp>
      <p:sp>
        <p:nvSpPr>
          <p:cNvPr id="176" name="Text 174"/>
          <p:cNvSpPr/>
          <p:nvPr/>
        </p:nvSpPr>
        <p:spPr>
          <a:xfrm>
            <a:off x="9500616" y="4270248"/>
            <a:ext cx="822960" cy="173736"/>
          </a:xfrm>
          <a:prstGeom prst="rect">
            <a:avLst/>
          </a:prstGeom>
          <a:noFill/>
          <a:ln/>
        </p:spPr>
        <p:txBody>
          <a:bodyPr wrap="square" lIns="0" tIns="0" rIns="0" bIns="0" rtlCol="0" anchor="ctr"/>
          <a:lstStyle/>
          <a:p>
            <a:pPr algn="ctr" indent="0" marL="0">
              <a:buNone/>
            </a:pPr>
            <a:r>
              <a:rPr lang="en-US" sz="700" b="1" dirty="0">
                <a:solidFill>
                  <a:srgbClr val="14532D"/>
                </a:solidFill>
              </a:rPr>
              <a:t>Done</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SABR Component Status</dc:title>
  <dc:subject>PptxGenJS Presentation</dc:subject>
  <dc:creator>SABR Reporting</dc:creator>
  <cp:lastModifiedBy>SABR Reporting</cp:lastModifiedBy>
  <cp:revision>1</cp:revision>
  <dcterms:created xsi:type="dcterms:W3CDTF">2026-08-06T18:56:04Z</dcterms:created>
  <dcterms:modified xsi:type="dcterms:W3CDTF">2026-08-06T18:56:04Z</dcterms:modified>
</cp:coreProperties>
</file>