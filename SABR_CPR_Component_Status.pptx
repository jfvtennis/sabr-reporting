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12344400" cy="7315200"/>
  <p:notesSz cx="7315200" cy="123444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344400" cy="457200"/>
          </a:xfrm>
          <a:prstGeom prst="rect">
            <a:avLst/>
          </a:prstGeom>
          <a:solidFill>
            <a:srgbClr val="8ED973"/>
          </a:solidFill>
          <a:ln w="12700">
            <a:solidFill>
              <a:srgbClr val="8ED973"/>
            </a:solidFill>
            <a:prstDash val="solid"/>
          </a:ln>
        </p:spPr>
      </p:sp>
      <p:sp>
        <p:nvSpPr>
          <p:cNvPr id="3" name="Text 1"/>
          <p:cNvSpPr/>
          <p:nvPr/>
        </p:nvSpPr>
        <p:spPr>
          <a:xfrm>
            <a:off x="201168" y="0"/>
            <a:ext cx="6858000" cy="457200"/>
          </a:xfrm>
          <a:prstGeom prst="rect">
            <a:avLst/>
          </a:prstGeom>
          <a:noFill/>
          <a:ln/>
        </p:spPr>
        <p:txBody>
          <a:bodyPr wrap="square" lIns="0" tIns="0" rIns="0" bIns="0" rtlCol="0" anchor="ctr"/>
          <a:lstStyle/>
          <a:p>
            <a:pPr algn="l" indent="0" marL="0">
              <a:buNone/>
            </a:pPr>
            <a:r>
              <a:rPr lang="en-US" sz="1600" b="1" dirty="0">
                <a:solidFill>
                  <a:srgbClr val="000000"/>
                </a:solidFill>
              </a:rPr>
              <a:t>Project SABR</a:t>
            </a:r>
            <a:endParaRPr lang="en-US" sz="1600" dirty="0"/>
          </a:p>
        </p:txBody>
      </p:sp>
      <p:sp>
        <p:nvSpPr>
          <p:cNvPr id="4" name="Text 2"/>
          <p:cNvSpPr/>
          <p:nvPr/>
        </p:nvSpPr>
        <p:spPr>
          <a:xfrm>
            <a:off x="7315200" y="0"/>
            <a:ext cx="4754880" cy="457200"/>
          </a:xfrm>
          <a:prstGeom prst="rect">
            <a:avLst/>
          </a:prstGeom>
          <a:noFill/>
          <a:ln/>
        </p:spPr>
        <p:txBody>
          <a:bodyPr wrap="square" lIns="0" tIns="0" rIns="0" bIns="0" rtlCol="0" anchor="ctr"/>
          <a:lstStyle/>
          <a:p>
            <a:pPr algn="r" indent="0" marL="0">
              <a:buNone/>
            </a:pPr>
            <a:r>
              <a:rPr lang="en-US" sz="1100" dirty="0">
                <a:solidFill>
                  <a:srgbClr val="388849"/>
                </a:solidFill>
              </a:rPr>
              <a:t>This Week  ·  Aug 5, 2026</a:t>
            </a:r>
            <a:endParaRPr lang="en-US" sz="1100" dirty="0"/>
          </a:p>
        </p:txBody>
      </p:sp>
      <p:sp>
        <p:nvSpPr>
          <p:cNvPr id="5" name="Shape 3"/>
          <p:cNvSpPr/>
          <p:nvPr/>
        </p:nvSpPr>
        <p:spPr>
          <a:xfrm>
            <a:off x="0" y="457200"/>
            <a:ext cx="12344400" cy="274320"/>
          </a:xfrm>
          <a:prstGeom prst="rect">
            <a:avLst/>
          </a:prstGeom>
          <a:solidFill>
            <a:srgbClr val="EFF7F3"/>
          </a:solidFill>
          <a:ln w="12700">
            <a:solidFill>
              <a:srgbClr val="CCE4D8"/>
            </a:solidFill>
            <a:prstDash val="solid"/>
          </a:ln>
        </p:spPr>
      </p:sp>
      <p:sp>
        <p:nvSpPr>
          <p:cNvPr id="6" name="Text 4"/>
          <p:cNvSpPr/>
          <p:nvPr/>
        </p:nvSpPr>
        <p:spPr>
          <a:xfrm>
            <a:off x="201168" y="457200"/>
            <a:ext cx="5486400" cy="274320"/>
          </a:xfrm>
          <a:prstGeom prst="rect">
            <a:avLst/>
          </a:prstGeom>
          <a:noFill/>
          <a:ln/>
        </p:spPr>
        <p:txBody>
          <a:bodyPr wrap="square" lIns="0" tIns="0" rIns="0" bIns="0" rtlCol="0" anchor="ctr"/>
          <a:lstStyle/>
          <a:p>
            <a:pPr algn="l" indent="0" marL="0">
              <a:buNone/>
            </a:pPr>
            <a:r>
              <a:rPr lang="en-US" sz="1100" b="1" dirty="0">
                <a:solidFill>
                  <a:srgbClr val="388849"/>
                </a:solidFill>
              </a:rPr>
              <a:t>8/5/2026 Update</a:t>
            </a:r>
            <a:endParaRPr lang="en-US" sz="1100" dirty="0"/>
          </a:p>
        </p:txBody>
      </p:sp>
      <p:sp>
        <p:nvSpPr>
          <p:cNvPr id="7" name="Text 5"/>
          <p:cNvSpPr/>
          <p:nvPr/>
        </p:nvSpPr>
        <p:spPr>
          <a:xfrm>
            <a:off x="5943600" y="457200"/>
            <a:ext cx="5943600" cy="274320"/>
          </a:xfrm>
          <a:prstGeom prst="rect">
            <a:avLst/>
          </a:prstGeom>
          <a:noFill/>
          <a:ln/>
        </p:spPr>
        <p:txBody>
          <a:bodyPr wrap="square" lIns="0" tIns="0" rIns="0" bIns="0" rtlCol="0" anchor="ctr"/>
          <a:lstStyle/>
          <a:p>
            <a:pPr algn="r" indent="0" marL="0">
              <a:buNone/>
            </a:pPr>
            <a:r>
              <a:rPr lang="en-US" sz="900" dirty="0">
                <a:solidFill>
                  <a:srgbClr val="374151"/>
                </a:solidFill>
              </a:rPr>
              <a:t>Beta: Sep 30, 2026  ·  55 days remaining</a:t>
            </a:r>
            <a:endParaRPr lang="en-US" sz="900" dirty="0"/>
          </a:p>
        </p:txBody>
      </p:sp>
      <p:sp>
        <p:nvSpPr>
          <p:cNvPr id="8" name="Shape 6"/>
          <p:cNvSpPr/>
          <p:nvPr/>
        </p:nvSpPr>
        <p:spPr>
          <a:xfrm>
            <a:off x="164592" y="822960"/>
            <a:ext cx="12015216" cy="6035040"/>
          </a:xfrm>
          <a:prstGeom prst="rect">
            <a:avLst/>
          </a:prstGeom>
          <a:solidFill>
            <a:srgbClr val="FAFCFB"/>
          </a:solidFill>
          <a:ln w="9525">
            <a:solidFill>
              <a:srgbClr val="D8EDE3"/>
            </a:solidFill>
            <a:prstDash val="solid"/>
          </a:ln>
        </p:spPr>
      </p:sp>
      <p:sp>
        <p:nvSpPr>
          <p:cNvPr id="9" name="Text 7"/>
          <p:cNvSpPr/>
          <p:nvPr/>
        </p:nvSpPr>
        <p:spPr>
          <a:xfrm>
            <a:off x="274320" y="896112"/>
            <a:ext cx="11795760" cy="5888736"/>
          </a:xfrm>
          <a:prstGeom prst="rect">
            <a:avLst/>
          </a:prstGeom>
          <a:noFill/>
          <a:ln/>
        </p:spPr>
        <p:txBody>
          <a:bodyPr wrap="square" lIns="101600" tIns="101600" rIns="101600" bIns="101600" rtlCol="0" anchor="t"/>
          <a:lstStyle/>
          <a:p>
            <a:pPr algn="l" indent="0" marL="0">
              <a:buNone/>
            </a:pPr>
            <a:r>
              <a:rPr lang="en-US" sz="800" dirty="0">
                <a:solidFill>
                  <a:srgbClr val="1F2937"/>
                </a:solidFill>
              </a:rPr>
              <a:t>PROJECT SABR — CURRENT PROGRAM REVIEW</a:t>
            </a:r>
            <a:endParaRPr lang="en-US" sz="800" dirty="0"/>
          </a:p>
          <a:p>
            <a:pPr algn="l" indent="0" marL="0">
              <a:buNone/>
            </a:pPr>
            <a:r>
              <a:rPr lang="en-US" sz="800" dirty="0">
                <a:solidFill>
                  <a:srgbClr val="1F2937"/>
                </a:solidFill>
              </a:rPr>
              <a:t>Week of August 5, 2026</a:t>
            </a:r>
            <a:endParaRPr lang="en-US" sz="800" dirty="0"/>
          </a:p>
          <a:p>
            <a:pPr algn="l" indent="0" marL="0">
              <a:buNone/>
            </a:pPr>
            <a:endParaRPr lang="en-US" sz="800" dirty="0"/>
          </a:p>
          <a:p>
            <a:pPr algn="l" indent="0" marL="0">
              <a:buNone/>
            </a:pPr>
            <a:r>
              <a:rPr lang="en-US" sz="800" dirty="0">
                <a:solidFill>
                  <a:srgbClr val="1F2937"/>
                </a:solidFill>
              </a:rPr>
              <a:t>Project SABR continued forward momentum across platform integrations and engineering delivery this week, with critical progress on Roku partner coordination, Amagi streaming architecture, and front-end feature development. However, internal process discipline around feature scoping and UX decision-making is requiring immediate attention to keep the team aligned as velocity increases heading into September.</a:t>
            </a:r>
            <a:endParaRPr lang="en-US" sz="800" dirty="0"/>
          </a:p>
          <a:p>
            <a:pPr algn="l" indent="0" marL="0">
              <a:buNone/>
            </a:pPr>
            <a:endParaRPr lang="en-US" sz="800" dirty="0"/>
          </a:p>
          <a:p>
            <a:pPr algn="l" indent="0" marL="0">
              <a:buNone/>
            </a:pPr>
            <a:r>
              <a:rPr lang="en-US" sz="800" b="1" dirty="0">
                <a:solidFill>
                  <a:srgbClr val="1B5E20"/>
                </a:solidFill>
              </a:rPr>
              <a:t>ROKU PARTNERSHIP:</a:t>
            </a:r>
            <a:pPr algn="l" indent="0" marL="0">
              <a:buNone/>
            </a:pPr>
            <a:r>
              <a:rPr lang="en-US" sz="800" dirty="0">
                <a:solidFill>
                  <a:srgbClr val="1F2937"/>
                </a:solidFill>
              </a:rPr>
              <a:t> Resolved a metadata conflict between Premium Subscriptions and Roku regarding sports event versus TV episode classification by deciding to deprecate that field from the OTT app and rely on Premium Subscriptions data instead, de-risking the implementation. Confirmed Amagi will deliver a read-only published-matches UI by mid-August for Roku to access content availability without manual spreadsheets. Ads testing infrastructure is ready pending final linear stream connection from Roku; formal ads testing to begin once Roku executes. Tournament spreadsheet requirements have been clarified and reset against the Amagi UI delivery.</a:t>
            </a:r>
            <a:endParaRPr lang="en-US" sz="800" dirty="0"/>
          </a:p>
          <a:p>
            <a:pPr algn="l" indent="0" marL="0">
              <a:buNone/>
            </a:pPr>
            <a:endParaRPr lang="en-US" sz="800" dirty="0"/>
          </a:p>
          <a:p>
            <a:pPr algn="l" indent="0" marL="0">
              <a:buNone/>
            </a:pPr>
            <a:r>
              <a:rPr lang="en-US" sz="800" b="1" dirty="0">
                <a:solidFill>
                  <a:srgbClr val="1B5E20"/>
                </a:solidFill>
              </a:rPr>
              <a:t>AMAGI INTEGRATION:</a:t>
            </a:r>
            <a:pPr algn="l" indent="0" marL="0">
              <a:buNone/>
            </a:pPr>
            <a:r>
              <a:rPr lang="en-US" sz="800" dirty="0">
                <a:solidFill>
                  <a:srgbClr val="1F2937"/>
                </a:solidFill>
              </a:rPr>
              <a:t> Delivered a redesigned DVR/VOD architecture shifting from a single continuously-reset stream URL to unique per-match manifest URLs with automatic live-to-VOD transition, eliminating manual frontend start/end time adjustments. Confirmed production replays are flowing and available for testing. Aligned on Ad Ops macro requirements matrix with a source-of-truth document to be exchanged by end of week. Identified Roku trick-play thumbnail spec (640x480 every six seconds) as a hard certification requirement; timeline confirmation pending Dave Bornstein's check on transcoder settings. Tennis Channel EPG feed still in progress; currently using T2 copy for testing. Second-week-of-August delivery target for Axon UI, VOD trim overrides, and full automation pending Amagi internal confirmation.</a:t>
            </a:r>
            <a:endParaRPr lang="en-US" sz="800" dirty="0"/>
          </a:p>
          <a:p>
            <a:pPr algn="l" indent="0" marL="0">
              <a:buNone/>
            </a:pPr>
            <a:endParaRPr lang="en-US" sz="800" dirty="0"/>
          </a:p>
          <a:p>
            <a:pPr algn="l" indent="0" marL="0">
              <a:buNone/>
            </a:pPr>
            <a:r>
              <a:rPr lang="en-US" sz="800" b="1" dirty="0">
                <a:solidFill>
                  <a:srgbClr val="1B5E20"/>
                </a:solidFill>
              </a:rPr>
              <a:t>FOXAM CONTENT DELIVERY:</a:t>
            </a:r>
            <a:pPr algn="l" indent="0" marL="0">
              <a:buNone/>
            </a:pPr>
            <a:r>
              <a:rPr lang="en-US" sz="800" dirty="0">
                <a:solidFill>
                  <a:srgbClr val="1F2937"/>
                </a:solidFill>
              </a:rPr>
              <a:t> Implemented content page with landscape carousel, vertical and horizontal pagination, and skeleton loading. Completed label additions and addressed image format optimization (PNG over WebP for compatibility). Currently working through entitlement checks, clear settings removal, and planning sprints on playback flow migration, geo-blocking, end card/autoplay, and concurrency management. Clarified error-code list, translation structure, and offer-field requirements for downstream handoff.</a:t>
            </a:r>
            <a:endParaRPr lang="en-US" sz="800" dirty="0"/>
          </a:p>
          <a:p>
            <a:pPr algn="l" indent="0" marL="0">
              <a:buNone/>
            </a:pPr>
            <a:endParaRPr lang="en-US" sz="800" dirty="0"/>
          </a:p>
          <a:p>
            <a:pPr algn="l" indent="0" marL="0">
              <a:buNone/>
            </a:pPr>
            <a:r>
              <a:rPr lang="en-US" sz="800" b="1" dirty="0">
                <a:solidFill>
                  <a:srgbClr val="1B5E20"/>
                </a:solidFill>
              </a:rPr>
              <a:t>MERCHANDISING:</a:t>
            </a:r>
            <a:pPr algn="l" indent="0" marL="0">
              <a:buNone/>
            </a:pPr>
            <a:r>
              <a:rPr lang="en-US" sz="800" dirty="0">
                <a:solidFill>
                  <a:srgbClr val="1F2937"/>
                </a:solidFill>
              </a:rPr>
              <a:t> Finalized carousel show-more behavior with three configurable states (default on, override off, custom label with path). Default limit set to 20 items with no hard ceiling; Amagi UI will provide read-only visibility for partners. Clarified that show-more can be triggered even if limit not met, supporting edge cases. TV app behavior remains separate pending reverse-product-engineering discovery with Foxam; device-level limits may be necessary for low-power Roku devices.</a:t>
            </a:r>
            <a:endParaRPr lang="en-US" sz="800" dirty="0"/>
          </a:p>
          <a:p>
            <a:pPr algn="l" indent="0" marL="0">
              <a:buNone/>
            </a:pPr>
            <a:endParaRPr lang="en-US" sz="800" dirty="0"/>
          </a:p>
          <a:p>
            <a:pPr algn="l" indent="0" marL="0">
              <a:buNone/>
            </a:pPr>
            <a:r>
              <a:rPr lang="en-US" sz="800" b="1" dirty="0">
                <a:solidFill>
                  <a:srgbClr val="1B5E20"/>
                </a:solidFill>
              </a:rPr>
              <a:t>SABR ENGINEERING DELIVERY:</a:t>
            </a:r>
            <a:pPr algn="l" indent="0" marL="0">
              <a:buNone/>
            </a:pPr>
            <a:r>
              <a:rPr lang="en-US" sz="800" dirty="0">
                <a:solidFill>
                  <a:srgbClr val="1F2937"/>
                </a:solidFill>
              </a:rPr>
              <a:t> Mobile team shipped working builds for video playback with DRM and picture-in-picture; CI/CD automation for iOS and Android is in progress to enable consistent weekly builds. Web team advanced tournaments and live pages with feedback loops pending; navigation and artwork template editors are now configurable in the CMS. Profile decoupling completed; email-change backend is ready. Test builds publishing to TestFlight today. Overall progress is strong, but engineering team has been shipping UX iterations ahead of formal design feedback, creating scope and coordination tension. Leadership has established twice-weekly jam sessions (Tuesdays and Thursdays) starting immediately to synchronize design feedback, prioritization, and feature control in real time.</a:t>
            </a:r>
            <a:endParaRPr lang="en-US" sz="800" dirty="0"/>
          </a:p>
          <a:p>
            <a:pPr algn="l" indent="0" marL="0">
              <a:buNone/>
            </a:pPr>
            <a:endParaRPr lang="en-US" sz="800" dirty="0"/>
          </a:p>
          <a:p>
            <a:pPr algn="l" indent="0" marL="0">
              <a:buNone/>
            </a:pPr>
            <a:r>
              <a:rPr lang="en-US" sz="800" b="1" dirty="0">
                <a:solidFill>
                  <a:srgbClr val="1B5E20"/>
                </a:solidFill>
              </a:rPr>
              <a:t>KEY DECISIONS:</a:t>
            </a:r>
            <a:pPr algn="l" indent="0" marL="0">
              <a:buNone/>
            </a:pPr>
            <a:endParaRPr lang="en-US" sz="800" dirty="0"/>
          </a:p>
          <a:p>
            <a:pPr algn="l" indent="0" marL="0">
              <a:buNone/>
            </a:pPr>
            <a:r>
              <a:rPr lang="en-US" sz="800" dirty="0">
                <a:solidFill>
                  <a:srgbClr val="1F2937"/>
                </a:solidFill>
              </a:rPr>
              <a:t>• Deprecate sports-event field from OTT app and rely exclusively on Premium Subscriptions metadata to resolve Roku classification conflict</a:t>
            </a:r>
            <a:endParaRPr lang="en-US" sz="800" dirty="0"/>
          </a:p>
          <a:p>
            <a:pPr algn="l" indent="0" marL="0">
              <a:buNone/>
            </a:pPr>
            <a:r>
              <a:rPr lang="en-US" sz="800" dirty="0">
                <a:solidFill>
                  <a:srgbClr val="1F2937"/>
                </a:solidFill>
              </a:rPr>
              <a:t>• Implement per-match manifest URLs in Amagi architecture rather than single reset stream, with automatic live-to-VOD transition</a:t>
            </a:r>
            <a:endParaRPr lang="en-US" sz="800" dirty="0"/>
          </a:p>
          <a:p>
            <a:pPr algn="l" indent="0" marL="0">
              <a:buNone/>
            </a:pPr>
            <a:r>
              <a:rPr lang="en-US" sz="800" dirty="0">
                <a:solidFill>
                  <a:srgbClr val="1F2937"/>
                </a:solidFill>
              </a:rPr>
              <a:t>• Use device-configurable DVR buffer (proposed four hours) instead of backend-enforced hard limit</a:t>
            </a:r>
            <a:endParaRPr lang="en-US" sz="800" dirty="0"/>
          </a:p>
          <a:p>
            <a:pPr algn="l" indent="0" marL="0">
              <a:buNone/>
            </a:pPr>
            <a:r>
              <a:rPr lang="en-US" sz="800" dirty="0">
                <a:solidFill>
                  <a:srgbClr val="1F2937"/>
                </a:solidFill>
              </a:rPr>
              <a:t>• Set carousel show-more to enabled by default with configurable limit of 20 items and ability to override or customize label and path</a:t>
            </a:r>
            <a:endParaRPr lang="en-US" sz="800" dirty="0"/>
          </a:p>
          <a:p>
            <a:pPr algn="l" indent="0" marL="0">
              <a:buNone/>
            </a:pPr>
            <a:r>
              <a:rPr lang="en-US" sz="800" dirty="0">
                <a:solidFill>
                  <a:srgbClr val="1F2937"/>
                </a:solidFill>
              </a:rPr>
              <a:t>• Establish twice-weekly design jam sessions (Tuesdays and Thursdays) with Santa Monica and Seattle teams to maintain alignment on UX changes as engineering velocity increases</a:t>
            </a:r>
            <a:endParaRPr lang="en-US" sz="800" dirty="0"/>
          </a:p>
        </p:txBody>
      </p:sp>
      <p:sp>
        <p:nvSpPr>
          <p:cNvPr id="10" name="Shape 8"/>
          <p:cNvSpPr/>
          <p:nvPr/>
        </p:nvSpPr>
        <p:spPr>
          <a:xfrm>
            <a:off x="0" y="6876288"/>
            <a:ext cx="12344400" cy="438912"/>
          </a:xfrm>
          <a:prstGeom prst="rect">
            <a:avLst/>
          </a:prstGeom>
          <a:solidFill>
            <a:srgbClr val="F4F6F8"/>
          </a:solidFill>
          <a:ln w="12700">
            <a:solidFill>
              <a:srgbClr val="D1D5DB"/>
            </a:solidFill>
            <a:prstDash val="solid"/>
          </a:ln>
        </p:spPr>
      </p:sp>
      <p:sp>
        <p:nvSpPr>
          <p:cNvPr id="11" name="Text 9"/>
          <p:cNvSpPr/>
          <p:nvPr/>
        </p:nvSpPr>
        <p:spPr>
          <a:xfrm>
            <a:off x="201168" y="6876288"/>
            <a:ext cx="5029200" cy="438912"/>
          </a:xfrm>
          <a:prstGeom prst="rect">
            <a:avLst/>
          </a:prstGeom>
          <a:noFill/>
          <a:ln/>
        </p:spPr>
        <p:txBody>
          <a:bodyPr wrap="square" lIns="0" tIns="0" rIns="0" bIns="0" rtlCol="0" anchor="ctr"/>
          <a:lstStyle/>
          <a:p>
            <a:pPr algn="l" indent="0" marL="0">
              <a:buNone/>
            </a:pPr>
            <a:r>
              <a:rPr lang="en-US" sz="800" dirty="0">
                <a:solidFill>
                  <a:srgbClr val="9CA3AF"/>
                </a:solidFill>
              </a:rPr>
              <a:t>Project SABR  ·  Tennis Channel OTT  ·  CONFIDENTIAL</a:t>
            </a:r>
            <a:endParaRPr lang="en-US" sz="800" dirty="0"/>
          </a:p>
        </p:txBody>
      </p:sp>
      <p:sp>
        <p:nvSpPr>
          <p:cNvPr id="12" name="Text 10"/>
          <p:cNvSpPr/>
          <p:nvPr/>
        </p:nvSpPr>
        <p:spPr>
          <a:xfrm>
            <a:off x="10515600" y="6876288"/>
            <a:ext cx="1508760" cy="438912"/>
          </a:xfrm>
          <a:prstGeom prst="rect">
            <a:avLst/>
          </a:prstGeom>
          <a:noFill/>
          <a:ln/>
        </p:spPr>
        <p:txBody>
          <a:bodyPr wrap="square" lIns="0" tIns="0" rIns="0" bIns="0" rtlCol="0" anchor="ctr"/>
          <a:lstStyle/>
          <a:p>
            <a:pPr algn="r" indent="0" marL="0">
              <a:buNone/>
            </a:pPr>
            <a:r>
              <a:rPr lang="en-US" sz="1100" b="1" dirty="0">
                <a:solidFill>
                  <a:srgbClr val="388849"/>
                </a:solidFill>
              </a:rPr>
              <a:t>9% Ready</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344400" cy="457200"/>
          </a:xfrm>
          <a:prstGeom prst="rect">
            <a:avLst/>
          </a:prstGeom>
          <a:solidFill>
            <a:srgbClr val="8ED973"/>
          </a:solidFill>
          <a:ln w="12700">
            <a:solidFill>
              <a:srgbClr val="8ED973"/>
            </a:solidFill>
            <a:prstDash val="solid"/>
          </a:ln>
        </p:spPr>
      </p:sp>
      <p:sp>
        <p:nvSpPr>
          <p:cNvPr id="3" name="Text 1"/>
          <p:cNvSpPr/>
          <p:nvPr/>
        </p:nvSpPr>
        <p:spPr>
          <a:xfrm>
            <a:off x="201168" y="0"/>
            <a:ext cx="6858000" cy="457200"/>
          </a:xfrm>
          <a:prstGeom prst="rect">
            <a:avLst/>
          </a:prstGeom>
          <a:noFill/>
          <a:ln/>
        </p:spPr>
        <p:txBody>
          <a:bodyPr wrap="square" lIns="0" tIns="0" rIns="0" bIns="0" rtlCol="0" anchor="ctr"/>
          <a:lstStyle/>
          <a:p>
            <a:pPr algn="l" indent="0" marL="0">
              <a:buNone/>
            </a:pPr>
            <a:r>
              <a:rPr lang="en-US" sz="1600" b="1" dirty="0">
                <a:solidFill>
                  <a:srgbClr val="000000"/>
                </a:solidFill>
              </a:rPr>
              <a:t>Project SABR</a:t>
            </a:r>
            <a:endParaRPr lang="en-US" sz="1600" dirty="0"/>
          </a:p>
        </p:txBody>
      </p:sp>
      <p:sp>
        <p:nvSpPr>
          <p:cNvPr id="4" name="Text 2"/>
          <p:cNvSpPr/>
          <p:nvPr/>
        </p:nvSpPr>
        <p:spPr>
          <a:xfrm>
            <a:off x="7315200" y="0"/>
            <a:ext cx="4754880" cy="457200"/>
          </a:xfrm>
          <a:prstGeom prst="rect">
            <a:avLst/>
          </a:prstGeom>
          <a:noFill/>
          <a:ln/>
        </p:spPr>
        <p:txBody>
          <a:bodyPr wrap="square" lIns="0" tIns="0" rIns="0" bIns="0" rtlCol="0" anchor="ctr"/>
          <a:lstStyle/>
          <a:p>
            <a:pPr algn="r" indent="0" marL="0">
              <a:buNone/>
            </a:pPr>
            <a:r>
              <a:rPr lang="en-US" sz="1100" dirty="0">
                <a:solidFill>
                  <a:srgbClr val="388849"/>
                </a:solidFill>
              </a:rPr>
              <a:t>Critical Gates  ·  Aug 5, 2026</a:t>
            </a:r>
            <a:endParaRPr lang="en-US" sz="1100" dirty="0"/>
          </a:p>
        </p:txBody>
      </p:sp>
      <p:sp>
        <p:nvSpPr>
          <p:cNvPr id="5" name="Shape 3"/>
          <p:cNvSpPr/>
          <p:nvPr/>
        </p:nvSpPr>
        <p:spPr>
          <a:xfrm>
            <a:off x="91440" y="502920"/>
            <a:ext cx="6016752" cy="2926080"/>
          </a:xfrm>
          <a:prstGeom prst="rect">
            <a:avLst/>
          </a:prstGeom>
          <a:solidFill>
            <a:srgbClr val="FAFBFC"/>
          </a:solidFill>
          <a:ln w="9525">
            <a:solidFill>
              <a:srgbClr val="D1D5DB"/>
            </a:solidFill>
            <a:prstDash val="solid"/>
          </a:ln>
        </p:spPr>
      </p:sp>
      <p:sp>
        <p:nvSpPr>
          <p:cNvPr id="6" name="Shape 4"/>
          <p:cNvSpPr/>
          <p:nvPr/>
        </p:nvSpPr>
        <p:spPr>
          <a:xfrm>
            <a:off x="91440" y="502920"/>
            <a:ext cx="6016752" cy="274320"/>
          </a:xfrm>
          <a:prstGeom prst="rect">
            <a:avLst/>
          </a:prstGeom>
          <a:solidFill>
            <a:srgbClr val="8ED973"/>
          </a:solidFill>
          <a:ln w="12700">
            <a:solidFill>
              <a:srgbClr val="8ED973"/>
            </a:solidFill>
            <a:prstDash val="solid"/>
          </a:ln>
        </p:spPr>
      </p:sp>
      <p:sp>
        <p:nvSpPr>
          <p:cNvPr id="7" name="Text 5"/>
          <p:cNvSpPr/>
          <p:nvPr/>
        </p:nvSpPr>
        <p:spPr>
          <a:xfrm>
            <a:off x="201168" y="502920"/>
            <a:ext cx="5852160" cy="274320"/>
          </a:xfrm>
          <a:prstGeom prst="rect">
            <a:avLst/>
          </a:prstGeom>
          <a:noFill/>
          <a:ln/>
        </p:spPr>
        <p:txBody>
          <a:bodyPr wrap="square" lIns="0" tIns="0" rIns="0" bIns="0" rtlCol="0" anchor="ctr"/>
          <a:lstStyle/>
          <a:p>
            <a:pPr algn="l" indent="0" marL="0">
              <a:buNone/>
            </a:pPr>
            <a:r>
              <a:rPr lang="en-US" sz="900" b="1" dirty="0">
                <a:solidFill>
                  <a:srgbClr val="000000"/>
                </a:solidFill>
              </a:rPr>
              <a:t>Vendor / Contract</a:t>
            </a:r>
            <a:endParaRPr lang="en-US" sz="900" dirty="0"/>
          </a:p>
        </p:txBody>
      </p:sp>
      <p:sp>
        <p:nvSpPr>
          <p:cNvPr id="8" name="Shape 6"/>
          <p:cNvSpPr/>
          <p:nvPr/>
        </p:nvSpPr>
        <p:spPr>
          <a:xfrm>
            <a:off x="91440" y="777240"/>
            <a:ext cx="6016752" cy="530352"/>
          </a:xfrm>
          <a:prstGeom prst="rect">
            <a:avLst/>
          </a:prstGeom>
          <a:solidFill>
            <a:srgbClr val="FFFFFF"/>
          </a:solidFill>
          <a:ln w="3175">
            <a:solidFill>
              <a:srgbClr val="E5E7EB"/>
            </a:solidFill>
            <a:prstDash val="solid"/>
          </a:ln>
        </p:spPr>
      </p:sp>
      <p:sp>
        <p:nvSpPr>
          <p:cNvPr id="9" name="Text 7"/>
          <p:cNvSpPr/>
          <p:nvPr/>
        </p:nvSpPr>
        <p:spPr>
          <a:xfrm>
            <a:off x="164592" y="795528"/>
            <a:ext cx="777240" cy="493776"/>
          </a:xfrm>
          <a:prstGeom prst="rect">
            <a:avLst/>
          </a:prstGeom>
          <a:noFill/>
          <a:ln/>
        </p:spPr>
        <p:txBody>
          <a:bodyPr wrap="square" lIns="0" tIns="0" rIns="0" bIns="0" rtlCol="0" anchor="ctr"/>
          <a:lstStyle/>
          <a:p>
            <a:pPr indent="0" marL="0">
              <a:buNone/>
            </a:pPr>
            <a:r>
              <a:rPr lang="en-US" sz="750" b="1" dirty="0">
                <a:solidFill>
                  <a:srgbClr val="1F2937"/>
                </a:solidFill>
              </a:rPr>
              <a:t>Bitmovin</a:t>
            </a:r>
            <a:endParaRPr lang="en-US" sz="750" dirty="0"/>
          </a:p>
        </p:txBody>
      </p:sp>
      <p:sp>
        <p:nvSpPr>
          <p:cNvPr id="10" name="Text 8"/>
          <p:cNvSpPr/>
          <p:nvPr/>
        </p:nvSpPr>
        <p:spPr>
          <a:xfrm>
            <a:off x="960120" y="804672"/>
            <a:ext cx="4178808" cy="475488"/>
          </a:xfrm>
          <a:prstGeom prst="rect">
            <a:avLst/>
          </a:prstGeom>
          <a:noFill/>
          <a:ln/>
        </p:spPr>
        <p:txBody>
          <a:bodyPr wrap="square" lIns="0" tIns="0" rIns="0" bIns="0" rtlCol="0" anchor="t"/>
          <a:lstStyle/>
          <a:p>
            <a:pPr indent="0" marL="0">
              <a:buNone/>
            </a:pPr>
            <a:r>
              <a:rPr lang="en-US" sz="650" dirty="0">
                <a:solidFill>
                  <a:srgbClr val="374151"/>
                </a:solidFill>
              </a:rPr>
              <a:t>Contract signed 7/15.</a:t>
            </a:r>
            <a:endParaRPr lang="en-US" sz="650" dirty="0"/>
          </a:p>
        </p:txBody>
      </p:sp>
      <p:sp>
        <p:nvSpPr>
          <p:cNvPr id="11" name="Shape 9"/>
          <p:cNvSpPr/>
          <p:nvPr/>
        </p:nvSpPr>
        <p:spPr>
          <a:xfrm>
            <a:off x="5230368" y="955548"/>
            <a:ext cx="822960" cy="173736"/>
          </a:xfrm>
          <a:prstGeom prst="roundRect">
            <a:avLst>
              <a:gd name="adj" fmla="val 15789"/>
            </a:avLst>
          </a:prstGeom>
          <a:solidFill>
            <a:srgbClr val="CFFAFE"/>
          </a:solidFill>
          <a:ln w="12700">
            <a:solidFill>
              <a:srgbClr val="0E7490"/>
            </a:solidFill>
            <a:prstDash val="solid"/>
          </a:ln>
        </p:spPr>
      </p:sp>
      <p:sp>
        <p:nvSpPr>
          <p:cNvPr id="12" name="Text 10"/>
          <p:cNvSpPr/>
          <p:nvPr/>
        </p:nvSpPr>
        <p:spPr>
          <a:xfrm>
            <a:off x="5230368" y="955548"/>
            <a:ext cx="822960" cy="173736"/>
          </a:xfrm>
          <a:prstGeom prst="rect">
            <a:avLst/>
          </a:prstGeom>
          <a:noFill/>
          <a:ln/>
        </p:spPr>
        <p:txBody>
          <a:bodyPr wrap="square" lIns="0" tIns="0" rIns="0" bIns="0" rtlCol="0" anchor="ctr"/>
          <a:lstStyle/>
          <a:p>
            <a:pPr algn="ctr" indent="0" marL="0">
              <a:buNone/>
            </a:pPr>
            <a:r>
              <a:rPr lang="en-US" sz="650" b="1" dirty="0">
                <a:solidFill>
                  <a:srgbClr val="0E7490"/>
                </a:solidFill>
              </a:rPr>
              <a:t>Contracted</a:t>
            </a:r>
            <a:endParaRPr lang="en-US" sz="650" dirty="0"/>
          </a:p>
        </p:txBody>
      </p:sp>
      <p:sp>
        <p:nvSpPr>
          <p:cNvPr id="13" name="Shape 11"/>
          <p:cNvSpPr/>
          <p:nvPr/>
        </p:nvSpPr>
        <p:spPr>
          <a:xfrm>
            <a:off x="91440" y="1307592"/>
            <a:ext cx="6016752" cy="0"/>
          </a:xfrm>
          <a:prstGeom prst="line">
            <a:avLst/>
          </a:prstGeom>
          <a:noFill/>
          <a:ln w="6350">
            <a:solidFill>
              <a:srgbClr val="E5E7EB"/>
            </a:solidFill>
            <a:prstDash val="solid"/>
          </a:ln>
        </p:spPr>
      </p:sp>
      <p:sp>
        <p:nvSpPr>
          <p:cNvPr id="14" name="Text 12"/>
          <p:cNvSpPr/>
          <p:nvPr/>
        </p:nvSpPr>
        <p:spPr>
          <a:xfrm>
            <a:off x="164592" y="1325880"/>
            <a:ext cx="777240" cy="493776"/>
          </a:xfrm>
          <a:prstGeom prst="rect">
            <a:avLst/>
          </a:prstGeom>
          <a:noFill/>
          <a:ln/>
        </p:spPr>
        <p:txBody>
          <a:bodyPr wrap="square" lIns="0" tIns="0" rIns="0" bIns="0" rtlCol="0" anchor="ctr"/>
          <a:lstStyle/>
          <a:p>
            <a:pPr indent="0" marL="0">
              <a:buNone/>
            </a:pPr>
            <a:r>
              <a:rPr lang="en-US" sz="750" b="1" dirty="0">
                <a:solidFill>
                  <a:srgbClr val="1F2937"/>
                </a:solidFill>
              </a:rPr>
              <a:t>Adobe</a:t>
            </a:r>
            <a:endParaRPr lang="en-US" sz="750" dirty="0"/>
          </a:p>
        </p:txBody>
      </p:sp>
      <p:sp>
        <p:nvSpPr>
          <p:cNvPr id="15" name="Text 13"/>
          <p:cNvSpPr/>
          <p:nvPr/>
        </p:nvSpPr>
        <p:spPr>
          <a:xfrm>
            <a:off x="960120" y="1335024"/>
            <a:ext cx="4178808" cy="475488"/>
          </a:xfrm>
          <a:prstGeom prst="rect">
            <a:avLst/>
          </a:prstGeom>
          <a:noFill/>
          <a:ln/>
        </p:spPr>
        <p:txBody>
          <a:bodyPr wrap="square" lIns="0" tIns="0" rIns="0" bIns="0" rtlCol="0" anchor="t"/>
          <a:lstStyle/>
          <a:p>
            <a:pPr indent="0" marL="0">
              <a:buNone/>
            </a:pPr>
            <a:r>
              <a:rPr lang="en-US" sz="650" dirty="0">
                <a:solidFill>
                  <a:srgbClr val="374151"/>
                </a:solidFill>
              </a:rPr>
              <a:t>We are good. Just need to find out who owns the original contract and review renewal dates. Keff owns.</a:t>
            </a:r>
            <a:endParaRPr lang="en-US" sz="650" dirty="0"/>
          </a:p>
        </p:txBody>
      </p:sp>
      <p:sp>
        <p:nvSpPr>
          <p:cNvPr id="16" name="Shape 14"/>
          <p:cNvSpPr/>
          <p:nvPr/>
        </p:nvSpPr>
        <p:spPr>
          <a:xfrm>
            <a:off x="5230368" y="1485900"/>
            <a:ext cx="822960" cy="173736"/>
          </a:xfrm>
          <a:prstGeom prst="roundRect">
            <a:avLst>
              <a:gd name="adj" fmla="val 15789"/>
            </a:avLst>
          </a:prstGeom>
          <a:solidFill>
            <a:srgbClr val="CFFAFE"/>
          </a:solidFill>
          <a:ln w="12700">
            <a:solidFill>
              <a:srgbClr val="0E7490"/>
            </a:solidFill>
            <a:prstDash val="solid"/>
          </a:ln>
        </p:spPr>
      </p:sp>
      <p:sp>
        <p:nvSpPr>
          <p:cNvPr id="17" name="Text 15"/>
          <p:cNvSpPr/>
          <p:nvPr/>
        </p:nvSpPr>
        <p:spPr>
          <a:xfrm>
            <a:off x="5230368" y="1485900"/>
            <a:ext cx="822960" cy="173736"/>
          </a:xfrm>
          <a:prstGeom prst="rect">
            <a:avLst/>
          </a:prstGeom>
          <a:noFill/>
          <a:ln/>
        </p:spPr>
        <p:txBody>
          <a:bodyPr wrap="square" lIns="0" tIns="0" rIns="0" bIns="0" rtlCol="0" anchor="ctr"/>
          <a:lstStyle/>
          <a:p>
            <a:pPr algn="ctr" indent="0" marL="0">
              <a:buNone/>
            </a:pPr>
            <a:r>
              <a:rPr lang="en-US" sz="650" b="1" dirty="0">
                <a:solidFill>
                  <a:srgbClr val="0E7490"/>
                </a:solidFill>
              </a:rPr>
              <a:t>Contracted</a:t>
            </a:r>
            <a:endParaRPr lang="en-US" sz="650" dirty="0"/>
          </a:p>
        </p:txBody>
      </p:sp>
      <p:sp>
        <p:nvSpPr>
          <p:cNvPr id="18" name="Shape 16"/>
          <p:cNvSpPr/>
          <p:nvPr/>
        </p:nvSpPr>
        <p:spPr>
          <a:xfrm>
            <a:off x="91440" y="1837944"/>
            <a:ext cx="6016752" cy="530352"/>
          </a:xfrm>
          <a:prstGeom prst="rect">
            <a:avLst/>
          </a:prstGeom>
          <a:solidFill>
            <a:srgbClr val="FFFFFF"/>
          </a:solidFill>
          <a:ln w="3175">
            <a:solidFill>
              <a:srgbClr val="E5E7EB"/>
            </a:solidFill>
            <a:prstDash val="solid"/>
          </a:ln>
        </p:spPr>
      </p:sp>
      <p:sp>
        <p:nvSpPr>
          <p:cNvPr id="19" name="Shape 17"/>
          <p:cNvSpPr/>
          <p:nvPr/>
        </p:nvSpPr>
        <p:spPr>
          <a:xfrm>
            <a:off x="91440" y="1837944"/>
            <a:ext cx="6016752" cy="0"/>
          </a:xfrm>
          <a:prstGeom prst="line">
            <a:avLst/>
          </a:prstGeom>
          <a:noFill/>
          <a:ln w="6350">
            <a:solidFill>
              <a:srgbClr val="E5E7EB"/>
            </a:solidFill>
            <a:prstDash val="solid"/>
          </a:ln>
        </p:spPr>
      </p:sp>
      <p:sp>
        <p:nvSpPr>
          <p:cNvPr id="20" name="Text 18"/>
          <p:cNvSpPr/>
          <p:nvPr/>
        </p:nvSpPr>
        <p:spPr>
          <a:xfrm>
            <a:off x="164592" y="1856232"/>
            <a:ext cx="777240" cy="493776"/>
          </a:xfrm>
          <a:prstGeom prst="rect">
            <a:avLst/>
          </a:prstGeom>
          <a:noFill/>
          <a:ln/>
        </p:spPr>
        <p:txBody>
          <a:bodyPr wrap="square" lIns="0" tIns="0" rIns="0" bIns="0" rtlCol="0" anchor="ctr"/>
          <a:lstStyle/>
          <a:p>
            <a:pPr indent="0" marL="0">
              <a:buNone/>
            </a:pPr>
            <a:r>
              <a:rPr lang="en-US" sz="750" b="1" dirty="0">
                <a:solidFill>
                  <a:srgbClr val="1F2937"/>
                </a:solidFill>
              </a:rPr>
              <a:t>Amagi SOW</a:t>
            </a:r>
            <a:endParaRPr lang="en-US" sz="750" dirty="0"/>
          </a:p>
        </p:txBody>
      </p:sp>
      <p:sp>
        <p:nvSpPr>
          <p:cNvPr id="21" name="Text 19"/>
          <p:cNvSpPr/>
          <p:nvPr/>
        </p:nvSpPr>
        <p:spPr>
          <a:xfrm>
            <a:off x="960120" y="1865376"/>
            <a:ext cx="4178808" cy="475488"/>
          </a:xfrm>
          <a:prstGeom prst="rect">
            <a:avLst/>
          </a:prstGeom>
          <a:noFill/>
          <a:ln/>
        </p:spPr>
        <p:txBody>
          <a:bodyPr wrap="square" lIns="0" tIns="0" rIns="0" bIns="0" rtlCol="0" anchor="t"/>
          <a:lstStyle/>
          <a:p>
            <a:pPr indent="0" marL="0">
              <a:buNone/>
            </a:pPr>
            <a:r>
              <a:rPr lang="en-US" sz="650" dirty="0">
                <a:solidFill>
                  <a:srgbClr val="374151"/>
                </a:solidFill>
              </a:rPr>
              <a:t>M15 and Highlights will deliver via Amagi. Back-catalog VOD through Aspera; newer content (S3) handled separately. Amagi generating public key for Roku credential exchange.</a:t>
            </a:r>
            <a:endParaRPr lang="en-US" sz="650" dirty="0"/>
          </a:p>
        </p:txBody>
      </p:sp>
      <p:sp>
        <p:nvSpPr>
          <p:cNvPr id="22" name="Shape 20"/>
          <p:cNvSpPr/>
          <p:nvPr/>
        </p:nvSpPr>
        <p:spPr>
          <a:xfrm>
            <a:off x="5230368" y="2016252"/>
            <a:ext cx="822960" cy="173736"/>
          </a:xfrm>
          <a:prstGeom prst="roundRect">
            <a:avLst>
              <a:gd name="adj" fmla="val 15789"/>
            </a:avLst>
          </a:prstGeom>
          <a:solidFill>
            <a:srgbClr val="CFFAFE"/>
          </a:solidFill>
          <a:ln w="12700">
            <a:solidFill>
              <a:srgbClr val="0E7490"/>
            </a:solidFill>
            <a:prstDash val="solid"/>
          </a:ln>
        </p:spPr>
      </p:sp>
      <p:sp>
        <p:nvSpPr>
          <p:cNvPr id="23" name="Text 21"/>
          <p:cNvSpPr/>
          <p:nvPr/>
        </p:nvSpPr>
        <p:spPr>
          <a:xfrm>
            <a:off x="5230368" y="2016252"/>
            <a:ext cx="822960" cy="173736"/>
          </a:xfrm>
          <a:prstGeom prst="rect">
            <a:avLst/>
          </a:prstGeom>
          <a:noFill/>
          <a:ln/>
        </p:spPr>
        <p:txBody>
          <a:bodyPr wrap="square" lIns="0" tIns="0" rIns="0" bIns="0" rtlCol="0" anchor="ctr"/>
          <a:lstStyle/>
          <a:p>
            <a:pPr algn="ctr" indent="0" marL="0">
              <a:buNone/>
            </a:pPr>
            <a:r>
              <a:rPr lang="en-US" sz="650" b="1" dirty="0">
                <a:solidFill>
                  <a:srgbClr val="0E7490"/>
                </a:solidFill>
              </a:rPr>
              <a:t>Contracted</a:t>
            </a:r>
            <a:endParaRPr lang="en-US" sz="650" dirty="0"/>
          </a:p>
        </p:txBody>
      </p:sp>
      <p:sp>
        <p:nvSpPr>
          <p:cNvPr id="24" name="Shape 22"/>
          <p:cNvSpPr/>
          <p:nvPr/>
        </p:nvSpPr>
        <p:spPr>
          <a:xfrm>
            <a:off x="91440" y="2368296"/>
            <a:ext cx="6016752" cy="0"/>
          </a:xfrm>
          <a:prstGeom prst="line">
            <a:avLst/>
          </a:prstGeom>
          <a:noFill/>
          <a:ln w="6350">
            <a:solidFill>
              <a:srgbClr val="E5E7EB"/>
            </a:solidFill>
            <a:prstDash val="solid"/>
          </a:ln>
        </p:spPr>
      </p:sp>
      <p:sp>
        <p:nvSpPr>
          <p:cNvPr id="25" name="Text 23"/>
          <p:cNvSpPr/>
          <p:nvPr/>
        </p:nvSpPr>
        <p:spPr>
          <a:xfrm>
            <a:off x="164592" y="2386584"/>
            <a:ext cx="777240" cy="493776"/>
          </a:xfrm>
          <a:prstGeom prst="rect">
            <a:avLst/>
          </a:prstGeom>
          <a:noFill/>
          <a:ln/>
        </p:spPr>
        <p:txBody>
          <a:bodyPr wrap="square" lIns="0" tIns="0" rIns="0" bIns="0" rtlCol="0" anchor="ctr"/>
          <a:lstStyle/>
          <a:p>
            <a:pPr indent="0" marL="0">
              <a:buNone/>
            </a:pPr>
            <a:r>
              <a:rPr lang="en-US" sz="750" b="1" dirty="0">
                <a:solidFill>
                  <a:srgbClr val="1F2937"/>
                </a:solidFill>
              </a:rPr>
              <a:t>FOXXUM</a:t>
            </a:r>
            <a:endParaRPr lang="en-US" sz="750" dirty="0"/>
          </a:p>
        </p:txBody>
      </p:sp>
      <p:sp>
        <p:nvSpPr>
          <p:cNvPr id="26" name="Text 24"/>
          <p:cNvSpPr/>
          <p:nvPr/>
        </p:nvSpPr>
        <p:spPr>
          <a:xfrm>
            <a:off x="960120" y="2395728"/>
            <a:ext cx="4178808" cy="475488"/>
          </a:xfrm>
          <a:prstGeom prst="rect">
            <a:avLst/>
          </a:prstGeom>
          <a:noFill/>
          <a:ln/>
        </p:spPr>
        <p:txBody>
          <a:bodyPr wrap="square" lIns="0" tIns="0" rIns="0" bIns="0" rtlCol="0" anchor="t"/>
          <a:lstStyle/>
          <a:p>
            <a:pPr indent="0" marL="0">
              <a:buNone/>
            </a:pPr>
            <a:r>
              <a:rPr lang="en-US" sz="650" dirty="0">
                <a:solidFill>
                  <a:srgbClr val="374151"/>
                </a:solidFill>
              </a:rPr>
              <a:t>Integration ongoing. TV cert submission tied to November 1 deadline. UX change catalog being drafted for Foxxum coordination. Contract signature unconfirmed as of 7/15.</a:t>
            </a:r>
            <a:endParaRPr lang="en-US" sz="650" dirty="0"/>
          </a:p>
        </p:txBody>
      </p:sp>
      <p:sp>
        <p:nvSpPr>
          <p:cNvPr id="27" name="Shape 25"/>
          <p:cNvSpPr/>
          <p:nvPr/>
        </p:nvSpPr>
        <p:spPr>
          <a:xfrm>
            <a:off x="5230368" y="2546604"/>
            <a:ext cx="822960" cy="173736"/>
          </a:xfrm>
          <a:prstGeom prst="roundRect">
            <a:avLst>
              <a:gd name="adj" fmla="val 15789"/>
            </a:avLst>
          </a:prstGeom>
          <a:solidFill>
            <a:srgbClr val="1558A8"/>
          </a:solidFill>
          <a:ln w="12700">
            <a:solidFill>
              <a:srgbClr val="1558A8"/>
            </a:solidFill>
            <a:prstDash val="solid"/>
          </a:ln>
        </p:spPr>
      </p:sp>
      <p:sp>
        <p:nvSpPr>
          <p:cNvPr id="28" name="Text 26"/>
          <p:cNvSpPr/>
          <p:nvPr/>
        </p:nvSpPr>
        <p:spPr>
          <a:xfrm>
            <a:off x="5230368" y="2546604"/>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29" name="Shape 27"/>
          <p:cNvSpPr/>
          <p:nvPr/>
        </p:nvSpPr>
        <p:spPr>
          <a:xfrm>
            <a:off x="91440" y="2898648"/>
            <a:ext cx="6016752" cy="530352"/>
          </a:xfrm>
          <a:prstGeom prst="rect">
            <a:avLst/>
          </a:prstGeom>
          <a:solidFill>
            <a:srgbClr val="FFFFFF"/>
          </a:solidFill>
          <a:ln w="3175">
            <a:solidFill>
              <a:srgbClr val="E5E7EB"/>
            </a:solidFill>
            <a:prstDash val="solid"/>
          </a:ln>
        </p:spPr>
      </p:sp>
      <p:sp>
        <p:nvSpPr>
          <p:cNvPr id="30" name="Shape 28"/>
          <p:cNvSpPr/>
          <p:nvPr/>
        </p:nvSpPr>
        <p:spPr>
          <a:xfrm>
            <a:off x="91440" y="2898648"/>
            <a:ext cx="6016752" cy="0"/>
          </a:xfrm>
          <a:prstGeom prst="line">
            <a:avLst/>
          </a:prstGeom>
          <a:noFill/>
          <a:ln w="6350">
            <a:solidFill>
              <a:srgbClr val="E5E7EB"/>
            </a:solidFill>
            <a:prstDash val="solid"/>
          </a:ln>
        </p:spPr>
      </p:sp>
      <p:sp>
        <p:nvSpPr>
          <p:cNvPr id="31" name="Text 29"/>
          <p:cNvSpPr/>
          <p:nvPr/>
        </p:nvSpPr>
        <p:spPr>
          <a:xfrm>
            <a:off x="164592" y="2916936"/>
            <a:ext cx="777240" cy="493776"/>
          </a:xfrm>
          <a:prstGeom prst="rect">
            <a:avLst/>
          </a:prstGeom>
          <a:noFill/>
          <a:ln/>
        </p:spPr>
        <p:txBody>
          <a:bodyPr wrap="square" lIns="0" tIns="0" rIns="0" bIns="0" rtlCol="0" anchor="ctr"/>
          <a:lstStyle/>
          <a:p>
            <a:pPr indent="0" marL="0">
              <a:buNone/>
            </a:pPr>
            <a:r>
              <a:rPr lang="en-US" sz="750" b="1" dirty="0">
                <a:solidFill>
                  <a:srgbClr val="1F2937"/>
                </a:solidFill>
              </a:rPr>
              <a:t>SR Data</a:t>
            </a:r>
            <a:endParaRPr lang="en-US" sz="750" dirty="0"/>
          </a:p>
        </p:txBody>
      </p:sp>
      <p:sp>
        <p:nvSpPr>
          <p:cNvPr id="32" name="Text 30"/>
          <p:cNvSpPr/>
          <p:nvPr/>
        </p:nvSpPr>
        <p:spPr>
          <a:xfrm>
            <a:off x="960120" y="2926080"/>
            <a:ext cx="4178808" cy="475488"/>
          </a:xfrm>
          <a:prstGeom prst="rect">
            <a:avLst/>
          </a:prstGeom>
          <a:noFill/>
          <a:ln/>
        </p:spPr>
        <p:txBody>
          <a:bodyPr wrap="square" lIns="0" tIns="0" rIns="0" bIns="0" rtlCol="0" anchor="t"/>
          <a:lstStyle/>
          <a:p>
            <a:pPr indent="0" marL="0">
              <a:buNone/>
            </a:pPr>
            <a:r>
              <a:rPr lang="en-US" sz="650" dirty="0">
                <a:solidFill>
                  <a:srgbClr val="374151"/>
                </a:solidFill>
              </a:rPr>
              <a:t>Bulk VOD ingest of 30,000+ assets planned. Manual media ingest workflow for content team (non-bulk uploads). VOD replace/hide workaround in place as interim solution.</a:t>
            </a:r>
            <a:endParaRPr lang="en-US" sz="650" dirty="0"/>
          </a:p>
        </p:txBody>
      </p:sp>
      <p:sp>
        <p:nvSpPr>
          <p:cNvPr id="33" name="Shape 31"/>
          <p:cNvSpPr/>
          <p:nvPr/>
        </p:nvSpPr>
        <p:spPr>
          <a:xfrm>
            <a:off x="5230368" y="3076956"/>
            <a:ext cx="822960" cy="173736"/>
          </a:xfrm>
          <a:prstGeom prst="roundRect">
            <a:avLst>
              <a:gd name="adj" fmla="val 15789"/>
            </a:avLst>
          </a:prstGeom>
          <a:solidFill>
            <a:srgbClr val="1558A8"/>
          </a:solidFill>
          <a:ln w="12700">
            <a:solidFill>
              <a:srgbClr val="1558A8"/>
            </a:solidFill>
            <a:prstDash val="solid"/>
          </a:ln>
        </p:spPr>
      </p:sp>
      <p:sp>
        <p:nvSpPr>
          <p:cNvPr id="34" name="Text 32"/>
          <p:cNvSpPr/>
          <p:nvPr/>
        </p:nvSpPr>
        <p:spPr>
          <a:xfrm>
            <a:off x="5230368" y="3076956"/>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35" name="Shape 33"/>
          <p:cNvSpPr/>
          <p:nvPr/>
        </p:nvSpPr>
        <p:spPr>
          <a:xfrm>
            <a:off x="6236208" y="502920"/>
            <a:ext cx="6016752" cy="2926080"/>
          </a:xfrm>
          <a:prstGeom prst="rect">
            <a:avLst/>
          </a:prstGeom>
          <a:solidFill>
            <a:srgbClr val="FAFBFC"/>
          </a:solidFill>
          <a:ln w="9525">
            <a:solidFill>
              <a:srgbClr val="D1D5DB"/>
            </a:solidFill>
            <a:prstDash val="solid"/>
          </a:ln>
        </p:spPr>
      </p:sp>
      <p:sp>
        <p:nvSpPr>
          <p:cNvPr id="36" name="Shape 34"/>
          <p:cNvSpPr/>
          <p:nvPr/>
        </p:nvSpPr>
        <p:spPr>
          <a:xfrm>
            <a:off x="6236208" y="502920"/>
            <a:ext cx="6016752" cy="274320"/>
          </a:xfrm>
          <a:prstGeom prst="rect">
            <a:avLst/>
          </a:prstGeom>
          <a:solidFill>
            <a:srgbClr val="8ED973"/>
          </a:solidFill>
          <a:ln w="12700">
            <a:solidFill>
              <a:srgbClr val="8ED973"/>
            </a:solidFill>
            <a:prstDash val="solid"/>
          </a:ln>
        </p:spPr>
      </p:sp>
      <p:sp>
        <p:nvSpPr>
          <p:cNvPr id="37" name="Text 35"/>
          <p:cNvSpPr/>
          <p:nvPr/>
        </p:nvSpPr>
        <p:spPr>
          <a:xfrm>
            <a:off x="6345936" y="502920"/>
            <a:ext cx="5852160" cy="274320"/>
          </a:xfrm>
          <a:prstGeom prst="rect">
            <a:avLst/>
          </a:prstGeom>
          <a:noFill/>
          <a:ln/>
        </p:spPr>
        <p:txBody>
          <a:bodyPr wrap="square" lIns="0" tIns="0" rIns="0" bIns="0" rtlCol="0" anchor="ctr"/>
          <a:lstStyle/>
          <a:p>
            <a:pPr algn="l" indent="0" marL="0">
              <a:buNone/>
            </a:pPr>
            <a:r>
              <a:rPr lang="en-US" sz="900" b="1" dirty="0">
                <a:solidFill>
                  <a:srgbClr val="000000"/>
                </a:solidFill>
              </a:rPr>
              <a:t>Shared Infrastructure &amp; Dev Tooling</a:t>
            </a:r>
            <a:endParaRPr lang="en-US" sz="900" dirty="0"/>
          </a:p>
        </p:txBody>
      </p:sp>
      <p:sp>
        <p:nvSpPr>
          <p:cNvPr id="38" name="Shape 36"/>
          <p:cNvSpPr/>
          <p:nvPr/>
        </p:nvSpPr>
        <p:spPr>
          <a:xfrm>
            <a:off x="6236208" y="777240"/>
            <a:ext cx="6016752" cy="530352"/>
          </a:xfrm>
          <a:prstGeom prst="rect">
            <a:avLst/>
          </a:prstGeom>
          <a:solidFill>
            <a:srgbClr val="FFFFFF"/>
          </a:solidFill>
          <a:ln w="3175">
            <a:solidFill>
              <a:srgbClr val="E5E7EB"/>
            </a:solidFill>
            <a:prstDash val="solid"/>
          </a:ln>
        </p:spPr>
      </p:sp>
      <p:sp>
        <p:nvSpPr>
          <p:cNvPr id="39" name="Text 37"/>
          <p:cNvSpPr/>
          <p:nvPr/>
        </p:nvSpPr>
        <p:spPr>
          <a:xfrm>
            <a:off x="6309360" y="795528"/>
            <a:ext cx="777240" cy="493776"/>
          </a:xfrm>
          <a:prstGeom prst="rect">
            <a:avLst/>
          </a:prstGeom>
          <a:noFill/>
          <a:ln/>
        </p:spPr>
        <p:txBody>
          <a:bodyPr wrap="square" lIns="0" tIns="0" rIns="0" bIns="0" rtlCol="0" anchor="ctr"/>
          <a:lstStyle/>
          <a:p>
            <a:pPr indent="0" marL="0">
              <a:buNone/>
            </a:pPr>
            <a:r>
              <a:rPr lang="en-US" sz="750" b="1" dirty="0">
                <a:solidFill>
                  <a:srgbClr val="1F2937"/>
                </a:solidFill>
              </a:rPr>
              <a:t>Monitoring &amp; Error Tracking</a:t>
            </a:r>
            <a:endParaRPr lang="en-US" sz="750" dirty="0"/>
          </a:p>
        </p:txBody>
      </p:sp>
      <p:sp>
        <p:nvSpPr>
          <p:cNvPr id="40" name="Text 38"/>
          <p:cNvSpPr/>
          <p:nvPr/>
        </p:nvSpPr>
        <p:spPr>
          <a:xfrm>
            <a:off x="7104888" y="804672"/>
            <a:ext cx="4178808" cy="475488"/>
          </a:xfrm>
          <a:prstGeom prst="rect">
            <a:avLst/>
          </a:prstGeom>
          <a:noFill/>
          <a:ln/>
        </p:spPr>
        <p:txBody>
          <a:bodyPr wrap="square" lIns="0" tIns="0" rIns="0" bIns="0" rtlCol="0" anchor="t"/>
          <a:lstStyle/>
          <a:p>
            <a:pPr indent="0" marL="0">
              <a:buNone/>
            </a:pPr>
            <a:r>
              <a:rPr lang="en-US" sz="650" dirty="0">
                <a:solidFill>
                  <a:srgbClr val="374151"/>
                </a:solidFill>
              </a:rPr>
              <a:t>Added automatic tracking of what users do in the app (screens viewed, buttons tapped) and instant alerts when something breaks, so issues get caught and fixed faster instead of relying on user reports.</a:t>
            </a:r>
            <a:endParaRPr lang="en-US" sz="650" dirty="0"/>
          </a:p>
        </p:txBody>
      </p:sp>
      <p:sp>
        <p:nvSpPr>
          <p:cNvPr id="41" name="Shape 39"/>
          <p:cNvSpPr/>
          <p:nvPr/>
        </p:nvSpPr>
        <p:spPr>
          <a:xfrm>
            <a:off x="11375136" y="955548"/>
            <a:ext cx="822960" cy="173736"/>
          </a:xfrm>
          <a:prstGeom prst="roundRect">
            <a:avLst>
              <a:gd name="adj" fmla="val 15789"/>
            </a:avLst>
          </a:prstGeom>
          <a:solidFill>
            <a:srgbClr val="1558A8"/>
          </a:solidFill>
          <a:ln w="12700">
            <a:solidFill>
              <a:srgbClr val="1558A8"/>
            </a:solidFill>
            <a:prstDash val="solid"/>
          </a:ln>
        </p:spPr>
      </p:sp>
      <p:sp>
        <p:nvSpPr>
          <p:cNvPr id="42" name="Text 40"/>
          <p:cNvSpPr/>
          <p:nvPr/>
        </p:nvSpPr>
        <p:spPr>
          <a:xfrm>
            <a:off x="11375136" y="955548"/>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43" name="Shape 41"/>
          <p:cNvSpPr/>
          <p:nvPr/>
        </p:nvSpPr>
        <p:spPr>
          <a:xfrm>
            <a:off x="6236208" y="1307592"/>
            <a:ext cx="6016752" cy="0"/>
          </a:xfrm>
          <a:prstGeom prst="line">
            <a:avLst/>
          </a:prstGeom>
          <a:noFill/>
          <a:ln w="6350">
            <a:solidFill>
              <a:srgbClr val="E5E7EB"/>
            </a:solidFill>
            <a:prstDash val="solid"/>
          </a:ln>
        </p:spPr>
      </p:sp>
      <p:sp>
        <p:nvSpPr>
          <p:cNvPr id="44" name="Text 42"/>
          <p:cNvSpPr/>
          <p:nvPr/>
        </p:nvSpPr>
        <p:spPr>
          <a:xfrm>
            <a:off x="6309360" y="1325880"/>
            <a:ext cx="777240" cy="493776"/>
          </a:xfrm>
          <a:prstGeom prst="rect">
            <a:avLst/>
          </a:prstGeom>
          <a:noFill/>
          <a:ln/>
        </p:spPr>
        <p:txBody>
          <a:bodyPr wrap="square" lIns="0" tIns="0" rIns="0" bIns="0" rtlCol="0" anchor="ctr"/>
          <a:lstStyle/>
          <a:p>
            <a:pPr indent="0" marL="0">
              <a:buNone/>
            </a:pPr>
            <a:r>
              <a:rPr lang="en-US" sz="750" b="1" dirty="0">
                <a:solidFill>
                  <a:srgbClr val="1F2937"/>
                </a:solidFill>
              </a:rPr>
              <a:t>New Mobile App</a:t>
            </a:r>
            <a:endParaRPr lang="en-US" sz="750" dirty="0"/>
          </a:p>
        </p:txBody>
      </p:sp>
      <p:sp>
        <p:nvSpPr>
          <p:cNvPr id="45" name="Text 43"/>
          <p:cNvSpPr/>
          <p:nvPr/>
        </p:nvSpPr>
        <p:spPr>
          <a:xfrm>
            <a:off x="7104888" y="1335024"/>
            <a:ext cx="4178808" cy="475488"/>
          </a:xfrm>
          <a:prstGeom prst="rect">
            <a:avLst/>
          </a:prstGeom>
          <a:noFill/>
          <a:ln/>
        </p:spPr>
        <p:txBody>
          <a:bodyPr wrap="square" lIns="0" tIns="0" rIns="0" bIns="0" rtlCol="0" anchor="t"/>
          <a:lstStyle/>
          <a:p>
            <a:pPr indent="0" marL="0">
              <a:buNone/>
            </a:pPr>
            <a:r>
              <a:rPr lang="en-US" sz="650" dirty="0">
                <a:solidFill>
                  <a:srgbClr val="374151"/>
                </a:solidFill>
              </a:rPr>
              <a:t>Sign-in, sign-up, and TV-provider sign-in working on TestFlight (edge cases remain). Demo prep complete (app icons, splash screen, aligned iOS/Android playback). Focus: ACE data for new widget types, real schedule data, force-upgrade via AWS App Config.</a:t>
            </a:r>
            <a:endParaRPr lang="en-US" sz="650" dirty="0"/>
          </a:p>
        </p:txBody>
      </p:sp>
      <p:sp>
        <p:nvSpPr>
          <p:cNvPr id="46" name="Shape 44"/>
          <p:cNvSpPr/>
          <p:nvPr/>
        </p:nvSpPr>
        <p:spPr>
          <a:xfrm>
            <a:off x="11375136" y="1485900"/>
            <a:ext cx="822960" cy="173736"/>
          </a:xfrm>
          <a:prstGeom prst="roundRect">
            <a:avLst>
              <a:gd name="adj" fmla="val 15789"/>
            </a:avLst>
          </a:prstGeom>
          <a:solidFill>
            <a:srgbClr val="1558A8"/>
          </a:solidFill>
          <a:ln w="12700">
            <a:solidFill>
              <a:srgbClr val="1558A8"/>
            </a:solidFill>
            <a:prstDash val="solid"/>
          </a:ln>
        </p:spPr>
      </p:sp>
      <p:sp>
        <p:nvSpPr>
          <p:cNvPr id="47" name="Text 45"/>
          <p:cNvSpPr/>
          <p:nvPr/>
        </p:nvSpPr>
        <p:spPr>
          <a:xfrm>
            <a:off x="11375136" y="1485900"/>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48" name="Shape 46"/>
          <p:cNvSpPr/>
          <p:nvPr/>
        </p:nvSpPr>
        <p:spPr>
          <a:xfrm>
            <a:off x="6236208" y="1837944"/>
            <a:ext cx="6016752" cy="530352"/>
          </a:xfrm>
          <a:prstGeom prst="rect">
            <a:avLst/>
          </a:prstGeom>
          <a:solidFill>
            <a:srgbClr val="FFFFFF"/>
          </a:solidFill>
          <a:ln w="3175">
            <a:solidFill>
              <a:srgbClr val="E5E7EB"/>
            </a:solidFill>
            <a:prstDash val="solid"/>
          </a:ln>
        </p:spPr>
      </p:sp>
      <p:sp>
        <p:nvSpPr>
          <p:cNvPr id="49" name="Shape 47"/>
          <p:cNvSpPr/>
          <p:nvPr/>
        </p:nvSpPr>
        <p:spPr>
          <a:xfrm>
            <a:off x="6236208" y="1837944"/>
            <a:ext cx="6016752" cy="0"/>
          </a:xfrm>
          <a:prstGeom prst="line">
            <a:avLst/>
          </a:prstGeom>
          <a:noFill/>
          <a:ln w="6350">
            <a:solidFill>
              <a:srgbClr val="E5E7EB"/>
            </a:solidFill>
            <a:prstDash val="solid"/>
          </a:ln>
        </p:spPr>
      </p:sp>
      <p:sp>
        <p:nvSpPr>
          <p:cNvPr id="50" name="Text 48"/>
          <p:cNvSpPr/>
          <p:nvPr/>
        </p:nvSpPr>
        <p:spPr>
          <a:xfrm>
            <a:off x="6309360" y="1856232"/>
            <a:ext cx="777240" cy="493776"/>
          </a:xfrm>
          <a:prstGeom prst="rect">
            <a:avLst/>
          </a:prstGeom>
          <a:noFill/>
          <a:ln/>
        </p:spPr>
        <p:txBody>
          <a:bodyPr wrap="square" lIns="0" tIns="0" rIns="0" bIns="0" rtlCol="0" anchor="ctr"/>
          <a:lstStyle/>
          <a:p>
            <a:pPr indent="0" marL="0">
              <a:buNone/>
            </a:pPr>
            <a:r>
              <a:rPr lang="en-US" sz="750" b="1" dirty="0">
                <a:solidFill>
                  <a:srgbClr val="1F2937"/>
                </a:solidFill>
              </a:rPr>
              <a:t>New Website</a:t>
            </a:r>
            <a:endParaRPr lang="en-US" sz="750" dirty="0"/>
          </a:p>
        </p:txBody>
      </p:sp>
      <p:sp>
        <p:nvSpPr>
          <p:cNvPr id="51" name="Text 49"/>
          <p:cNvSpPr/>
          <p:nvPr/>
        </p:nvSpPr>
        <p:spPr>
          <a:xfrm>
            <a:off x="7104888" y="1865376"/>
            <a:ext cx="4178808" cy="475488"/>
          </a:xfrm>
          <a:prstGeom prst="rect">
            <a:avLst/>
          </a:prstGeom>
          <a:noFill/>
          <a:ln/>
        </p:spPr>
        <p:txBody>
          <a:bodyPr wrap="square" lIns="0" tIns="0" rIns="0" bIns="0" rtlCol="0" anchor="t"/>
          <a:lstStyle/>
          <a:p>
            <a:pPr indent="0" marL="0">
              <a:buNone/>
            </a:pPr>
            <a:r>
              <a:rPr lang="en-US" sz="650" dirty="0">
                <a:solidFill>
                  <a:srgbClr val="374151"/>
                </a:solidFill>
              </a:rPr>
              <a:t>Video player page and EPG layout in progress. P0 scope decision needed: EPG shows months of no-schedule data, tournament page ordering inconsistent, league logos fail contrast standards. Decision: no full rebuild — follow Tennis.com iterative pattern. UX change catalog being drafted for Foxxum coordination (Nov 1 TV cert deadline).</a:t>
            </a:r>
            <a:endParaRPr lang="en-US" sz="650" dirty="0"/>
          </a:p>
        </p:txBody>
      </p:sp>
      <p:sp>
        <p:nvSpPr>
          <p:cNvPr id="52" name="Shape 50"/>
          <p:cNvSpPr/>
          <p:nvPr/>
        </p:nvSpPr>
        <p:spPr>
          <a:xfrm>
            <a:off x="11375136" y="2016252"/>
            <a:ext cx="822960" cy="173736"/>
          </a:xfrm>
          <a:prstGeom prst="roundRect">
            <a:avLst>
              <a:gd name="adj" fmla="val 15789"/>
            </a:avLst>
          </a:prstGeom>
          <a:solidFill>
            <a:srgbClr val="1558A8"/>
          </a:solidFill>
          <a:ln w="12700">
            <a:solidFill>
              <a:srgbClr val="1558A8"/>
            </a:solidFill>
            <a:prstDash val="solid"/>
          </a:ln>
        </p:spPr>
      </p:sp>
      <p:sp>
        <p:nvSpPr>
          <p:cNvPr id="53" name="Text 51"/>
          <p:cNvSpPr/>
          <p:nvPr/>
        </p:nvSpPr>
        <p:spPr>
          <a:xfrm>
            <a:off x="11375136" y="2016252"/>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54" name="Shape 52"/>
          <p:cNvSpPr/>
          <p:nvPr/>
        </p:nvSpPr>
        <p:spPr>
          <a:xfrm>
            <a:off x="6236208" y="2368296"/>
            <a:ext cx="6016752" cy="0"/>
          </a:xfrm>
          <a:prstGeom prst="line">
            <a:avLst/>
          </a:prstGeom>
          <a:noFill/>
          <a:ln w="6350">
            <a:solidFill>
              <a:srgbClr val="E5E7EB"/>
            </a:solidFill>
            <a:prstDash val="solid"/>
          </a:ln>
        </p:spPr>
      </p:sp>
      <p:sp>
        <p:nvSpPr>
          <p:cNvPr id="55" name="Text 53"/>
          <p:cNvSpPr/>
          <p:nvPr/>
        </p:nvSpPr>
        <p:spPr>
          <a:xfrm>
            <a:off x="6309360" y="2386584"/>
            <a:ext cx="777240" cy="493776"/>
          </a:xfrm>
          <a:prstGeom prst="rect">
            <a:avLst/>
          </a:prstGeom>
          <a:noFill/>
          <a:ln/>
        </p:spPr>
        <p:txBody>
          <a:bodyPr wrap="square" lIns="0" tIns="0" rIns="0" bIns="0" rtlCol="0" anchor="ctr"/>
          <a:lstStyle/>
          <a:p>
            <a:pPr indent="0" marL="0">
              <a:buNone/>
            </a:pPr>
            <a:r>
              <a:rPr lang="en-US" sz="750" b="1" dirty="0">
                <a:solidFill>
                  <a:srgbClr val="1F2937"/>
                </a:solidFill>
              </a:rPr>
              <a:t>Hosting</a:t>
            </a:r>
            <a:endParaRPr lang="en-US" sz="750" dirty="0"/>
          </a:p>
        </p:txBody>
      </p:sp>
      <p:sp>
        <p:nvSpPr>
          <p:cNvPr id="56" name="Text 54"/>
          <p:cNvSpPr/>
          <p:nvPr/>
        </p:nvSpPr>
        <p:spPr>
          <a:xfrm>
            <a:off x="7104888" y="2395728"/>
            <a:ext cx="4178808" cy="475488"/>
          </a:xfrm>
          <a:prstGeom prst="rect">
            <a:avLst/>
          </a:prstGeom>
          <a:noFill/>
          <a:ln/>
        </p:spPr>
        <p:txBody>
          <a:bodyPr wrap="square" lIns="0" tIns="0" rIns="0" bIns="0" rtlCol="0" anchor="t"/>
          <a:lstStyle/>
          <a:p>
            <a:pPr indent="0" marL="0">
              <a:buNone/>
            </a:pPr>
            <a:r>
              <a:rPr lang="en-US" sz="650" dirty="0">
                <a:solidFill>
                  <a:srgbClr val="374151"/>
                </a:solidFill>
              </a:rPr>
              <a:t>Production DNS hosted zones migrating from Sinclair exports into TC's own AWS account. Expected to complete same day (7/15).</a:t>
            </a:r>
            <a:endParaRPr lang="en-US" sz="650" dirty="0"/>
          </a:p>
        </p:txBody>
      </p:sp>
      <p:sp>
        <p:nvSpPr>
          <p:cNvPr id="57" name="Shape 55"/>
          <p:cNvSpPr/>
          <p:nvPr/>
        </p:nvSpPr>
        <p:spPr>
          <a:xfrm>
            <a:off x="11375136" y="2546604"/>
            <a:ext cx="822960" cy="173736"/>
          </a:xfrm>
          <a:prstGeom prst="roundRect">
            <a:avLst>
              <a:gd name="adj" fmla="val 15789"/>
            </a:avLst>
          </a:prstGeom>
          <a:solidFill>
            <a:srgbClr val="CFFAFE"/>
          </a:solidFill>
          <a:ln w="12700">
            <a:solidFill>
              <a:srgbClr val="0E7490"/>
            </a:solidFill>
            <a:prstDash val="solid"/>
          </a:ln>
        </p:spPr>
      </p:sp>
      <p:sp>
        <p:nvSpPr>
          <p:cNvPr id="58" name="Text 56"/>
          <p:cNvSpPr/>
          <p:nvPr/>
        </p:nvSpPr>
        <p:spPr>
          <a:xfrm>
            <a:off x="11375136" y="2546604"/>
            <a:ext cx="822960" cy="173736"/>
          </a:xfrm>
          <a:prstGeom prst="rect">
            <a:avLst/>
          </a:prstGeom>
          <a:noFill/>
          <a:ln/>
        </p:spPr>
        <p:txBody>
          <a:bodyPr wrap="square" lIns="0" tIns="0" rIns="0" bIns="0" rtlCol="0" anchor="ctr"/>
          <a:lstStyle/>
          <a:p>
            <a:pPr algn="ctr" indent="0" marL="0">
              <a:buNone/>
            </a:pPr>
            <a:r>
              <a:rPr lang="en-US" sz="650" b="1" dirty="0">
                <a:solidFill>
                  <a:srgbClr val="0E7490"/>
                </a:solidFill>
              </a:rPr>
              <a:t>Contracted</a:t>
            </a:r>
            <a:endParaRPr lang="en-US" sz="650" dirty="0"/>
          </a:p>
        </p:txBody>
      </p:sp>
      <p:sp>
        <p:nvSpPr>
          <p:cNvPr id="59" name="Shape 57"/>
          <p:cNvSpPr/>
          <p:nvPr/>
        </p:nvSpPr>
        <p:spPr>
          <a:xfrm>
            <a:off x="6236208" y="2898648"/>
            <a:ext cx="6016752" cy="530352"/>
          </a:xfrm>
          <a:prstGeom prst="rect">
            <a:avLst/>
          </a:prstGeom>
          <a:solidFill>
            <a:srgbClr val="FFFFFF"/>
          </a:solidFill>
          <a:ln w="3175">
            <a:solidFill>
              <a:srgbClr val="E5E7EB"/>
            </a:solidFill>
            <a:prstDash val="solid"/>
          </a:ln>
        </p:spPr>
      </p:sp>
      <p:sp>
        <p:nvSpPr>
          <p:cNvPr id="60" name="Shape 58"/>
          <p:cNvSpPr/>
          <p:nvPr/>
        </p:nvSpPr>
        <p:spPr>
          <a:xfrm>
            <a:off x="6236208" y="2898648"/>
            <a:ext cx="6016752" cy="0"/>
          </a:xfrm>
          <a:prstGeom prst="line">
            <a:avLst/>
          </a:prstGeom>
          <a:noFill/>
          <a:ln w="6350">
            <a:solidFill>
              <a:srgbClr val="E5E7EB"/>
            </a:solidFill>
            <a:prstDash val="solid"/>
          </a:ln>
        </p:spPr>
      </p:sp>
      <p:sp>
        <p:nvSpPr>
          <p:cNvPr id="61" name="Text 59"/>
          <p:cNvSpPr/>
          <p:nvPr/>
        </p:nvSpPr>
        <p:spPr>
          <a:xfrm>
            <a:off x="6309360" y="2916936"/>
            <a:ext cx="777240" cy="493776"/>
          </a:xfrm>
          <a:prstGeom prst="rect">
            <a:avLst/>
          </a:prstGeom>
          <a:noFill/>
          <a:ln/>
        </p:spPr>
        <p:txBody>
          <a:bodyPr wrap="square" lIns="0" tIns="0" rIns="0" bIns="0" rtlCol="0" anchor="ctr"/>
          <a:lstStyle/>
          <a:p>
            <a:pPr indent="0" marL="0">
              <a:buNone/>
            </a:pPr>
            <a:r>
              <a:rPr lang="en-US" sz="750" b="1" dirty="0">
                <a:solidFill>
                  <a:srgbClr val="1F2937"/>
                </a:solidFill>
              </a:rPr>
              <a:t>Analytics Data Warehouse</a:t>
            </a:r>
            <a:endParaRPr lang="en-US" sz="750" dirty="0"/>
          </a:p>
        </p:txBody>
      </p:sp>
      <p:sp>
        <p:nvSpPr>
          <p:cNvPr id="62" name="Text 60"/>
          <p:cNvSpPr/>
          <p:nvPr/>
        </p:nvSpPr>
        <p:spPr>
          <a:xfrm>
            <a:off x="7104888" y="2926080"/>
            <a:ext cx="4178808" cy="475488"/>
          </a:xfrm>
          <a:prstGeom prst="rect">
            <a:avLst/>
          </a:prstGeom>
          <a:noFill/>
          <a:ln/>
        </p:spPr>
        <p:txBody>
          <a:bodyPr wrap="square" lIns="0" tIns="0" rIns="0" bIns="0" rtlCol="0" anchor="t"/>
          <a:lstStyle/>
          <a:p>
            <a:pPr indent="0" marL="0">
              <a:buNone/>
            </a:pPr>
            <a:r>
              <a:rPr lang="en-US" sz="650" dirty="0">
                <a:solidFill>
                  <a:srgbClr val="374151"/>
                </a:solidFill>
              </a:rPr>
              <a:t>Amplitude negotiating lower rate (~$50-60K/year, down from original quote). Sinclair running data-flow security review of Project SABR; Aditya, Aaron, Bobo to be added directly to that email thread.</a:t>
            </a:r>
            <a:endParaRPr lang="en-US" sz="650" dirty="0"/>
          </a:p>
        </p:txBody>
      </p:sp>
      <p:sp>
        <p:nvSpPr>
          <p:cNvPr id="63" name="Shape 61"/>
          <p:cNvSpPr/>
          <p:nvPr/>
        </p:nvSpPr>
        <p:spPr>
          <a:xfrm>
            <a:off x="11375136" y="3076956"/>
            <a:ext cx="822960" cy="173736"/>
          </a:xfrm>
          <a:prstGeom prst="roundRect">
            <a:avLst>
              <a:gd name="adj" fmla="val 15789"/>
            </a:avLst>
          </a:prstGeom>
          <a:solidFill>
            <a:srgbClr val="1558A8"/>
          </a:solidFill>
          <a:ln w="12700">
            <a:solidFill>
              <a:srgbClr val="1558A8"/>
            </a:solidFill>
            <a:prstDash val="solid"/>
          </a:ln>
        </p:spPr>
      </p:sp>
      <p:sp>
        <p:nvSpPr>
          <p:cNvPr id="64" name="Text 62"/>
          <p:cNvSpPr/>
          <p:nvPr/>
        </p:nvSpPr>
        <p:spPr>
          <a:xfrm>
            <a:off x="11375136" y="3076956"/>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65" name="Shape 63"/>
          <p:cNvSpPr/>
          <p:nvPr/>
        </p:nvSpPr>
        <p:spPr>
          <a:xfrm>
            <a:off x="91440" y="3502152"/>
            <a:ext cx="6016752" cy="3749040"/>
          </a:xfrm>
          <a:prstGeom prst="rect">
            <a:avLst/>
          </a:prstGeom>
          <a:solidFill>
            <a:srgbClr val="FAFBFC"/>
          </a:solidFill>
          <a:ln w="9525">
            <a:solidFill>
              <a:srgbClr val="D1D5DB"/>
            </a:solidFill>
            <a:prstDash val="solid"/>
          </a:ln>
        </p:spPr>
      </p:sp>
      <p:sp>
        <p:nvSpPr>
          <p:cNvPr id="66" name="Shape 64"/>
          <p:cNvSpPr/>
          <p:nvPr/>
        </p:nvSpPr>
        <p:spPr>
          <a:xfrm>
            <a:off x="91440" y="3502152"/>
            <a:ext cx="6016752" cy="274320"/>
          </a:xfrm>
          <a:prstGeom prst="rect">
            <a:avLst/>
          </a:prstGeom>
          <a:solidFill>
            <a:srgbClr val="8ED973"/>
          </a:solidFill>
          <a:ln w="12700">
            <a:solidFill>
              <a:srgbClr val="8ED973"/>
            </a:solidFill>
            <a:prstDash val="solid"/>
          </a:ln>
        </p:spPr>
      </p:sp>
      <p:sp>
        <p:nvSpPr>
          <p:cNvPr id="67" name="Text 65"/>
          <p:cNvSpPr/>
          <p:nvPr/>
        </p:nvSpPr>
        <p:spPr>
          <a:xfrm>
            <a:off x="201168" y="3502152"/>
            <a:ext cx="5852160" cy="274320"/>
          </a:xfrm>
          <a:prstGeom prst="rect">
            <a:avLst/>
          </a:prstGeom>
          <a:noFill/>
          <a:ln/>
        </p:spPr>
        <p:txBody>
          <a:bodyPr wrap="square" lIns="0" tIns="0" rIns="0" bIns="0" rtlCol="0" anchor="ctr"/>
          <a:lstStyle/>
          <a:p>
            <a:pPr algn="l" indent="0" marL="0">
              <a:buNone/>
            </a:pPr>
            <a:r>
              <a:rPr lang="en-US" sz="900" b="1" dirty="0">
                <a:solidFill>
                  <a:srgbClr val="000000"/>
                </a:solidFill>
              </a:rPr>
              <a:t>Partner / Platform Integrations</a:t>
            </a:r>
            <a:endParaRPr lang="en-US" sz="900" dirty="0"/>
          </a:p>
        </p:txBody>
      </p:sp>
      <p:sp>
        <p:nvSpPr>
          <p:cNvPr id="68" name="Shape 66"/>
          <p:cNvSpPr/>
          <p:nvPr/>
        </p:nvSpPr>
        <p:spPr>
          <a:xfrm>
            <a:off x="91440" y="3776472"/>
            <a:ext cx="6016752" cy="1158240"/>
          </a:xfrm>
          <a:prstGeom prst="rect">
            <a:avLst/>
          </a:prstGeom>
          <a:solidFill>
            <a:srgbClr val="FFFFFF"/>
          </a:solidFill>
          <a:ln w="3175">
            <a:solidFill>
              <a:srgbClr val="E5E7EB"/>
            </a:solidFill>
            <a:prstDash val="solid"/>
          </a:ln>
        </p:spPr>
      </p:sp>
      <p:sp>
        <p:nvSpPr>
          <p:cNvPr id="69" name="Text 67"/>
          <p:cNvSpPr/>
          <p:nvPr/>
        </p:nvSpPr>
        <p:spPr>
          <a:xfrm>
            <a:off x="164592" y="3794760"/>
            <a:ext cx="777240" cy="1121664"/>
          </a:xfrm>
          <a:prstGeom prst="rect">
            <a:avLst/>
          </a:prstGeom>
          <a:noFill/>
          <a:ln/>
        </p:spPr>
        <p:txBody>
          <a:bodyPr wrap="square" lIns="0" tIns="0" rIns="0" bIns="0" rtlCol="0" anchor="ctr"/>
          <a:lstStyle/>
          <a:p>
            <a:pPr indent="0" marL="0">
              <a:buNone/>
            </a:pPr>
            <a:r>
              <a:rPr lang="en-US" sz="750" b="1" dirty="0">
                <a:solidFill>
                  <a:srgbClr val="1F2937"/>
                </a:solidFill>
              </a:rPr>
              <a:t>MVPD</a:t>
            </a:r>
            <a:endParaRPr lang="en-US" sz="750" dirty="0"/>
          </a:p>
        </p:txBody>
      </p:sp>
      <p:sp>
        <p:nvSpPr>
          <p:cNvPr id="70" name="Text 68"/>
          <p:cNvSpPr/>
          <p:nvPr/>
        </p:nvSpPr>
        <p:spPr>
          <a:xfrm>
            <a:off x="960120" y="3803904"/>
            <a:ext cx="4178808" cy="1103376"/>
          </a:xfrm>
          <a:prstGeom prst="rect">
            <a:avLst/>
          </a:prstGeom>
          <a:noFill/>
          <a:ln/>
        </p:spPr>
        <p:txBody>
          <a:bodyPr wrap="square" lIns="0" tIns="0" rIns="0" bIns="0" rtlCol="0" anchor="t"/>
          <a:lstStyle/>
          <a:p>
            <a:pPr indent="0" marL="0">
              <a:buNone/>
            </a:pPr>
            <a:r>
              <a:rPr lang="en-US" sz="650" dirty="0">
                <a:solidFill>
                  <a:srgbClr val="374151"/>
                </a:solidFill>
              </a:rPr>
              <a:t>Login/logout working on web; in progress on mobile/TV. Open items: (1) AuthC error message standardization for Spectrum, (2) account swap/logout session clearing (Adobe-side fix, affects all except Hulu), (3) confirm signed session GUID as stable personalization identifier — Adobe to confirm. Adobe to provide TTL report by provider. TC coordinating proxy MVPD test accounts for partial-auth testing.</a:t>
            </a:r>
            <a:endParaRPr lang="en-US" sz="650" dirty="0"/>
          </a:p>
        </p:txBody>
      </p:sp>
      <p:sp>
        <p:nvSpPr>
          <p:cNvPr id="71" name="Shape 69"/>
          <p:cNvSpPr/>
          <p:nvPr/>
        </p:nvSpPr>
        <p:spPr>
          <a:xfrm>
            <a:off x="5230368" y="4268724"/>
            <a:ext cx="822960" cy="173736"/>
          </a:xfrm>
          <a:prstGeom prst="roundRect">
            <a:avLst>
              <a:gd name="adj" fmla="val 15789"/>
            </a:avLst>
          </a:prstGeom>
          <a:solidFill>
            <a:srgbClr val="F3F4F6"/>
          </a:solidFill>
          <a:ln w="9525">
            <a:solidFill>
              <a:srgbClr val="D1D5DB"/>
            </a:solidFill>
            <a:prstDash val="solid"/>
          </a:ln>
        </p:spPr>
      </p:sp>
      <p:sp>
        <p:nvSpPr>
          <p:cNvPr id="72" name="Text 70"/>
          <p:cNvSpPr/>
          <p:nvPr/>
        </p:nvSpPr>
        <p:spPr>
          <a:xfrm>
            <a:off x="5230368" y="4268724"/>
            <a:ext cx="822960" cy="173736"/>
          </a:xfrm>
          <a:prstGeom prst="rect">
            <a:avLst/>
          </a:prstGeom>
          <a:noFill/>
          <a:ln/>
        </p:spPr>
        <p:txBody>
          <a:bodyPr wrap="square" lIns="0" tIns="0" rIns="0" bIns="0" rtlCol="0" anchor="ctr"/>
          <a:lstStyle/>
          <a:p>
            <a:pPr algn="ctr" indent="0" marL="0">
              <a:buNone/>
            </a:pPr>
            <a:r>
              <a:rPr lang="en-US" sz="650" b="1" dirty="0">
                <a:solidFill>
                  <a:srgbClr val="374151"/>
                </a:solidFill>
              </a:rPr>
              <a:t>Complete</a:t>
            </a:r>
            <a:endParaRPr lang="en-US" sz="650" dirty="0"/>
          </a:p>
        </p:txBody>
      </p:sp>
      <p:sp>
        <p:nvSpPr>
          <p:cNvPr id="73" name="Shape 71"/>
          <p:cNvSpPr/>
          <p:nvPr/>
        </p:nvSpPr>
        <p:spPr>
          <a:xfrm>
            <a:off x="91440" y="4934712"/>
            <a:ext cx="6016752" cy="0"/>
          </a:xfrm>
          <a:prstGeom prst="line">
            <a:avLst/>
          </a:prstGeom>
          <a:noFill/>
          <a:ln w="6350">
            <a:solidFill>
              <a:srgbClr val="E5E7EB"/>
            </a:solidFill>
            <a:prstDash val="solid"/>
          </a:ln>
        </p:spPr>
      </p:sp>
      <p:sp>
        <p:nvSpPr>
          <p:cNvPr id="74" name="Text 72"/>
          <p:cNvSpPr/>
          <p:nvPr/>
        </p:nvSpPr>
        <p:spPr>
          <a:xfrm>
            <a:off x="164592" y="4953000"/>
            <a:ext cx="777240" cy="1121664"/>
          </a:xfrm>
          <a:prstGeom prst="rect">
            <a:avLst/>
          </a:prstGeom>
          <a:noFill/>
          <a:ln/>
        </p:spPr>
        <p:txBody>
          <a:bodyPr wrap="square" lIns="0" tIns="0" rIns="0" bIns="0" rtlCol="0" anchor="ctr"/>
          <a:lstStyle/>
          <a:p>
            <a:pPr indent="0" marL="0">
              <a:buNone/>
            </a:pPr>
            <a:r>
              <a:rPr lang="en-US" sz="750" b="1" dirty="0">
                <a:solidFill>
                  <a:srgbClr val="1F2937"/>
                </a:solidFill>
              </a:rPr>
              <a:t>DRM</a:t>
            </a:r>
            <a:endParaRPr lang="en-US" sz="750" dirty="0"/>
          </a:p>
        </p:txBody>
      </p:sp>
      <p:sp>
        <p:nvSpPr>
          <p:cNvPr id="75" name="Text 73"/>
          <p:cNvSpPr/>
          <p:nvPr/>
        </p:nvSpPr>
        <p:spPr>
          <a:xfrm>
            <a:off x="960120" y="4962144"/>
            <a:ext cx="4178808" cy="1103376"/>
          </a:xfrm>
          <a:prstGeom prst="rect">
            <a:avLst/>
          </a:prstGeom>
          <a:noFill/>
          <a:ln/>
        </p:spPr>
        <p:txBody>
          <a:bodyPr wrap="square" lIns="0" tIns="0" rIns="0" bIns="0" rtlCol="0" anchor="t"/>
          <a:lstStyle/>
          <a:p>
            <a:pPr indent="0" marL="0">
              <a:buNone/>
            </a:pPr>
            <a:r>
              <a:rPr lang="en-US" sz="650" dirty="0">
                <a:solidFill>
                  <a:srgbClr val="374151"/>
                </a:solidFill>
              </a:rPr>
              <a:t>Dedicated DRM auth service launched, with license flows stubbed for FairPlay, Widevine, and PlayReady, and handed off to Amagi for EZDRM integration testing.</a:t>
            </a:r>
            <a:endParaRPr lang="en-US" sz="650" dirty="0"/>
          </a:p>
        </p:txBody>
      </p:sp>
      <p:sp>
        <p:nvSpPr>
          <p:cNvPr id="76" name="Shape 74"/>
          <p:cNvSpPr/>
          <p:nvPr/>
        </p:nvSpPr>
        <p:spPr>
          <a:xfrm>
            <a:off x="5230368" y="5426964"/>
            <a:ext cx="822960" cy="173736"/>
          </a:xfrm>
          <a:prstGeom prst="roundRect">
            <a:avLst>
              <a:gd name="adj" fmla="val 15789"/>
            </a:avLst>
          </a:prstGeom>
          <a:solidFill>
            <a:srgbClr val="1558A8"/>
          </a:solidFill>
          <a:ln w="12700">
            <a:solidFill>
              <a:srgbClr val="1558A8"/>
            </a:solidFill>
            <a:prstDash val="solid"/>
          </a:ln>
        </p:spPr>
      </p:sp>
      <p:sp>
        <p:nvSpPr>
          <p:cNvPr id="77" name="Text 75"/>
          <p:cNvSpPr/>
          <p:nvPr/>
        </p:nvSpPr>
        <p:spPr>
          <a:xfrm>
            <a:off x="5230368" y="5426964"/>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78" name="Shape 76"/>
          <p:cNvSpPr/>
          <p:nvPr/>
        </p:nvSpPr>
        <p:spPr>
          <a:xfrm>
            <a:off x="91440" y="6092952"/>
            <a:ext cx="6016752" cy="1158240"/>
          </a:xfrm>
          <a:prstGeom prst="rect">
            <a:avLst/>
          </a:prstGeom>
          <a:solidFill>
            <a:srgbClr val="FFFFFF"/>
          </a:solidFill>
          <a:ln w="3175">
            <a:solidFill>
              <a:srgbClr val="E5E7EB"/>
            </a:solidFill>
            <a:prstDash val="solid"/>
          </a:ln>
        </p:spPr>
      </p:sp>
      <p:sp>
        <p:nvSpPr>
          <p:cNvPr id="79" name="Shape 77"/>
          <p:cNvSpPr/>
          <p:nvPr/>
        </p:nvSpPr>
        <p:spPr>
          <a:xfrm>
            <a:off x="91440" y="6092952"/>
            <a:ext cx="6016752" cy="0"/>
          </a:xfrm>
          <a:prstGeom prst="line">
            <a:avLst/>
          </a:prstGeom>
          <a:noFill/>
          <a:ln w="6350">
            <a:solidFill>
              <a:srgbClr val="E5E7EB"/>
            </a:solidFill>
            <a:prstDash val="solid"/>
          </a:ln>
        </p:spPr>
      </p:sp>
      <p:sp>
        <p:nvSpPr>
          <p:cNvPr id="80" name="Text 78"/>
          <p:cNvSpPr/>
          <p:nvPr/>
        </p:nvSpPr>
        <p:spPr>
          <a:xfrm>
            <a:off x="164592" y="6111240"/>
            <a:ext cx="777240" cy="1121664"/>
          </a:xfrm>
          <a:prstGeom prst="rect">
            <a:avLst/>
          </a:prstGeom>
          <a:noFill/>
          <a:ln/>
        </p:spPr>
        <p:txBody>
          <a:bodyPr wrap="square" lIns="0" tIns="0" rIns="0" bIns="0" rtlCol="0" anchor="ctr"/>
          <a:lstStyle/>
          <a:p>
            <a:pPr indent="0" marL="0">
              <a:buNone/>
            </a:pPr>
            <a:r>
              <a:rPr lang="en-US" sz="750" b="1" dirty="0">
                <a:solidFill>
                  <a:srgbClr val="1F2937"/>
                </a:solidFill>
              </a:rPr>
              <a:t>FOXXUM</a:t>
            </a:r>
            <a:endParaRPr lang="en-US" sz="750" dirty="0"/>
          </a:p>
        </p:txBody>
      </p:sp>
      <p:sp>
        <p:nvSpPr>
          <p:cNvPr id="81" name="Text 79"/>
          <p:cNvSpPr/>
          <p:nvPr/>
        </p:nvSpPr>
        <p:spPr>
          <a:xfrm>
            <a:off x="960120" y="6120384"/>
            <a:ext cx="4178808" cy="1103376"/>
          </a:xfrm>
          <a:prstGeom prst="rect">
            <a:avLst/>
          </a:prstGeom>
          <a:noFill/>
          <a:ln/>
        </p:spPr>
        <p:txBody>
          <a:bodyPr wrap="square" lIns="0" tIns="0" rIns="0" bIns="0" rtlCol="0" anchor="t"/>
          <a:lstStyle/>
          <a:p>
            <a:pPr indent="0" marL="0">
              <a:buNone/>
            </a:pPr>
            <a:r>
              <a:rPr lang="en-US" sz="650" dirty="0">
                <a:solidFill>
                  <a:srgbClr val="374151"/>
                </a:solidFill>
              </a:rPr>
              <a:t>Integration packet produced and workshop collaboration ongoing with Foxxum; no schema-stability specifics called out in this update.</a:t>
            </a:r>
            <a:endParaRPr lang="en-US" sz="650" dirty="0"/>
          </a:p>
        </p:txBody>
      </p:sp>
      <p:sp>
        <p:nvSpPr>
          <p:cNvPr id="82" name="Shape 80"/>
          <p:cNvSpPr/>
          <p:nvPr/>
        </p:nvSpPr>
        <p:spPr>
          <a:xfrm>
            <a:off x="5230368" y="6585204"/>
            <a:ext cx="822960" cy="173736"/>
          </a:xfrm>
          <a:prstGeom prst="roundRect">
            <a:avLst>
              <a:gd name="adj" fmla="val 15789"/>
            </a:avLst>
          </a:prstGeom>
          <a:solidFill>
            <a:srgbClr val="1558A8"/>
          </a:solidFill>
          <a:ln w="12700">
            <a:solidFill>
              <a:srgbClr val="1558A8"/>
            </a:solidFill>
            <a:prstDash val="solid"/>
          </a:ln>
        </p:spPr>
      </p:sp>
      <p:sp>
        <p:nvSpPr>
          <p:cNvPr id="83" name="Text 81"/>
          <p:cNvSpPr/>
          <p:nvPr/>
        </p:nvSpPr>
        <p:spPr>
          <a:xfrm>
            <a:off x="5230368" y="6585204"/>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84" name="Shape 82"/>
          <p:cNvSpPr/>
          <p:nvPr/>
        </p:nvSpPr>
        <p:spPr>
          <a:xfrm>
            <a:off x="6236208" y="3502152"/>
            <a:ext cx="6016752" cy="3749040"/>
          </a:xfrm>
          <a:prstGeom prst="rect">
            <a:avLst/>
          </a:prstGeom>
          <a:solidFill>
            <a:srgbClr val="FAFBFC"/>
          </a:solidFill>
          <a:ln w="9525">
            <a:solidFill>
              <a:srgbClr val="D1D5DB"/>
            </a:solidFill>
            <a:prstDash val="solid"/>
          </a:ln>
        </p:spPr>
      </p:sp>
      <p:sp>
        <p:nvSpPr>
          <p:cNvPr id="85" name="Shape 83"/>
          <p:cNvSpPr/>
          <p:nvPr/>
        </p:nvSpPr>
        <p:spPr>
          <a:xfrm>
            <a:off x="6236208" y="3502152"/>
            <a:ext cx="6016752" cy="274320"/>
          </a:xfrm>
          <a:prstGeom prst="rect">
            <a:avLst/>
          </a:prstGeom>
          <a:solidFill>
            <a:srgbClr val="8ED973"/>
          </a:solidFill>
          <a:ln w="12700">
            <a:solidFill>
              <a:srgbClr val="8ED973"/>
            </a:solidFill>
            <a:prstDash val="solid"/>
          </a:ln>
        </p:spPr>
      </p:sp>
      <p:sp>
        <p:nvSpPr>
          <p:cNvPr id="86" name="Text 84"/>
          <p:cNvSpPr/>
          <p:nvPr/>
        </p:nvSpPr>
        <p:spPr>
          <a:xfrm>
            <a:off x="6345936" y="3502152"/>
            <a:ext cx="5852160" cy="274320"/>
          </a:xfrm>
          <a:prstGeom prst="rect">
            <a:avLst/>
          </a:prstGeom>
          <a:noFill/>
          <a:ln/>
        </p:spPr>
        <p:txBody>
          <a:bodyPr wrap="square" lIns="0" tIns="0" rIns="0" bIns="0" rtlCol="0" anchor="ctr"/>
          <a:lstStyle/>
          <a:p>
            <a:pPr algn="l" indent="0" marL="0">
              <a:buNone/>
            </a:pPr>
            <a:r>
              <a:rPr lang="en-US" sz="900" b="1" dirty="0">
                <a:solidFill>
                  <a:srgbClr val="000000"/>
                </a:solidFill>
              </a:rPr>
              <a:t>Platform Capabilities</a:t>
            </a:r>
            <a:endParaRPr lang="en-US" sz="900" dirty="0"/>
          </a:p>
        </p:txBody>
      </p:sp>
      <p:sp>
        <p:nvSpPr>
          <p:cNvPr id="87" name="Shape 85"/>
          <p:cNvSpPr/>
          <p:nvPr/>
        </p:nvSpPr>
        <p:spPr>
          <a:xfrm>
            <a:off x="6236208" y="3776472"/>
            <a:ext cx="6016752" cy="868680"/>
          </a:xfrm>
          <a:prstGeom prst="rect">
            <a:avLst/>
          </a:prstGeom>
          <a:solidFill>
            <a:srgbClr val="FFFFFF"/>
          </a:solidFill>
          <a:ln w="3175">
            <a:solidFill>
              <a:srgbClr val="E5E7EB"/>
            </a:solidFill>
            <a:prstDash val="solid"/>
          </a:ln>
        </p:spPr>
      </p:sp>
      <p:sp>
        <p:nvSpPr>
          <p:cNvPr id="88" name="Text 86"/>
          <p:cNvSpPr/>
          <p:nvPr/>
        </p:nvSpPr>
        <p:spPr>
          <a:xfrm>
            <a:off x="6309360" y="3794760"/>
            <a:ext cx="777240" cy="832104"/>
          </a:xfrm>
          <a:prstGeom prst="rect">
            <a:avLst/>
          </a:prstGeom>
          <a:noFill/>
          <a:ln/>
        </p:spPr>
        <p:txBody>
          <a:bodyPr wrap="square" lIns="0" tIns="0" rIns="0" bIns="0" rtlCol="0" anchor="ctr"/>
          <a:lstStyle/>
          <a:p>
            <a:pPr indent="0" marL="0">
              <a:buNone/>
            </a:pPr>
            <a:r>
              <a:rPr lang="en-US" sz="750" b="1" dirty="0">
                <a:solidFill>
                  <a:srgbClr val="1F2937"/>
                </a:solidFill>
              </a:rPr>
              <a:t>Platform POC</a:t>
            </a:r>
            <a:endParaRPr lang="en-US" sz="750" dirty="0"/>
          </a:p>
        </p:txBody>
      </p:sp>
      <p:sp>
        <p:nvSpPr>
          <p:cNvPr id="89" name="Text 87"/>
          <p:cNvSpPr/>
          <p:nvPr/>
        </p:nvSpPr>
        <p:spPr>
          <a:xfrm>
            <a:off x="7104888" y="3803904"/>
            <a:ext cx="4178808" cy="813816"/>
          </a:xfrm>
          <a:prstGeom prst="rect">
            <a:avLst/>
          </a:prstGeom>
          <a:noFill/>
          <a:ln/>
        </p:spPr>
        <p:txBody>
          <a:bodyPr wrap="square" lIns="0" tIns="0" rIns="0" bIns="0" rtlCol="0" anchor="t"/>
          <a:lstStyle/>
          <a:p>
            <a:pPr indent="0" marL="0">
              <a:buNone/>
            </a:pPr>
            <a:r>
              <a:rPr lang="en-US" sz="650" dirty="0">
                <a:solidFill>
                  <a:srgbClr val="374151"/>
                </a:solidFill>
              </a:rPr>
              <a:t>Mobile login gate placeholder: first login gate for anonymous viewers built with placeholder UI ahead of the real Auth0 flow. Entitlement simulator: mobile tool simulating any account state to test flows.</a:t>
            </a:r>
            <a:endParaRPr lang="en-US" sz="650" dirty="0"/>
          </a:p>
        </p:txBody>
      </p:sp>
      <p:sp>
        <p:nvSpPr>
          <p:cNvPr id="90" name="Shape 88"/>
          <p:cNvSpPr/>
          <p:nvPr/>
        </p:nvSpPr>
        <p:spPr>
          <a:xfrm>
            <a:off x="11375136" y="4123944"/>
            <a:ext cx="822960" cy="173736"/>
          </a:xfrm>
          <a:prstGeom prst="roundRect">
            <a:avLst>
              <a:gd name="adj" fmla="val 15789"/>
            </a:avLst>
          </a:prstGeom>
          <a:solidFill>
            <a:srgbClr val="F3F4F6"/>
          </a:solidFill>
          <a:ln w="9525">
            <a:solidFill>
              <a:srgbClr val="D1D5DB"/>
            </a:solidFill>
            <a:prstDash val="solid"/>
          </a:ln>
        </p:spPr>
      </p:sp>
      <p:sp>
        <p:nvSpPr>
          <p:cNvPr id="91" name="Text 89"/>
          <p:cNvSpPr/>
          <p:nvPr/>
        </p:nvSpPr>
        <p:spPr>
          <a:xfrm>
            <a:off x="11375136" y="4123944"/>
            <a:ext cx="822960" cy="173736"/>
          </a:xfrm>
          <a:prstGeom prst="rect">
            <a:avLst/>
          </a:prstGeom>
          <a:noFill/>
          <a:ln/>
        </p:spPr>
        <p:txBody>
          <a:bodyPr wrap="square" lIns="0" tIns="0" rIns="0" bIns="0" rtlCol="0" anchor="ctr"/>
          <a:lstStyle/>
          <a:p>
            <a:pPr algn="ctr" indent="0" marL="0">
              <a:buNone/>
            </a:pPr>
            <a:r>
              <a:rPr lang="en-US" sz="650" b="1" dirty="0">
                <a:solidFill>
                  <a:srgbClr val="374151"/>
                </a:solidFill>
              </a:rPr>
              <a:t>Complete</a:t>
            </a:r>
            <a:endParaRPr lang="en-US" sz="650" dirty="0"/>
          </a:p>
        </p:txBody>
      </p:sp>
      <p:sp>
        <p:nvSpPr>
          <p:cNvPr id="92" name="Shape 90"/>
          <p:cNvSpPr/>
          <p:nvPr/>
        </p:nvSpPr>
        <p:spPr>
          <a:xfrm>
            <a:off x="6236208" y="4645152"/>
            <a:ext cx="6016752" cy="0"/>
          </a:xfrm>
          <a:prstGeom prst="line">
            <a:avLst/>
          </a:prstGeom>
          <a:noFill/>
          <a:ln w="6350">
            <a:solidFill>
              <a:srgbClr val="E5E7EB"/>
            </a:solidFill>
            <a:prstDash val="solid"/>
          </a:ln>
        </p:spPr>
      </p:sp>
      <p:sp>
        <p:nvSpPr>
          <p:cNvPr id="93" name="Text 91"/>
          <p:cNvSpPr/>
          <p:nvPr/>
        </p:nvSpPr>
        <p:spPr>
          <a:xfrm>
            <a:off x="6309360" y="4663440"/>
            <a:ext cx="777240" cy="832104"/>
          </a:xfrm>
          <a:prstGeom prst="rect">
            <a:avLst/>
          </a:prstGeom>
          <a:noFill/>
          <a:ln/>
        </p:spPr>
        <p:txBody>
          <a:bodyPr wrap="square" lIns="0" tIns="0" rIns="0" bIns="0" rtlCol="0" anchor="ctr"/>
          <a:lstStyle/>
          <a:p>
            <a:pPr indent="0" marL="0">
              <a:buNone/>
            </a:pPr>
            <a:r>
              <a:rPr lang="en-US" sz="750" b="1" dirty="0">
                <a:solidFill>
                  <a:srgbClr val="1F2937"/>
                </a:solidFill>
              </a:rPr>
              <a:t>UI/UX</a:t>
            </a:r>
            <a:endParaRPr lang="en-US" sz="750" dirty="0"/>
          </a:p>
        </p:txBody>
      </p:sp>
      <p:sp>
        <p:nvSpPr>
          <p:cNvPr id="94" name="Text 92"/>
          <p:cNvSpPr/>
          <p:nvPr/>
        </p:nvSpPr>
        <p:spPr>
          <a:xfrm>
            <a:off x="7104888" y="4672584"/>
            <a:ext cx="4178808" cy="813816"/>
          </a:xfrm>
          <a:prstGeom prst="rect">
            <a:avLst/>
          </a:prstGeom>
          <a:noFill/>
          <a:ln/>
        </p:spPr>
        <p:txBody>
          <a:bodyPr wrap="square" lIns="0" tIns="0" rIns="0" bIns="0" rtlCol="0" anchor="t"/>
          <a:lstStyle/>
          <a:p>
            <a:pPr indent="0" marL="0">
              <a:buNone/>
            </a:pPr>
            <a:r>
              <a:rPr lang="en-US" sz="650" dirty="0">
                <a:solidFill>
                  <a:srgbClr val="374151"/>
                </a:solidFill>
              </a:rPr>
              <a:t>Built the front-end foundation (design system, left sidebar navigation, footer, and page shell). Built the page engine and styled the merchandising carousels.</a:t>
            </a:r>
            <a:endParaRPr lang="en-US" sz="650" dirty="0"/>
          </a:p>
        </p:txBody>
      </p:sp>
      <p:sp>
        <p:nvSpPr>
          <p:cNvPr id="95" name="Shape 93"/>
          <p:cNvSpPr/>
          <p:nvPr/>
        </p:nvSpPr>
        <p:spPr>
          <a:xfrm>
            <a:off x="11375136" y="4992624"/>
            <a:ext cx="822960" cy="173736"/>
          </a:xfrm>
          <a:prstGeom prst="roundRect">
            <a:avLst>
              <a:gd name="adj" fmla="val 15789"/>
            </a:avLst>
          </a:prstGeom>
          <a:solidFill>
            <a:srgbClr val="1558A8"/>
          </a:solidFill>
          <a:ln w="12700">
            <a:solidFill>
              <a:srgbClr val="1558A8"/>
            </a:solidFill>
            <a:prstDash val="solid"/>
          </a:ln>
        </p:spPr>
      </p:sp>
      <p:sp>
        <p:nvSpPr>
          <p:cNvPr id="96" name="Text 94"/>
          <p:cNvSpPr/>
          <p:nvPr/>
        </p:nvSpPr>
        <p:spPr>
          <a:xfrm>
            <a:off x="11375136" y="4992624"/>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97" name="Shape 95"/>
          <p:cNvSpPr/>
          <p:nvPr/>
        </p:nvSpPr>
        <p:spPr>
          <a:xfrm>
            <a:off x="6236208" y="5513832"/>
            <a:ext cx="6016752" cy="868680"/>
          </a:xfrm>
          <a:prstGeom prst="rect">
            <a:avLst/>
          </a:prstGeom>
          <a:solidFill>
            <a:srgbClr val="FFFFFF"/>
          </a:solidFill>
          <a:ln w="3175">
            <a:solidFill>
              <a:srgbClr val="E5E7EB"/>
            </a:solidFill>
            <a:prstDash val="solid"/>
          </a:ln>
        </p:spPr>
      </p:sp>
      <p:sp>
        <p:nvSpPr>
          <p:cNvPr id="98" name="Shape 96"/>
          <p:cNvSpPr/>
          <p:nvPr/>
        </p:nvSpPr>
        <p:spPr>
          <a:xfrm>
            <a:off x="6236208" y="5513832"/>
            <a:ext cx="6016752" cy="0"/>
          </a:xfrm>
          <a:prstGeom prst="line">
            <a:avLst/>
          </a:prstGeom>
          <a:noFill/>
          <a:ln w="6350">
            <a:solidFill>
              <a:srgbClr val="E5E7EB"/>
            </a:solidFill>
            <a:prstDash val="solid"/>
          </a:ln>
        </p:spPr>
      </p:sp>
      <p:sp>
        <p:nvSpPr>
          <p:cNvPr id="99" name="Text 97"/>
          <p:cNvSpPr/>
          <p:nvPr/>
        </p:nvSpPr>
        <p:spPr>
          <a:xfrm>
            <a:off x="6309360" y="5532120"/>
            <a:ext cx="777240" cy="832104"/>
          </a:xfrm>
          <a:prstGeom prst="rect">
            <a:avLst/>
          </a:prstGeom>
          <a:noFill/>
          <a:ln/>
        </p:spPr>
        <p:txBody>
          <a:bodyPr wrap="square" lIns="0" tIns="0" rIns="0" bIns="0" rtlCol="0" anchor="ctr"/>
          <a:lstStyle/>
          <a:p>
            <a:pPr indent="0" marL="0">
              <a:buNone/>
            </a:pPr>
            <a:r>
              <a:rPr lang="en-US" sz="750" b="1" dirty="0">
                <a:solidFill>
                  <a:srgbClr val="1F2937"/>
                </a:solidFill>
              </a:rPr>
              <a:t>Video Player</a:t>
            </a:r>
            <a:endParaRPr lang="en-US" sz="750" dirty="0"/>
          </a:p>
        </p:txBody>
      </p:sp>
      <p:sp>
        <p:nvSpPr>
          <p:cNvPr id="100" name="Text 98"/>
          <p:cNvSpPr/>
          <p:nvPr/>
        </p:nvSpPr>
        <p:spPr>
          <a:xfrm>
            <a:off x="7104888" y="5541264"/>
            <a:ext cx="4178808" cy="813816"/>
          </a:xfrm>
          <a:prstGeom prst="rect">
            <a:avLst/>
          </a:prstGeom>
          <a:noFill/>
          <a:ln/>
        </p:spPr>
        <p:txBody>
          <a:bodyPr wrap="square" lIns="0" tIns="0" rIns="0" bIns="0" rtlCol="0" anchor="t"/>
          <a:lstStyle/>
          <a:p>
            <a:pPr indent="0" marL="0">
              <a:buNone/>
            </a:pPr>
            <a:r>
              <a:rPr lang="en-US" sz="650" dirty="0">
                <a:solidFill>
                  <a:srgbClr val="374151"/>
                </a:solidFill>
              </a:rPr>
              <a:t>Video player page features in progress. BitMovin player SDK integration underway (moved beyond initial POC). BitMovin contract now signed.</a:t>
            </a:r>
            <a:endParaRPr lang="en-US" sz="650" dirty="0"/>
          </a:p>
        </p:txBody>
      </p:sp>
      <p:sp>
        <p:nvSpPr>
          <p:cNvPr id="101" name="Shape 99"/>
          <p:cNvSpPr/>
          <p:nvPr/>
        </p:nvSpPr>
        <p:spPr>
          <a:xfrm>
            <a:off x="11375136" y="5861304"/>
            <a:ext cx="822960" cy="173736"/>
          </a:xfrm>
          <a:prstGeom prst="roundRect">
            <a:avLst>
              <a:gd name="adj" fmla="val 15789"/>
            </a:avLst>
          </a:prstGeom>
          <a:solidFill>
            <a:srgbClr val="1558A8"/>
          </a:solidFill>
          <a:ln w="12700">
            <a:solidFill>
              <a:srgbClr val="1558A8"/>
            </a:solidFill>
            <a:prstDash val="solid"/>
          </a:ln>
        </p:spPr>
      </p:sp>
      <p:sp>
        <p:nvSpPr>
          <p:cNvPr id="102" name="Text 100"/>
          <p:cNvSpPr/>
          <p:nvPr/>
        </p:nvSpPr>
        <p:spPr>
          <a:xfrm>
            <a:off x="11375136" y="5861304"/>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103" name="Shape 101"/>
          <p:cNvSpPr/>
          <p:nvPr/>
        </p:nvSpPr>
        <p:spPr>
          <a:xfrm>
            <a:off x="6236208" y="6382512"/>
            <a:ext cx="6016752" cy="0"/>
          </a:xfrm>
          <a:prstGeom prst="line">
            <a:avLst/>
          </a:prstGeom>
          <a:noFill/>
          <a:ln w="6350">
            <a:solidFill>
              <a:srgbClr val="E5E7EB"/>
            </a:solidFill>
            <a:prstDash val="solid"/>
          </a:ln>
        </p:spPr>
      </p:sp>
      <p:sp>
        <p:nvSpPr>
          <p:cNvPr id="104" name="Text 102"/>
          <p:cNvSpPr/>
          <p:nvPr/>
        </p:nvSpPr>
        <p:spPr>
          <a:xfrm>
            <a:off x="6309360" y="6400800"/>
            <a:ext cx="777240" cy="832104"/>
          </a:xfrm>
          <a:prstGeom prst="rect">
            <a:avLst/>
          </a:prstGeom>
          <a:noFill/>
          <a:ln/>
        </p:spPr>
        <p:txBody>
          <a:bodyPr wrap="square" lIns="0" tIns="0" rIns="0" bIns="0" rtlCol="0" anchor="ctr"/>
          <a:lstStyle/>
          <a:p>
            <a:pPr indent="0" marL="0">
              <a:buNone/>
            </a:pPr>
            <a:r>
              <a:rPr lang="en-US" sz="750" b="1" dirty="0">
                <a:solidFill>
                  <a:srgbClr val="1F2937"/>
                </a:solidFill>
              </a:rPr>
              <a:t>Testing</a:t>
            </a:r>
            <a:endParaRPr lang="en-US" sz="750" dirty="0"/>
          </a:p>
        </p:txBody>
      </p:sp>
      <p:sp>
        <p:nvSpPr>
          <p:cNvPr id="105" name="Text 103"/>
          <p:cNvSpPr/>
          <p:nvPr/>
        </p:nvSpPr>
        <p:spPr>
          <a:xfrm>
            <a:off x="7104888" y="6409944"/>
            <a:ext cx="4178808" cy="813816"/>
          </a:xfrm>
          <a:prstGeom prst="rect">
            <a:avLst/>
          </a:prstGeom>
          <a:noFill/>
          <a:ln/>
        </p:spPr>
        <p:txBody>
          <a:bodyPr wrap="square" lIns="0" tIns="0" rIns="0" bIns="0" rtlCol="0" anchor="t"/>
          <a:lstStyle/>
          <a:p>
            <a:pPr indent="0" marL="0">
              <a:buNone/>
            </a:pPr>
            <a:r>
              <a:rPr lang="en-US" sz="650" dirty="0">
                <a:solidFill>
                  <a:srgbClr val="374151"/>
                </a:solidFill>
              </a:rPr>
              <a:t>E2E testing scope: Merchandising, sign-in, MVPD, Cleeng, replays. Two new engineers onboarded (Jared and Ian). Demo cadence: ~twice/month, next tentatively following Wednesday.</a:t>
            </a:r>
            <a:endParaRPr lang="en-US" sz="650" dirty="0"/>
          </a:p>
        </p:txBody>
      </p:sp>
      <p:sp>
        <p:nvSpPr>
          <p:cNvPr id="106" name="Shape 104"/>
          <p:cNvSpPr/>
          <p:nvPr/>
        </p:nvSpPr>
        <p:spPr>
          <a:xfrm>
            <a:off x="11375136" y="6729984"/>
            <a:ext cx="822960" cy="173736"/>
          </a:xfrm>
          <a:prstGeom prst="roundRect">
            <a:avLst>
              <a:gd name="adj" fmla="val 15789"/>
            </a:avLst>
          </a:prstGeom>
          <a:solidFill>
            <a:srgbClr val="1558A8"/>
          </a:solidFill>
          <a:ln w="12700">
            <a:solidFill>
              <a:srgbClr val="1558A8"/>
            </a:solidFill>
            <a:prstDash val="solid"/>
          </a:ln>
        </p:spPr>
      </p:sp>
      <p:sp>
        <p:nvSpPr>
          <p:cNvPr id="107" name="Text 105"/>
          <p:cNvSpPr/>
          <p:nvPr/>
        </p:nvSpPr>
        <p:spPr>
          <a:xfrm>
            <a:off x="11375136" y="6729984"/>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344400" cy="457200"/>
          </a:xfrm>
          <a:prstGeom prst="rect">
            <a:avLst/>
          </a:prstGeom>
          <a:solidFill>
            <a:srgbClr val="8ED973"/>
          </a:solidFill>
          <a:ln w="12700">
            <a:solidFill>
              <a:srgbClr val="8ED973"/>
            </a:solidFill>
            <a:prstDash val="solid"/>
          </a:ln>
        </p:spPr>
      </p:sp>
      <p:sp>
        <p:nvSpPr>
          <p:cNvPr id="3" name="Text 1"/>
          <p:cNvSpPr/>
          <p:nvPr/>
        </p:nvSpPr>
        <p:spPr>
          <a:xfrm>
            <a:off x="201168" y="0"/>
            <a:ext cx="8229600" cy="457200"/>
          </a:xfrm>
          <a:prstGeom prst="rect">
            <a:avLst/>
          </a:prstGeom>
          <a:noFill/>
          <a:ln/>
        </p:spPr>
        <p:txBody>
          <a:bodyPr wrap="square" lIns="0" tIns="0" rIns="0" bIns="0" rtlCol="0" anchor="ctr"/>
          <a:lstStyle/>
          <a:p>
            <a:pPr algn="l" indent="0" marL="0">
              <a:buNone/>
            </a:pPr>
            <a:r>
              <a:rPr lang="en-US" sz="1600" b="1" dirty="0">
                <a:solidFill>
                  <a:srgbClr val="000000"/>
                </a:solidFill>
              </a:rPr>
              <a:t>Project SABR</a:t>
            </a:r>
            <a:endParaRPr lang="en-US" sz="1600" dirty="0"/>
          </a:p>
        </p:txBody>
      </p:sp>
      <p:sp>
        <p:nvSpPr>
          <p:cNvPr id="4" name="Text 2"/>
          <p:cNvSpPr/>
          <p:nvPr/>
        </p:nvSpPr>
        <p:spPr>
          <a:xfrm>
            <a:off x="8686800" y="0"/>
            <a:ext cx="3337560" cy="457200"/>
          </a:xfrm>
          <a:prstGeom prst="rect">
            <a:avLst/>
          </a:prstGeom>
          <a:noFill/>
          <a:ln/>
        </p:spPr>
        <p:txBody>
          <a:bodyPr wrap="square" lIns="0" tIns="0" rIns="0" bIns="0" rtlCol="0" anchor="ctr"/>
          <a:lstStyle/>
          <a:p>
            <a:pPr algn="r" indent="0" marL="0">
              <a:buNone/>
            </a:pPr>
            <a:r>
              <a:rPr lang="en-US" sz="1100" dirty="0">
                <a:solidFill>
                  <a:srgbClr val="388849"/>
                </a:solidFill>
              </a:rPr>
              <a:t>CPR  ·  Aug 5, 2026</a:t>
            </a:r>
            <a:endParaRPr lang="en-US" sz="1100" dirty="0"/>
          </a:p>
        </p:txBody>
      </p:sp>
      <p:sp>
        <p:nvSpPr>
          <p:cNvPr id="5" name="Shape 3"/>
          <p:cNvSpPr/>
          <p:nvPr/>
        </p:nvSpPr>
        <p:spPr>
          <a:xfrm>
            <a:off x="0" y="457200"/>
            <a:ext cx="12344400" cy="347472"/>
          </a:xfrm>
          <a:prstGeom prst="rect">
            <a:avLst/>
          </a:prstGeom>
          <a:solidFill>
            <a:srgbClr val="EFF7F3"/>
          </a:solidFill>
          <a:ln w="12700">
            <a:solidFill>
              <a:srgbClr val="CCE4D8"/>
            </a:solidFill>
            <a:prstDash val="solid"/>
          </a:ln>
        </p:spPr>
      </p:sp>
      <p:sp>
        <p:nvSpPr>
          <p:cNvPr id="6" name="Shape 4"/>
          <p:cNvSpPr/>
          <p:nvPr/>
        </p:nvSpPr>
        <p:spPr>
          <a:xfrm>
            <a:off x="256032" y="521208"/>
            <a:ext cx="1005840" cy="219456"/>
          </a:xfrm>
          <a:prstGeom prst="roundRect">
            <a:avLst>
              <a:gd name="adj" fmla="val 20833"/>
            </a:avLst>
          </a:prstGeom>
          <a:solidFill>
            <a:srgbClr val="DCFCE7"/>
          </a:solidFill>
          <a:ln w="9525">
            <a:solidFill>
              <a:srgbClr val="D1D5DB"/>
            </a:solidFill>
            <a:prstDash val="solid"/>
          </a:ln>
        </p:spPr>
      </p:sp>
      <p:sp>
        <p:nvSpPr>
          <p:cNvPr id="7" name="Text 5"/>
          <p:cNvSpPr/>
          <p:nvPr/>
        </p:nvSpPr>
        <p:spPr>
          <a:xfrm>
            <a:off x="256032" y="521208"/>
            <a:ext cx="1005840" cy="219456"/>
          </a:xfrm>
          <a:prstGeom prst="rect">
            <a:avLst/>
          </a:prstGeom>
          <a:noFill/>
          <a:ln/>
        </p:spPr>
        <p:txBody>
          <a:bodyPr wrap="square" lIns="0" tIns="0" rIns="0" bIns="0" rtlCol="0" anchor="ctr"/>
          <a:lstStyle/>
          <a:p>
            <a:pPr algn="ctr" indent="0" marL="0">
              <a:buNone/>
            </a:pPr>
            <a:r>
              <a:rPr lang="en-US" sz="900" b="1" dirty="0">
                <a:solidFill>
                  <a:srgbClr val="166534"/>
                </a:solidFill>
              </a:rPr>
              <a:t>3  Done</a:t>
            </a:r>
            <a:endParaRPr lang="en-US" sz="900" dirty="0"/>
          </a:p>
        </p:txBody>
      </p:sp>
      <p:sp>
        <p:nvSpPr>
          <p:cNvPr id="8" name="Shape 6"/>
          <p:cNvSpPr/>
          <p:nvPr/>
        </p:nvSpPr>
        <p:spPr>
          <a:xfrm>
            <a:off x="1389888" y="521208"/>
            <a:ext cx="1325880" cy="219456"/>
          </a:xfrm>
          <a:prstGeom prst="roundRect">
            <a:avLst>
              <a:gd name="adj" fmla="val 20833"/>
            </a:avLst>
          </a:prstGeom>
          <a:solidFill>
            <a:srgbClr val="DBEAFE"/>
          </a:solidFill>
          <a:ln w="9525">
            <a:solidFill>
              <a:srgbClr val="D1D5DB"/>
            </a:solidFill>
            <a:prstDash val="solid"/>
          </a:ln>
        </p:spPr>
      </p:sp>
      <p:sp>
        <p:nvSpPr>
          <p:cNvPr id="9" name="Text 7"/>
          <p:cNvSpPr/>
          <p:nvPr/>
        </p:nvSpPr>
        <p:spPr>
          <a:xfrm>
            <a:off x="1389888" y="521208"/>
            <a:ext cx="1325880" cy="219456"/>
          </a:xfrm>
          <a:prstGeom prst="rect">
            <a:avLst/>
          </a:prstGeom>
          <a:noFill/>
          <a:ln/>
        </p:spPr>
        <p:txBody>
          <a:bodyPr wrap="square" lIns="0" tIns="0" rIns="0" bIns="0" rtlCol="0" anchor="ctr"/>
          <a:lstStyle/>
          <a:p>
            <a:pPr algn="ctr" indent="0" marL="0">
              <a:buNone/>
            </a:pPr>
            <a:r>
              <a:rPr lang="en-US" sz="900" b="1" dirty="0">
                <a:solidFill>
                  <a:srgbClr val="1D4ED8"/>
                </a:solidFill>
              </a:rPr>
              <a:t>29  In Progress</a:t>
            </a:r>
            <a:endParaRPr lang="en-US" sz="900" dirty="0"/>
          </a:p>
        </p:txBody>
      </p:sp>
      <p:sp>
        <p:nvSpPr>
          <p:cNvPr id="10" name="Shape 8"/>
          <p:cNvSpPr/>
          <p:nvPr/>
        </p:nvSpPr>
        <p:spPr>
          <a:xfrm>
            <a:off x="2843784" y="521208"/>
            <a:ext cx="1325880" cy="219456"/>
          </a:xfrm>
          <a:prstGeom prst="roundRect">
            <a:avLst>
              <a:gd name="adj" fmla="val 20833"/>
            </a:avLst>
          </a:prstGeom>
          <a:solidFill>
            <a:srgbClr val="F3F4F6"/>
          </a:solidFill>
          <a:ln w="9525">
            <a:solidFill>
              <a:srgbClr val="D1D5DB"/>
            </a:solidFill>
            <a:prstDash val="solid"/>
          </a:ln>
        </p:spPr>
      </p:sp>
      <p:sp>
        <p:nvSpPr>
          <p:cNvPr id="11" name="Text 9"/>
          <p:cNvSpPr/>
          <p:nvPr/>
        </p:nvSpPr>
        <p:spPr>
          <a:xfrm>
            <a:off x="2843784" y="521208"/>
            <a:ext cx="1325880" cy="219456"/>
          </a:xfrm>
          <a:prstGeom prst="rect">
            <a:avLst/>
          </a:prstGeom>
          <a:noFill/>
          <a:ln/>
        </p:spPr>
        <p:txBody>
          <a:bodyPr wrap="square" lIns="0" tIns="0" rIns="0" bIns="0" rtlCol="0" anchor="ctr"/>
          <a:lstStyle/>
          <a:p>
            <a:pPr algn="ctr" indent="0" marL="0">
              <a:buNone/>
            </a:pPr>
            <a:r>
              <a:rPr lang="en-US" sz="900" b="1" dirty="0">
                <a:solidFill>
                  <a:srgbClr val="374151"/>
                </a:solidFill>
              </a:rPr>
              <a:t>3  Not Started</a:t>
            </a:r>
            <a:endParaRPr lang="en-US" sz="900" dirty="0"/>
          </a:p>
        </p:txBody>
      </p:sp>
      <p:sp>
        <p:nvSpPr>
          <p:cNvPr id="12" name="Shape 10"/>
          <p:cNvSpPr/>
          <p:nvPr/>
        </p:nvSpPr>
        <p:spPr>
          <a:xfrm>
            <a:off x="4297680" y="521208"/>
            <a:ext cx="1005840" cy="219456"/>
          </a:xfrm>
          <a:prstGeom prst="roundRect">
            <a:avLst>
              <a:gd name="adj" fmla="val 20833"/>
            </a:avLst>
          </a:prstGeom>
          <a:solidFill>
            <a:srgbClr val="FEE2E2"/>
          </a:solidFill>
          <a:ln w="9525">
            <a:solidFill>
              <a:srgbClr val="D1D5DB"/>
            </a:solidFill>
            <a:prstDash val="solid"/>
          </a:ln>
        </p:spPr>
      </p:sp>
      <p:sp>
        <p:nvSpPr>
          <p:cNvPr id="13" name="Text 11"/>
          <p:cNvSpPr/>
          <p:nvPr/>
        </p:nvSpPr>
        <p:spPr>
          <a:xfrm>
            <a:off x="4297680" y="521208"/>
            <a:ext cx="1005840" cy="219456"/>
          </a:xfrm>
          <a:prstGeom prst="rect">
            <a:avLst/>
          </a:prstGeom>
          <a:noFill/>
          <a:ln/>
        </p:spPr>
        <p:txBody>
          <a:bodyPr wrap="square" lIns="0" tIns="0" rIns="0" bIns="0" rtlCol="0" anchor="ctr"/>
          <a:lstStyle/>
          <a:p>
            <a:pPr algn="ctr" indent="0" marL="0">
              <a:buNone/>
            </a:pPr>
            <a:r>
              <a:rPr lang="en-US" sz="900" b="1" dirty="0">
                <a:solidFill>
                  <a:srgbClr val="7F1D1D"/>
                </a:solidFill>
              </a:rPr>
              <a:t>0  Blocked</a:t>
            </a:r>
            <a:endParaRPr lang="en-US" sz="900" dirty="0"/>
          </a:p>
        </p:txBody>
      </p:sp>
      <p:sp>
        <p:nvSpPr>
          <p:cNvPr id="14" name="Shape 12"/>
          <p:cNvSpPr/>
          <p:nvPr/>
        </p:nvSpPr>
        <p:spPr>
          <a:xfrm>
            <a:off x="5431536" y="521208"/>
            <a:ext cx="2377440" cy="219456"/>
          </a:xfrm>
          <a:prstGeom prst="roundRect">
            <a:avLst>
              <a:gd name="adj" fmla="val 20833"/>
            </a:avLst>
          </a:prstGeom>
          <a:solidFill>
            <a:srgbClr val="FFFFFF"/>
          </a:solidFill>
          <a:ln w="9525">
            <a:solidFill>
              <a:srgbClr val="D1D5DB"/>
            </a:solidFill>
            <a:prstDash val="solid"/>
          </a:ln>
        </p:spPr>
      </p:sp>
      <p:sp>
        <p:nvSpPr>
          <p:cNvPr id="15" name="Text 13"/>
          <p:cNvSpPr/>
          <p:nvPr/>
        </p:nvSpPr>
        <p:spPr>
          <a:xfrm>
            <a:off x="5431536" y="521208"/>
            <a:ext cx="2377440" cy="219456"/>
          </a:xfrm>
          <a:prstGeom prst="rect">
            <a:avLst/>
          </a:prstGeom>
          <a:noFill/>
          <a:ln/>
        </p:spPr>
        <p:txBody>
          <a:bodyPr wrap="square" lIns="0" tIns="0" rIns="0" bIns="0" rtlCol="0" anchor="ctr"/>
          <a:lstStyle/>
          <a:p>
            <a:pPr algn="ctr" indent="0" marL="0">
              <a:buNone/>
            </a:pPr>
            <a:r>
              <a:rPr lang="en-US" sz="900" b="1" dirty="0">
                <a:solidFill>
                  <a:srgbClr val="374151"/>
                </a:solidFill>
              </a:rPr>
              <a:t>Sep 30, 2026  ·  Beta</a:t>
            </a:r>
            <a:endParaRPr lang="en-US" sz="900" dirty="0"/>
          </a:p>
        </p:txBody>
      </p:sp>
      <p:sp>
        <p:nvSpPr>
          <p:cNvPr id="16" name="Shape 14"/>
          <p:cNvSpPr/>
          <p:nvPr/>
        </p:nvSpPr>
        <p:spPr>
          <a:xfrm>
            <a:off x="0" y="6876288"/>
            <a:ext cx="12344400" cy="438912"/>
          </a:xfrm>
          <a:prstGeom prst="rect">
            <a:avLst/>
          </a:prstGeom>
          <a:solidFill>
            <a:srgbClr val="F4F6F8"/>
          </a:solidFill>
          <a:ln w="12700">
            <a:solidFill>
              <a:srgbClr val="D1D5DB"/>
            </a:solidFill>
            <a:prstDash val="solid"/>
          </a:ln>
        </p:spPr>
      </p:sp>
      <p:sp>
        <p:nvSpPr>
          <p:cNvPr id="17" name="Text 15"/>
          <p:cNvSpPr/>
          <p:nvPr/>
        </p:nvSpPr>
        <p:spPr>
          <a:xfrm>
            <a:off x="201168" y="6876288"/>
            <a:ext cx="5029200" cy="438912"/>
          </a:xfrm>
          <a:prstGeom prst="rect">
            <a:avLst/>
          </a:prstGeom>
          <a:noFill/>
          <a:ln/>
        </p:spPr>
        <p:txBody>
          <a:bodyPr wrap="square" lIns="0" tIns="0" rIns="0" bIns="0" rtlCol="0" anchor="ctr"/>
          <a:lstStyle/>
          <a:p>
            <a:pPr algn="l" indent="0" marL="0">
              <a:buNone/>
            </a:pPr>
            <a:r>
              <a:rPr lang="en-US" sz="800" dirty="0">
                <a:solidFill>
                  <a:srgbClr val="9CA3AF"/>
                </a:solidFill>
              </a:rPr>
              <a:t>Project SABR  ·  Tennis Channel OTT  ·  CONFIDENTIAL</a:t>
            </a:r>
            <a:endParaRPr lang="en-US" sz="800" dirty="0"/>
          </a:p>
        </p:txBody>
      </p:sp>
      <p:sp>
        <p:nvSpPr>
          <p:cNvPr id="18" name="Text 16"/>
          <p:cNvSpPr/>
          <p:nvPr/>
        </p:nvSpPr>
        <p:spPr>
          <a:xfrm>
            <a:off x="5486400" y="6876288"/>
            <a:ext cx="4572000" cy="438912"/>
          </a:xfrm>
          <a:prstGeom prst="rect">
            <a:avLst/>
          </a:prstGeom>
          <a:noFill/>
          <a:ln/>
        </p:spPr>
        <p:txBody>
          <a:bodyPr wrap="square" lIns="0" tIns="0" rIns="0" bIns="0" rtlCol="0" anchor="ctr"/>
          <a:lstStyle/>
          <a:p>
            <a:pPr algn="ctr" indent="0" marL="0">
              <a:buNone/>
            </a:pPr>
            <a:r>
              <a:rPr lang="en-US" sz="800" dirty="0">
                <a:solidFill>
                  <a:srgbClr val="9CA3AF"/>
                </a:solidFill>
              </a:rPr>
              <a:t>Beta: Sep 30, 2026  ·  55 days remaining</a:t>
            </a:r>
            <a:endParaRPr lang="en-US" sz="800" dirty="0"/>
          </a:p>
        </p:txBody>
      </p:sp>
      <p:sp>
        <p:nvSpPr>
          <p:cNvPr id="19" name="Text 17"/>
          <p:cNvSpPr/>
          <p:nvPr/>
        </p:nvSpPr>
        <p:spPr>
          <a:xfrm>
            <a:off x="10515600" y="6876288"/>
            <a:ext cx="1508760" cy="438912"/>
          </a:xfrm>
          <a:prstGeom prst="rect">
            <a:avLst/>
          </a:prstGeom>
          <a:noFill/>
          <a:ln/>
        </p:spPr>
        <p:txBody>
          <a:bodyPr wrap="square" lIns="0" tIns="0" rIns="0" bIns="0" rtlCol="0" anchor="ctr"/>
          <a:lstStyle/>
          <a:p>
            <a:pPr algn="r" indent="0" marL="0">
              <a:buNone/>
            </a:pPr>
            <a:r>
              <a:rPr lang="en-US" sz="1100" b="1" dirty="0">
                <a:solidFill>
                  <a:srgbClr val="388849"/>
                </a:solidFill>
              </a:rPr>
              <a:t>9% Ready</a:t>
            </a:r>
            <a:endParaRPr lang="en-US" sz="1100" dirty="0"/>
          </a:p>
        </p:txBody>
      </p:sp>
      <p:sp>
        <p:nvSpPr>
          <p:cNvPr id="20" name="Shape 18"/>
          <p:cNvSpPr/>
          <p:nvPr/>
        </p:nvSpPr>
        <p:spPr>
          <a:xfrm>
            <a:off x="164592" y="804672"/>
            <a:ext cx="9116568" cy="966216"/>
          </a:xfrm>
          <a:prstGeom prst="rect">
            <a:avLst/>
          </a:prstGeom>
          <a:solidFill>
            <a:srgbClr val="FAFBFC"/>
          </a:solidFill>
          <a:ln w="6350">
            <a:solidFill>
              <a:srgbClr val="E5E7EB"/>
            </a:solidFill>
            <a:prstDash val="solid"/>
          </a:ln>
        </p:spPr>
      </p:sp>
      <p:sp>
        <p:nvSpPr>
          <p:cNvPr id="21" name="Shape 19"/>
          <p:cNvSpPr/>
          <p:nvPr/>
        </p:nvSpPr>
        <p:spPr>
          <a:xfrm>
            <a:off x="182880" y="877824"/>
            <a:ext cx="859536" cy="819912"/>
          </a:xfrm>
          <a:prstGeom prst="roundRect">
            <a:avLst>
              <a:gd name="adj" fmla="val 5576"/>
            </a:avLst>
          </a:prstGeom>
          <a:solidFill>
            <a:srgbClr val="9CA3AF"/>
          </a:solidFill>
          <a:ln w="12700">
            <a:solidFill>
              <a:srgbClr val="9CA3AF"/>
            </a:solidFill>
            <a:prstDash val="solid"/>
          </a:ln>
        </p:spPr>
      </p:sp>
      <p:sp>
        <p:nvSpPr>
          <p:cNvPr id="22" name="Text 20"/>
          <p:cNvSpPr/>
          <p:nvPr/>
        </p:nvSpPr>
        <p:spPr>
          <a:xfrm>
            <a:off x="182880" y="877824"/>
            <a:ext cx="859536" cy="819912"/>
          </a:xfrm>
          <a:prstGeom prst="rect">
            <a:avLst/>
          </a:prstGeom>
          <a:noFill/>
          <a:ln/>
        </p:spPr>
        <p:txBody>
          <a:bodyPr wrap="square" lIns="0" tIns="0" rIns="0" bIns="0" rtlCol="0" anchor="ctr"/>
          <a:lstStyle/>
          <a:p>
            <a:pPr algn="ctr" indent="0" marL="0">
              <a:buNone/>
            </a:pPr>
            <a:r>
              <a:rPr lang="en-US" sz="800" b="1" dirty="0">
                <a:solidFill>
                  <a:srgbClr val="FFFFFF"/>
                </a:solidFill>
              </a:rPr>
              <a:t>Platforms</a:t>
            </a:r>
            <a:endParaRPr lang="en-US" sz="800" dirty="0"/>
          </a:p>
        </p:txBody>
      </p:sp>
      <p:sp>
        <p:nvSpPr>
          <p:cNvPr id="23" name="Text 21"/>
          <p:cNvSpPr/>
          <p:nvPr/>
        </p:nvSpPr>
        <p:spPr>
          <a:xfrm>
            <a:off x="1170432" y="85039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6 / 7 In Progress</a:t>
            </a:r>
            <a:endParaRPr lang="en-US" sz="750" dirty="0"/>
          </a:p>
        </p:txBody>
      </p:sp>
      <p:sp>
        <p:nvSpPr>
          <p:cNvPr id="24" name="Shape 22"/>
          <p:cNvSpPr/>
          <p:nvPr/>
        </p:nvSpPr>
        <p:spPr>
          <a:xfrm>
            <a:off x="1170432" y="1069848"/>
            <a:ext cx="932688" cy="182880"/>
          </a:xfrm>
          <a:prstGeom prst="roundRect">
            <a:avLst>
              <a:gd name="adj" fmla="val 15000"/>
            </a:avLst>
          </a:prstGeom>
          <a:solidFill>
            <a:srgbClr val="FFFFFF"/>
          </a:solidFill>
          <a:ln w="9525">
            <a:solidFill>
              <a:srgbClr val="CBD5E1"/>
            </a:solidFill>
            <a:prstDash val="solid"/>
          </a:ln>
        </p:spPr>
      </p:sp>
      <p:sp>
        <p:nvSpPr>
          <p:cNvPr id="25" name="Text 23"/>
          <p:cNvSpPr/>
          <p:nvPr/>
        </p:nvSpPr>
        <p:spPr>
          <a:xfrm>
            <a:off x="1170432"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TC.com</a:t>
            </a:r>
            <a:endParaRPr lang="en-US" sz="750" dirty="0"/>
          </a:p>
        </p:txBody>
      </p:sp>
      <p:sp>
        <p:nvSpPr>
          <p:cNvPr id="26" name="Shape 24"/>
          <p:cNvSpPr/>
          <p:nvPr/>
        </p:nvSpPr>
        <p:spPr>
          <a:xfrm>
            <a:off x="1170432" y="1280160"/>
            <a:ext cx="932688" cy="155448"/>
          </a:xfrm>
          <a:prstGeom prst="roundRect">
            <a:avLst>
              <a:gd name="adj" fmla="val 17647"/>
            </a:avLst>
          </a:prstGeom>
          <a:solidFill>
            <a:srgbClr val="1558A8"/>
          </a:solidFill>
          <a:ln w="12700">
            <a:solidFill>
              <a:srgbClr val="1558A8"/>
            </a:solidFill>
            <a:prstDash val="solid"/>
          </a:ln>
        </p:spPr>
      </p:sp>
      <p:sp>
        <p:nvSpPr>
          <p:cNvPr id="27" name="Text 25"/>
          <p:cNvSpPr/>
          <p:nvPr/>
        </p:nvSpPr>
        <p:spPr>
          <a:xfrm>
            <a:off x="1170432"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28" name="Shape 26"/>
          <p:cNvSpPr/>
          <p:nvPr/>
        </p:nvSpPr>
        <p:spPr>
          <a:xfrm>
            <a:off x="2185416" y="1069848"/>
            <a:ext cx="932688" cy="182880"/>
          </a:xfrm>
          <a:prstGeom prst="roundRect">
            <a:avLst>
              <a:gd name="adj" fmla="val 15000"/>
            </a:avLst>
          </a:prstGeom>
          <a:solidFill>
            <a:srgbClr val="FFFFFF"/>
          </a:solidFill>
          <a:ln w="9525">
            <a:solidFill>
              <a:srgbClr val="CBD5E1"/>
            </a:solidFill>
            <a:prstDash val="solid"/>
          </a:ln>
        </p:spPr>
      </p:sp>
      <p:sp>
        <p:nvSpPr>
          <p:cNvPr id="29" name="Text 27"/>
          <p:cNvSpPr/>
          <p:nvPr/>
        </p:nvSpPr>
        <p:spPr>
          <a:xfrm>
            <a:off x="2185416"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iOS</a:t>
            </a:r>
            <a:endParaRPr lang="en-US" sz="750" dirty="0"/>
          </a:p>
        </p:txBody>
      </p:sp>
      <p:sp>
        <p:nvSpPr>
          <p:cNvPr id="30" name="Shape 28"/>
          <p:cNvSpPr/>
          <p:nvPr/>
        </p:nvSpPr>
        <p:spPr>
          <a:xfrm>
            <a:off x="2185416" y="1280160"/>
            <a:ext cx="932688" cy="155448"/>
          </a:xfrm>
          <a:prstGeom prst="roundRect">
            <a:avLst>
              <a:gd name="adj" fmla="val 17647"/>
            </a:avLst>
          </a:prstGeom>
          <a:solidFill>
            <a:srgbClr val="1558A8"/>
          </a:solidFill>
          <a:ln w="12700">
            <a:solidFill>
              <a:srgbClr val="1558A8"/>
            </a:solidFill>
            <a:prstDash val="solid"/>
          </a:ln>
        </p:spPr>
      </p:sp>
      <p:sp>
        <p:nvSpPr>
          <p:cNvPr id="31" name="Text 29"/>
          <p:cNvSpPr/>
          <p:nvPr/>
        </p:nvSpPr>
        <p:spPr>
          <a:xfrm>
            <a:off x="2185416"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32" name="Shape 30"/>
          <p:cNvSpPr/>
          <p:nvPr/>
        </p:nvSpPr>
        <p:spPr>
          <a:xfrm>
            <a:off x="3200400" y="1069848"/>
            <a:ext cx="932688" cy="182880"/>
          </a:xfrm>
          <a:prstGeom prst="roundRect">
            <a:avLst>
              <a:gd name="adj" fmla="val 15000"/>
            </a:avLst>
          </a:prstGeom>
          <a:solidFill>
            <a:srgbClr val="FFFFFF"/>
          </a:solidFill>
          <a:ln w="9525">
            <a:solidFill>
              <a:srgbClr val="CBD5E1"/>
            </a:solidFill>
            <a:prstDash val="solid"/>
          </a:ln>
        </p:spPr>
      </p:sp>
      <p:sp>
        <p:nvSpPr>
          <p:cNvPr id="33" name="Text 31"/>
          <p:cNvSpPr/>
          <p:nvPr/>
        </p:nvSpPr>
        <p:spPr>
          <a:xfrm>
            <a:off x="3200400"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Android</a:t>
            </a:r>
            <a:endParaRPr lang="en-US" sz="750" dirty="0"/>
          </a:p>
        </p:txBody>
      </p:sp>
      <p:sp>
        <p:nvSpPr>
          <p:cNvPr id="34" name="Shape 32"/>
          <p:cNvSpPr/>
          <p:nvPr/>
        </p:nvSpPr>
        <p:spPr>
          <a:xfrm>
            <a:off x="3200400" y="1280160"/>
            <a:ext cx="932688" cy="155448"/>
          </a:xfrm>
          <a:prstGeom prst="roundRect">
            <a:avLst>
              <a:gd name="adj" fmla="val 17647"/>
            </a:avLst>
          </a:prstGeom>
          <a:solidFill>
            <a:srgbClr val="1558A8"/>
          </a:solidFill>
          <a:ln w="12700">
            <a:solidFill>
              <a:srgbClr val="1558A8"/>
            </a:solidFill>
            <a:prstDash val="solid"/>
          </a:ln>
        </p:spPr>
      </p:sp>
      <p:sp>
        <p:nvSpPr>
          <p:cNvPr id="35" name="Text 33"/>
          <p:cNvSpPr/>
          <p:nvPr/>
        </p:nvSpPr>
        <p:spPr>
          <a:xfrm>
            <a:off x="3200400"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36" name="Shape 34"/>
          <p:cNvSpPr/>
          <p:nvPr/>
        </p:nvSpPr>
        <p:spPr>
          <a:xfrm>
            <a:off x="4215384" y="1069848"/>
            <a:ext cx="932688" cy="182880"/>
          </a:xfrm>
          <a:prstGeom prst="roundRect">
            <a:avLst>
              <a:gd name="adj" fmla="val 15000"/>
            </a:avLst>
          </a:prstGeom>
          <a:solidFill>
            <a:srgbClr val="FFFFFF"/>
          </a:solidFill>
          <a:ln w="9525">
            <a:solidFill>
              <a:srgbClr val="CBD5E1"/>
            </a:solidFill>
            <a:prstDash val="solid"/>
          </a:ln>
        </p:spPr>
      </p:sp>
      <p:sp>
        <p:nvSpPr>
          <p:cNvPr id="37" name="Text 35"/>
          <p:cNvSpPr/>
          <p:nvPr/>
        </p:nvSpPr>
        <p:spPr>
          <a:xfrm>
            <a:off x="4215384"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Roku</a:t>
            </a:r>
            <a:endParaRPr lang="en-US" sz="750" dirty="0"/>
          </a:p>
        </p:txBody>
      </p:sp>
      <p:sp>
        <p:nvSpPr>
          <p:cNvPr id="38" name="Shape 36"/>
          <p:cNvSpPr/>
          <p:nvPr/>
        </p:nvSpPr>
        <p:spPr>
          <a:xfrm>
            <a:off x="4215384" y="1280160"/>
            <a:ext cx="932688" cy="155448"/>
          </a:xfrm>
          <a:prstGeom prst="roundRect">
            <a:avLst>
              <a:gd name="adj" fmla="val 17647"/>
            </a:avLst>
          </a:prstGeom>
          <a:solidFill>
            <a:srgbClr val="1558A8"/>
          </a:solidFill>
          <a:ln w="12700">
            <a:solidFill>
              <a:srgbClr val="1558A8"/>
            </a:solidFill>
            <a:prstDash val="solid"/>
          </a:ln>
        </p:spPr>
      </p:sp>
      <p:sp>
        <p:nvSpPr>
          <p:cNvPr id="39" name="Text 37"/>
          <p:cNvSpPr/>
          <p:nvPr/>
        </p:nvSpPr>
        <p:spPr>
          <a:xfrm>
            <a:off x="4215384"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40" name="Shape 38"/>
          <p:cNvSpPr/>
          <p:nvPr/>
        </p:nvSpPr>
        <p:spPr>
          <a:xfrm>
            <a:off x="5230368" y="1069848"/>
            <a:ext cx="932688" cy="182880"/>
          </a:xfrm>
          <a:prstGeom prst="roundRect">
            <a:avLst>
              <a:gd name="adj" fmla="val 15000"/>
            </a:avLst>
          </a:prstGeom>
          <a:solidFill>
            <a:srgbClr val="FFFFFF"/>
          </a:solidFill>
          <a:ln w="9525">
            <a:solidFill>
              <a:srgbClr val="CBD5E1"/>
            </a:solidFill>
            <a:prstDash val="solid"/>
          </a:ln>
        </p:spPr>
      </p:sp>
      <p:sp>
        <p:nvSpPr>
          <p:cNvPr id="41" name="Text 39"/>
          <p:cNvSpPr/>
          <p:nvPr/>
        </p:nvSpPr>
        <p:spPr>
          <a:xfrm>
            <a:off x="5230368"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Fire TV</a:t>
            </a:r>
            <a:endParaRPr lang="en-US" sz="750" dirty="0"/>
          </a:p>
        </p:txBody>
      </p:sp>
      <p:sp>
        <p:nvSpPr>
          <p:cNvPr id="42" name="Shape 40"/>
          <p:cNvSpPr/>
          <p:nvPr/>
        </p:nvSpPr>
        <p:spPr>
          <a:xfrm>
            <a:off x="5230368" y="1280160"/>
            <a:ext cx="932688" cy="155448"/>
          </a:xfrm>
          <a:prstGeom prst="roundRect">
            <a:avLst>
              <a:gd name="adj" fmla="val 17647"/>
            </a:avLst>
          </a:prstGeom>
          <a:solidFill>
            <a:srgbClr val="F3F4F6"/>
          </a:solidFill>
          <a:ln w="9525">
            <a:solidFill>
              <a:srgbClr val="D1D5DB"/>
            </a:solidFill>
            <a:prstDash val="solid"/>
          </a:ln>
        </p:spPr>
      </p:sp>
      <p:sp>
        <p:nvSpPr>
          <p:cNvPr id="43" name="Text 41"/>
          <p:cNvSpPr/>
          <p:nvPr/>
        </p:nvSpPr>
        <p:spPr>
          <a:xfrm>
            <a:off x="5230368" y="128016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44" name="Shape 42"/>
          <p:cNvSpPr/>
          <p:nvPr/>
        </p:nvSpPr>
        <p:spPr>
          <a:xfrm>
            <a:off x="6245352" y="1069848"/>
            <a:ext cx="932688" cy="182880"/>
          </a:xfrm>
          <a:prstGeom prst="roundRect">
            <a:avLst>
              <a:gd name="adj" fmla="val 15000"/>
            </a:avLst>
          </a:prstGeom>
          <a:solidFill>
            <a:srgbClr val="FFFFFF"/>
          </a:solidFill>
          <a:ln w="9525">
            <a:solidFill>
              <a:srgbClr val="CBD5E1"/>
            </a:solidFill>
            <a:prstDash val="solid"/>
          </a:ln>
        </p:spPr>
      </p:sp>
      <p:sp>
        <p:nvSpPr>
          <p:cNvPr id="45" name="Text 43"/>
          <p:cNvSpPr/>
          <p:nvPr/>
        </p:nvSpPr>
        <p:spPr>
          <a:xfrm>
            <a:off x="6245352"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Samsung</a:t>
            </a:r>
            <a:endParaRPr lang="en-US" sz="750" dirty="0"/>
          </a:p>
        </p:txBody>
      </p:sp>
      <p:sp>
        <p:nvSpPr>
          <p:cNvPr id="46" name="Shape 44"/>
          <p:cNvSpPr/>
          <p:nvPr/>
        </p:nvSpPr>
        <p:spPr>
          <a:xfrm>
            <a:off x="6245352" y="1280160"/>
            <a:ext cx="932688" cy="155448"/>
          </a:xfrm>
          <a:prstGeom prst="roundRect">
            <a:avLst>
              <a:gd name="adj" fmla="val 17647"/>
            </a:avLst>
          </a:prstGeom>
          <a:solidFill>
            <a:srgbClr val="1558A8"/>
          </a:solidFill>
          <a:ln w="12700">
            <a:solidFill>
              <a:srgbClr val="1558A8"/>
            </a:solidFill>
            <a:prstDash val="solid"/>
          </a:ln>
        </p:spPr>
      </p:sp>
      <p:sp>
        <p:nvSpPr>
          <p:cNvPr id="47" name="Text 45"/>
          <p:cNvSpPr/>
          <p:nvPr/>
        </p:nvSpPr>
        <p:spPr>
          <a:xfrm>
            <a:off x="6245352"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48" name="Shape 46"/>
          <p:cNvSpPr/>
          <p:nvPr/>
        </p:nvSpPr>
        <p:spPr>
          <a:xfrm>
            <a:off x="7260336" y="1069848"/>
            <a:ext cx="932688" cy="182880"/>
          </a:xfrm>
          <a:prstGeom prst="roundRect">
            <a:avLst>
              <a:gd name="adj" fmla="val 15000"/>
            </a:avLst>
          </a:prstGeom>
          <a:solidFill>
            <a:srgbClr val="FFFFFF"/>
          </a:solidFill>
          <a:ln w="9525">
            <a:solidFill>
              <a:srgbClr val="CBD5E1"/>
            </a:solidFill>
            <a:prstDash val="solid"/>
          </a:ln>
        </p:spPr>
      </p:sp>
      <p:sp>
        <p:nvSpPr>
          <p:cNvPr id="49" name="Text 47"/>
          <p:cNvSpPr/>
          <p:nvPr/>
        </p:nvSpPr>
        <p:spPr>
          <a:xfrm>
            <a:off x="7260336"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tvOS</a:t>
            </a:r>
            <a:endParaRPr lang="en-US" sz="750" dirty="0"/>
          </a:p>
        </p:txBody>
      </p:sp>
      <p:sp>
        <p:nvSpPr>
          <p:cNvPr id="50" name="Shape 48"/>
          <p:cNvSpPr/>
          <p:nvPr/>
        </p:nvSpPr>
        <p:spPr>
          <a:xfrm>
            <a:off x="7260336" y="1280160"/>
            <a:ext cx="932688" cy="155448"/>
          </a:xfrm>
          <a:prstGeom prst="roundRect">
            <a:avLst>
              <a:gd name="adj" fmla="val 17647"/>
            </a:avLst>
          </a:prstGeom>
          <a:solidFill>
            <a:srgbClr val="1558A8"/>
          </a:solidFill>
          <a:ln w="12700">
            <a:solidFill>
              <a:srgbClr val="1558A8"/>
            </a:solidFill>
            <a:prstDash val="solid"/>
          </a:ln>
        </p:spPr>
      </p:sp>
      <p:sp>
        <p:nvSpPr>
          <p:cNvPr id="51" name="Text 49"/>
          <p:cNvSpPr/>
          <p:nvPr/>
        </p:nvSpPr>
        <p:spPr>
          <a:xfrm>
            <a:off x="7260336"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52" name="Shape 50"/>
          <p:cNvSpPr/>
          <p:nvPr/>
        </p:nvSpPr>
        <p:spPr>
          <a:xfrm>
            <a:off x="164592" y="1825752"/>
            <a:ext cx="9116568" cy="966216"/>
          </a:xfrm>
          <a:prstGeom prst="rect">
            <a:avLst/>
          </a:prstGeom>
          <a:solidFill>
            <a:srgbClr val="FFFFFF"/>
          </a:solidFill>
          <a:ln w="6350">
            <a:solidFill>
              <a:srgbClr val="E5E7EB"/>
            </a:solidFill>
            <a:prstDash val="solid"/>
          </a:ln>
        </p:spPr>
      </p:sp>
      <p:sp>
        <p:nvSpPr>
          <p:cNvPr id="53" name="Shape 51"/>
          <p:cNvSpPr/>
          <p:nvPr/>
        </p:nvSpPr>
        <p:spPr>
          <a:xfrm>
            <a:off x="182880" y="1898904"/>
            <a:ext cx="859536" cy="819912"/>
          </a:xfrm>
          <a:prstGeom prst="roundRect">
            <a:avLst>
              <a:gd name="adj" fmla="val 5576"/>
            </a:avLst>
          </a:prstGeom>
          <a:solidFill>
            <a:srgbClr val="9CA3AF"/>
          </a:solidFill>
          <a:ln w="12700">
            <a:solidFill>
              <a:srgbClr val="9CA3AF"/>
            </a:solidFill>
            <a:prstDash val="solid"/>
          </a:ln>
        </p:spPr>
      </p:sp>
      <p:sp>
        <p:nvSpPr>
          <p:cNvPr id="54" name="Text 52"/>
          <p:cNvSpPr/>
          <p:nvPr/>
        </p:nvSpPr>
        <p:spPr>
          <a:xfrm>
            <a:off x="182880" y="1898904"/>
            <a:ext cx="859536" cy="819912"/>
          </a:xfrm>
          <a:prstGeom prst="rect">
            <a:avLst/>
          </a:prstGeom>
          <a:noFill/>
          <a:ln/>
        </p:spPr>
        <p:txBody>
          <a:bodyPr wrap="square" lIns="0" tIns="0" rIns="0" bIns="0" rtlCol="0" anchor="ctr"/>
          <a:lstStyle/>
          <a:p>
            <a:pPr algn="ctr" indent="0" marL="0">
              <a:buNone/>
            </a:pPr>
            <a:r>
              <a:rPr lang="en-US" sz="800" b="1" dirty="0">
                <a:solidFill>
                  <a:srgbClr val="FFFFFF"/>
                </a:solidFill>
              </a:rPr>
              <a:t>Video</a:t>
            </a:r>
            <a:endParaRPr lang="en-US" sz="800" dirty="0"/>
          </a:p>
          <a:p>
            <a:pPr algn="ctr" indent="0" marL="0">
              <a:buNone/>
            </a:pPr>
            <a:r>
              <a:rPr lang="en-US" sz="800" b="1" dirty="0">
                <a:solidFill>
                  <a:srgbClr val="FFFFFF"/>
                </a:solidFill>
              </a:rPr>
              <a:t>Delivery</a:t>
            </a:r>
            <a:endParaRPr lang="en-US" sz="800" dirty="0"/>
          </a:p>
        </p:txBody>
      </p:sp>
      <p:sp>
        <p:nvSpPr>
          <p:cNvPr id="55" name="Text 53"/>
          <p:cNvSpPr/>
          <p:nvPr/>
        </p:nvSpPr>
        <p:spPr>
          <a:xfrm>
            <a:off x="1170432" y="187147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6 / 6 In Progress</a:t>
            </a:r>
            <a:endParaRPr lang="en-US" sz="750" dirty="0"/>
          </a:p>
        </p:txBody>
      </p:sp>
      <p:sp>
        <p:nvSpPr>
          <p:cNvPr id="56" name="Shape 54"/>
          <p:cNvSpPr/>
          <p:nvPr/>
        </p:nvSpPr>
        <p:spPr>
          <a:xfrm>
            <a:off x="1170432" y="2090928"/>
            <a:ext cx="932688" cy="182880"/>
          </a:xfrm>
          <a:prstGeom prst="roundRect">
            <a:avLst>
              <a:gd name="adj" fmla="val 15000"/>
            </a:avLst>
          </a:prstGeom>
          <a:solidFill>
            <a:srgbClr val="FFFFFF"/>
          </a:solidFill>
          <a:ln w="9525">
            <a:solidFill>
              <a:srgbClr val="CBD5E1"/>
            </a:solidFill>
            <a:prstDash val="solid"/>
          </a:ln>
        </p:spPr>
      </p:sp>
      <p:sp>
        <p:nvSpPr>
          <p:cNvPr id="57" name="Text 55"/>
          <p:cNvSpPr/>
          <p:nvPr/>
        </p:nvSpPr>
        <p:spPr>
          <a:xfrm>
            <a:off x="1170432" y="209092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HLS</a:t>
            </a:r>
            <a:endParaRPr lang="en-US" sz="750" dirty="0"/>
          </a:p>
        </p:txBody>
      </p:sp>
      <p:sp>
        <p:nvSpPr>
          <p:cNvPr id="58" name="Shape 56"/>
          <p:cNvSpPr/>
          <p:nvPr/>
        </p:nvSpPr>
        <p:spPr>
          <a:xfrm>
            <a:off x="1170432" y="2301240"/>
            <a:ext cx="932688" cy="155448"/>
          </a:xfrm>
          <a:prstGeom prst="roundRect">
            <a:avLst>
              <a:gd name="adj" fmla="val 17647"/>
            </a:avLst>
          </a:prstGeom>
          <a:solidFill>
            <a:srgbClr val="1558A8"/>
          </a:solidFill>
          <a:ln w="12700">
            <a:solidFill>
              <a:srgbClr val="1558A8"/>
            </a:solidFill>
            <a:prstDash val="solid"/>
          </a:ln>
        </p:spPr>
      </p:sp>
      <p:sp>
        <p:nvSpPr>
          <p:cNvPr id="59" name="Text 57"/>
          <p:cNvSpPr/>
          <p:nvPr/>
        </p:nvSpPr>
        <p:spPr>
          <a:xfrm>
            <a:off x="1170432" y="230124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0" name="Shape 58"/>
          <p:cNvSpPr/>
          <p:nvPr/>
        </p:nvSpPr>
        <p:spPr>
          <a:xfrm>
            <a:off x="2185416" y="2090928"/>
            <a:ext cx="932688" cy="182880"/>
          </a:xfrm>
          <a:prstGeom prst="roundRect">
            <a:avLst>
              <a:gd name="adj" fmla="val 15000"/>
            </a:avLst>
          </a:prstGeom>
          <a:solidFill>
            <a:srgbClr val="FFFFFF"/>
          </a:solidFill>
          <a:ln w="9525">
            <a:solidFill>
              <a:srgbClr val="CBD5E1"/>
            </a:solidFill>
            <a:prstDash val="solid"/>
          </a:ln>
        </p:spPr>
      </p:sp>
      <p:sp>
        <p:nvSpPr>
          <p:cNvPr id="61" name="Text 59"/>
          <p:cNvSpPr/>
          <p:nvPr/>
        </p:nvSpPr>
        <p:spPr>
          <a:xfrm>
            <a:off x="2185416" y="209092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MPEG-DASH</a:t>
            </a:r>
            <a:endParaRPr lang="en-US" sz="750" dirty="0"/>
          </a:p>
        </p:txBody>
      </p:sp>
      <p:sp>
        <p:nvSpPr>
          <p:cNvPr id="62" name="Shape 60"/>
          <p:cNvSpPr/>
          <p:nvPr/>
        </p:nvSpPr>
        <p:spPr>
          <a:xfrm>
            <a:off x="2185416" y="2301240"/>
            <a:ext cx="932688" cy="155448"/>
          </a:xfrm>
          <a:prstGeom prst="roundRect">
            <a:avLst>
              <a:gd name="adj" fmla="val 17647"/>
            </a:avLst>
          </a:prstGeom>
          <a:solidFill>
            <a:srgbClr val="1558A8"/>
          </a:solidFill>
          <a:ln w="12700">
            <a:solidFill>
              <a:srgbClr val="1558A8"/>
            </a:solidFill>
            <a:prstDash val="solid"/>
          </a:ln>
        </p:spPr>
      </p:sp>
      <p:sp>
        <p:nvSpPr>
          <p:cNvPr id="63" name="Text 61"/>
          <p:cNvSpPr/>
          <p:nvPr/>
        </p:nvSpPr>
        <p:spPr>
          <a:xfrm>
            <a:off x="2185416" y="230124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4" name="Shape 62"/>
          <p:cNvSpPr/>
          <p:nvPr/>
        </p:nvSpPr>
        <p:spPr>
          <a:xfrm>
            <a:off x="3200400" y="2090928"/>
            <a:ext cx="932688" cy="182880"/>
          </a:xfrm>
          <a:prstGeom prst="roundRect">
            <a:avLst>
              <a:gd name="adj" fmla="val 15000"/>
            </a:avLst>
          </a:prstGeom>
          <a:solidFill>
            <a:srgbClr val="FFFFFF"/>
          </a:solidFill>
          <a:ln w="9525">
            <a:solidFill>
              <a:srgbClr val="CBD5E1"/>
            </a:solidFill>
            <a:prstDash val="solid"/>
          </a:ln>
        </p:spPr>
      </p:sp>
      <p:sp>
        <p:nvSpPr>
          <p:cNvPr id="65" name="Text 63"/>
          <p:cNvSpPr/>
          <p:nvPr/>
        </p:nvSpPr>
        <p:spPr>
          <a:xfrm>
            <a:off x="3200400" y="209092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FairPlay DRM</a:t>
            </a:r>
            <a:endParaRPr lang="en-US" sz="750" dirty="0"/>
          </a:p>
        </p:txBody>
      </p:sp>
      <p:sp>
        <p:nvSpPr>
          <p:cNvPr id="66" name="Shape 64"/>
          <p:cNvSpPr/>
          <p:nvPr/>
        </p:nvSpPr>
        <p:spPr>
          <a:xfrm>
            <a:off x="3200400" y="2301240"/>
            <a:ext cx="932688" cy="155448"/>
          </a:xfrm>
          <a:prstGeom prst="roundRect">
            <a:avLst>
              <a:gd name="adj" fmla="val 17647"/>
            </a:avLst>
          </a:prstGeom>
          <a:solidFill>
            <a:srgbClr val="1558A8"/>
          </a:solidFill>
          <a:ln w="12700">
            <a:solidFill>
              <a:srgbClr val="1558A8"/>
            </a:solidFill>
            <a:prstDash val="solid"/>
          </a:ln>
        </p:spPr>
      </p:sp>
      <p:sp>
        <p:nvSpPr>
          <p:cNvPr id="67" name="Text 65"/>
          <p:cNvSpPr/>
          <p:nvPr/>
        </p:nvSpPr>
        <p:spPr>
          <a:xfrm>
            <a:off x="3200400" y="230124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8" name="Shape 66"/>
          <p:cNvSpPr/>
          <p:nvPr/>
        </p:nvSpPr>
        <p:spPr>
          <a:xfrm>
            <a:off x="4215384" y="2090928"/>
            <a:ext cx="932688" cy="182880"/>
          </a:xfrm>
          <a:prstGeom prst="roundRect">
            <a:avLst>
              <a:gd name="adj" fmla="val 15000"/>
            </a:avLst>
          </a:prstGeom>
          <a:solidFill>
            <a:srgbClr val="FFFFFF"/>
          </a:solidFill>
          <a:ln w="9525">
            <a:solidFill>
              <a:srgbClr val="CBD5E1"/>
            </a:solidFill>
            <a:prstDash val="solid"/>
          </a:ln>
        </p:spPr>
      </p:sp>
      <p:sp>
        <p:nvSpPr>
          <p:cNvPr id="69" name="Text 67"/>
          <p:cNvSpPr/>
          <p:nvPr/>
        </p:nvSpPr>
        <p:spPr>
          <a:xfrm>
            <a:off x="4215384" y="209092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Widevine DRM</a:t>
            </a:r>
            <a:endParaRPr lang="en-US" sz="750" dirty="0"/>
          </a:p>
        </p:txBody>
      </p:sp>
      <p:sp>
        <p:nvSpPr>
          <p:cNvPr id="70" name="Shape 68"/>
          <p:cNvSpPr/>
          <p:nvPr/>
        </p:nvSpPr>
        <p:spPr>
          <a:xfrm>
            <a:off x="4215384" y="2301240"/>
            <a:ext cx="932688" cy="155448"/>
          </a:xfrm>
          <a:prstGeom prst="roundRect">
            <a:avLst>
              <a:gd name="adj" fmla="val 17647"/>
            </a:avLst>
          </a:prstGeom>
          <a:solidFill>
            <a:srgbClr val="1558A8"/>
          </a:solidFill>
          <a:ln w="12700">
            <a:solidFill>
              <a:srgbClr val="1558A8"/>
            </a:solidFill>
            <a:prstDash val="solid"/>
          </a:ln>
        </p:spPr>
      </p:sp>
      <p:sp>
        <p:nvSpPr>
          <p:cNvPr id="71" name="Text 69"/>
          <p:cNvSpPr/>
          <p:nvPr/>
        </p:nvSpPr>
        <p:spPr>
          <a:xfrm>
            <a:off x="4215384" y="230124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72" name="Shape 70"/>
          <p:cNvSpPr/>
          <p:nvPr/>
        </p:nvSpPr>
        <p:spPr>
          <a:xfrm>
            <a:off x="5230368" y="2090928"/>
            <a:ext cx="932688" cy="182880"/>
          </a:xfrm>
          <a:prstGeom prst="roundRect">
            <a:avLst>
              <a:gd name="adj" fmla="val 15000"/>
            </a:avLst>
          </a:prstGeom>
          <a:solidFill>
            <a:srgbClr val="FFFFFF"/>
          </a:solidFill>
          <a:ln w="9525">
            <a:solidFill>
              <a:srgbClr val="CBD5E1"/>
            </a:solidFill>
            <a:prstDash val="solid"/>
          </a:ln>
        </p:spPr>
      </p:sp>
      <p:sp>
        <p:nvSpPr>
          <p:cNvPr id="73" name="Text 71"/>
          <p:cNvSpPr/>
          <p:nvPr/>
        </p:nvSpPr>
        <p:spPr>
          <a:xfrm>
            <a:off x="5230368" y="209092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VOD Streams</a:t>
            </a:r>
            <a:endParaRPr lang="en-US" sz="750" dirty="0"/>
          </a:p>
        </p:txBody>
      </p:sp>
      <p:sp>
        <p:nvSpPr>
          <p:cNvPr id="74" name="Shape 72"/>
          <p:cNvSpPr/>
          <p:nvPr/>
        </p:nvSpPr>
        <p:spPr>
          <a:xfrm>
            <a:off x="5230368" y="2301240"/>
            <a:ext cx="932688" cy="155448"/>
          </a:xfrm>
          <a:prstGeom prst="roundRect">
            <a:avLst>
              <a:gd name="adj" fmla="val 17647"/>
            </a:avLst>
          </a:prstGeom>
          <a:solidFill>
            <a:srgbClr val="1558A8"/>
          </a:solidFill>
          <a:ln w="12700">
            <a:solidFill>
              <a:srgbClr val="1558A8"/>
            </a:solidFill>
            <a:prstDash val="solid"/>
          </a:ln>
        </p:spPr>
      </p:sp>
      <p:sp>
        <p:nvSpPr>
          <p:cNvPr id="75" name="Text 73"/>
          <p:cNvSpPr/>
          <p:nvPr/>
        </p:nvSpPr>
        <p:spPr>
          <a:xfrm>
            <a:off x="5230368" y="230124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76" name="Shape 74"/>
          <p:cNvSpPr/>
          <p:nvPr/>
        </p:nvSpPr>
        <p:spPr>
          <a:xfrm>
            <a:off x="6245352" y="2090928"/>
            <a:ext cx="932688" cy="182880"/>
          </a:xfrm>
          <a:prstGeom prst="roundRect">
            <a:avLst>
              <a:gd name="adj" fmla="val 15000"/>
            </a:avLst>
          </a:prstGeom>
          <a:solidFill>
            <a:srgbClr val="FFFFFF"/>
          </a:solidFill>
          <a:ln w="9525">
            <a:solidFill>
              <a:srgbClr val="CBD5E1"/>
            </a:solidFill>
            <a:prstDash val="solid"/>
          </a:ln>
        </p:spPr>
      </p:sp>
      <p:sp>
        <p:nvSpPr>
          <p:cNvPr id="77" name="Text 75"/>
          <p:cNvSpPr/>
          <p:nvPr/>
        </p:nvSpPr>
        <p:spPr>
          <a:xfrm>
            <a:off x="6245352" y="209092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Linear</a:t>
            </a:r>
            <a:endParaRPr lang="en-US" sz="750" dirty="0"/>
          </a:p>
        </p:txBody>
      </p:sp>
      <p:sp>
        <p:nvSpPr>
          <p:cNvPr id="78" name="Shape 76"/>
          <p:cNvSpPr/>
          <p:nvPr/>
        </p:nvSpPr>
        <p:spPr>
          <a:xfrm>
            <a:off x="6245352" y="2301240"/>
            <a:ext cx="932688" cy="155448"/>
          </a:xfrm>
          <a:prstGeom prst="roundRect">
            <a:avLst>
              <a:gd name="adj" fmla="val 17647"/>
            </a:avLst>
          </a:prstGeom>
          <a:solidFill>
            <a:srgbClr val="1558A8"/>
          </a:solidFill>
          <a:ln w="12700">
            <a:solidFill>
              <a:srgbClr val="1558A8"/>
            </a:solidFill>
            <a:prstDash val="solid"/>
          </a:ln>
        </p:spPr>
      </p:sp>
      <p:sp>
        <p:nvSpPr>
          <p:cNvPr id="79" name="Text 77"/>
          <p:cNvSpPr/>
          <p:nvPr/>
        </p:nvSpPr>
        <p:spPr>
          <a:xfrm>
            <a:off x="6245352" y="230124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80" name="Shape 78"/>
          <p:cNvSpPr/>
          <p:nvPr/>
        </p:nvSpPr>
        <p:spPr>
          <a:xfrm>
            <a:off x="164592" y="2846832"/>
            <a:ext cx="9116568" cy="966216"/>
          </a:xfrm>
          <a:prstGeom prst="rect">
            <a:avLst/>
          </a:prstGeom>
          <a:solidFill>
            <a:srgbClr val="FAFBFC"/>
          </a:solidFill>
          <a:ln w="6350">
            <a:solidFill>
              <a:srgbClr val="E5E7EB"/>
            </a:solidFill>
            <a:prstDash val="solid"/>
          </a:ln>
        </p:spPr>
      </p:sp>
      <p:sp>
        <p:nvSpPr>
          <p:cNvPr id="81" name="Shape 79"/>
          <p:cNvSpPr/>
          <p:nvPr/>
        </p:nvSpPr>
        <p:spPr>
          <a:xfrm>
            <a:off x="182880" y="2919984"/>
            <a:ext cx="859536" cy="819912"/>
          </a:xfrm>
          <a:prstGeom prst="roundRect">
            <a:avLst>
              <a:gd name="adj" fmla="val 5576"/>
            </a:avLst>
          </a:prstGeom>
          <a:solidFill>
            <a:srgbClr val="9CA3AF"/>
          </a:solidFill>
          <a:ln w="12700">
            <a:solidFill>
              <a:srgbClr val="9CA3AF"/>
            </a:solidFill>
            <a:prstDash val="solid"/>
          </a:ln>
        </p:spPr>
      </p:sp>
      <p:sp>
        <p:nvSpPr>
          <p:cNvPr id="82" name="Text 80"/>
          <p:cNvSpPr/>
          <p:nvPr/>
        </p:nvSpPr>
        <p:spPr>
          <a:xfrm>
            <a:off x="182880" y="2919984"/>
            <a:ext cx="859536" cy="819912"/>
          </a:xfrm>
          <a:prstGeom prst="rect">
            <a:avLst/>
          </a:prstGeom>
          <a:noFill/>
          <a:ln/>
        </p:spPr>
        <p:txBody>
          <a:bodyPr wrap="square" lIns="0" tIns="0" rIns="0" bIns="0" rtlCol="0" anchor="ctr"/>
          <a:lstStyle/>
          <a:p>
            <a:pPr algn="ctr" indent="0" marL="0">
              <a:buNone/>
            </a:pPr>
            <a:r>
              <a:rPr lang="en-US" sz="800" b="1" dirty="0">
                <a:solidFill>
                  <a:srgbClr val="FFFFFF"/>
                </a:solidFill>
              </a:rPr>
              <a:t>Player</a:t>
            </a:r>
            <a:endParaRPr lang="en-US" sz="800" dirty="0"/>
          </a:p>
        </p:txBody>
      </p:sp>
      <p:sp>
        <p:nvSpPr>
          <p:cNvPr id="83" name="Text 81"/>
          <p:cNvSpPr/>
          <p:nvPr/>
        </p:nvSpPr>
        <p:spPr>
          <a:xfrm>
            <a:off x="1170432" y="289255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5 / 5 In Progress</a:t>
            </a:r>
            <a:endParaRPr lang="en-US" sz="750" dirty="0"/>
          </a:p>
        </p:txBody>
      </p:sp>
      <p:sp>
        <p:nvSpPr>
          <p:cNvPr id="84" name="Shape 82"/>
          <p:cNvSpPr/>
          <p:nvPr/>
        </p:nvSpPr>
        <p:spPr>
          <a:xfrm>
            <a:off x="1170432" y="3112008"/>
            <a:ext cx="932688" cy="182880"/>
          </a:xfrm>
          <a:prstGeom prst="roundRect">
            <a:avLst>
              <a:gd name="adj" fmla="val 15000"/>
            </a:avLst>
          </a:prstGeom>
          <a:solidFill>
            <a:srgbClr val="FFFFFF"/>
          </a:solidFill>
          <a:ln w="9525">
            <a:solidFill>
              <a:srgbClr val="CBD5E1"/>
            </a:solidFill>
            <a:prstDash val="solid"/>
          </a:ln>
        </p:spPr>
      </p:sp>
      <p:sp>
        <p:nvSpPr>
          <p:cNvPr id="85" name="Text 83"/>
          <p:cNvSpPr/>
          <p:nvPr/>
        </p:nvSpPr>
        <p:spPr>
          <a:xfrm>
            <a:off x="1170432" y="31120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Web Player</a:t>
            </a:r>
            <a:endParaRPr lang="en-US" sz="750" dirty="0"/>
          </a:p>
        </p:txBody>
      </p:sp>
      <p:sp>
        <p:nvSpPr>
          <p:cNvPr id="86" name="Shape 84"/>
          <p:cNvSpPr/>
          <p:nvPr/>
        </p:nvSpPr>
        <p:spPr>
          <a:xfrm>
            <a:off x="1170432" y="3322320"/>
            <a:ext cx="932688" cy="155448"/>
          </a:xfrm>
          <a:prstGeom prst="roundRect">
            <a:avLst>
              <a:gd name="adj" fmla="val 17647"/>
            </a:avLst>
          </a:prstGeom>
          <a:solidFill>
            <a:srgbClr val="1558A8"/>
          </a:solidFill>
          <a:ln w="12700">
            <a:solidFill>
              <a:srgbClr val="1558A8"/>
            </a:solidFill>
            <a:prstDash val="solid"/>
          </a:ln>
        </p:spPr>
      </p:sp>
      <p:sp>
        <p:nvSpPr>
          <p:cNvPr id="87" name="Text 85"/>
          <p:cNvSpPr/>
          <p:nvPr/>
        </p:nvSpPr>
        <p:spPr>
          <a:xfrm>
            <a:off x="1170432" y="33223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88" name="Shape 86"/>
          <p:cNvSpPr/>
          <p:nvPr/>
        </p:nvSpPr>
        <p:spPr>
          <a:xfrm>
            <a:off x="2185416" y="3112008"/>
            <a:ext cx="932688" cy="182880"/>
          </a:xfrm>
          <a:prstGeom prst="roundRect">
            <a:avLst>
              <a:gd name="adj" fmla="val 15000"/>
            </a:avLst>
          </a:prstGeom>
          <a:solidFill>
            <a:srgbClr val="FFFFFF"/>
          </a:solidFill>
          <a:ln w="9525">
            <a:solidFill>
              <a:srgbClr val="CBD5E1"/>
            </a:solidFill>
            <a:prstDash val="solid"/>
          </a:ln>
        </p:spPr>
      </p:sp>
      <p:sp>
        <p:nvSpPr>
          <p:cNvPr id="89" name="Text 87"/>
          <p:cNvSpPr/>
          <p:nvPr/>
        </p:nvSpPr>
        <p:spPr>
          <a:xfrm>
            <a:off x="2185416" y="31120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iOS Player</a:t>
            </a:r>
            <a:endParaRPr lang="en-US" sz="750" dirty="0"/>
          </a:p>
        </p:txBody>
      </p:sp>
      <p:sp>
        <p:nvSpPr>
          <p:cNvPr id="90" name="Shape 88"/>
          <p:cNvSpPr/>
          <p:nvPr/>
        </p:nvSpPr>
        <p:spPr>
          <a:xfrm>
            <a:off x="2185416" y="3322320"/>
            <a:ext cx="932688" cy="155448"/>
          </a:xfrm>
          <a:prstGeom prst="roundRect">
            <a:avLst>
              <a:gd name="adj" fmla="val 17647"/>
            </a:avLst>
          </a:prstGeom>
          <a:solidFill>
            <a:srgbClr val="1558A8"/>
          </a:solidFill>
          <a:ln w="12700">
            <a:solidFill>
              <a:srgbClr val="1558A8"/>
            </a:solidFill>
            <a:prstDash val="solid"/>
          </a:ln>
        </p:spPr>
      </p:sp>
      <p:sp>
        <p:nvSpPr>
          <p:cNvPr id="91" name="Text 89"/>
          <p:cNvSpPr/>
          <p:nvPr/>
        </p:nvSpPr>
        <p:spPr>
          <a:xfrm>
            <a:off x="2185416" y="33223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92" name="Shape 90"/>
          <p:cNvSpPr/>
          <p:nvPr/>
        </p:nvSpPr>
        <p:spPr>
          <a:xfrm>
            <a:off x="3200400" y="3112008"/>
            <a:ext cx="932688" cy="182880"/>
          </a:xfrm>
          <a:prstGeom prst="roundRect">
            <a:avLst>
              <a:gd name="adj" fmla="val 15000"/>
            </a:avLst>
          </a:prstGeom>
          <a:solidFill>
            <a:srgbClr val="FFFFFF"/>
          </a:solidFill>
          <a:ln w="9525">
            <a:solidFill>
              <a:srgbClr val="CBD5E1"/>
            </a:solidFill>
            <a:prstDash val="solid"/>
          </a:ln>
        </p:spPr>
      </p:sp>
      <p:sp>
        <p:nvSpPr>
          <p:cNvPr id="93" name="Text 91"/>
          <p:cNvSpPr/>
          <p:nvPr/>
        </p:nvSpPr>
        <p:spPr>
          <a:xfrm>
            <a:off x="3200400" y="31120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Android Player</a:t>
            </a:r>
            <a:endParaRPr lang="en-US" sz="750" dirty="0"/>
          </a:p>
        </p:txBody>
      </p:sp>
      <p:sp>
        <p:nvSpPr>
          <p:cNvPr id="94" name="Shape 92"/>
          <p:cNvSpPr/>
          <p:nvPr/>
        </p:nvSpPr>
        <p:spPr>
          <a:xfrm>
            <a:off x="3200400" y="3322320"/>
            <a:ext cx="932688" cy="155448"/>
          </a:xfrm>
          <a:prstGeom prst="roundRect">
            <a:avLst>
              <a:gd name="adj" fmla="val 17647"/>
            </a:avLst>
          </a:prstGeom>
          <a:solidFill>
            <a:srgbClr val="1558A8"/>
          </a:solidFill>
          <a:ln w="12700">
            <a:solidFill>
              <a:srgbClr val="1558A8"/>
            </a:solidFill>
            <a:prstDash val="solid"/>
          </a:ln>
        </p:spPr>
      </p:sp>
      <p:sp>
        <p:nvSpPr>
          <p:cNvPr id="95" name="Text 93"/>
          <p:cNvSpPr/>
          <p:nvPr/>
        </p:nvSpPr>
        <p:spPr>
          <a:xfrm>
            <a:off x="3200400" y="33223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96" name="Shape 94"/>
          <p:cNvSpPr/>
          <p:nvPr/>
        </p:nvSpPr>
        <p:spPr>
          <a:xfrm>
            <a:off x="4215384" y="3112008"/>
            <a:ext cx="932688" cy="182880"/>
          </a:xfrm>
          <a:prstGeom prst="roundRect">
            <a:avLst>
              <a:gd name="adj" fmla="val 15000"/>
            </a:avLst>
          </a:prstGeom>
          <a:solidFill>
            <a:srgbClr val="FFFFFF"/>
          </a:solidFill>
          <a:ln w="9525">
            <a:solidFill>
              <a:srgbClr val="CBD5E1"/>
            </a:solidFill>
            <a:prstDash val="solid"/>
          </a:ln>
        </p:spPr>
      </p:sp>
      <p:sp>
        <p:nvSpPr>
          <p:cNvPr id="97" name="Text 95"/>
          <p:cNvSpPr/>
          <p:nvPr/>
        </p:nvSpPr>
        <p:spPr>
          <a:xfrm>
            <a:off x="4215384" y="31120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HLS/DASH PB</a:t>
            </a:r>
            <a:endParaRPr lang="en-US" sz="750" dirty="0"/>
          </a:p>
        </p:txBody>
      </p:sp>
      <p:sp>
        <p:nvSpPr>
          <p:cNvPr id="98" name="Shape 96"/>
          <p:cNvSpPr/>
          <p:nvPr/>
        </p:nvSpPr>
        <p:spPr>
          <a:xfrm>
            <a:off x="4215384" y="3322320"/>
            <a:ext cx="932688" cy="155448"/>
          </a:xfrm>
          <a:prstGeom prst="roundRect">
            <a:avLst>
              <a:gd name="adj" fmla="val 17647"/>
            </a:avLst>
          </a:prstGeom>
          <a:solidFill>
            <a:srgbClr val="1558A8"/>
          </a:solidFill>
          <a:ln w="12700">
            <a:solidFill>
              <a:srgbClr val="1558A8"/>
            </a:solidFill>
            <a:prstDash val="solid"/>
          </a:ln>
        </p:spPr>
      </p:sp>
      <p:sp>
        <p:nvSpPr>
          <p:cNvPr id="99" name="Text 97"/>
          <p:cNvSpPr/>
          <p:nvPr/>
        </p:nvSpPr>
        <p:spPr>
          <a:xfrm>
            <a:off x="4215384" y="33223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00" name="Shape 98"/>
          <p:cNvSpPr/>
          <p:nvPr/>
        </p:nvSpPr>
        <p:spPr>
          <a:xfrm>
            <a:off x="5230368" y="3112008"/>
            <a:ext cx="932688" cy="182880"/>
          </a:xfrm>
          <a:prstGeom prst="roundRect">
            <a:avLst>
              <a:gd name="adj" fmla="val 15000"/>
            </a:avLst>
          </a:prstGeom>
          <a:solidFill>
            <a:srgbClr val="FFFFFF"/>
          </a:solidFill>
          <a:ln w="9525">
            <a:solidFill>
              <a:srgbClr val="CBD5E1"/>
            </a:solidFill>
            <a:prstDash val="solid"/>
          </a:ln>
        </p:spPr>
      </p:sp>
      <p:sp>
        <p:nvSpPr>
          <p:cNvPr id="101" name="Text 99"/>
          <p:cNvSpPr/>
          <p:nvPr/>
        </p:nvSpPr>
        <p:spPr>
          <a:xfrm>
            <a:off x="5230368" y="31120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Bitmovin QOE</a:t>
            </a:r>
            <a:endParaRPr lang="en-US" sz="750" dirty="0"/>
          </a:p>
        </p:txBody>
      </p:sp>
      <p:sp>
        <p:nvSpPr>
          <p:cNvPr id="102" name="Shape 100"/>
          <p:cNvSpPr/>
          <p:nvPr/>
        </p:nvSpPr>
        <p:spPr>
          <a:xfrm>
            <a:off x="5230368" y="3322320"/>
            <a:ext cx="932688" cy="155448"/>
          </a:xfrm>
          <a:prstGeom prst="roundRect">
            <a:avLst>
              <a:gd name="adj" fmla="val 17647"/>
            </a:avLst>
          </a:prstGeom>
          <a:solidFill>
            <a:srgbClr val="1558A8"/>
          </a:solidFill>
          <a:ln w="12700">
            <a:solidFill>
              <a:srgbClr val="1558A8"/>
            </a:solidFill>
            <a:prstDash val="solid"/>
          </a:ln>
        </p:spPr>
      </p:sp>
      <p:sp>
        <p:nvSpPr>
          <p:cNvPr id="103" name="Text 101"/>
          <p:cNvSpPr/>
          <p:nvPr/>
        </p:nvSpPr>
        <p:spPr>
          <a:xfrm>
            <a:off x="5230368" y="33223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04" name="Shape 102"/>
          <p:cNvSpPr/>
          <p:nvPr/>
        </p:nvSpPr>
        <p:spPr>
          <a:xfrm>
            <a:off x="164592" y="3867912"/>
            <a:ext cx="9116568" cy="966216"/>
          </a:xfrm>
          <a:prstGeom prst="rect">
            <a:avLst/>
          </a:prstGeom>
          <a:solidFill>
            <a:srgbClr val="FFFFFF"/>
          </a:solidFill>
          <a:ln w="6350">
            <a:solidFill>
              <a:srgbClr val="E5E7EB"/>
            </a:solidFill>
            <a:prstDash val="solid"/>
          </a:ln>
        </p:spPr>
      </p:sp>
      <p:sp>
        <p:nvSpPr>
          <p:cNvPr id="105" name="Shape 103"/>
          <p:cNvSpPr/>
          <p:nvPr/>
        </p:nvSpPr>
        <p:spPr>
          <a:xfrm>
            <a:off x="182880" y="3941064"/>
            <a:ext cx="859536" cy="819912"/>
          </a:xfrm>
          <a:prstGeom prst="roundRect">
            <a:avLst>
              <a:gd name="adj" fmla="val 5576"/>
            </a:avLst>
          </a:prstGeom>
          <a:solidFill>
            <a:srgbClr val="9CA3AF"/>
          </a:solidFill>
          <a:ln w="12700">
            <a:solidFill>
              <a:srgbClr val="9CA3AF"/>
            </a:solidFill>
            <a:prstDash val="solid"/>
          </a:ln>
        </p:spPr>
      </p:sp>
      <p:sp>
        <p:nvSpPr>
          <p:cNvPr id="106" name="Text 104"/>
          <p:cNvSpPr/>
          <p:nvPr/>
        </p:nvSpPr>
        <p:spPr>
          <a:xfrm>
            <a:off x="182880" y="3941064"/>
            <a:ext cx="859536" cy="819912"/>
          </a:xfrm>
          <a:prstGeom prst="rect">
            <a:avLst/>
          </a:prstGeom>
          <a:noFill/>
          <a:ln/>
        </p:spPr>
        <p:txBody>
          <a:bodyPr wrap="square" lIns="0" tIns="0" rIns="0" bIns="0" rtlCol="0" anchor="ctr"/>
          <a:lstStyle/>
          <a:p>
            <a:pPr algn="ctr" indent="0" marL="0">
              <a:buNone/>
            </a:pPr>
            <a:r>
              <a:rPr lang="en-US" sz="800" b="1" dirty="0">
                <a:solidFill>
                  <a:srgbClr val="FFFFFF"/>
                </a:solidFill>
              </a:rPr>
              <a:t>Merchandising</a:t>
            </a:r>
            <a:endParaRPr lang="en-US" sz="800" dirty="0"/>
          </a:p>
        </p:txBody>
      </p:sp>
      <p:sp>
        <p:nvSpPr>
          <p:cNvPr id="107" name="Text 105"/>
          <p:cNvSpPr/>
          <p:nvPr/>
        </p:nvSpPr>
        <p:spPr>
          <a:xfrm>
            <a:off x="1170432" y="391363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6 / 9 In Progress · 2 Done</a:t>
            </a:r>
            <a:endParaRPr lang="en-US" sz="750" dirty="0"/>
          </a:p>
        </p:txBody>
      </p:sp>
      <p:sp>
        <p:nvSpPr>
          <p:cNvPr id="108" name="Shape 106"/>
          <p:cNvSpPr/>
          <p:nvPr/>
        </p:nvSpPr>
        <p:spPr>
          <a:xfrm>
            <a:off x="1170432" y="4032504"/>
            <a:ext cx="932688" cy="182880"/>
          </a:xfrm>
          <a:prstGeom prst="roundRect">
            <a:avLst>
              <a:gd name="adj" fmla="val 15000"/>
            </a:avLst>
          </a:prstGeom>
          <a:solidFill>
            <a:srgbClr val="FFFFFF"/>
          </a:solidFill>
          <a:ln w="9525">
            <a:solidFill>
              <a:srgbClr val="CBD5E1"/>
            </a:solidFill>
            <a:prstDash val="solid"/>
          </a:ln>
        </p:spPr>
      </p:sp>
      <p:sp>
        <p:nvSpPr>
          <p:cNvPr id="109" name="Text 107"/>
          <p:cNvSpPr/>
          <p:nvPr/>
        </p:nvSpPr>
        <p:spPr>
          <a:xfrm>
            <a:off x="1170432" y="4032504"/>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Metadata</a:t>
            </a:r>
            <a:endParaRPr lang="en-US" sz="750" dirty="0"/>
          </a:p>
        </p:txBody>
      </p:sp>
      <p:sp>
        <p:nvSpPr>
          <p:cNvPr id="110" name="Shape 108"/>
          <p:cNvSpPr/>
          <p:nvPr/>
        </p:nvSpPr>
        <p:spPr>
          <a:xfrm>
            <a:off x="1170432" y="4242816"/>
            <a:ext cx="932688" cy="155448"/>
          </a:xfrm>
          <a:prstGeom prst="roundRect">
            <a:avLst>
              <a:gd name="adj" fmla="val 17647"/>
            </a:avLst>
          </a:prstGeom>
          <a:solidFill>
            <a:srgbClr val="1558A8"/>
          </a:solidFill>
          <a:ln w="12700">
            <a:solidFill>
              <a:srgbClr val="1558A8"/>
            </a:solidFill>
            <a:prstDash val="solid"/>
          </a:ln>
        </p:spPr>
      </p:sp>
      <p:sp>
        <p:nvSpPr>
          <p:cNvPr id="111" name="Text 109"/>
          <p:cNvSpPr/>
          <p:nvPr/>
        </p:nvSpPr>
        <p:spPr>
          <a:xfrm>
            <a:off x="1170432" y="4242816"/>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12" name="Shape 110"/>
          <p:cNvSpPr/>
          <p:nvPr/>
        </p:nvSpPr>
        <p:spPr>
          <a:xfrm>
            <a:off x="2185416" y="4032504"/>
            <a:ext cx="932688" cy="182880"/>
          </a:xfrm>
          <a:prstGeom prst="roundRect">
            <a:avLst>
              <a:gd name="adj" fmla="val 15000"/>
            </a:avLst>
          </a:prstGeom>
          <a:solidFill>
            <a:srgbClr val="FFFFFF"/>
          </a:solidFill>
          <a:ln w="9525">
            <a:solidFill>
              <a:srgbClr val="CBD5E1"/>
            </a:solidFill>
            <a:prstDash val="solid"/>
          </a:ln>
        </p:spPr>
      </p:sp>
      <p:sp>
        <p:nvSpPr>
          <p:cNvPr id="113" name="Text 111"/>
          <p:cNvSpPr/>
          <p:nvPr/>
        </p:nvSpPr>
        <p:spPr>
          <a:xfrm>
            <a:off x="2185416" y="4032504"/>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Images</a:t>
            </a:r>
            <a:endParaRPr lang="en-US" sz="750" dirty="0"/>
          </a:p>
        </p:txBody>
      </p:sp>
      <p:sp>
        <p:nvSpPr>
          <p:cNvPr id="114" name="Shape 112"/>
          <p:cNvSpPr/>
          <p:nvPr/>
        </p:nvSpPr>
        <p:spPr>
          <a:xfrm>
            <a:off x="2185416" y="4242816"/>
            <a:ext cx="932688" cy="155448"/>
          </a:xfrm>
          <a:prstGeom prst="roundRect">
            <a:avLst>
              <a:gd name="adj" fmla="val 17647"/>
            </a:avLst>
          </a:prstGeom>
          <a:solidFill>
            <a:srgbClr val="1558A8"/>
          </a:solidFill>
          <a:ln w="12700">
            <a:solidFill>
              <a:srgbClr val="1558A8"/>
            </a:solidFill>
            <a:prstDash val="solid"/>
          </a:ln>
        </p:spPr>
      </p:sp>
      <p:sp>
        <p:nvSpPr>
          <p:cNvPr id="115" name="Text 113"/>
          <p:cNvSpPr/>
          <p:nvPr/>
        </p:nvSpPr>
        <p:spPr>
          <a:xfrm>
            <a:off x="2185416" y="4242816"/>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16" name="Shape 114"/>
          <p:cNvSpPr/>
          <p:nvPr/>
        </p:nvSpPr>
        <p:spPr>
          <a:xfrm>
            <a:off x="3200400" y="4032504"/>
            <a:ext cx="932688" cy="182880"/>
          </a:xfrm>
          <a:prstGeom prst="roundRect">
            <a:avLst>
              <a:gd name="adj" fmla="val 15000"/>
            </a:avLst>
          </a:prstGeom>
          <a:solidFill>
            <a:srgbClr val="FFFFFF"/>
          </a:solidFill>
          <a:ln w="9525">
            <a:solidFill>
              <a:srgbClr val="CBD5E1"/>
            </a:solidFill>
            <a:prstDash val="solid"/>
          </a:ln>
        </p:spPr>
      </p:sp>
      <p:sp>
        <p:nvSpPr>
          <p:cNvPr id="117" name="Text 115"/>
          <p:cNvSpPr/>
          <p:nvPr/>
        </p:nvSpPr>
        <p:spPr>
          <a:xfrm>
            <a:off x="3200400" y="4032504"/>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Carousels</a:t>
            </a:r>
            <a:endParaRPr lang="en-US" sz="750" dirty="0"/>
          </a:p>
        </p:txBody>
      </p:sp>
      <p:sp>
        <p:nvSpPr>
          <p:cNvPr id="118" name="Shape 116"/>
          <p:cNvSpPr/>
          <p:nvPr/>
        </p:nvSpPr>
        <p:spPr>
          <a:xfrm>
            <a:off x="3200400" y="4242816"/>
            <a:ext cx="932688" cy="155448"/>
          </a:xfrm>
          <a:prstGeom prst="roundRect">
            <a:avLst>
              <a:gd name="adj" fmla="val 17647"/>
            </a:avLst>
          </a:prstGeom>
          <a:solidFill>
            <a:srgbClr val="1558A8"/>
          </a:solidFill>
          <a:ln w="12700">
            <a:solidFill>
              <a:srgbClr val="1558A8"/>
            </a:solidFill>
            <a:prstDash val="solid"/>
          </a:ln>
        </p:spPr>
      </p:sp>
      <p:sp>
        <p:nvSpPr>
          <p:cNvPr id="119" name="Text 117"/>
          <p:cNvSpPr/>
          <p:nvPr/>
        </p:nvSpPr>
        <p:spPr>
          <a:xfrm>
            <a:off x="3200400" y="4242816"/>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20" name="Shape 118"/>
          <p:cNvSpPr/>
          <p:nvPr/>
        </p:nvSpPr>
        <p:spPr>
          <a:xfrm>
            <a:off x="4215384" y="4032504"/>
            <a:ext cx="932688" cy="182880"/>
          </a:xfrm>
          <a:prstGeom prst="roundRect">
            <a:avLst>
              <a:gd name="adj" fmla="val 15000"/>
            </a:avLst>
          </a:prstGeom>
          <a:solidFill>
            <a:srgbClr val="FFFFFF"/>
          </a:solidFill>
          <a:ln w="9525">
            <a:solidFill>
              <a:srgbClr val="CBD5E1"/>
            </a:solidFill>
            <a:prstDash val="solid"/>
          </a:ln>
        </p:spPr>
      </p:sp>
      <p:sp>
        <p:nvSpPr>
          <p:cNvPr id="121" name="Text 119"/>
          <p:cNvSpPr/>
          <p:nvPr/>
        </p:nvSpPr>
        <p:spPr>
          <a:xfrm>
            <a:off x="4215384" y="4032504"/>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Live Events</a:t>
            </a:r>
            <a:endParaRPr lang="en-US" sz="750" dirty="0"/>
          </a:p>
        </p:txBody>
      </p:sp>
      <p:sp>
        <p:nvSpPr>
          <p:cNvPr id="122" name="Shape 120"/>
          <p:cNvSpPr/>
          <p:nvPr/>
        </p:nvSpPr>
        <p:spPr>
          <a:xfrm>
            <a:off x="4215384" y="4242816"/>
            <a:ext cx="932688" cy="155448"/>
          </a:xfrm>
          <a:prstGeom prst="roundRect">
            <a:avLst>
              <a:gd name="adj" fmla="val 17647"/>
            </a:avLst>
          </a:prstGeom>
          <a:solidFill>
            <a:srgbClr val="1558A8"/>
          </a:solidFill>
          <a:ln w="12700">
            <a:solidFill>
              <a:srgbClr val="1558A8"/>
            </a:solidFill>
            <a:prstDash val="solid"/>
          </a:ln>
        </p:spPr>
      </p:sp>
      <p:sp>
        <p:nvSpPr>
          <p:cNvPr id="123" name="Text 121"/>
          <p:cNvSpPr/>
          <p:nvPr/>
        </p:nvSpPr>
        <p:spPr>
          <a:xfrm>
            <a:off x="4215384" y="4242816"/>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24" name="Shape 122"/>
          <p:cNvSpPr/>
          <p:nvPr/>
        </p:nvSpPr>
        <p:spPr>
          <a:xfrm>
            <a:off x="5230368" y="4032504"/>
            <a:ext cx="932688" cy="182880"/>
          </a:xfrm>
          <a:prstGeom prst="roundRect">
            <a:avLst>
              <a:gd name="adj" fmla="val 15000"/>
            </a:avLst>
          </a:prstGeom>
          <a:solidFill>
            <a:srgbClr val="FFFFFF"/>
          </a:solidFill>
          <a:ln w="9525">
            <a:solidFill>
              <a:srgbClr val="CBD5E1"/>
            </a:solidFill>
            <a:prstDash val="solid"/>
          </a:ln>
        </p:spPr>
      </p:sp>
      <p:sp>
        <p:nvSpPr>
          <p:cNvPr id="125" name="Text 123"/>
          <p:cNvSpPr/>
          <p:nvPr/>
        </p:nvSpPr>
        <p:spPr>
          <a:xfrm>
            <a:off x="5230368" y="4032504"/>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Back Catalog</a:t>
            </a:r>
            <a:endParaRPr lang="en-US" sz="750" dirty="0"/>
          </a:p>
        </p:txBody>
      </p:sp>
      <p:sp>
        <p:nvSpPr>
          <p:cNvPr id="126" name="Shape 124"/>
          <p:cNvSpPr/>
          <p:nvPr/>
        </p:nvSpPr>
        <p:spPr>
          <a:xfrm>
            <a:off x="5230368" y="4242816"/>
            <a:ext cx="932688" cy="155448"/>
          </a:xfrm>
          <a:prstGeom prst="roundRect">
            <a:avLst>
              <a:gd name="adj" fmla="val 17647"/>
            </a:avLst>
          </a:prstGeom>
          <a:solidFill>
            <a:srgbClr val="F3F4F6"/>
          </a:solidFill>
          <a:ln w="9525">
            <a:solidFill>
              <a:srgbClr val="D1D5DB"/>
            </a:solidFill>
            <a:prstDash val="solid"/>
          </a:ln>
        </p:spPr>
      </p:sp>
      <p:sp>
        <p:nvSpPr>
          <p:cNvPr id="127" name="Text 125"/>
          <p:cNvSpPr/>
          <p:nvPr/>
        </p:nvSpPr>
        <p:spPr>
          <a:xfrm>
            <a:off x="5230368" y="4242816"/>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28" name="Shape 126"/>
          <p:cNvSpPr/>
          <p:nvPr/>
        </p:nvSpPr>
        <p:spPr>
          <a:xfrm>
            <a:off x="6245352" y="4032504"/>
            <a:ext cx="932688" cy="182880"/>
          </a:xfrm>
          <a:prstGeom prst="roundRect">
            <a:avLst>
              <a:gd name="adj" fmla="val 15000"/>
            </a:avLst>
          </a:prstGeom>
          <a:solidFill>
            <a:srgbClr val="FFFFFF"/>
          </a:solidFill>
          <a:ln w="9525">
            <a:solidFill>
              <a:srgbClr val="CBD5E1"/>
            </a:solidFill>
            <a:prstDash val="solid"/>
          </a:ln>
        </p:spPr>
      </p:sp>
      <p:sp>
        <p:nvSpPr>
          <p:cNvPr id="129" name="Text 127"/>
          <p:cNvSpPr/>
          <p:nvPr/>
        </p:nvSpPr>
        <p:spPr>
          <a:xfrm>
            <a:off x="6245352" y="4032504"/>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Full Replays</a:t>
            </a:r>
            <a:endParaRPr lang="en-US" sz="750" dirty="0"/>
          </a:p>
        </p:txBody>
      </p:sp>
      <p:sp>
        <p:nvSpPr>
          <p:cNvPr id="130" name="Shape 128"/>
          <p:cNvSpPr/>
          <p:nvPr/>
        </p:nvSpPr>
        <p:spPr>
          <a:xfrm>
            <a:off x="6245352" y="4242816"/>
            <a:ext cx="932688" cy="155448"/>
          </a:xfrm>
          <a:prstGeom prst="roundRect">
            <a:avLst>
              <a:gd name="adj" fmla="val 17647"/>
            </a:avLst>
          </a:prstGeom>
          <a:solidFill>
            <a:srgbClr val="1558A8"/>
          </a:solidFill>
          <a:ln w="12700">
            <a:solidFill>
              <a:srgbClr val="1558A8"/>
            </a:solidFill>
            <a:prstDash val="solid"/>
          </a:ln>
        </p:spPr>
      </p:sp>
      <p:sp>
        <p:nvSpPr>
          <p:cNvPr id="131" name="Text 129"/>
          <p:cNvSpPr/>
          <p:nvPr/>
        </p:nvSpPr>
        <p:spPr>
          <a:xfrm>
            <a:off x="6245352" y="4242816"/>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32" name="Shape 130"/>
          <p:cNvSpPr/>
          <p:nvPr/>
        </p:nvSpPr>
        <p:spPr>
          <a:xfrm>
            <a:off x="7260336" y="4032504"/>
            <a:ext cx="932688" cy="182880"/>
          </a:xfrm>
          <a:prstGeom prst="roundRect">
            <a:avLst>
              <a:gd name="adj" fmla="val 15000"/>
            </a:avLst>
          </a:prstGeom>
          <a:solidFill>
            <a:srgbClr val="FFFFFF"/>
          </a:solidFill>
          <a:ln w="9525">
            <a:solidFill>
              <a:srgbClr val="CBD5E1"/>
            </a:solidFill>
            <a:prstDash val="solid"/>
          </a:ln>
        </p:spPr>
      </p:sp>
      <p:sp>
        <p:nvSpPr>
          <p:cNvPr id="133" name="Text 131"/>
          <p:cNvSpPr/>
          <p:nvPr/>
        </p:nvSpPr>
        <p:spPr>
          <a:xfrm>
            <a:off x="7260336" y="4032504"/>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M15</a:t>
            </a:r>
            <a:endParaRPr lang="en-US" sz="750" dirty="0"/>
          </a:p>
        </p:txBody>
      </p:sp>
      <p:sp>
        <p:nvSpPr>
          <p:cNvPr id="134" name="Shape 132"/>
          <p:cNvSpPr/>
          <p:nvPr/>
        </p:nvSpPr>
        <p:spPr>
          <a:xfrm>
            <a:off x="7260336" y="4242816"/>
            <a:ext cx="932688" cy="155448"/>
          </a:xfrm>
          <a:prstGeom prst="roundRect">
            <a:avLst>
              <a:gd name="adj" fmla="val 17647"/>
            </a:avLst>
          </a:prstGeom>
          <a:solidFill>
            <a:srgbClr val="DCFCE7"/>
          </a:solidFill>
          <a:ln w="12700">
            <a:solidFill>
              <a:srgbClr val="15803D"/>
            </a:solidFill>
            <a:prstDash val="solid"/>
          </a:ln>
        </p:spPr>
      </p:sp>
      <p:sp>
        <p:nvSpPr>
          <p:cNvPr id="135" name="Text 133"/>
          <p:cNvSpPr/>
          <p:nvPr/>
        </p:nvSpPr>
        <p:spPr>
          <a:xfrm>
            <a:off x="7260336" y="4242816"/>
            <a:ext cx="932688" cy="155448"/>
          </a:xfrm>
          <a:prstGeom prst="rect">
            <a:avLst/>
          </a:prstGeom>
          <a:noFill/>
          <a:ln/>
        </p:spPr>
        <p:txBody>
          <a:bodyPr wrap="square" lIns="0" tIns="0" rIns="0" bIns="0" rtlCol="0" anchor="ctr"/>
          <a:lstStyle/>
          <a:p>
            <a:pPr algn="ctr" indent="0" marL="0">
              <a:buNone/>
            </a:pPr>
            <a:r>
              <a:rPr lang="en-US" sz="700" dirty="0">
                <a:solidFill>
                  <a:srgbClr val="14532D"/>
                </a:solidFill>
              </a:rPr>
              <a:t>Done</a:t>
            </a:r>
            <a:endParaRPr lang="en-US" sz="700" dirty="0"/>
          </a:p>
        </p:txBody>
      </p:sp>
      <p:sp>
        <p:nvSpPr>
          <p:cNvPr id="136" name="Shape 134"/>
          <p:cNvSpPr/>
          <p:nvPr/>
        </p:nvSpPr>
        <p:spPr>
          <a:xfrm>
            <a:off x="8275320" y="4032504"/>
            <a:ext cx="932688" cy="182880"/>
          </a:xfrm>
          <a:prstGeom prst="roundRect">
            <a:avLst>
              <a:gd name="adj" fmla="val 15000"/>
            </a:avLst>
          </a:prstGeom>
          <a:solidFill>
            <a:srgbClr val="FFFFFF"/>
          </a:solidFill>
          <a:ln w="9525">
            <a:solidFill>
              <a:srgbClr val="CBD5E1"/>
            </a:solidFill>
            <a:prstDash val="solid"/>
          </a:ln>
        </p:spPr>
      </p:sp>
      <p:sp>
        <p:nvSpPr>
          <p:cNvPr id="137" name="Text 135"/>
          <p:cNvSpPr/>
          <p:nvPr/>
        </p:nvSpPr>
        <p:spPr>
          <a:xfrm>
            <a:off x="8275320" y="4032504"/>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Highlights</a:t>
            </a:r>
            <a:endParaRPr lang="en-US" sz="750" dirty="0"/>
          </a:p>
        </p:txBody>
      </p:sp>
      <p:sp>
        <p:nvSpPr>
          <p:cNvPr id="138" name="Shape 136"/>
          <p:cNvSpPr/>
          <p:nvPr/>
        </p:nvSpPr>
        <p:spPr>
          <a:xfrm>
            <a:off x="8275320" y="4242816"/>
            <a:ext cx="932688" cy="155448"/>
          </a:xfrm>
          <a:prstGeom prst="roundRect">
            <a:avLst>
              <a:gd name="adj" fmla="val 17647"/>
            </a:avLst>
          </a:prstGeom>
          <a:solidFill>
            <a:srgbClr val="DCFCE7"/>
          </a:solidFill>
          <a:ln w="12700">
            <a:solidFill>
              <a:srgbClr val="15803D"/>
            </a:solidFill>
            <a:prstDash val="solid"/>
          </a:ln>
        </p:spPr>
      </p:sp>
      <p:sp>
        <p:nvSpPr>
          <p:cNvPr id="139" name="Text 137"/>
          <p:cNvSpPr/>
          <p:nvPr/>
        </p:nvSpPr>
        <p:spPr>
          <a:xfrm>
            <a:off x="8275320" y="4242816"/>
            <a:ext cx="932688" cy="155448"/>
          </a:xfrm>
          <a:prstGeom prst="rect">
            <a:avLst/>
          </a:prstGeom>
          <a:noFill/>
          <a:ln/>
        </p:spPr>
        <p:txBody>
          <a:bodyPr wrap="square" lIns="0" tIns="0" rIns="0" bIns="0" rtlCol="0" anchor="ctr"/>
          <a:lstStyle/>
          <a:p>
            <a:pPr algn="ctr" indent="0" marL="0">
              <a:buNone/>
            </a:pPr>
            <a:r>
              <a:rPr lang="en-US" sz="700" dirty="0">
                <a:solidFill>
                  <a:srgbClr val="14532D"/>
                </a:solidFill>
              </a:rPr>
              <a:t>Done</a:t>
            </a:r>
            <a:endParaRPr lang="en-US" sz="700" dirty="0"/>
          </a:p>
        </p:txBody>
      </p:sp>
      <p:sp>
        <p:nvSpPr>
          <p:cNvPr id="140" name="Shape 138"/>
          <p:cNvSpPr/>
          <p:nvPr/>
        </p:nvSpPr>
        <p:spPr>
          <a:xfrm>
            <a:off x="1170432" y="4431792"/>
            <a:ext cx="932688" cy="182880"/>
          </a:xfrm>
          <a:prstGeom prst="roundRect">
            <a:avLst>
              <a:gd name="adj" fmla="val 15000"/>
            </a:avLst>
          </a:prstGeom>
          <a:solidFill>
            <a:srgbClr val="FFFFFF"/>
          </a:solidFill>
          <a:ln w="9525">
            <a:solidFill>
              <a:srgbClr val="CBD5E1"/>
            </a:solidFill>
            <a:prstDash val="solid"/>
          </a:ln>
        </p:spPr>
      </p:sp>
      <p:sp>
        <p:nvSpPr>
          <p:cNvPr id="141" name="Text 139"/>
          <p:cNvSpPr/>
          <p:nvPr/>
        </p:nvSpPr>
        <p:spPr>
          <a:xfrm>
            <a:off x="1170432" y="4431792"/>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Linear</a:t>
            </a:r>
            <a:endParaRPr lang="en-US" sz="750" dirty="0"/>
          </a:p>
        </p:txBody>
      </p:sp>
      <p:sp>
        <p:nvSpPr>
          <p:cNvPr id="142" name="Shape 140"/>
          <p:cNvSpPr/>
          <p:nvPr/>
        </p:nvSpPr>
        <p:spPr>
          <a:xfrm>
            <a:off x="1170432" y="4642104"/>
            <a:ext cx="932688" cy="155448"/>
          </a:xfrm>
          <a:prstGeom prst="roundRect">
            <a:avLst>
              <a:gd name="adj" fmla="val 17647"/>
            </a:avLst>
          </a:prstGeom>
          <a:solidFill>
            <a:srgbClr val="1558A8"/>
          </a:solidFill>
          <a:ln w="12700">
            <a:solidFill>
              <a:srgbClr val="1558A8"/>
            </a:solidFill>
            <a:prstDash val="solid"/>
          </a:ln>
        </p:spPr>
      </p:sp>
      <p:sp>
        <p:nvSpPr>
          <p:cNvPr id="143" name="Text 141"/>
          <p:cNvSpPr/>
          <p:nvPr/>
        </p:nvSpPr>
        <p:spPr>
          <a:xfrm>
            <a:off x="1170432" y="4642104"/>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44" name="Shape 142"/>
          <p:cNvSpPr/>
          <p:nvPr/>
        </p:nvSpPr>
        <p:spPr>
          <a:xfrm>
            <a:off x="164592" y="4888992"/>
            <a:ext cx="9116568" cy="966216"/>
          </a:xfrm>
          <a:prstGeom prst="rect">
            <a:avLst/>
          </a:prstGeom>
          <a:solidFill>
            <a:srgbClr val="FAFBFC"/>
          </a:solidFill>
          <a:ln w="6350">
            <a:solidFill>
              <a:srgbClr val="E5E7EB"/>
            </a:solidFill>
            <a:prstDash val="solid"/>
          </a:ln>
        </p:spPr>
      </p:sp>
      <p:sp>
        <p:nvSpPr>
          <p:cNvPr id="145" name="Shape 143"/>
          <p:cNvSpPr/>
          <p:nvPr/>
        </p:nvSpPr>
        <p:spPr>
          <a:xfrm>
            <a:off x="182880" y="4962144"/>
            <a:ext cx="859536" cy="819912"/>
          </a:xfrm>
          <a:prstGeom prst="roundRect">
            <a:avLst>
              <a:gd name="adj" fmla="val 5576"/>
            </a:avLst>
          </a:prstGeom>
          <a:solidFill>
            <a:srgbClr val="9CA3AF"/>
          </a:solidFill>
          <a:ln w="12700">
            <a:solidFill>
              <a:srgbClr val="9CA3AF"/>
            </a:solidFill>
            <a:prstDash val="solid"/>
          </a:ln>
        </p:spPr>
      </p:sp>
      <p:sp>
        <p:nvSpPr>
          <p:cNvPr id="146" name="Text 144"/>
          <p:cNvSpPr/>
          <p:nvPr/>
        </p:nvSpPr>
        <p:spPr>
          <a:xfrm>
            <a:off x="182880" y="4962144"/>
            <a:ext cx="859536" cy="819912"/>
          </a:xfrm>
          <a:prstGeom prst="rect">
            <a:avLst/>
          </a:prstGeom>
          <a:noFill/>
          <a:ln/>
        </p:spPr>
        <p:txBody>
          <a:bodyPr wrap="square" lIns="0" tIns="0" rIns="0" bIns="0" rtlCol="0" anchor="ctr"/>
          <a:lstStyle/>
          <a:p>
            <a:pPr algn="ctr" indent="0" marL="0">
              <a:buNone/>
            </a:pPr>
            <a:r>
              <a:rPr lang="en-US" sz="800" b="1" dirty="0">
                <a:solidFill>
                  <a:srgbClr val="FFFFFF"/>
                </a:solidFill>
              </a:rPr>
              <a:t>Onboarding</a:t>
            </a:r>
            <a:endParaRPr lang="en-US" sz="800" dirty="0"/>
          </a:p>
        </p:txBody>
      </p:sp>
      <p:sp>
        <p:nvSpPr>
          <p:cNvPr id="147" name="Text 145"/>
          <p:cNvSpPr/>
          <p:nvPr/>
        </p:nvSpPr>
        <p:spPr>
          <a:xfrm>
            <a:off x="1170432" y="493471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4 / 6 In Progress · 1 Done</a:t>
            </a:r>
            <a:endParaRPr lang="en-US" sz="750" dirty="0"/>
          </a:p>
        </p:txBody>
      </p:sp>
      <p:sp>
        <p:nvSpPr>
          <p:cNvPr id="148" name="Shape 146"/>
          <p:cNvSpPr/>
          <p:nvPr/>
        </p:nvSpPr>
        <p:spPr>
          <a:xfrm>
            <a:off x="1170432" y="5154168"/>
            <a:ext cx="932688" cy="182880"/>
          </a:xfrm>
          <a:prstGeom prst="roundRect">
            <a:avLst>
              <a:gd name="adj" fmla="val 15000"/>
            </a:avLst>
          </a:prstGeom>
          <a:solidFill>
            <a:srgbClr val="FFFFFF"/>
          </a:solidFill>
          <a:ln w="9525">
            <a:solidFill>
              <a:srgbClr val="CBD5E1"/>
            </a:solidFill>
            <a:prstDash val="solid"/>
          </a:ln>
        </p:spPr>
      </p:sp>
      <p:sp>
        <p:nvSpPr>
          <p:cNvPr id="149" name="Text 147"/>
          <p:cNvSpPr/>
          <p:nvPr/>
        </p:nvSpPr>
        <p:spPr>
          <a:xfrm>
            <a:off x="1170432" y="51541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Unentitled</a:t>
            </a:r>
            <a:endParaRPr lang="en-US" sz="750" dirty="0"/>
          </a:p>
        </p:txBody>
      </p:sp>
      <p:sp>
        <p:nvSpPr>
          <p:cNvPr id="150" name="Shape 148"/>
          <p:cNvSpPr/>
          <p:nvPr/>
        </p:nvSpPr>
        <p:spPr>
          <a:xfrm>
            <a:off x="1170432" y="5364480"/>
            <a:ext cx="932688" cy="155448"/>
          </a:xfrm>
          <a:prstGeom prst="roundRect">
            <a:avLst>
              <a:gd name="adj" fmla="val 17647"/>
            </a:avLst>
          </a:prstGeom>
          <a:solidFill>
            <a:srgbClr val="1558A8"/>
          </a:solidFill>
          <a:ln w="12700">
            <a:solidFill>
              <a:srgbClr val="1558A8"/>
            </a:solidFill>
            <a:prstDash val="solid"/>
          </a:ln>
        </p:spPr>
      </p:sp>
      <p:sp>
        <p:nvSpPr>
          <p:cNvPr id="151" name="Text 149"/>
          <p:cNvSpPr/>
          <p:nvPr/>
        </p:nvSpPr>
        <p:spPr>
          <a:xfrm>
            <a:off x="1170432" y="53644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52" name="Shape 150"/>
          <p:cNvSpPr/>
          <p:nvPr/>
        </p:nvSpPr>
        <p:spPr>
          <a:xfrm>
            <a:off x="2185416" y="5154168"/>
            <a:ext cx="932688" cy="182880"/>
          </a:xfrm>
          <a:prstGeom prst="roundRect">
            <a:avLst>
              <a:gd name="adj" fmla="val 15000"/>
            </a:avLst>
          </a:prstGeom>
          <a:solidFill>
            <a:srgbClr val="FFFFFF"/>
          </a:solidFill>
          <a:ln w="9525">
            <a:solidFill>
              <a:srgbClr val="CBD5E1"/>
            </a:solidFill>
            <a:prstDash val="solid"/>
          </a:ln>
        </p:spPr>
      </p:sp>
      <p:sp>
        <p:nvSpPr>
          <p:cNvPr id="153" name="Text 151"/>
          <p:cNvSpPr/>
          <p:nvPr/>
        </p:nvSpPr>
        <p:spPr>
          <a:xfrm>
            <a:off x="2185416" y="51541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Sign-in</a:t>
            </a:r>
            <a:endParaRPr lang="en-US" sz="750" dirty="0"/>
          </a:p>
        </p:txBody>
      </p:sp>
      <p:sp>
        <p:nvSpPr>
          <p:cNvPr id="154" name="Shape 152"/>
          <p:cNvSpPr/>
          <p:nvPr/>
        </p:nvSpPr>
        <p:spPr>
          <a:xfrm>
            <a:off x="2185416" y="5364480"/>
            <a:ext cx="932688" cy="155448"/>
          </a:xfrm>
          <a:prstGeom prst="roundRect">
            <a:avLst>
              <a:gd name="adj" fmla="val 17647"/>
            </a:avLst>
          </a:prstGeom>
          <a:solidFill>
            <a:srgbClr val="1558A8"/>
          </a:solidFill>
          <a:ln w="12700">
            <a:solidFill>
              <a:srgbClr val="1558A8"/>
            </a:solidFill>
            <a:prstDash val="solid"/>
          </a:ln>
        </p:spPr>
      </p:sp>
      <p:sp>
        <p:nvSpPr>
          <p:cNvPr id="155" name="Text 153"/>
          <p:cNvSpPr/>
          <p:nvPr/>
        </p:nvSpPr>
        <p:spPr>
          <a:xfrm>
            <a:off x="2185416" y="53644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56" name="Shape 154"/>
          <p:cNvSpPr/>
          <p:nvPr/>
        </p:nvSpPr>
        <p:spPr>
          <a:xfrm>
            <a:off x="3200400" y="5154168"/>
            <a:ext cx="932688" cy="182880"/>
          </a:xfrm>
          <a:prstGeom prst="roundRect">
            <a:avLst>
              <a:gd name="adj" fmla="val 15000"/>
            </a:avLst>
          </a:prstGeom>
          <a:solidFill>
            <a:srgbClr val="FFFFFF"/>
          </a:solidFill>
          <a:ln w="9525">
            <a:solidFill>
              <a:srgbClr val="CBD5E1"/>
            </a:solidFill>
            <a:prstDash val="solid"/>
          </a:ln>
        </p:spPr>
      </p:sp>
      <p:sp>
        <p:nvSpPr>
          <p:cNvPr id="157" name="Text 155"/>
          <p:cNvSpPr/>
          <p:nvPr/>
        </p:nvSpPr>
        <p:spPr>
          <a:xfrm>
            <a:off x="3200400" y="51541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Subscription</a:t>
            </a:r>
            <a:endParaRPr lang="en-US" sz="750" dirty="0"/>
          </a:p>
        </p:txBody>
      </p:sp>
      <p:sp>
        <p:nvSpPr>
          <p:cNvPr id="158" name="Shape 156"/>
          <p:cNvSpPr/>
          <p:nvPr/>
        </p:nvSpPr>
        <p:spPr>
          <a:xfrm>
            <a:off x="3200400" y="5364480"/>
            <a:ext cx="932688" cy="155448"/>
          </a:xfrm>
          <a:prstGeom prst="roundRect">
            <a:avLst>
              <a:gd name="adj" fmla="val 17647"/>
            </a:avLst>
          </a:prstGeom>
          <a:solidFill>
            <a:srgbClr val="1558A8"/>
          </a:solidFill>
          <a:ln w="12700">
            <a:solidFill>
              <a:srgbClr val="1558A8"/>
            </a:solidFill>
            <a:prstDash val="solid"/>
          </a:ln>
        </p:spPr>
      </p:sp>
      <p:sp>
        <p:nvSpPr>
          <p:cNvPr id="159" name="Text 157"/>
          <p:cNvSpPr/>
          <p:nvPr/>
        </p:nvSpPr>
        <p:spPr>
          <a:xfrm>
            <a:off x="3200400" y="53644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60" name="Shape 158"/>
          <p:cNvSpPr/>
          <p:nvPr/>
        </p:nvSpPr>
        <p:spPr>
          <a:xfrm>
            <a:off x="4215384" y="5154168"/>
            <a:ext cx="932688" cy="182880"/>
          </a:xfrm>
          <a:prstGeom prst="roundRect">
            <a:avLst>
              <a:gd name="adj" fmla="val 15000"/>
            </a:avLst>
          </a:prstGeom>
          <a:solidFill>
            <a:srgbClr val="FFFFFF"/>
          </a:solidFill>
          <a:ln w="9525">
            <a:solidFill>
              <a:srgbClr val="CBD5E1"/>
            </a:solidFill>
            <a:prstDash val="solid"/>
          </a:ln>
        </p:spPr>
      </p:sp>
      <p:sp>
        <p:nvSpPr>
          <p:cNvPr id="161" name="Text 159"/>
          <p:cNvSpPr/>
          <p:nvPr/>
        </p:nvSpPr>
        <p:spPr>
          <a:xfrm>
            <a:off x="4215384" y="51541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MVPD</a:t>
            </a:r>
            <a:endParaRPr lang="en-US" sz="750" dirty="0"/>
          </a:p>
        </p:txBody>
      </p:sp>
      <p:sp>
        <p:nvSpPr>
          <p:cNvPr id="162" name="Shape 160"/>
          <p:cNvSpPr/>
          <p:nvPr/>
        </p:nvSpPr>
        <p:spPr>
          <a:xfrm>
            <a:off x="4215384" y="5364480"/>
            <a:ext cx="932688" cy="155448"/>
          </a:xfrm>
          <a:prstGeom prst="roundRect">
            <a:avLst>
              <a:gd name="adj" fmla="val 17647"/>
            </a:avLst>
          </a:prstGeom>
          <a:solidFill>
            <a:srgbClr val="DCFCE7"/>
          </a:solidFill>
          <a:ln w="12700">
            <a:solidFill>
              <a:srgbClr val="15803D"/>
            </a:solidFill>
            <a:prstDash val="solid"/>
          </a:ln>
        </p:spPr>
      </p:sp>
      <p:sp>
        <p:nvSpPr>
          <p:cNvPr id="163" name="Text 161"/>
          <p:cNvSpPr/>
          <p:nvPr/>
        </p:nvSpPr>
        <p:spPr>
          <a:xfrm>
            <a:off x="4215384" y="5364480"/>
            <a:ext cx="932688" cy="155448"/>
          </a:xfrm>
          <a:prstGeom prst="rect">
            <a:avLst/>
          </a:prstGeom>
          <a:noFill/>
          <a:ln/>
        </p:spPr>
        <p:txBody>
          <a:bodyPr wrap="square" lIns="0" tIns="0" rIns="0" bIns="0" rtlCol="0" anchor="ctr"/>
          <a:lstStyle/>
          <a:p>
            <a:pPr algn="ctr" indent="0" marL="0">
              <a:buNone/>
            </a:pPr>
            <a:r>
              <a:rPr lang="en-US" sz="700" dirty="0">
                <a:solidFill>
                  <a:srgbClr val="14532D"/>
                </a:solidFill>
              </a:rPr>
              <a:t>Done</a:t>
            </a:r>
            <a:endParaRPr lang="en-US" sz="700" dirty="0"/>
          </a:p>
        </p:txBody>
      </p:sp>
      <p:sp>
        <p:nvSpPr>
          <p:cNvPr id="164" name="Shape 162"/>
          <p:cNvSpPr/>
          <p:nvPr/>
        </p:nvSpPr>
        <p:spPr>
          <a:xfrm>
            <a:off x="5230368" y="5154168"/>
            <a:ext cx="932688" cy="182880"/>
          </a:xfrm>
          <a:prstGeom prst="roundRect">
            <a:avLst>
              <a:gd name="adj" fmla="val 15000"/>
            </a:avLst>
          </a:prstGeom>
          <a:solidFill>
            <a:srgbClr val="FFFFFF"/>
          </a:solidFill>
          <a:ln w="9525">
            <a:solidFill>
              <a:srgbClr val="CBD5E1"/>
            </a:solidFill>
            <a:prstDash val="solid"/>
          </a:ln>
        </p:spPr>
      </p:sp>
      <p:sp>
        <p:nvSpPr>
          <p:cNvPr id="165" name="Text 163"/>
          <p:cNvSpPr/>
          <p:nvPr/>
        </p:nvSpPr>
        <p:spPr>
          <a:xfrm>
            <a:off x="5230368" y="51541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Cleeng</a:t>
            </a:r>
            <a:endParaRPr lang="en-US" sz="750" dirty="0"/>
          </a:p>
        </p:txBody>
      </p:sp>
      <p:sp>
        <p:nvSpPr>
          <p:cNvPr id="166" name="Shape 164"/>
          <p:cNvSpPr/>
          <p:nvPr/>
        </p:nvSpPr>
        <p:spPr>
          <a:xfrm>
            <a:off x="5230368" y="5364480"/>
            <a:ext cx="932688" cy="155448"/>
          </a:xfrm>
          <a:prstGeom prst="roundRect">
            <a:avLst>
              <a:gd name="adj" fmla="val 17647"/>
            </a:avLst>
          </a:prstGeom>
          <a:solidFill>
            <a:srgbClr val="1558A8"/>
          </a:solidFill>
          <a:ln w="12700">
            <a:solidFill>
              <a:srgbClr val="1558A8"/>
            </a:solidFill>
            <a:prstDash val="solid"/>
          </a:ln>
        </p:spPr>
      </p:sp>
      <p:sp>
        <p:nvSpPr>
          <p:cNvPr id="167" name="Text 165"/>
          <p:cNvSpPr/>
          <p:nvPr/>
        </p:nvSpPr>
        <p:spPr>
          <a:xfrm>
            <a:off x="5230368" y="53644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68" name="Shape 166"/>
          <p:cNvSpPr/>
          <p:nvPr/>
        </p:nvSpPr>
        <p:spPr>
          <a:xfrm>
            <a:off x="6245352" y="5154168"/>
            <a:ext cx="932688" cy="182880"/>
          </a:xfrm>
          <a:prstGeom prst="roundRect">
            <a:avLst>
              <a:gd name="adj" fmla="val 15000"/>
            </a:avLst>
          </a:prstGeom>
          <a:solidFill>
            <a:srgbClr val="FFFFFF"/>
          </a:solidFill>
          <a:ln w="9525">
            <a:solidFill>
              <a:srgbClr val="CBD5E1"/>
            </a:solidFill>
            <a:prstDash val="solid"/>
          </a:ln>
        </p:spPr>
      </p:sp>
      <p:sp>
        <p:nvSpPr>
          <p:cNvPr id="169" name="Text 167"/>
          <p:cNvSpPr/>
          <p:nvPr/>
        </p:nvSpPr>
        <p:spPr>
          <a:xfrm>
            <a:off x="6245352" y="51541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Promos</a:t>
            </a:r>
            <a:endParaRPr lang="en-US" sz="750" dirty="0"/>
          </a:p>
        </p:txBody>
      </p:sp>
      <p:sp>
        <p:nvSpPr>
          <p:cNvPr id="170" name="Shape 168"/>
          <p:cNvSpPr/>
          <p:nvPr/>
        </p:nvSpPr>
        <p:spPr>
          <a:xfrm>
            <a:off x="6245352" y="5364480"/>
            <a:ext cx="932688" cy="155448"/>
          </a:xfrm>
          <a:prstGeom prst="roundRect">
            <a:avLst>
              <a:gd name="adj" fmla="val 17647"/>
            </a:avLst>
          </a:prstGeom>
          <a:solidFill>
            <a:srgbClr val="F3F4F6"/>
          </a:solidFill>
          <a:ln w="9525">
            <a:solidFill>
              <a:srgbClr val="D1D5DB"/>
            </a:solidFill>
            <a:prstDash val="solid"/>
          </a:ln>
        </p:spPr>
      </p:sp>
      <p:sp>
        <p:nvSpPr>
          <p:cNvPr id="171" name="Text 169"/>
          <p:cNvSpPr/>
          <p:nvPr/>
        </p:nvSpPr>
        <p:spPr>
          <a:xfrm>
            <a:off x="6245352" y="536448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72" name="Shape 170"/>
          <p:cNvSpPr/>
          <p:nvPr/>
        </p:nvSpPr>
        <p:spPr>
          <a:xfrm>
            <a:off x="164592" y="5910072"/>
            <a:ext cx="9116568" cy="966216"/>
          </a:xfrm>
          <a:prstGeom prst="rect">
            <a:avLst/>
          </a:prstGeom>
          <a:solidFill>
            <a:srgbClr val="FFFFFF"/>
          </a:solidFill>
          <a:ln w="6350">
            <a:solidFill>
              <a:srgbClr val="E5E7EB"/>
            </a:solidFill>
            <a:prstDash val="solid"/>
          </a:ln>
        </p:spPr>
      </p:sp>
      <p:sp>
        <p:nvSpPr>
          <p:cNvPr id="173" name="Shape 171"/>
          <p:cNvSpPr/>
          <p:nvPr/>
        </p:nvSpPr>
        <p:spPr>
          <a:xfrm>
            <a:off x="182880" y="5983224"/>
            <a:ext cx="859536" cy="819912"/>
          </a:xfrm>
          <a:prstGeom prst="roundRect">
            <a:avLst>
              <a:gd name="adj" fmla="val 5576"/>
            </a:avLst>
          </a:prstGeom>
          <a:solidFill>
            <a:srgbClr val="64748B"/>
          </a:solidFill>
          <a:ln w="12700">
            <a:solidFill>
              <a:srgbClr val="64748B"/>
            </a:solidFill>
            <a:prstDash val="solid"/>
          </a:ln>
        </p:spPr>
      </p:sp>
      <p:sp>
        <p:nvSpPr>
          <p:cNvPr id="174" name="Text 172"/>
          <p:cNvSpPr/>
          <p:nvPr/>
        </p:nvSpPr>
        <p:spPr>
          <a:xfrm>
            <a:off x="182880" y="5983224"/>
            <a:ext cx="859536" cy="819912"/>
          </a:xfrm>
          <a:prstGeom prst="rect">
            <a:avLst/>
          </a:prstGeom>
          <a:noFill/>
          <a:ln/>
        </p:spPr>
        <p:txBody>
          <a:bodyPr wrap="square" lIns="0" tIns="0" rIns="0" bIns="0" rtlCol="0" anchor="ctr"/>
          <a:lstStyle/>
          <a:p>
            <a:pPr algn="ctr" indent="0" marL="0">
              <a:buNone/>
            </a:pPr>
            <a:r>
              <a:rPr lang="en-US" sz="800" b="1" dirty="0">
                <a:solidFill>
                  <a:srgbClr val="FFFFFF"/>
                </a:solidFill>
              </a:rPr>
              <a:t>Data</a:t>
            </a:r>
            <a:endParaRPr lang="en-US" sz="800" dirty="0"/>
          </a:p>
          <a:p>
            <a:pPr algn="ctr" indent="0" marL="0">
              <a:buNone/>
            </a:pPr>
            <a:r>
              <a:rPr lang="en-US" sz="800" b="1" dirty="0">
                <a:solidFill>
                  <a:srgbClr val="FFFFFF"/>
                </a:solidFill>
              </a:rPr>
              <a:t>&amp; Analytics</a:t>
            </a:r>
            <a:endParaRPr lang="en-US" sz="800" dirty="0"/>
          </a:p>
        </p:txBody>
      </p:sp>
      <p:sp>
        <p:nvSpPr>
          <p:cNvPr id="175" name="Text 173"/>
          <p:cNvSpPr/>
          <p:nvPr/>
        </p:nvSpPr>
        <p:spPr>
          <a:xfrm>
            <a:off x="1170432" y="595579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2 / 2 In Progress</a:t>
            </a:r>
            <a:endParaRPr lang="en-US" sz="750" dirty="0"/>
          </a:p>
        </p:txBody>
      </p:sp>
      <p:sp>
        <p:nvSpPr>
          <p:cNvPr id="176" name="Shape 174"/>
          <p:cNvSpPr/>
          <p:nvPr/>
        </p:nvSpPr>
        <p:spPr>
          <a:xfrm>
            <a:off x="1170432" y="6175248"/>
            <a:ext cx="932688" cy="182880"/>
          </a:xfrm>
          <a:prstGeom prst="roundRect">
            <a:avLst>
              <a:gd name="adj" fmla="val 15000"/>
            </a:avLst>
          </a:prstGeom>
          <a:solidFill>
            <a:srgbClr val="FFFFFF"/>
          </a:solidFill>
          <a:ln w="9525">
            <a:solidFill>
              <a:srgbClr val="CBD5E1"/>
            </a:solidFill>
            <a:prstDash val="solid"/>
          </a:ln>
        </p:spPr>
      </p:sp>
      <p:sp>
        <p:nvSpPr>
          <p:cNvPr id="177" name="Text 175"/>
          <p:cNvSpPr/>
          <p:nvPr/>
        </p:nvSpPr>
        <p:spPr>
          <a:xfrm>
            <a:off x="1170432" y="61752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NPAW Historical</a:t>
            </a:r>
            <a:endParaRPr lang="en-US" sz="750" dirty="0"/>
          </a:p>
        </p:txBody>
      </p:sp>
      <p:sp>
        <p:nvSpPr>
          <p:cNvPr id="178" name="Shape 176"/>
          <p:cNvSpPr/>
          <p:nvPr/>
        </p:nvSpPr>
        <p:spPr>
          <a:xfrm>
            <a:off x="1170432" y="6385560"/>
            <a:ext cx="932688" cy="155448"/>
          </a:xfrm>
          <a:prstGeom prst="roundRect">
            <a:avLst>
              <a:gd name="adj" fmla="val 17647"/>
            </a:avLst>
          </a:prstGeom>
          <a:solidFill>
            <a:srgbClr val="1558A8"/>
          </a:solidFill>
          <a:ln w="12700">
            <a:solidFill>
              <a:srgbClr val="1558A8"/>
            </a:solidFill>
            <a:prstDash val="solid"/>
          </a:ln>
        </p:spPr>
      </p:sp>
      <p:sp>
        <p:nvSpPr>
          <p:cNvPr id="179" name="Text 177"/>
          <p:cNvSpPr/>
          <p:nvPr/>
        </p:nvSpPr>
        <p:spPr>
          <a:xfrm>
            <a:off x="1170432" y="63855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80" name="Shape 178"/>
          <p:cNvSpPr/>
          <p:nvPr/>
        </p:nvSpPr>
        <p:spPr>
          <a:xfrm>
            <a:off x="2185416" y="6175248"/>
            <a:ext cx="932688" cy="182880"/>
          </a:xfrm>
          <a:prstGeom prst="roundRect">
            <a:avLst>
              <a:gd name="adj" fmla="val 15000"/>
            </a:avLst>
          </a:prstGeom>
          <a:solidFill>
            <a:srgbClr val="FFFFFF"/>
          </a:solidFill>
          <a:ln w="9525">
            <a:solidFill>
              <a:srgbClr val="CBD5E1"/>
            </a:solidFill>
            <a:prstDash val="solid"/>
          </a:ln>
        </p:spPr>
      </p:sp>
      <p:sp>
        <p:nvSpPr>
          <p:cNvPr id="181" name="Text 179"/>
          <p:cNvSpPr/>
          <p:nvPr/>
        </p:nvSpPr>
        <p:spPr>
          <a:xfrm>
            <a:off x="2185416" y="61752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Cleeng Historical</a:t>
            </a:r>
            <a:endParaRPr lang="en-US" sz="750" dirty="0"/>
          </a:p>
        </p:txBody>
      </p:sp>
      <p:sp>
        <p:nvSpPr>
          <p:cNvPr id="182" name="Shape 180"/>
          <p:cNvSpPr/>
          <p:nvPr/>
        </p:nvSpPr>
        <p:spPr>
          <a:xfrm>
            <a:off x="2185416" y="6385560"/>
            <a:ext cx="932688" cy="155448"/>
          </a:xfrm>
          <a:prstGeom prst="roundRect">
            <a:avLst>
              <a:gd name="adj" fmla="val 17647"/>
            </a:avLst>
          </a:prstGeom>
          <a:solidFill>
            <a:srgbClr val="1558A8"/>
          </a:solidFill>
          <a:ln w="12700">
            <a:solidFill>
              <a:srgbClr val="1558A8"/>
            </a:solidFill>
            <a:prstDash val="solid"/>
          </a:ln>
        </p:spPr>
      </p:sp>
      <p:sp>
        <p:nvSpPr>
          <p:cNvPr id="183" name="Text 181"/>
          <p:cNvSpPr/>
          <p:nvPr/>
        </p:nvSpPr>
        <p:spPr>
          <a:xfrm>
            <a:off x="2185416" y="63855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84" name="Shape 182"/>
          <p:cNvSpPr/>
          <p:nvPr/>
        </p:nvSpPr>
        <p:spPr>
          <a:xfrm>
            <a:off x="9372600" y="804672"/>
            <a:ext cx="2834640" cy="6071616"/>
          </a:xfrm>
          <a:prstGeom prst="rect">
            <a:avLst/>
          </a:prstGeom>
          <a:solidFill>
            <a:srgbClr val="F8FAFB"/>
          </a:solidFill>
          <a:ln w="12700">
            <a:solidFill>
              <a:srgbClr val="DDE1E6"/>
            </a:solidFill>
            <a:prstDash val="solid"/>
          </a:ln>
        </p:spPr>
      </p:sp>
      <p:sp>
        <p:nvSpPr>
          <p:cNvPr id="185" name="Text 183"/>
          <p:cNvSpPr/>
          <p:nvPr/>
        </p:nvSpPr>
        <p:spPr>
          <a:xfrm>
            <a:off x="9500616" y="950976"/>
            <a:ext cx="2633472" cy="201168"/>
          </a:xfrm>
          <a:prstGeom prst="rect">
            <a:avLst/>
          </a:prstGeom>
          <a:noFill/>
          <a:ln/>
        </p:spPr>
        <p:txBody>
          <a:bodyPr wrap="square" lIns="0" tIns="0" rIns="0" bIns="0" rtlCol="0" anchor="ctr"/>
          <a:lstStyle/>
          <a:p>
            <a:pPr indent="0" marL="0">
              <a:buNone/>
            </a:pPr>
            <a:r>
              <a:rPr lang="en-US" sz="950" b="1" dirty="0">
                <a:solidFill>
                  <a:srgbClr val="111827"/>
                </a:solidFill>
              </a:rPr>
              <a:t>Milestones</a:t>
            </a:r>
            <a:endParaRPr lang="en-US" sz="950" dirty="0"/>
          </a:p>
        </p:txBody>
      </p:sp>
      <p:sp>
        <p:nvSpPr>
          <p:cNvPr id="186" name="Shape 184"/>
          <p:cNvSpPr/>
          <p:nvPr/>
        </p:nvSpPr>
        <p:spPr>
          <a:xfrm>
            <a:off x="9464040" y="1225296"/>
            <a:ext cx="2670048" cy="420624"/>
          </a:xfrm>
          <a:prstGeom prst="rect">
            <a:avLst/>
          </a:prstGeom>
          <a:solidFill>
            <a:srgbClr val="FFFFFF"/>
          </a:solidFill>
          <a:ln w="6350">
            <a:solidFill>
              <a:srgbClr val="E5E7EB"/>
            </a:solidFill>
            <a:prstDash val="solid"/>
          </a:ln>
        </p:spPr>
      </p:sp>
      <p:sp>
        <p:nvSpPr>
          <p:cNvPr id="187" name="Shape 185"/>
          <p:cNvSpPr/>
          <p:nvPr/>
        </p:nvSpPr>
        <p:spPr>
          <a:xfrm>
            <a:off x="9537192" y="1316736"/>
            <a:ext cx="109728" cy="109728"/>
          </a:xfrm>
          <a:prstGeom prst="ellipse">
            <a:avLst/>
          </a:prstGeom>
          <a:solidFill>
            <a:srgbClr val="16A34A"/>
          </a:solidFill>
          <a:ln w="12700">
            <a:solidFill>
              <a:srgbClr val="16A34A"/>
            </a:solidFill>
            <a:prstDash val="solid"/>
          </a:ln>
        </p:spPr>
      </p:sp>
      <p:sp>
        <p:nvSpPr>
          <p:cNvPr id="188" name="Text 186"/>
          <p:cNvSpPr/>
          <p:nvPr/>
        </p:nvSpPr>
        <p:spPr>
          <a:xfrm>
            <a:off x="9701784" y="1243584"/>
            <a:ext cx="2304288" cy="173736"/>
          </a:xfrm>
          <a:prstGeom prst="rect">
            <a:avLst/>
          </a:prstGeom>
          <a:noFill/>
          <a:ln/>
        </p:spPr>
        <p:txBody>
          <a:bodyPr wrap="square" lIns="0" tIns="0" rIns="0" bIns="0" rtlCol="0" anchor="ctr"/>
          <a:lstStyle/>
          <a:p>
            <a:pPr indent="0" marL="0">
              <a:buNone/>
            </a:pPr>
            <a:r>
              <a:rPr lang="en-US" sz="800" b="1" dirty="0">
                <a:solidFill>
                  <a:srgbClr val="15803D"/>
                </a:solidFill>
              </a:rPr>
              <a:t>Requirements</a:t>
            </a:r>
            <a:endParaRPr lang="en-US" sz="800" dirty="0"/>
          </a:p>
        </p:txBody>
      </p:sp>
      <p:sp>
        <p:nvSpPr>
          <p:cNvPr id="189" name="Text 187"/>
          <p:cNvSpPr/>
          <p:nvPr/>
        </p:nvSpPr>
        <p:spPr>
          <a:xfrm>
            <a:off x="9701784" y="1453896"/>
            <a:ext cx="1773936" cy="137160"/>
          </a:xfrm>
          <a:prstGeom prst="rect">
            <a:avLst/>
          </a:prstGeom>
          <a:noFill/>
          <a:ln/>
        </p:spPr>
        <p:txBody>
          <a:bodyPr wrap="square" lIns="0" tIns="0" rIns="0" bIns="0" rtlCol="0" anchor="ctr"/>
          <a:lstStyle/>
          <a:p>
            <a:pPr indent="0" marL="0">
              <a:buNone/>
            </a:pPr>
            <a:r>
              <a:rPr lang="en-US" sz="700" dirty="0">
                <a:solidFill>
                  <a:srgbClr val="6B7280"/>
                </a:solidFill>
              </a:rPr>
              <a:t>Jun 30, 2026</a:t>
            </a:r>
            <a:endParaRPr lang="en-US" sz="700" dirty="0"/>
          </a:p>
        </p:txBody>
      </p:sp>
      <p:sp>
        <p:nvSpPr>
          <p:cNvPr id="190" name="Shape 188"/>
          <p:cNvSpPr/>
          <p:nvPr/>
        </p:nvSpPr>
        <p:spPr>
          <a:xfrm>
            <a:off x="11494008" y="1453896"/>
            <a:ext cx="658368" cy="137160"/>
          </a:xfrm>
          <a:prstGeom prst="roundRect">
            <a:avLst>
              <a:gd name="adj" fmla="val 20000"/>
            </a:avLst>
          </a:prstGeom>
          <a:solidFill>
            <a:srgbClr val="DCFCE7"/>
          </a:solidFill>
          <a:ln w="12700">
            <a:solidFill>
              <a:srgbClr val="DCFCE7"/>
            </a:solidFill>
            <a:prstDash val="solid"/>
          </a:ln>
        </p:spPr>
      </p:sp>
      <p:sp>
        <p:nvSpPr>
          <p:cNvPr id="191" name="Text 189"/>
          <p:cNvSpPr/>
          <p:nvPr/>
        </p:nvSpPr>
        <p:spPr>
          <a:xfrm>
            <a:off x="11494008" y="1453896"/>
            <a:ext cx="658368" cy="137160"/>
          </a:xfrm>
          <a:prstGeom prst="rect">
            <a:avLst/>
          </a:prstGeom>
          <a:noFill/>
          <a:ln/>
        </p:spPr>
        <p:txBody>
          <a:bodyPr wrap="square" lIns="0" tIns="0" rIns="0" bIns="0" rtlCol="0" anchor="ctr"/>
          <a:lstStyle/>
          <a:p>
            <a:pPr algn="ctr" indent="0" marL="0">
              <a:buNone/>
            </a:pPr>
            <a:r>
              <a:rPr lang="en-US" sz="600" b="1" dirty="0">
                <a:solidFill>
                  <a:srgbClr val="166534"/>
                </a:solidFill>
              </a:rPr>
              <a:t>Complete</a:t>
            </a:r>
            <a:endParaRPr lang="en-US" sz="600" dirty="0"/>
          </a:p>
        </p:txBody>
      </p:sp>
      <p:sp>
        <p:nvSpPr>
          <p:cNvPr id="192" name="Shape 190"/>
          <p:cNvSpPr/>
          <p:nvPr/>
        </p:nvSpPr>
        <p:spPr>
          <a:xfrm>
            <a:off x="9464040" y="1700784"/>
            <a:ext cx="2670048" cy="420624"/>
          </a:xfrm>
          <a:prstGeom prst="rect">
            <a:avLst/>
          </a:prstGeom>
          <a:solidFill>
            <a:srgbClr val="FFFFFF"/>
          </a:solidFill>
          <a:ln w="6350">
            <a:solidFill>
              <a:srgbClr val="E5E7EB"/>
            </a:solidFill>
            <a:prstDash val="solid"/>
          </a:ln>
        </p:spPr>
      </p:sp>
      <p:sp>
        <p:nvSpPr>
          <p:cNvPr id="193" name="Shape 191"/>
          <p:cNvSpPr/>
          <p:nvPr/>
        </p:nvSpPr>
        <p:spPr>
          <a:xfrm>
            <a:off x="9537192" y="1792224"/>
            <a:ext cx="109728" cy="109728"/>
          </a:xfrm>
          <a:prstGeom prst="ellipse">
            <a:avLst/>
          </a:prstGeom>
          <a:solidFill>
            <a:srgbClr val="1558A8"/>
          </a:solidFill>
          <a:ln w="12700">
            <a:solidFill>
              <a:srgbClr val="1558A8"/>
            </a:solidFill>
            <a:prstDash val="solid"/>
          </a:ln>
        </p:spPr>
      </p:sp>
      <p:sp>
        <p:nvSpPr>
          <p:cNvPr id="194" name="Text 192"/>
          <p:cNvSpPr/>
          <p:nvPr/>
        </p:nvSpPr>
        <p:spPr>
          <a:xfrm>
            <a:off x="9701784" y="1719072"/>
            <a:ext cx="2304288" cy="173736"/>
          </a:xfrm>
          <a:prstGeom prst="rect">
            <a:avLst/>
          </a:prstGeom>
          <a:noFill/>
          <a:ln/>
        </p:spPr>
        <p:txBody>
          <a:bodyPr wrap="square" lIns="0" tIns="0" rIns="0" bIns="0" rtlCol="0" anchor="ctr"/>
          <a:lstStyle/>
          <a:p>
            <a:pPr indent="0" marL="0">
              <a:buNone/>
            </a:pPr>
            <a:r>
              <a:rPr lang="en-US" sz="800" b="1" dirty="0">
                <a:solidFill>
                  <a:srgbClr val="1D4ED8"/>
                </a:solidFill>
              </a:rPr>
              <a:t>Beta</a:t>
            </a:r>
            <a:endParaRPr lang="en-US" sz="800" dirty="0"/>
          </a:p>
        </p:txBody>
      </p:sp>
      <p:sp>
        <p:nvSpPr>
          <p:cNvPr id="195" name="Text 193"/>
          <p:cNvSpPr/>
          <p:nvPr/>
        </p:nvSpPr>
        <p:spPr>
          <a:xfrm>
            <a:off x="9701784" y="1929384"/>
            <a:ext cx="1773936" cy="137160"/>
          </a:xfrm>
          <a:prstGeom prst="rect">
            <a:avLst/>
          </a:prstGeom>
          <a:noFill/>
          <a:ln/>
        </p:spPr>
        <p:txBody>
          <a:bodyPr wrap="square" lIns="0" tIns="0" rIns="0" bIns="0" rtlCol="0" anchor="ctr"/>
          <a:lstStyle/>
          <a:p>
            <a:pPr indent="0" marL="0">
              <a:buNone/>
            </a:pPr>
            <a:r>
              <a:rPr lang="en-US" sz="700" dirty="0">
                <a:solidFill>
                  <a:srgbClr val="6B7280"/>
                </a:solidFill>
              </a:rPr>
              <a:t>Sep 30, 2026</a:t>
            </a:r>
            <a:endParaRPr lang="en-US" sz="700" dirty="0"/>
          </a:p>
        </p:txBody>
      </p:sp>
      <p:sp>
        <p:nvSpPr>
          <p:cNvPr id="196" name="Shape 194"/>
          <p:cNvSpPr/>
          <p:nvPr/>
        </p:nvSpPr>
        <p:spPr>
          <a:xfrm>
            <a:off x="11494008" y="1929384"/>
            <a:ext cx="658368" cy="137160"/>
          </a:xfrm>
          <a:prstGeom prst="roundRect">
            <a:avLst>
              <a:gd name="adj" fmla="val 20000"/>
            </a:avLst>
          </a:prstGeom>
          <a:solidFill>
            <a:srgbClr val="DBEAFE"/>
          </a:solidFill>
          <a:ln w="12700">
            <a:solidFill>
              <a:srgbClr val="DBEAFE"/>
            </a:solidFill>
            <a:prstDash val="solid"/>
          </a:ln>
        </p:spPr>
      </p:sp>
      <p:sp>
        <p:nvSpPr>
          <p:cNvPr id="197" name="Text 195"/>
          <p:cNvSpPr/>
          <p:nvPr/>
        </p:nvSpPr>
        <p:spPr>
          <a:xfrm>
            <a:off x="11494008" y="1929384"/>
            <a:ext cx="658368" cy="137160"/>
          </a:xfrm>
          <a:prstGeom prst="rect">
            <a:avLst/>
          </a:prstGeom>
          <a:noFill/>
          <a:ln/>
        </p:spPr>
        <p:txBody>
          <a:bodyPr wrap="square" lIns="0" tIns="0" rIns="0" bIns="0" rtlCol="0" anchor="ctr"/>
          <a:lstStyle/>
          <a:p>
            <a:pPr algn="ctr" indent="0" marL="0">
              <a:buNone/>
            </a:pPr>
            <a:r>
              <a:rPr lang="en-US" sz="600" b="1" dirty="0">
                <a:solidFill>
                  <a:srgbClr val="1E40AF"/>
                </a:solidFill>
              </a:rPr>
              <a:t>In Progress</a:t>
            </a:r>
            <a:endParaRPr lang="en-US" sz="600" dirty="0"/>
          </a:p>
        </p:txBody>
      </p:sp>
      <p:sp>
        <p:nvSpPr>
          <p:cNvPr id="198" name="Shape 196"/>
          <p:cNvSpPr/>
          <p:nvPr/>
        </p:nvSpPr>
        <p:spPr>
          <a:xfrm>
            <a:off x="9464040" y="2176272"/>
            <a:ext cx="2670048" cy="420624"/>
          </a:xfrm>
          <a:prstGeom prst="rect">
            <a:avLst/>
          </a:prstGeom>
          <a:solidFill>
            <a:srgbClr val="FFFFFF"/>
          </a:solidFill>
          <a:ln w="6350">
            <a:solidFill>
              <a:srgbClr val="E5E7EB"/>
            </a:solidFill>
            <a:prstDash val="solid"/>
          </a:ln>
        </p:spPr>
      </p:sp>
      <p:sp>
        <p:nvSpPr>
          <p:cNvPr id="199" name="Shape 197"/>
          <p:cNvSpPr/>
          <p:nvPr/>
        </p:nvSpPr>
        <p:spPr>
          <a:xfrm>
            <a:off x="9537192" y="2267712"/>
            <a:ext cx="109728" cy="109728"/>
          </a:xfrm>
          <a:prstGeom prst="ellipse">
            <a:avLst/>
          </a:prstGeom>
          <a:solidFill>
            <a:srgbClr val="9CA3AF"/>
          </a:solidFill>
          <a:ln w="12700">
            <a:solidFill>
              <a:srgbClr val="9CA3AF"/>
            </a:solidFill>
            <a:prstDash val="solid"/>
          </a:ln>
        </p:spPr>
      </p:sp>
      <p:sp>
        <p:nvSpPr>
          <p:cNvPr id="200" name="Text 198"/>
          <p:cNvSpPr/>
          <p:nvPr/>
        </p:nvSpPr>
        <p:spPr>
          <a:xfrm>
            <a:off x="9701784" y="2194560"/>
            <a:ext cx="2304288" cy="173736"/>
          </a:xfrm>
          <a:prstGeom prst="rect">
            <a:avLst/>
          </a:prstGeom>
          <a:noFill/>
          <a:ln/>
        </p:spPr>
        <p:txBody>
          <a:bodyPr wrap="square" lIns="0" tIns="0" rIns="0" bIns="0" rtlCol="0" anchor="ctr"/>
          <a:lstStyle/>
          <a:p>
            <a:pPr indent="0" marL="0">
              <a:buNone/>
            </a:pPr>
            <a:r>
              <a:rPr lang="en-US" sz="800" b="1" dirty="0">
                <a:solidFill>
                  <a:srgbClr val="1F2937"/>
                </a:solidFill>
              </a:rPr>
              <a:t>UAT / Testing</a:t>
            </a:r>
            <a:endParaRPr lang="en-US" sz="800" dirty="0"/>
          </a:p>
        </p:txBody>
      </p:sp>
      <p:sp>
        <p:nvSpPr>
          <p:cNvPr id="201" name="Text 199"/>
          <p:cNvSpPr/>
          <p:nvPr/>
        </p:nvSpPr>
        <p:spPr>
          <a:xfrm>
            <a:off x="9701784" y="2404872"/>
            <a:ext cx="1773936" cy="137160"/>
          </a:xfrm>
          <a:prstGeom prst="rect">
            <a:avLst/>
          </a:prstGeom>
          <a:noFill/>
          <a:ln/>
        </p:spPr>
        <p:txBody>
          <a:bodyPr wrap="square" lIns="0" tIns="0" rIns="0" bIns="0" rtlCol="0" anchor="ctr"/>
          <a:lstStyle/>
          <a:p>
            <a:pPr indent="0" marL="0">
              <a:buNone/>
            </a:pPr>
            <a:r>
              <a:rPr lang="en-US" sz="700" dirty="0">
                <a:solidFill>
                  <a:srgbClr val="6B7280"/>
                </a:solidFill>
              </a:rPr>
              <a:t>Nov 30, 2026</a:t>
            </a:r>
            <a:endParaRPr lang="en-US" sz="700" dirty="0"/>
          </a:p>
        </p:txBody>
      </p:sp>
      <p:sp>
        <p:nvSpPr>
          <p:cNvPr id="202" name="Shape 200"/>
          <p:cNvSpPr/>
          <p:nvPr/>
        </p:nvSpPr>
        <p:spPr>
          <a:xfrm>
            <a:off x="11494008" y="2404872"/>
            <a:ext cx="658368" cy="137160"/>
          </a:xfrm>
          <a:prstGeom prst="roundRect">
            <a:avLst>
              <a:gd name="adj" fmla="val 20000"/>
            </a:avLst>
          </a:prstGeom>
          <a:solidFill>
            <a:srgbClr val="F3F4F6"/>
          </a:solidFill>
          <a:ln w="12700">
            <a:solidFill>
              <a:srgbClr val="F3F4F6"/>
            </a:solidFill>
            <a:prstDash val="solid"/>
          </a:ln>
        </p:spPr>
      </p:sp>
      <p:sp>
        <p:nvSpPr>
          <p:cNvPr id="203" name="Text 201"/>
          <p:cNvSpPr/>
          <p:nvPr/>
        </p:nvSpPr>
        <p:spPr>
          <a:xfrm>
            <a:off x="11494008" y="2404872"/>
            <a:ext cx="658368" cy="137160"/>
          </a:xfrm>
          <a:prstGeom prst="rect">
            <a:avLst/>
          </a:prstGeom>
          <a:noFill/>
          <a:ln/>
        </p:spPr>
        <p:txBody>
          <a:bodyPr wrap="square" lIns="0" tIns="0" rIns="0" bIns="0" rtlCol="0" anchor="ctr"/>
          <a:lstStyle/>
          <a:p>
            <a:pPr algn="ctr" indent="0" marL="0">
              <a:buNone/>
            </a:pPr>
            <a:r>
              <a:rPr lang="en-US" sz="600" b="1" dirty="0">
                <a:solidFill>
                  <a:srgbClr val="6B7280"/>
                </a:solidFill>
              </a:rPr>
              <a:t>Upcoming</a:t>
            </a:r>
            <a:endParaRPr lang="en-US" sz="600" dirty="0"/>
          </a:p>
        </p:txBody>
      </p:sp>
      <p:sp>
        <p:nvSpPr>
          <p:cNvPr id="204" name="Shape 202"/>
          <p:cNvSpPr/>
          <p:nvPr/>
        </p:nvSpPr>
        <p:spPr>
          <a:xfrm>
            <a:off x="9464040" y="2651760"/>
            <a:ext cx="2670048" cy="420624"/>
          </a:xfrm>
          <a:prstGeom prst="rect">
            <a:avLst/>
          </a:prstGeom>
          <a:solidFill>
            <a:srgbClr val="FFFFFF"/>
          </a:solidFill>
          <a:ln w="6350">
            <a:solidFill>
              <a:srgbClr val="E5E7EB"/>
            </a:solidFill>
            <a:prstDash val="solid"/>
          </a:ln>
        </p:spPr>
      </p:sp>
      <p:sp>
        <p:nvSpPr>
          <p:cNvPr id="205" name="Shape 203"/>
          <p:cNvSpPr/>
          <p:nvPr/>
        </p:nvSpPr>
        <p:spPr>
          <a:xfrm>
            <a:off x="9537192" y="2743200"/>
            <a:ext cx="109728" cy="109728"/>
          </a:xfrm>
          <a:prstGeom prst="ellipse">
            <a:avLst/>
          </a:prstGeom>
          <a:solidFill>
            <a:srgbClr val="9CA3AF"/>
          </a:solidFill>
          <a:ln w="12700">
            <a:solidFill>
              <a:srgbClr val="9CA3AF"/>
            </a:solidFill>
            <a:prstDash val="solid"/>
          </a:ln>
        </p:spPr>
      </p:sp>
      <p:sp>
        <p:nvSpPr>
          <p:cNvPr id="206" name="Text 204"/>
          <p:cNvSpPr/>
          <p:nvPr/>
        </p:nvSpPr>
        <p:spPr>
          <a:xfrm>
            <a:off x="9701784" y="2670048"/>
            <a:ext cx="2304288" cy="173736"/>
          </a:xfrm>
          <a:prstGeom prst="rect">
            <a:avLst/>
          </a:prstGeom>
          <a:noFill/>
          <a:ln/>
        </p:spPr>
        <p:txBody>
          <a:bodyPr wrap="square" lIns="0" tIns="0" rIns="0" bIns="0" rtlCol="0" anchor="ctr"/>
          <a:lstStyle/>
          <a:p>
            <a:pPr indent="0" marL="0">
              <a:buNone/>
            </a:pPr>
            <a:r>
              <a:rPr lang="en-US" sz="800" b="1" dirty="0">
                <a:solidFill>
                  <a:srgbClr val="1F2937"/>
                </a:solidFill>
              </a:rPr>
              <a:t>Release</a:t>
            </a:r>
            <a:endParaRPr lang="en-US" sz="800" dirty="0"/>
          </a:p>
        </p:txBody>
      </p:sp>
      <p:sp>
        <p:nvSpPr>
          <p:cNvPr id="207" name="Text 205"/>
          <p:cNvSpPr/>
          <p:nvPr/>
        </p:nvSpPr>
        <p:spPr>
          <a:xfrm>
            <a:off x="9701784" y="2880360"/>
            <a:ext cx="1773936" cy="137160"/>
          </a:xfrm>
          <a:prstGeom prst="rect">
            <a:avLst/>
          </a:prstGeom>
          <a:noFill/>
          <a:ln/>
        </p:spPr>
        <p:txBody>
          <a:bodyPr wrap="square" lIns="0" tIns="0" rIns="0" bIns="0" rtlCol="0" anchor="ctr"/>
          <a:lstStyle/>
          <a:p>
            <a:pPr indent="0" marL="0">
              <a:buNone/>
            </a:pPr>
            <a:r>
              <a:rPr lang="en-US" sz="700" dirty="0">
                <a:solidFill>
                  <a:srgbClr val="6B7280"/>
                </a:solidFill>
              </a:rPr>
              <a:t>Dec 2026</a:t>
            </a:r>
            <a:endParaRPr lang="en-US" sz="700" dirty="0"/>
          </a:p>
        </p:txBody>
      </p:sp>
      <p:sp>
        <p:nvSpPr>
          <p:cNvPr id="208" name="Shape 206"/>
          <p:cNvSpPr/>
          <p:nvPr/>
        </p:nvSpPr>
        <p:spPr>
          <a:xfrm>
            <a:off x="11494008" y="2880360"/>
            <a:ext cx="658368" cy="137160"/>
          </a:xfrm>
          <a:prstGeom prst="roundRect">
            <a:avLst>
              <a:gd name="adj" fmla="val 20000"/>
            </a:avLst>
          </a:prstGeom>
          <a:solidFill>
            <a:srgbClr val="F3F4F6"/>
          </a:solidFill>
          <a:ln w="12700">
            <a:solidFill>
              <a:srgbClr val="F3F4F6"/>
            </a:solidFill>
            <a:prstDash val="solid"/>
          </a:ln>
        </p:spPr>
      </p:sp>
      <p:sp>
        <p:nvSpPr>
          <p:cNvPr id="209" name="Text 207"/>
          <p:cNvSpPr/>
          <p:nvPr/>
        </p:nvSpPr>
        <p:spPr>
          <a:xfrm>
            <a:off x="11494008" y="2880360"/>
            <a:ext cx="658368" cy="137160"/>
          </a:xfrm>
          <a:prstGeom prst="rect">
            <a:avLst/>
          </a:prstGeom>
          <a:noFill/>
          <a:ln/>
        </p:spPr>
        <p:txBody>
          <a:bodyPr wrap="square" lIns="0" tIns="0" rIns="0" bIns="0" rtlCol="0" anchor="ctr"/>
          <a:lstStyle/>
          <a:p>
            <a:pPr algn="ctr" indent="0" marL="0">
              <a:buNone/>
            </a:pPr>
            <a:r>
              <a:rPr lang="en-US" sz="600" b="1" dirty="0">
                <a:solidFill>
                  <a:srgbClr val="6B7280"/>
                </a:solidFill>
              </a:rPr>
              <a:t>Upcoming</a:t>
            </a:r>
            <a:endParaRPr lang="en-US" sz="600" dirty="0"/>
          </a:p>
        </p:txBody>
      </p:sp>
      <p:sp>
        <p:nvSpPr>
          <p:cNvPr id="210" name="Shape 208"/>
          <p:cNvSpPr/>
          <p:nvPr/>
        </p:nvSpPr>
        <p:spPr>
          <a:xfrm>
            <a:off x="9482328" y="3200400"/>
            <a:ext cx="2633472" cy="0"/>
          </a:xfrm>
          <a:prstGeom prst="line">
            <a:avLst/>
          </a:prstGeom>
          <a:noFill/>
          <a:ln w="9525">
            <a:solidFill>
              <a:srgbClr val="DDE1E6"/>
            </a:solidFill>
            <a:prstDash val="solid"/>
          </a:ln>
        </p:spPr>
      </p:sp>
      <p:sp>
        <p:nvSpPr>
          <p:cNvPr id="211" name="Text 209"/>
          <p:cNvSpPr/>
          <p:nvPr/>
        </p:nvSpPr>
        <p:spPr>
          <a:xfrm>
            <a:off x="9500616" y="3337560"/>
            <a:ext cx="2633472" cy="201168"/>
          </a:xfrm>
          <a:prstGeom prst="rect">
            <a:avLst/>
          </a:prstGeom>
          <a:noFill/>
          <a:ln/>
        </p:spPr>
        <p:txBody>
          <a:bodyPr wrap="square" lIns="0" tIns="0" rIns="0" bIns="0" rtlCol="0" anchor="ctr"/>
          <a:lstStyle/>
          <a:p>
            <a:pPr indent="0" marL="0">
              <a:buNone/>
            </a:pPr>
            <a:r>
              <a:rPr lang="en-US" sz="950" b="1" dirty="0">
                <a:solidFill>
                  <a:srgbClr val="111827"/>
                </a:solidFill>
              </a:rPr>
              <a:t>Status Key</a:t>
            </a:r>
            <a:endParaRPr lang="en-US" sz="950" dirty="0"/>
          </a:p>
        </p:txBody>
      </p:sp>
      <p:sp>
        <p:nvSpPr>
          <p:cNvPr id="212" name="Shape 210"/>
          <p:cNvSpPr/>
          <p:nvPr/>
        </p:nvSpPr>
        <p:spPr>
          <a:xfrm>
            <a:off x="9500616" y="3584448"/>
            <a:ext cx="749808" cy="173736"/>
          </a:xfrm>
          <a:prstGeom prst="roundRect">
            <a:avLst>
              <a:gd name="adj" fmla="val 15789"/>
            </a:avLst>
          </a:prstGeom>
          <a:solidFill>
            <a:srgbClr val="F3F4F6"/>
          </a:solidFill>
          <a:ln w="9525">
            <a:solidFill>
              <a:srgbClr val="D1D5DB"/>
            </a:solidFill>
            <a:prstDash val="solid"/>
          </a:ln>
        </p:spPr>
      </p:sp>
      <p:sp>
        <p:nvSpPr>
          <p:cNvPr id="213" name="Text 211"/>
          <p:cNvSpPr/>
          <p:nvPr/>
        </p:nvSpPr>
        <p:spPr>
          <a:xfrm>
            <a:off x="9500616" y="3584448"/>
            <a:ext cx="749808" cy="173736"/>
          </a:xfrm>
          <a:prstGeom prst="rect">
            <a:avLst/>
          </a:prstGeom>
          <a:noFill/>
          <a:ln/>
        </p:spPr>
        <p:txBody>
          <a:bodyPr wrap="square" lIns="0" tIns="0" rIns="0" bIns="0" rtlCol="0" anchor="ctr"/>
          <a:lstStyle/>
          <a:p>
            <a:pPr algn="ctr" indent="0" marL="0">
              <a:buNone/>
            </a:pPr>
            <a:r>
              <a:rPr lang="en-US" sz="700" b="1" dirty="0">
                <a:solidFill>
                  <a:srgbClr val="374151"/>
                </a:solidFill>
              </a:rPr>
              <a:t>Not Started</a:t>
            </a:r>
            <a:endParaRPr lang="en-US" sz="700" dirty="0"/>
          </a:p>
        </p:txBody>
      </p:sp>
      <p:sp>
        <p:nvSpPr>
          <p:cNvPr id="214" name="Text 212"/>
          <p:cNvSpPr/>
          <p:nvPr/>
        </p:nvSpPr>
        <p:spPr>
          <a:xfrm>
            <a:off x="10305288" y="3584448"/>
            <a:ext cx="1792224" cy="173736"/>
          </a:xfrm>
          <a:prstGeom prst="rect">
            <a:avLst/>
          </a:prstGeom>
          <a:noFill/>
          <a:ln/>
        </p:spPr>
        <p:txBody>
          <a:bodyPr wrap="square" lIns="0" tIns="0" rIns="0" bIns="0" rtlCol="0" anchor="ctr"/>
          <a:lstStyle/>
          <a:p>
            <a:pPr algn="l" indent="0" marL="0">
              <a:buNone/>
            </a:pPr>
            <a:r>
              <a:rPr lang="en-US" sz="700" dirty="0">
                <a:solidFill>
                  <a:srgbClr val="6B7280"/>
                </a:solidFill>
              </a:rPr>
              <a:t>Work has not begun</a:t>
            </a:r>
            <a:endParaRPr lang="en-US" sz="700" dirty="0"/>
          </a:p>
        </p:txBody>
      </p:sp>
      <p:sp>
        <p:nvSpPr>
          <p:cNvPr id="215" name="Shape 213"/>
          <p:cNvSpPr/>
          <p:nvPr/>
        </p:nvSpPr>
        <p:spPr>
          <a:xfrm>
            <a:off x="9500616" y="3813048"/>
            <a:ext cx="749808" cy="173736"/>
          </a:xfrm>
          <a:prstGeom prst="roundRect">
            <a:avLst>
              <a:gd name="adj" fmla="val 15789"/>
            </a:avLst>
          </a:prstGeom>
          <a:solidFill>
            <a:srgbClr val="1558A8"/>
          </a:solidFill>
          <a:ln w="12700">
            <a:solidFill>
              <a:srgbClr val="1558A8"/>
            </a:solidFill>
            <a:prstDash val="solid"/>
          </a:ln>
        </p:spPr>
      </p:sp>
      <p:sp>
        <p:nvSpPr>
          <p:cNvPr id="216" name="Text 214"/>
          <p:cNvSpPr/>
          <p:nvPr/>
        </p:nvSpPr>
        <p:spPr>
          <a:xfrm>
            <a:off x="9500616" y="3813048"/>
            <a:ext cx="749808" cy="173736"/>
          </a:xfrm>
          <a:prstGeom prst="rect">
            <a:avLst/>
          </a:prstGeom>
          <a:noFill/>
          <a:ln/>
        </p:spPr>
        <p:txBody>
          <a:bodyPr wrap="square" lIns="0" tIns="0" rIns="0" bIns="0" rtlCol="0" anchor="ctr"/>
          <a:lstStyle/>
          <a:p>
            <a:pPr algn="ctr" indent="0" marL="0">
              <a:buNone/>
            </a:pPr>
            <a:r>
              <a:rPr lang="en-US" sz="700" b="1" dirty="0">
                <a:solidFill>
                  <a:srgbClr val="FFFFFF"/>
                </a:solidFill>
              </a:rPr>
              <a:t>In Progress</a:t>
            </a:r>
            <a:endParaRPr lang="en-US" sz="700" dirty="0"/>
          </a:p>
        </p:txBody>
      </p:sp>
      <p:sp>
        <p:nvSpPr>
          <p:cNvPr id="217" name="Text 215"/>
          <p:cNvSpPr/>
          <p:nvPr/>
        </p:nvSpPr>
        <p:spPr>
          <a:xfrm>
            <a:off x="10305288" y="3813048"/>
            <a:ext cx="1792224" cy="173736"/>
          </a:xfrm>
          <a:prstGeom prst="rect">
            <a:avLst/>
          </a:prstGeom>
          <a:noFill/>
          <a:ln/>
        </p:spPr>
        <p:txBody>
          <a:bodyPr wrap="square" lIns="0" tIns="0" rIns="0" bIns="0" rtlCol="0" anchor="ctr"/>
          <a:lstStyle/>
          <a:p>
            <a:pPr algn="l" indent="0" marL="0">
              <a:buNone/>
            </a:pPr>
            <a:r>
              <a:rPr lang="en-US" sz="700" dirty="0">
                <a:solidFill>
                  <a:srgbClr val="6B7280"/>
                </a:solidFill>
              </a:rPr>
              <a:t>Active development underway</a:t>
            </a:r>
            <a:endParaRPr lang="en-US" sz="700" dirty="0"/>
          </a:p>
        </p:txBody>
      </p:sp>
      <p:sp>
        <p:nvSpPr>
          <p:cNvPr id="218" name="Shape 216"/>
          <p:cNvSpPr/>
          <p:nvPr/>
        </p:nvSpPr>
        <p:spPr>
          <a:xfrm>
            <a:off x="9500616" y="4041648"/>
            <a:ext cx="749808" cy="173736"/>
          </a:xfrm>
          <a:prstGeom prst="roundRect">
            <a:avLst>
              <a:gd name="adj" fmla="val 15789"/>
            </a:avLst>
          </a:prstGeom>
          <a:solidFill>
            <a:srgbClr val="FEE2E2"/>
          </a:solidFill>
          <a:ln w="19050">
            <a:solidFill>
              <a:srgbClr val="DC2626"/>
            </a:solidFill>
            <a:prstDash val="solid"/>
          </a:ln>
        </p:spPr>
      </p:sp>
      <p:sp>
        <p:nvSpPr>
          <p:cNvPr id="219" name="Text 217"/>
          <p:cNvSpPr/>
          <p:nvPr/>
        </p:nvSpPr>
        <p:spPr>
          <a:xfrm>
            <a:off x="9500616" y="4041648"/>
            <a:ext cx="749808" cy="173736"/>
          </a:xfrm>
          <a:prstGeom prst="rect">
            <a:avLst/>
          </a:prstGeom>
          <a:noFill/>
          <a:ln/>
        </p:spPr>
        <p:txBody>
          <a:bodyPr wrap="square" lIns="0" tIns="0" rIns="0" bIns="0" rtlCol="0" anchor="ctr"/>
          <a:lstStyle/>
          <a:p>
            <a:pPr algn="ctr" indent="0" marL="0">
              <a:buNone/>
            </a:pPr>
            <a:r>
              <a:rPr lang="en-US" sz="700" b="1" dirty="0">
                <a:solidFill>
                  <a:srgbClr val="7F1D1D"/>
                </a:solidFill>
              </a:rPr>
              <a:t>Blocked</a:t>
            </a:r>
            <a:endParaRPr lang="en-US" sz="700" dirty="0"/>
          </a:p>
        </p:txBody>
      </p:sp>
      <p:sp>
        <p:nvSpPr>
          <p:cNvPr id="220" name="Text 218"/>
          <p:cNvSpPr/>
          <p:nvPr/>
        </p:nvSpPr>
        <p:spPr>
          <a:xfrm>
            <a:off x="10305288" y="4041648"/>
            <a:ext cx="1792224" cy="173736"/>
          </a:xfrm>
          <a:prstGeom prst="rect">
            <a:avLst/>
          </a:prstGeom>
          <a:noFill/>
          <a:ln/>
        </p:spPr>
        <p:txBody>
          <a:bodyPr wrap="square" lIns="0" tIns="0" rIns="0" bIns="0" rtlCol="0" anchor="ctr"/>
          <a:lstStyle/>
          <a:p>
            <a:pPr algn="l" indent="0" marL="0">
              <a:buNone/>
            </a:pPr>
            <a:r>
              <a:rPr lang="en-US" sz="700" dirty="0">
                <a:solidFill>
                  <a:srgbClr val="6B7280"/>
                </a:solidFill>
              </a:rPr>
              <a:t>Blocked by dependency</a:t>
            </a:r>
            <a:endParaRPr lang="en-US" sz="700" dirty="0"/>
          </a:p>
        </p:txBody>
      </p:sp>
      <p:sp>
        <p:nvSpPr>
          <p:cNvPr id="221" name="Shape 219"/>
          <p:cNvSpPr/>
          <p:nvPr/>
        </p:nvSpPr>
        <p:spPr>
          <a:xfrm>
            <a:off x="9500616" y="4270248"/>
            <a:ext cx="749808" cy="173736"/>
          </a:xfrm>
          <a:prstGeom prst="roundRect">
            <a:avLst>
              <a:gd name="adj" fmla="val 15789"/>
            </a:avLst>
          </a:prstGeom>
          <a:solidFill>
            <a:srgbClr val="DCFCE7"/>
          </a:solidFill>
          <a:ln w="12700">
            <a:solidFill>
              <a:srgbClr val="15803D"/>
            </a:solidFill>
            <a:prstDash val="solid"/>
          </a:ln>
        </p:spPr>
      </p:sp>
      <p:sp>
        <p:nvSpPr>
          <p:cNvPr id="222" name="Text 220"/>
          <p:cNvSpPr/>
          <p:nvPr/>
        </p:nvSpPr>
        <p:spPr>
          <a:xfrm>
            <a:off x="9500616" y="4270248"/>
            <a:ext cx="749808" cy="173736"/>
          </a:xfrm>
          <a:prstGeom prst="rect">
            <a:avLst/>
          </a:prstGeom>
          <a:noFill/>
          <a:ln/>
        </p:spPr>
        <p:txBody>
          <a:bodyPr wrap="square" lIns="0" tIns="0" rIns="0" bIns="0" rtlCol="0" anchor="ctr"/>
          <a:lstStyle/>
          <a:p>
            <a:pPr algn="ctr" indent="0" marL="0">
              <a:buNone/>
            </a:pPr>
            <a:r>
              <a:rPr lang="en-US" sz="700" b="1" dirty="0">
                <a:solidFill>
                  <a:srgbClr val="14532D"/>
                </a:solidFill>
              </a:rPr>
              <a:t>Done</a:t>
            </a:r>
            <a:endParaRPr lang="en-US" sz="700" dirty="0"/>
          </a:p>
        </p:txBody>
      </p:sp>
      <p:sp>
        <p:nvSpPr>
          <p:cNvPr id="223" name="Text 221"/>
          <p:cNvSpPr/>
          <p:nvPr/>
        </p:nvSpPr>
        <p:spPr>
          <a:xfrm>
            <a:off x="10305288" y="4270248"/>
            <a:ext cx="1792224" cy="173736"/>
          </a:xfrm>
          <a:prstGeom prst="rect">
            <a:avLst/>
          </a:prstGeom>
          <a:noFill/>
          <a:ln/>
        </p:spPr>
        <p:txBody>
          <a:bodyPr wrap="square" lIns="0" tIns="0" rIns="0" bIns="0" rtlCol="0" anchor="ctr"/>
          <a:lstStyle/>
          <a:p>
            <a:pPr algn="l" indent="0" marL="0">
              <a:buNone/>
            </a:pPr>
            <a:r>
              <a:rPr lang="en-US" sz="700" dirty="0">
                <a:solidFill>
                  <a:srgbClr val="6B7280"/>
                </a:solidFill>
              </a:rPr>
              <a:t>Complete ✓</a:t>
            </a:r>
            <a:endParaRPr lang="en-US" sz="700" dirty="0"/>
          </a:p>
        </p:txBody>
      </p:sp>
      <p:sp>
        <p:nvSpPr>
          <p:cNvPr id="224" name="Shape 222"/>
          <p:cNvSpPr/>
          <p:nvPr/>
        </p:nvSpPr>
        <p:spPr>
          <a:xfrm>
            <a:off x="9500616" y="4498848"/>
            <a:ext cx="749808" cy="173736"/>
          </a:xfrm>
          <a:prstGeom prst="roundRect">
            <a:avLst>
              <a:gd name="adj" fmla="val 15789"/>
            </a:avLst>
          </a:prstGeom>
          <a:solidFill>
            <a:srgbClr val="FEF3C7"/>
          </a:solidFill>
          <a:ln w="19050">
            <a:solidFill>
              <a:srgbClr val="D97706"/>
            </a:solidFill>
            <a:prstDash val="solid"/>
          </a:ln>
        </p:spPr>
      </p:sp>
      <p:sp>
        <p:nvSpPr>
          <p:cNvPr id="225" name="Text 223"/>
          <p:cNvSpPr/>
          <p:nvPr/>
        </p:nvSpPr>
        <p:spPr>
          <a:xfrm>
            <a:off x="9500616" y="4498848"/>
            <a:ext cx="749808" cy="173736"/>
          </a:xfrm>
          <a:prstGeom prst="rect">
            <a:avLst/>
          </a:prstGeom>
          <a:noFill/>
          <a:ln/>
        </p:spPr>
        <p:txBody>
          <a:bodyPr wrap="square" lIns="0" tIns="0" rIns="0" bIns="0" rtlCol="0" anchor="ctr"/>
          <a:lstStyle/>
          <a:p>
            <a:pPr algn="ctr" indent="0" marL="0">
              <a:buNone/>
            </a:pPr>
            <a:r>
              <a:rPr lang="en-US" sz="700" b="1" dirty="0">
                <a:solidFill>
                  <a:srgbClr val="78350F"/>
                </a:solidFill>
              </a:rPr>
              <a:t>At Risk</a:t>
            </a:r>
            <a:endParaRPr lang="en-US" sz="700" dirty="0"/>
          </a:p>
        </p:txBody>
      </p:sp>
      <p:sp>
        <p:nvSpPr>
          <p:cNvPr id="226" name="Text 224"/>
          <p:cNvSpPr/>
          <p:nvPr/>
        </p:nvSpPr>
        <p:spPr>
          <a:xfrm>
            <a:off x="10305288" y="4498848"/>
            <a:ext cx="1792224" cy="173736"/>
          </a:xfrm>
          <a:prstGeom prst="rect">
            <a:avLst/>
          </a:prstGeom>
          <a:noFill/>
          <a:ln/>
        </p:spPr>
        <p:txBody>
          <a:bodyPr wrap="square" lIns="0" tIns="0" rIns="0" bIns="0" rtlCol="0" anchor="ctr"/>
          <a:lstStyle/>
          <a:p>
            <a:pPr algn="l" indent="0" marL="0">
              <a:buNone/>
            </a:pPr>
            <a:r>
              <a:rPr lang="en-US" sz="700" dirty="0">
                <a:solidFill>
                  <a:srgbClr val="6B7280"/>
                </a:solidFill>
              </a:rPr>
              <a:t>NS with unmet dependencies</a:t>
            </a:r>
            <a:endParaRPr lang="en-US" sz="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show="0">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344400" cy="457200"/>
          </a:xfrm>
          <a:prstGeom prst="rect">
            <a:avLst/>
          </a:prstGeom>
          <a:solidFill>
            <a:srgbClr val="8ED973"/>
          </a:solidFill>
          <a:ln w="12700">
            <a:solidFill>
              <a:srgbClr val="8ED973"/>
            </a:solidFill>
            <a:prstDash val="solid"/>
          </a:ln>
        </p:spPr>
      </p:sp>
      <p:sp>
        <p:nvSpPr>
          <p:cNvPr id="3" name="Text 1"/>
          <p:cNvSpPr/>
          <p:nvPr/>
        </p:nvSpPr>
        <p:spPr>
          <a:xfrm>
            <a:off x="201168" y="0"/>
            <a:ext cx="8229600" cy="457200"/>
          </a:xfrm>
          <a:prstGeom prst="rect">
            <a:avLst/>
          </a:prstGeom>
          <a:noFill/>
          <a:ln/>
        </p:spPr>
        <p:txBody>
          <a:bodyPr wrap="square" lIns="0" tIns="0" rIns="0" bIns="0" rtlCol="0" anchor="ctr"/>
          <a:lstStyle/>
          <a:p>
            <a:pPr algn="l" indent="0" marL="0">
              <a:buNone/>
            </a:pPr>
            <a:r>
              <a:rPr lang="en-US" sz="1600" b="1" dirty="0">
                <a:solidFill>
                  <a:srgbClr val="000000"/>
                </a:solidFill>
              </a:rPr>
              <a:t>Project SABR  ·  TC.com</a:t>
            </a:r>
            <a:endParaRPr lang="en-US" sz="1600" dirty="0"/>
          </a:p>
        </p:txBody>
      </p:sp>
      <p:sp>
        <p:nvSpPr>
          <p:cNvPr id="4" name="Text 2"/>
          <p:cNvSpPr/>
          <p:nvPr/>
        </p:nvSpPr>
        <p:spPr>
          <a:xfrm>
            <a:off x="8686800" y="0"/>
            <a:ext cx="3337560" cy="457200"/>
          </a:xfrm>
          <a:prstGeom prst="rect">
            <a:avLst/>
          </a:prstGeom>
          <a:noFill/>
          <a:ln/>
        </p:spPr>
        <p:txBody>
          <a:bodyPr wrap="square" lIns="0" tIns="0" rIns="0" bIns="0" rtlCol="0" anchor="ctr"/>
          <a:lstStyle/>
          <a:p>
            <a:pPr algn="r" indent="0" marL="0">
              <a:buNone/>
            </a:pPr>
            <a:r>
              <a:rPr lang="en-US" sz="1100" dirty="0">
                <a:solidFill>
                  <a:srgbClr val="388849"/>
                </a:solidFill>
              </a:rPr>
              <a:t>Web Browser  ·  Aug 5, 2026</a:t>
            </a:r>
            <a:endParaRPr lang="en-US" sz="1100" dirty="0"/>
          </a:p>
        </p:txBody>
      </p:sp>
      <p:sp>
        <p:nvSpPr>
          <p:cNvPr id="5" name="Shape 3"/>
          <p:cNvSpPr/>
          <p:nvPr/>
        </p:nvSpPr>
        <p:spPr>
          <a:xfrm>
            <a:off x="0" y="457200"/>
            <a:ext cx="12344400" cy="347472"/>
          </a:xfrm>
          <a:prstGeom prst="rect">
            <a:avLst/>
          </a:prstGeom>
          <a:solidFill>
            <a:srgbClr val="EFF7F3"/>
          </a:solidFill>
          <a:ln w="12700">
            <a:solidFill>
              <a:srgbClr val="CCE4D8"/>
            </a:solidFill>
            <a:prstDash val="solid"/>
          </a:ln>
        </p:spPr>
      </p:sp>
      <p:sp>
        <p:nvSpPr>
          <p:cNvPr id="6" name="Shape 4"/>
          <p:cNvSpPr/>
          <p:nvPr/>
        </p:nvSpPr>
        <p:spPr>
          <a:xfrm>
            <a:off x="256032" y="521208"/>
            <a:ext cx="1005840" cy="219456"/>
          </a:xfrm>
          <a:prstGeom prst="roundRect">
            <a:avLst>
              <a:gd name="adj" fmla="val 20833"/>
            </a:avLst>
          </a:prstGeom>
          <a:solidFill>
            <a:srgbClr val="DCFCE7"/>
          </a:solidFill>
          <a:ln w="9525">
            <a:solidFill>
              <a:srgbClr val="D1D5DB"/>
            </a:solidFill>
            <a:prstDash val="solid"/>
          </a:ln>
        </p:spPr>
      </p:sp>
      <p:sp>
        <p:nvSpPr>
          <p:cNvPr id="7" name="Text 5"/>
          <p:cNvSpPr/>
          <p:nvPr/>
        </p:nvSpPr>
        <p:spPr>
          <a:xfrm>
            <a:off x="256032" y="521208"/>
            <a:ext cx="1005840" cy="219456"/>
          </a:xfrm>
          <a:prstGeom prst="rect">
            <a:avLst/>
          </a:prstGeom>
          <a:noFill/>
          <a:ln/>
        </p:spPr>
        <p:txBody>
          <a:bodyPr wrap="square" lIns="0" tIns="0" rIns="0" bIns="0" rtlCol="0" anchor="ctr"/>
          <a:lstStyle/>
          <a:p>
            <a:pPr algn="ctr" indent="0" marL="0">
              <a:buNone/>
            </a:pPr>
            <a:r>
              <a:rPr lang="en-US" sz="900" b="1" dirty="0">
                <a:solidFill>
                  <a:srgbClr val="166534"/>
                </a:solidFill>
              </a:rPr>
              <a:t>3  Done</a:t>
            </a:r>
            <a:endParaRPr lang="en-US" sz="900" dirty="0"/>
          </a:p>
        </p:txBody>
      </p:sp>
      <p:sp>
        <p:nvSpPr>
          <p:cNvPr id="8" name="Shape 6"/>
          <p:cNvSpPr/>
          <p:nvPr/>
        </p:nvSpPr>
        <p:spPr>
          <a:xfrm>
            <a:off x="1389888" y="521208"/>
            <a:ext cx="1325880" cy="219456"/>
          </a:xfrm>
          <a:prstGeom prst="roundRect">
            <a:avLst>
              <a:gd name="adj" fmla="val 20833"/>
            </a:avLst>
          </a:prstGeom>
          <a:solidFill>
            <a:srgbClr val="DBEAFE"/>
          </a:solidFill>
          <a:ln w="9525">
            <a:solidFill>
              <a:srgbClr val="D1D5DB"/>
            </a:solidFill>
            <a:prstDash val="solid"/>
          </a:ln>
        </p:spPr>
      </p:sp>
      <p:sp>
        <p:nvSpPr>
          <p:cNvPr id="9" name="Text 7"/>
          <p:cNvSpPr/>
          <p:nvPr/>
        </p:nvSpPr>
        <p:spPr>
          <a:xfrm>
            <a:off x="1389888" y="521208"/>
            <a:ext cx="1325880" cy="219456"/>
          </a:xfrm>
          <a:prstGeom prst="rect">
            <a:avLst/>
          </a:prstGeom>
          <a:noFill/>
          <a:ln/>
        </p:spPr>
        <p:txBody>
          <a:bodyPr wrap="square" lIns="0" tIns="0" rIns="0" bIns="0" rtlCol="0" anchor="ctr"/>
          <a:lstStyle/>
          <a:p>
            <a:pPr algn="ctr" indent="0" marL="0">
              <a:buNone/>
            </a:pPr>
            <a:r>
              <a:rPr lang="en-US" sz="900" b="1" dirty="0">
                <a:solidFill>
                  <a:srgbClr val="1D4ED8"/>
                </a:solidFill>
              </a:rPr>
              <a:t>15  In Progress</a:t>
            </a:r>
            <a:endParaRPr lang="en-US" sz="900" dirty="0"/>
          </a:p>
        </p:txBody>
      </p:sp>
      <p:sp>
        <p:nvSpPr>
          <p:cNvPr id="10" name="Shape 8"/>
          <p:cNvSpPr/>
          <p:nvPr/>
        </p:nvSpPr>
        <p:spPr>
          <a:xfrm>
            <a:off x="2843784" y="521208"/>
            <a:ext cx="1325880" cy="219456"/>
          </a:xfrm>
          <a:prstGeom prst="roundRect">
            <a:avLst>
              <a:gd name="adj" fmla="val 20833"/>
            </a:avLst>
          </a:prstGeom>
          <a:solidFill>
            <a:srgbClr val="F3F4F6"/>
          </a:solidFill>
          <a:ln w="9525">
            <a:solidFill>
              <a:srgbClr val="D1D5DB"/>
            </a:solidFill>
            <a:prstDash val="solid"/>
          </a:ln>
        </p:spPr>
      </p:sp>
      <p:sp>
        <p:nvSpPr>
          <p:cNvPr id="11" name="Text 9"/>
          <p:cNvSpPr/>
          <p:nvPr/>
        </p:nvSpPr>
        <p:spPr>
          <a:xfrm>
            <a:off x="2843784" y="521208"/>
            <a:ext cx="1325880" cy="219456"/>
          </a:xfrm>
          <a:prstGeom prst="rect">
            <a:avLst/>
          </a:prstGeom>
          <a:noFill/>
          <a:ln/>
        </p:spPr>
        <p:txBody>
          <a:bodyPr wrap="square" lIns="0" tIns="0" rIns="0" bIns="0" rtlCol="0" anchor="ctr"/>
          <a:lstStyle/>
          <a:p>
            <a:pPr algn="ctr" indent="0" marL="0">
              <a:buNone/>
            </a:pPr>
            <a:r>
              <a:rPr lang="en-US" sz="900" b="1" dirty="0">
                <a:solidFill>
                  <a:srgbClr val="374151"/>
                </a:solidFill>
              </a:rPr>
              <a:t>2  Not Started</a:t>
            </a:r>
            <a:endParaRPr lang="en-US" sz="900" dirty="0"/>
          </a:p>
        </p:txBody>
      </p:sp>
      <p:sp>
        <p:nvSpPr>
          <p:cNvPr id="12" name="Shape 10"/>
          <p:cNvSpPr/>
          <p:nvPr/>
        </p:nvSpPr>
        <p:spPr>
          <a:xfrm>
            <a:off x="4297680" y="521208"/>
            <a:ext cx="1005840" cy="219456"/>
          </a:xfrm>
          <a:prstGeom prst="roundRect">
            <a:avLst>
              <a:gd name="adj" fmla="val 20833"/>
            </a:avLst>
          </a:prstGeom>
          <a:solidFill>
            <a:srgbClr val="FEE2E2"/>
          </a:solidFill>
          <a:ln w="9525">
            <a:solidFill>
              <a:srgbClr val="D1D5DB"/>
            </a:solidFill>
            <a:prstDash val="solid"/>
          </a:ln>
        </p:spPr>
      </p:sp>
      <p:sp>
        <p:nvSpPr>
          <p:cNvPr id="13" name="Text 11"/>
          <p:cNvSpPr/>
          <p:nvPr/>
        </p:nvSpPr>
        <p:spPr>
          <a:xfrm>
            <a:off x="4297680" y="521208"/>
            <a:ext cx="1005840" cy="219456"/>
          </a:xfrm>
          <a:prstGeom prst="rect">
            <a:avLst/>
          </a:prstGeom>
          <a:noFill/>
          <a:ln/>
        </p:spPr>
        <p:txBody>
          <a:bodyPr wrap="square" lIns="0" tIns="0" rIns="0" bIns="0" rtlCol="0" anchor="ctr"/>
          <a:lstStyle/>
          <a:p>
            <a:pPr algn="ctr" indent="0" marL="0">
              <a:buNone/>
            </a:pPr>
            <a:r>
              <a:rPr lang="en-US" sz="900" b="1" dirty="0">
                <a:solidFill>
                  <a:srgbClr val="7F1D1D"/>
                </a:solidFill>
              </a:rPr>
              <a:t>0  Blocked</a:t>
            </a:r>
            <a:endParaRPr lang="en-US" sz="900" dirty="0"/>
          </a:p>
        </p:txBody>
      </p:sp>
      <p:sp>
        <p:nvSpPr>
          <p:cNvPr id="14" name="Shape 12"/>
          <p:cNvSpPr/>
          <p:nvPr/>
        </p:nvSpPr>
        <p:spPr>
          <a:xfrm>
            <a:off x="5431536" y="521208"/>
            <a:ext cx="2377440" cy="219456"/>
          </a:xfrm>
          <a:prstGeom prst="roundRect">
            <a:avLst>
              <a:gd name="adj" fmla="val 20833"/>
            </a:avLst>
          </a:prstGeom>
          <a:solidFill>
            <a:srgbClr val="FFFFFF"/>
          </a:solidFill>
          <a:ln w="9525">
            <a:solidFill>
              <a:srgbClr val="D1D5DB"/>
            </a:solidFill>
            <a:prstDash val="solid"/>
          </a:ln>
        </p:spPr>
      </p:sp>
      <p:sp>
        <p:nvSpPr>
          <p:cNvPr id="15" name="Text 13"/>
          <p:cNvSpPr/>
          <p:nvPr/>
        </p:nvSpPr>
        <p:spPr>
          <a:xfrm>
            <a:off x="5431536" y="521208"/>
            <a:ext cx="2377440" cy="219456"/>
          </a:xfrm>
          <a:prstGeom prst="rect">
            <a:avLst/>
          </a:prstGeom>
          <a:noFill/>
          <a:ln/>
        </p:spPr>
        <p:txBody>
          <a:bodyPr wrap="square" lIns="0" tIns="0" rIns="0" bIns="0" rtlCol="0" anchor="ctr"/>
          <a:lstStyle/>
          <a:p>
            <a:pPr algn="ctr" indent="0" marL="0">
              <a:buNone/>
            </a:pPr>
            <a:r>
              <a:rPr lang="en-US" sz="900" b="1" dirty="0">
                <a:solidFill>
                  <a:srgbClr val="374151"/>
                </a:solidFill>
              </a:rPr>
              <a:t>Sep 30, 2026  ·  Beta</a:t>
            </a:r>
            <a:endParaRPr lang="en-US" sz="900" dirty="0"/>
          </a:p>
        </p:txBody>
      </p:sp>
      <p:sp>
        <p:nvSpPr>
          <p:cNvPr id="16" name="Shape 14"/>
          <p:cNvSpPr/>
          <p:nvPr/>
        </p:nvSpPr>
        <p:spPr>
          <a:xfrm>
            <a:off x="0" y="6876288"/>
            <a:ext cx="12344400" cy="438912"/>
          </a:xfrm>
          <a:prstGeom prst="rect">
            <a:avLst/>
          </a:prstGeom>
          <a:solidFill>
            <a:srgbClr val="F4F6F8"/>
          </a:solidFill>
          <a:ln w="12700">
            <a:solidFill>
              <a:srgbClr val="D1D5DB"/>
            </a:solidFill>
            <a:prstDash val="solid"/>
          </a:ln>
        </p:spPr>
      </p:sp>
      <p:sp>
        <p:nvSpPr>
          <p:cNvPr id="17" name="Text 15"/>
          <p:cNvSpPr/>
          <p:nvPr/>
        </p:nvSpPr>
        <p:spPr>
          <a:xfrm>
            <a:off x="201168" y="6876288"/>
            <a:ext cx="5029200" cy="438912"/>
          </a:xfrm>
          <a:prstGeom prst="rect">
            <a:avLst/>
          </a:prstGeom>
          <a:noFill/>
          <a:ln/>
        </p:spPr>
        <p:txBody>
          <a:bodyPr wrap="square" lIns="0" tIns="0" rIns="0" bIns="0" rtlCol="0" anchor="ctr"/>
          <a:lstStyle/>
          <a:p>
            <a:pPr algn="l" indent="0" marL="0">
              <a:buNone/>
            </a:pPr>
            <a:r>
              <a:rPr lang="en-US" sz="800" dirty="0">
                <a:solidFill>
                  <a:srgbClr val="9CA3AF"/>
                </a:solidFill>
              </a:rPr>
              <a:t>Project SABR  ·  Tennis Channel OTT  ·  CONFIDENTIAL</a:t>
            </a:r>
            <a:endParaRPr lang="en-US" sz="800" dirty="0"/>
          </a:p>
        </p:txBody>
      </p:sp>
      <p:sp>
        <p:nvSpPr>
          <p:cNvPr id="18" name="Text 16"/>
          <p:cNvSpPr/>
          <p:nvPr/>
        </p:nvSpPr>
        <p:spPr>
          <a:xfrm>
            <a:off x="5486400" y="6876288"/>
            <a:ext cx="4572000" cy="438912"/>
          </a:xfrm>
          <a:prstGeom prst="rect">
            <a:avLst/>
          </a:prstGeom>
          <a:noFill/>
          <a:ln/>
        </p:spPr>
        <p:txBody>
          <a:bodyPr wrap="square" lIns="0" tIns="0" rIns="0" bIns="0" rtlCol="0" anchor="ctr"/>
          <a:lstStyle/>
          <a:p>
            <a:pPr algn="ctr" indent="0" marL="0">
              <a:buNone/>
            </a:pPr>
            <a:r>
              <a:rPr lang="en-US" sz="800" dirty="0">
                <a:solidFill>
                  <a:srgbClr val="9CA3AF"/>
                </a:solidFill>
              </a:rPr>
              <a:t>Beta: Sep 30, 2026  ·  55 days remaining</a:t>
            </a:r>
            <a:endParaRPr lang="en-US" sz="800" dirty="0"/>
          </a:p>
        </p:txBody>
      </p:sp>
      <p:sp>
        <p:nvSpPr>
          <p:cNvPr id="19" name="Text 17"/>
          <p:cNvSpPr/>
          <p:nvPr/>
        </p:nvSpPr>
        <p:spPr>
          <a:xfrm>
            <a:off x="10515600" y="6876288"/>
            <a:ext cx="1508760" cy="438912"/>
          </a:xfrm>
          <a:prstGeom prst="rect">
            <a:avLst/>
          </a:prstGeom>
          <a:noFill/>
          <a:ln/>
        </p:spPr>
        <p:txBody>
          <a:bodyPr wrap="square" lIns="0" tIns="0" rIns="0" bIns="0" rtlCol="0" anchor="ctr"/>
          <a:lstStyle/>
          <a:p>
            <a:pPr algn="r" indent="0" marL="0">
              <a:buNone/>
            </a:pPr>
            <a:r>
              <a:rPr lang="en-US" sz="1100" b="1" dirty="0">
                <a:solidFill>
                  <a:srgbClr val="388849"/>
                </a:solidFill>
              </a:rPr>
              <a:t>15% Ready</a:t>
            </a:r>
            <a:endParaRPr lang="en-US" sz="1100" dirty="0"/>
          </a:p>
        </p:txBody>
      </p:sp>
      <p:sp>
        <p:nvSpPr>
          <p:cNvPr id="20" name="Shape 18"/>
          <p:cNvSpPr/>
          <p:nvPr/>
        </p:nvSpPr>
        <p:spPr>
          <a:xfrm>
            <a:off x="164592" y="804672"/>
            <a:ext cx="9116568" cy="1476756"/>
          </a:xfrm>
          <a:prstGeom prst="rect">
            <a:avLst/>
          </a:prstGeom>
          <a:solidFill>
            <a:srgbClr val="FAFBFC"/>
          </a:solidFill>
          <a:ln w="6350">
            <a:solidFill>
              <a:srgbClr val="E5E7EB"/>
            </a:solidFill>
            <a:prstDash val="solid"/>
          </a:ln>
        </p:spPr>
      </p:sp>
      <p:sp>
        <p:nvSpPr>
          <p:cNvPr id="21" name="Shape 19"/>
          <p:cNvSpPr/>
          <p:nvPr/>
        </p:nvSpPr>
        <p:spPr>
          <a:xfrm>
            <a:off x="182880" y="877824"/>
            <a:ext cx="859536" cy="1330452"/>
          </a:xfrm>
          <a:prstGeom prst="roundRect">
            <a:avLst>
              <a:gd name="adj" fmla="val 5319"/>
            </a:avLst>
          </a:prstGeom>
          <a:solidFill>
            <a:srgbClr val="9CA3AF"/>
          </a:solidFill>
          <a:ln w="12700">
            <a:solidFill>
              <a:srgbClr val="9CA3AF"/>
            </a:solidFill>
            <a:prstDash val="solid"/>
          </a:ln>
        </p:spPr>
      </p:sp>
      <p:sp>
        <p:nvSpPr>
          <p:cNvPr id="22" name="Text 20"/>
          <p:cNvSpPr/>
          <p:nvPr/>
        </p:nvSpPr>
        <p:spPr>
          <a:xfrm>
            <a:off x="182880" y="87782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Video</a:t>
            </a:r>
            <a:endParaRPr lang="en-US" sz="800" dirty="0"/>
          </a:p>
          <a:p>
            <a:pPr algn="ctr" indent="0" marL="0">
              <a:buNone/>
            </a:pPr>
            <a:r>
              <a:rPr lang="en-US" sz="800" b="1" dirty="0">
                <a:solidFill>
                  <a:srgbClr val="FFFFFF"/>
                </a:solidFill>
              </a:rPr>
              <a:t>Delivery</a:t>
            </a:r>
            <a:endParaRPr lang="en-US" sz="800" dirty="0"/>
          </a:p>
        </p:txBody>
      </p:sp>
      <p:sp>
        <p:nvSpPr>
          <p:cNvPr id="23" name="Text 21"/>
          <p:cNvSpPr/>
          <p:nvPr/>
        </p:nvSpPr>
        <p:spPr>
          <a:xfrm>
            <a:off x="1170432" y="85039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3 / 3 In Progress</a:t>
            </a:r>
            <a:endParaRPr lang="en-US" sz="750" dirty="0"/>
          </a:p>
        </p:txBody>
      </p:sp>
      <p:sp>
        <p:nvSpPr>
          <p:cNvPr id="24" name="Shape 22"/>
          <p:cNvSpPr/>
          <p:nvPr/>
        </p:nvSpPr>
        <p:spPr>
          <a:xfrm>
            <a:off x="1170432" y="1069848"/>
            <a:ext cx="932688" cy="182880"/>
          </a:xfrm>
          <a:prstGeom prst="roundRect">
            <a:avLst>
              <a:gd name="adj" fmla="val 15000"/>
            </a:avLst>
          </a:prstGeom>
          <a:solidFill>
            <a:srgbClr val="FFFFFF"/>
          </a:solidFill>
          <a:ln w="9525">
            <a:solidFill>
              <a:srgbClr val="CBD5E1"/>
            </a:solidFill>
            <a:prstDash val="solid"/>
          </a:ln>
        </p:spPr>
      </p:sp>
      <p:sp>
        <p:nvSpPr>
          <p:cNvPr id="25" name="Text 23"/>
          <p:cNvSpPr/>
          <p:nvPr/>
        </p:nvSpPr>
        <p:spPr>
          <a:xfrm>
            <a:off x="1170432"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HLS</a:t>
            </a:r>
            <a:endParaRPr lang="en-US" sz="750" dirty="0"/>
          </a:p>
        </p:txBody>
      </p:sp>
      <p:sp>
        <p:nvSpPr>
          <p:cNvPr id="26" name="Shape 24"/>
          <p:cNvSpPr/>
          <p:nvPr/>
        </p:nvSpPr>
        <p:spPr>
          <a:xfrm>
            <a:off x="1170432" y="1280160"/>
            <a:ext cx="932688" cy="155448"/>
          </a:xfrm>
          <a:prstGeom prst="roundRect">
            <a:avLst>
              <a:gd name="adj" fmla="val 17647"/>
            </a:avLst>
          </a:prstGeom>
          <a:solidFill>
            <a:srgbClr val="1558A8"/>
          </a:solidFill>
          <a:ln w="12700">
            <a:solidFill>
              <a:srgbClr val="1558A8"/>
            </a:solidFill>
            <a:prstDash val="solid"/>
          </a:ln>
        </p:spPr>
      </p:sp>
      <p:sp>
        <p:nvSpPr>
          <p:cNvPr id="27" name="Text 25"/>
          <p:cNvSpPr/>
          <p:nvPr/>
        </p:nvSpPr>
        <p:spPr>
          <a:xfrm>
            <a:off x="1170432"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28" name="Shape 26"/>
          <p:cNvSpPr/>
          <p:nvPr/>
        </p:nvSpPr>
        <p:spPr>
          <a:xfrm>
            <a:off x="2185416" y="1069848"/>
            <a:ext cx="932688" cy="182880"/>
          </a:xfrm>
          <a:prstGeom prst="roundRect">
            <a:avLst>
              <a:gd name="adj" fmla="val 15000"/>
            </a:avLst>
          </a:prstGeom>
          <a:solidFill>
            <a:srgbClr val="FFFFFF"/>
          </a:solidFill>
          <a:ln w="9525">
            <a:solidFill>
              <a:srgbClr val="CBD5E1"/>
            </a:solidFill>
            <a:prstDash val="solid"/>
          </a:ln>
        </p:spPr>
      </p:sp>
      <p:sp>
        <p:nvSpPr>
          <p:cNvPr id="29" name="Text 27"/>
          <p:cNvSpPr/>
          <p:nvPr/>
        </p:nvSpPr>
        <p:spPr>
          <a:xfrm>
            <a:off x="2185416"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VOD Streams</a:t>
            </a:r>
            <a:endParaRPr lang="en-US" sz="750" dirty="0"/>
          </a:p>
        </p:txBody>
      </p:sp>
      <p:sp>
        <p:nvSpPr>
          <p:cNvPr id="30" name="Shape 28"/>
          <p:cNvSpPr/>
          <p:nvPr/>
        </p:nvSpPr>
        <p:spPr>
          <a:xfrm>
            <a:off x="2185416" y="1280160"/>
            <a:ext cx="932688" cy="155448"/>
          </a:xfrm>
          <a:prstGeom prst="roundRect">
            <a:avLst>
              <a:gd name="adj" fmla="val 17647"/>
            </a:avLst>
          </a:prstGeom>
          <a:solidFill>
            <a:srgbClr val="1558A8"/>
          </a:solidFill>
          <a:ln w="12700">
            <a:solidFill>
              <a:srgbClr val="1558A8"/>
            </a:solidFill>
            <a:prstDash val="solid"/>
          </a:ln>
        </p:spPr>
      </p:sp>
      <p:sp>
        <p:nvSpPr>
          <p:cNvPr id="31" name="Text 29"/>
          <p:cNvSpPr/>
          <p:nvPr/>
        </p:nvSpPr>
        <p:spPr>
          <a:xfrm>
            <a:off x="2185416"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32" name="Shape 30"/>
          <p:cNvSpPr/>
          <p:nvPr/>
        </p:nvSpPr>
        <p:spPr>
          <a:xfrm>
            <a:off x="3200400" y="1069848"/>
            <a:ext cx="932688" cy="182880"/>
          </a:xfrm>
          <a:prstGeom prst="roundRect">
            <a:avLst>
              <a:gd name="adj" fmla="val 15000"/>
            </a:avLst>
          </a:prstGeom>
          <a:solidFill>
            <a:srgbClr val="FFFFFF"/>
          </a:solidFill>
          <a:ln w="9525">
            <a:solidFill>
              <a:srgbClr val="CBD5E1"/>
            </a:solidFill>
            <a:prstDash val="solid"/>
          </a:ln>
        </p:spPr>
      </p:sp>
      <p:sp>
        <p:nvSpPr>
          <p:cNvPr id="33" name="Text 31"/>
          <p:cNvSpPr/>
          <p:nvPr/>
        </p:nvSpPr>
        <p:spPr>
          <a:xfrm>
            <a:off x="3200400"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Linear</a:t>
            </a:r>
            <a:endParaRPr lang="en-US" sz="750" dirty="0"/>
          </a:p>
        </p:txBody>
      </p:sp>
      <p:sp>
        <p:nvSpPr>
          <p:cNvPr id="34" name="Shape 32"/>
          <p:cNvSpPr/>
          <p:nvPr/>
        </p:nvSpPr>
        <p:spPr>
          <a:xfrm>
            <a:off x="3200400" y="1280160"/>
            <a:ext cx="932688" cy="155448"/>
          </a:xfrm>
          <a:prstGeom prst="roundRect">
            <a:avLst>
              <a:gd name="adj" fmla="val 17647"/>
            </a:avLst>
          </a:prstGeom>
          <a:solidFill>
            <a:srgbClr val="1558A8"/>
          </a:solidFill>
          <a:ln w="12700">
            <a:solidFill>
              <a:srgbClr val="1558A8"/>
            </a:solidFill>
            <a:prstDash val="solid"/>
          </a:ln>
        </p:spPr>
      </p:sp>
      <p:sp>
        <p:nvSpPr>
          <p:cNvPr id="35" name="Text 33"/>
          <p:cNvSpPr/>
          <p:nvPr/>
        </p:nvSpPr>
        <p:spPr>
          <a:xfrm>
            <a:off x="3200400"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36" name="Shape 34"/>
          <p:cNvSpPr/>
          <p:nvPr/>
        </p:nvSpPr>
        <p:spPr>
          <a:xfrm>
            <a:off x="164592" y="2336292"/>
            <a:ext cx="9116568" cy="1476756"/>
          </a:xfrm>
          <a:prstGeom prst="rect">
            <a:avLst/>
          </a:prstGeom>
          <a:solidFill>
            <a:srgbClr val="FFFFFF"/>
          </a:solidFill>
          <a:ln w="6350">
            <a:solidFill>
              <a:srgbClr val="E5E7EB"/>
            </a:solidFill>
            <a:prstDash val="solid"/>
          </a:ln>
        </p:spPr>
      </p:sp>
      <p:sp>
        <p:nvSpPr>
          <p:cNvPr id="37" name="Shape 35"/>
          <p:cNvSpPr/>
          <p:nvPr/>
        </p:nvSpPr>
        <p:spPr>
          <a:xfrm>
            <a:off x="182880" y="2409444"/>
            <a:ext cx="859536" cy="1330452"/>
          </a:xfrm>
          <a:prstGeom prst="roundRect">
            <a:avLst>
              <a:gd name="adj" fmla="val 5319"/>
            </a:avLst>
          </a:prstGeom>
          <a:solidFill>
            <a:srgbClr val="9CA3AF"/>
          </a:solidFill>
          <a:ln w="12700">
            <a:solidFill>
              <a:srgbClr val="9CA3AF"/>
            </a:solidFill>
            <a:prstDash val="solid"/>
          </a:ln>
        </p:spPr>
      </p:sp>
      <p:sp>
        <p:nvSpPr>
          <p:cNvPr id="38" name="Text 36"/>
          <p:cNvSpPr/>
          <p:nvPr/>
        </p:nvSpPr>
        <p:spPr>
          <a:xfrm>
            <a:off x="182880" y="240944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Player</a:t>
            </a:r>
            <a:endParaRPr lang="en-US" sz="800" dirty="0"/>
          </a:p>
        </p:txBody>
      </p:sp>
      <p:sp>
        <p:nvSpPr>
          <p:cNvPr id="39" name="Text 37"/>
          <p:cNvSpPr/>
          <p:nvPr/>
        </p:nvSpPr>
        <p:spPr>
          <a:xfrm>
            <a:off x="1170432" y="238201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2 / 2 In Progress</a:t>
            </a:r>
            <a:endParaRPr lang="en-US" sz="750" dirty="0"/>
          </a:p>
        </p:txBody>
      </p:sp>
      <p:sp>
        <p:nvSpPr>
          <p:cNvPr id="40" name="Shape 38"/>
          <p:cNvSpPr/>
          <p:nvPr/>
        </p:nvSpPr>
        <p:spPr>
          <a:xfrm>
            <a:off x="1170432" y="2601468"/>
            <a:ext cx="932688" cy="182880"/>
          </a:xfrm>
          <a:prstGeom prst="roundRect">
            <a:avLst>
              <a:gd name="adj" fmla="val 15000"/>
            </a:avLst>
          </a:prstGeom>
          <a:solidFill>
            <a:srgbClr val="FFFFFF"/>
          </a:solidFill>
          <a:ln w="9525">
            <a:solidFill>
              <a:srgbClr val="CBD5E1"/>
            </a:solidFill>
            <a:prstDash val="solid"/>
          </a:ln>
        </p:spPr>
      </p:sp>
      <p:sp>
        <p:nvSpPr>
          <p:cNvPr id="41" name="Text 39"/>
          <p:cNvSpPr/>
          <p:nvPr/>
        </p:nvSpPr>
        <p:spPr>
          <a:xfrm>
            <a:off x="1170432" y="26014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Web Player</a:t>
            </a:r>
            <a:endParaRPr lang="en-US" sz="750" dirty="0"/>
          </a:p>
        </p:txBody>
      </p:sp>
      <p:sp>
        <p:nvSpPr>
          <p:cNvPr id="42" name="Shape 40"/>
          <p:cNvSpPr/>
          <p:nvPr/>
        </p:nvSpPr>
        <p:spPr>
          <a:xfrm>
            <a:off x="1170432" y="2811780"/>
            <a:ext cx="932688" cy="155448"/>
          </a:xfrm>
          <a:prstGeom prst="roundRect">
            <a:avLst>
              <a:gd name="adj" fmla="val 17647"/>
            </a:avLst>
          </a:prstGeom>
          <a:solidFill>
            <a:srgbClr val="1558A8"/>
          </a:solidFill>
          <a:ln w="12700">
            <a:solidFill>
              <a:srgbClr val="1558A8"/>
            </a:solidFill>
            <a:prstDash val="solid"/>
          </a:ln>
        </p:spPr>
      </p:sp>
      <p:sp>
        <p:nvSpPr>
          <p:cNvPr id="43" name="Text 41"/>
          <p:cNvSpPr/>
          <p:nvPr/>
        </p:nvSpPr>
        <p:spPr>
          <a:xfrm>
            <a:off x="1170432" y="28117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44" name="Shape 42"/>
          <p:cNvSpPr/>
          <p:nvPr/>
        </p:nvSpPr>
        <p:spPr>
          <a:xfrm>
            <a:off x="2185416" y="2601468"/>
            <a:ext cx="932688" cy="182880"/>
          </a:xfrm>
          <a:prstGeom prst="roundRect">
            <a:avLst>
              <a:gd name="adj" fmla="val 15000"/>
            </a:avLst>
          </a:prstGeom>
          <a:solidFill>
            <a:srgbClr val="FFFFFF"/>
          </a:solidFill>
          <a:ln w="9525">
            <a:solidFill>
              <a:srgbClr val="CBD5E1"/>
            </a:solidFill>
            <a:prstDash val="solid"/>
          </a:ln>
        </p:spPr>
      </p:sp>
      <p:sp>
        <p:nvSpPr>
          <p:cNvPr id="45" name="Text 43"/>
          <p:cNvSpPr/>
          <p:nvPr/>
        </p:nvSpPr>
        <p:spPr>
          <a:xfrm>
            <a:off x="2185416" y="26014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HLS/DASH PB</a:t>
            </a:r>
            <a:endParaRPr lang="en-US" sz="750" dirty="0"/>
          </a:p>
        </p:txBody>
      </p:sp>
      <p:sp>
        <p:nvSpPr>
          <p:cNvPr id="46" name="Shape 44"/>
          <p:cNvSpPr/>
          <p:nvPr/>
        </p:nvSpPr>
        <p:spPr>
          <a:xfrm>
            <a:off x="2185416" y="2811780"/>
            <a:ext cx="932688" cy="155448"/>
          </a:xfrm>
          <a:prstGeom prst="roundRect">
            <a:avLst>
              <a:gd name="adj" fmla="val 17647"/>
            </a:avLst>
          </a:prstGeom>
          <a:solidFill>
            <a:srgbClr val="1558A8"/>
          </a:solidFill>
          <a:ln w="12700">
            <a:solidFill>
              <a:srgbClr val="1558A8"/>
            </a:solidFill>
            <a:prstDash val="solid"/>
          </a:ln>
        </p:spPr>
      </p:sp>
      <p:sp>
        <p:nvSpPr>
          <p:cNvPr id="47" name="Text 45"/>
          <p:cNvSpPr/>
          <p:nvPr/>
        </p:nvSpPr>
        <p:spPr>
          <a:xfrm>
            <a:off x="2185416" y="28117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48" name="Shape 46"/>
          <p:cNvSpPr/>
          <p:nvPr/>
        </p:nvSpPr>
        <p:spPr>
          <a:xfrm>
            <a:off x="164592" y="3867912"/>
            <a:ext cx="9116568" cy="1476756"/>
          </a:xfrm>
          <a:prstGeom prst="rect">
            <a:avLst/>
          </a:prstGeom>
          <a:solidFill>
            <a:srgbClr val="FAFBFC"/>
          </a:solidFill>
          <a:ln w="6350">
            <a:solidFill>
              <a:srgbClr val="E5E7EB"/>
            </a:solidFill>
            <a:prstDash val="solid"/>
          </a:ln>
        </p:spPr>
      </p:sp>
      <p:sp>
        <p:nvSpPr>
          <p:cNvPr id="49" name="Shape 47"/>
          <p:cNvSpPr/>
          <p:nvPr/>
        </p:nvSpPr>
        <p:spPr>
          <a:xfrm>
            <a:off x="182880" y="3941064"/>
            <a:ext cx="859536" cy="1330452"/>
          </a:xfrm>
          <a:prstGeom prst="roundRect">
            <a:avLst>
              <a:gd name="adj" fmla="val 5319"/>
            </a:avLst>
          </a:prstGeom>
          <a:solidFill>
            <a:srgbClr val="9CA3AF"/>
          </a:solidFill>
          <a:ln w="12700">
            <a:solidFill>
              <a:srgbClr val="9CA3AF"/>
            </a:solidFill>
            <a:prstDash val="solid"/>
          </a:ln>
        </p:spPr>
      </p:sp>
      <p:sp>
        <p:nvSpPr>
          <p:cNvPr id="50" name="Text 48"/>
          <p:cNvSpPr/>
          <p:nvPr/>
        </p:nvSpPr>
        <p:spPr>
          <a:xfrm>
            <a:off x="182880" y="394106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Merchandising</a:t>
            </a:r>
            <a:endParaRPr lang="en-US" sz="800" dirty="0"/>
          </a:p>
        </p:txBody>
      </p:sp>
      <p:sp>
        <p:nvSpPr>
          <p:cNvPr id="51" name="Text 49"/>
          <p:cNvSpPr/>
          <p:nvPr/>
        </p:nvSpPr>
        <p:spPr>
          <a:xfrm>
            <a:off x="1170432" y="391363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6 / 9 In Progress · 2 Done</a:t>
            </a:r>
            <a:endParaRPr lang="en-US" sz="750" dirty="0"/>
          </a:p>
        </p:txBody>
      </p:sp>
      <p:sp>
        <p:nvSpPr>
          <p:cNvPr id="52" name="Shape 50"/>
          <p:cNvSpPr/>
          <p:nvPr/>
        </p:nvSpPr>
        <p:spPr>
          <a:xfrm>
            <a:off x="1170432" y="4133088"/>
            <a:ext cx="932688" cy="182880"/>
          </a:xfrm>
          <a:prstGeom prst="roundRect">
            <a:avLst>
              <a:gd name="adj" fmla="val 15000"/>
            </a:avLst>
          </a:prstGeom>
          <a:solidFill>
            <a:srgbClr val="FFFFFF"/>
          </a:solidFill>
          <a:ln w="9525">
            <a:solidFill>
              <a:srgbClr val="CBD5E1"/>
            </a:solidFill>
            <a:prstDash val="solid"/>
          </a:ln>
        </p:spPr>
      </p:sp>
      <p:sp>
        <p:nvSpPr>
          <p:cNvPr id="53" name="Text 51"/>
          <p:cNvSpPr/>
          <p:nvPr/>
        </p:nvSpPr>
        <p:spPr>
          <a:xfrm>
            <a:off x="1170432"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Metadata</a:t>
            </a:r>
            <a:endParaRPr lang="en-US" sz="750" dirty="0"/>
          </a:p>
        </p:txBody>
      </p:sp>
      <p:sp>
        <p:nvSpPr>
          <p:cNvPr id="54" name="Shape 52"/>
          <p:cNvSpPr/>
          <p:nvPr/>
        </p:nvSpPr>
        <p:spPr>
          <a:xfrm>
            <a:off x="1170432" y="4343400"/>
            <a:ext cx="932688" cy="155448"/>
          </a:xfrm>
          <a:prstGeom prst="roundRect">
            <a:avLst>
              <a:gd name="adj" fmla="val 17647"/>
            </a:avLst>
          </a:prstGeom>
          <a:solidFill>
            <a:srgbClr val="1558A8"/>
          </a:solidFill>
          <a:ln w="12700">
            <a:solidFill>
              <a:srgbClr val="1558A8"/>
            </a:solidFill>
            <a:prstDash val="solid"/>
          </a:ln>
        </p:spPr>
      </p:sp>
      <p:sp>
        <p:nvSpPr>
          <p:cNvPr id="55" name="Text 53"/>
          <p:cNvSpPr/>
          <p:nvPr/>
        </p:nvSpPr>
        <p:spPr>
          <a:xfrm>
            <a:off x="1170432"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56" name="Shape 54"/>
          <p:cNvSpPr/>
          <p:nvPr/>
        </p:nvSpPr>
        <p:spPr>
          <a:xfrm>
            <a:off x="2185416" y="4133088"/>
            <a:ext cx="932688" cy="182880"/>
          </a:xfrm>
          <a:prstGeom prst="roundRect">
            <a:avLst>
              <a:gd name="adj" fmla="val 15000"/>
            </a:avLst>
          </a:prstGeom>
          <a:solidFill>
            <a:srgbClr val="FFFFFF"/>
          </a:solidFill>
          <a:ln w="9525">
            <a:solidFill>
              <a:srgbClr val="CBD5E1"/>
            </a:solidFill>
            <a:prstDash val="solid"/>
          </a:ln>
        </p:spPr>
      </p:sp>
      <p:sp>
        <p:nvSpPr>
          <p:cNvPr id="57" name="Text 55"/>
          <p:cNvSpPr/>
          <p:nvPr/>
        </p:nvSpPr>
        <p:spPr>
          <a:xfrm>
            <a:off x="2185416"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Images</a:t>
            </a:r>
            <a:endParaRPr lang="en-US" sz="750" dirty="0"/>
          </a:p>
        </p:txBody>
      </p:sp>
      <p:sp>
        <p:nvSpPr>
          <p:cNvPr id="58" name="Shape 56"/>
          <p:cNvSpPr/>
          <p:nvPr/>
        </p:nvSpPr>
        <p:spPr>
          <a:xfrm>
            <a:off x="2185416" y="4343400"/>
            <a:ext cx="932688" cy="155448"/>
          </a:xfrm>
          <a:prstGeom prst="roundRect">
            <a:avLst>
              <a:gd name="adj" fmla="val 17647"/>
            </a:avLst>
          </a:prstGeom>
          <a:solidFill>
            <a:srgbClr val="1558A8"/>
          </a:solidFill>
          <a:ln w="12700">
            <a:solidFill>
              <a:srgbClr val="1558A8"/>
            </a:solidFill>
            <a:prstDash val="solid"/>
          </a:ln>
        </p:spPr>
      </p:sp>
      <p:sp>
        <p:nvSpPr>
          <p:cNvPr id="59" name="Text 57"/>
          <p:cNvSpPr/>
          <p:nvPr/>
        </p:nvSpPr>
        <p:spPr>
          <a:xfrm>
            <a:off x="2185416"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0" name="Shape 58"/>
          <p:cNvSpPr/>
          <p:nvPr/>
        </p:nvSpPr>
        <p:spPr>
          <a:xfrm>
            <a:off x="3200400" y="4133088"/>
            <a:ext cx="932688" cy="182880"/>
          </a:xfrm>
          <a:prstGeom prst="roundRect">
            <a:avLst>
              <a:gd name="adj" fmla="val 15000"/>
            </a:avLst>
          </a:prstGeom>
          <a:solidFill>
            <a:srgbClr val="FFFFFF"/>
          </a:solidFill>
          <a:ln w="9525">
            <a:solidFill>
              <a:srgbClr val="CBD5E1"/>
            </a:solidFill>
            <a:prstDash val="solid"/>
          </a:ln>
        </p:spPr>
      </p:sp>
      <p:sp>
        <p:nvSpPr>
          <p:cNvPr id="61" name="Text 59"/>
          <p:cNvSpPr/>
          <p:nvPr/>
        </p:nvSpPr>
        <p:spPr>
          <a:xfrm>
            <a:off x="3200400"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Carousels</a:t>
            </a:r>
            <a:endParaRPr lang="en-US" sz="750" dirty="0"/>
          </a:p>
        </p:txBody>
      </p:sp>
      <p:sp>
        <p:nvSpPr>
          <p:cNvPr id="62" name="Shape 60"/>
          <p:cNvSpPr/>
          <p:nvPr/>
        </p:nvSpPr>
        <p:spPr>
          <a:xfrm>
            <a:off x="3200400" y="4343400"/>
            <a:ext cx="932688" cy="155448"/>
          </a:xfrm>
          <a:prstGeom prst="roundRect">
            <a:avLst>
              <a:gd name="adj" fmla="val 17647"/>
            </a:avLst>
          </a:prstGeom>
          <a:solidFill>
            <a:srgbClr val="1558A8"/>
          </a:solidFill>
          <a:ln w="12700">
            <a:solidFill>
              <a:srgbClr val="1558A8"/>
            </a:solidFill>
            <a:prstDash val="solid"/>
          </a:ln>
        </p:spPr>
      </p:sp>
      <p:sp>
        <p:nvSpPr>
          <p:cNvPr id="63" name="Text 61"/>
          <p:cNvSpPr/>
          <p:nvPr/>
        </p:nvSpPr>
        <p:spPr>
          <a:xfrm>
            <a:off x="3200400"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4" name="Shape 62"/>
          <p:cNvSpPr/>
          <p:nvPr/>
        </p:nvSpPr>
        <p:spPr>
          <a:xfrm>
            <a:off x="4215384" y="4133088"/>
            <a:ext cx="932688" cy="182880"/>
          </a:xfrm>
          <a:prstGeom prst="roundRect">
            <a:avLst>
              <a:gd name="adj" fmla="val 15000"/>
            </a:avLst>
          </a:prstGeom>
          <a:solidFill>
            <a:srgbClr val="FFFFFF"/>
          </a:solidFill>
          <a:ln w="9525">
            <a:solidFill>
              <a:srgbClr val="CBD5E1"/>
            </a:solidFill>
            <a:prstDash val="solid"/>
          </a:ln>
        </p:spPr>
      </p:sp>
      <p:sp>
        <p:nvSpPr>
          <p:cNvPr id="65" name="Text 63"/>
          <p:cNvSpPr/>
          <p:nvPr/>
        </p:nvSpPr>
        <p:spPr>
          <a:xfrm>
            <a:off x="4215384"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Live Events</a:t>
            </a:r>
            <a:endParaRPr lang="en-US" sz="750" dirty="0"/>
          </a:p>
        </p:txBody>
      </p:sp>
      <p:sp>
        <p:nvSpPr>
          <p:cNvPr id="66" name="Shape 64"/>
          <p:cNvSpPr/>
          <p:nvPr/>
        </p:nvSpPr>
        <p:spPr>
          <a:xfrm>
            <a:off x="4215384" y="4343400"/>
            <a:ext cx="932688" cy="155448"/>
          </a:xfrm>
          <a:prstGeom prst="roundRect">
            <a:avLst>
              <a:gd name="adj" fmla="val 17647"/>
            </a:avLst>
          </a:prstGeom>
          <a:solidFill>
            <a:srgbClr val="1558A8"/>
          </a:solidFill>
          <a:ln w="12700">
            <a:solidFill>
              <a:srgbClr val="1558A8"/>
            </a:solidFill>
            <a:prstDash val="solid"/>
          </a:ln>
        </p:spPr>
      </p:sp>
      <p:sp>
        <p:nvSpPr>
          <p:cNvPr id="67" name="Text 65"/>
          <p:cNvSpPr/>
          <p:nvPr/>
        </p:nvSpPr>
        <p:spPr>
          <a:xfrm>
            <a:off x="4215384"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8" name="Shape 66"/>
          <p:cNvSpPr/>
          <p:nvPr/>
        </p:nvSpPr>
        <p:spPr>
          <a:xfrm>
            <a:off x="5230368" y="4133088"/>
            <a:ext cx="932688" cy="182880"/>
          </a:xfrm>
          <a:prstGeom prst="roundRect">
            <a:avLst>
              <a:gd name="adj" fmla="val 15000"/>
            </a:avLst>
          </a:prstGeom>
          <a:solidFill>
            <a:srgbClr val="FFFFFF"/>
          </a:solidFill>
          <a:ln w="9525">
            <a:solidFill>
              <a:srgbClr val="CBD5E1"/>
            </a:solidFill>
            <a:prstDash val="solid"/>
          </a:ln>
        </p:spPr>
      </p:sp>
      <p:sp>
        <p:nvSpPr>
          <p:cNvPr id="69" name="Text 67"/>
          <p:cNvSpPr/>
          <p:nvPr/>
        </p:nvSpPr>
        <p:spPr>
          <a:xfrm>
            <a:off x="5230368"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Back Catalog</a:t>
            </a:r>
            <a:endParaRPr lang="en-US" sz="750" dirty="0"/>
          </a:p>
        </p:txBody>
      </p:sp>
      <p:sp>
        <p:nvSpPr>
          <p:cNvPr id="70" name="Shape 68"/>
          <p:cNvSpPr/>
          <p:nvPr/>
        </p:nvSpPr>
        <p:spPr>
          <a:xfrm>
            <a:off x="5230368" y="4343400"/>
            <a:ext cx="932688" cy="155448"/>
          </a:xfrm>
          <a:prstGeom prst="roundRect">
            <a:avLst>
              <a:gd name="adj" fmla="val 17647"/>
            </a:avLst>
          </a:prstGeom>
          <a:solidFill>
            <a:srgbClr val="F3F4F6"/>
          </a:solidFill>
          <a:ln w="9525">
            <a:solidFill>
              <a:srgbClr val="D1D5DB"/>
            </a:solidFill>
            <a:prstDash val="solid"/>
          </a:ln>
        </p:spPr>
      </p:sp>
      <p:sp>
        <p:nvSpPr>
          <p:cNvPr id="71" name="Text 69"/>
          <p:cNvSpPr/>
          <p:nvPr/>
        </p:nvSpPr>
        <p:spPr>
          <a:xfrm>
            <a:off x="5230368" y="434340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72" name="Shape 70"/>
          <p:cNvSpPr/>
          <p:nvPr/>
        </p:nvSpPr>
        <p:spPr>
          <a:xfrm>
            <a:off x="6245352" y="4133088"/>
            <a:ext cx="932688" cy="182880"/>
          </a:xfrm>
          <a:prstGeom prst="roundRect">
            <a:avLst>
              <a:gd name="adj" fmla="val 15000"/>
            </a:avLst>
          </a:prstGeom>
          <a:solidFill>
            <a:srgbClr val="FFFFFF"/>
          </a:solidFill>
          <a:ln w="9525">
            <a:solidFill>
              <a:srgbClr val="CBD5E1"/>
            </a:solidFill>
            <a:prstDash val="solid"/>
          </a:ln>
        </p:spPr>
      </p:sp>
      <p:sp>
        <p:nvSpPr>
          <p:cNvPr id="73" name="Text 71"/>
          <p:cNvSpPr/>
          <p:nvPr/>
        </p:nvSpPr>
        <p:spPr>
          <a:xfrm>
            <a:off x="6245352"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Full Replays</a:t>
            </a:r>
            <a:endParaRPr lang="en-US" sz="750" dirty="0"/>
          </a:p>
        </p:txBody>
      </p:sp>
      <p:sp>
        <p:nvSpPr>
          <p:cNvPr id="74" name="Shape 72"/>
          <p:cNvSpPr/>
          <p:nvPr/>
        </p:nvSpPr>
        <p:spPr>
          <a:xfrm>
            <a:off x="6245352" y="4343400"/>
            <a:ext cx="932688" cy="155448"/>
          </a:xfrm>
          <a:prstGeom prst="roundRect">
            <a:avLst>
              <a:gd name="adj" fmla="val 17647"/>
            </a:avLst>
          </a:prstGeom>
          <a:solidFill>
            <a:srgbClr val="1558A8"/>
          </a:solidFill>
          <a:ln w="12700">
            <a:solidFill>
              <a:srgbClr val="1558A8"/>
            </a:solidFill>
            <a:prstDash val="solid"/>
          </a:ln>
        </p:spPr>
      </p:sp>
      <p:sp>
        <p:nvSpPr>
          <p:cNvPr id="75" name="Text 73"/>
          <p:cNvSpPr/>
          <p:nvPr/>
        </p:nvSpPr>
        <p:spPr>
          <a:xfrm>
            <a:off x="6245352"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76" name="Shape 74"/>
          <p:cNvSpPr/>
          <p:nvPr/>
        </p:nvSpPr>
        <p:spPr>
          <a:xfrm>
            <a:off x="7260336" y="4133088"/>
            <a:ext cx="932688" cy="182880"/>
          </a:xfrm>
          <a:prstGeom prst="roundRect">
            <a:avLst>
              <a:gd name="adj" fmla="val 15000"/>
            </a:avLst>
          </a:prstGeom>
          <a:solidFill>
            <a:srgbClr val="FFFFFF"/>
          </a:solidFill>
          <a:ln w="9525">
            <a:solidFill>
              <a:srgbClr val="CBD5E1"/>
            </a:solidFill>
            <a:prstDash val="solid"/>
          </a:ln>
        </p:spPr>
      </p:sp>
      <p:sp>
        <p:nvSpPr>
          <p:cNvPr id="77" name="Text 75"/>
          <p:cNvSpPr/>
          <p:nvPr/>
        </p:nvSpPr>
        <p:spPr>
          <a:xfrm>
            <a:off x="7260336"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M15</a:t>
            </a:r>
            <a:endParaRPr lang="en-US" sz="750" dirty="0"/>
          </a:p>
        </p:txBody>
      </p:sp>
      <p:sp>
        <p:nvSpPr>
          <p:cNvPr id="78" name="Shape 76"/>
          <p:cNvSpPr/>
          <p:nvPr/>
        </p:nvSpPr>
        <p:spPr>
          <a:xfrm>
            <a:off x="7260336" y="4343400"/>
            <a:ext cx="932688" cy="155448"/>
          </a:xfrm>
          <a:prstGeom prst="roundRect">
            <a:avLst>
              <a:gd name="adj" fmla="val 17647"/>
            </a:avLst>
          </a:prstGeom>
          <a:solidFill>
            <a:srgbClr val="DCFCE7"/>
          </a:solidFill>
          <a:ln w="12700">
            <a:solidFill>
              <a:srgbClr val="15803D"/>
            </a:solidFill>
            <a:prstDash val="solid"/>
          </a:ln>
        </p:spPr>
      </p:sp>
      <p:sp>
        <p:nvSpPr>
          <p:cNvPr id="79" name="Text 77"/>
          <p:cNvSpPr/>
          <p:nvPr/>
        </p:nvSpPr>
        <p:spPr>
          <a:xfrm>
            <a:off x="7260336" y="4343400"/>
            <a:ext cx="932688" cy="155448"/>
          </a:xfrm>
          <a:prstGeom prst="rect">
            <a:avLst/>
          </a:prstGeom>
          <a:noFill/>
          <a:ln/>
        </p:spPr>
        <p:txBody>
          <a:bodyPr wrap="square" lIns="0" tIns="0" rIns="0" bIns="0" rtlCol="0" anchor="ctr"/>
          <a:lstStyle/>
          <a:p>
            <a:pPr algn="ctr" indent="0" marL="0">
              <a:buNone/>
            </a:pPr>
            <a:r>
              <a:rPr lang="en-US" sz="700" dirty="0">
                <a:solidFill>
                  <a:srgbClr val="14532D"/>
                </a:solidFill>
              </a:rPr>
              <a:t>Done</a:t>
            </a:r>
            <a:endParaRPr lang="en-US" sz="700" dirty="0"/>
          </a:p>
        </p:txBody>
      </p:sp>
      <p:sp>
        <p:nvSpPr>
          <p:cNvPr id="80" name="Shape 78"/>
          <p:cNvSpPr/>
          <p:nvPr/>
        </p:nvSpPr>
        <p:spPr>
          <a:xfrm>
            <a:off x="8275320" y="4133088"/>
            <a:ext cx="932688" cy="182880"/>
          </a:xfrm>
          <a:prstGeom prst="roundRect">
            <a:avLst>
              <a:gd name="adj" fmla="val 15000"/>
            </a:avLst>
          </a:prstGeom>
          <a:solidFill>
            <a:srgbClr val="FFFFFF"/>
          </a:solidFill>
          <a:ln w="9525">
            <a:solidFill>
              <a:srgbClr val="CBD5E1"/>
            </a:solidFill>
            <a:prstDash val="solid"/>
          </a:ln>
        </p:spPr>
      </p:sp>
      <p:sp>
        <p:nvSpPr>
          <p:cNvPr id="81" name="Text 79"/>
          <p:cNvSpPr/>
          <p:nvPr/>
        </p:nvSpPr>
        <p:spPr>
          <a:xfrm>
            <a:off x="8275320"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Highlights</a:t>
            </a:r>
            <a:endParaRPr lang="en-US" sz="750" dirty="0"/>
          </a:p>
        </p:txBody>
      </p:sp>
      <p:sp>
        <p:nvSpPr>
          <p:cNvPr id="82" name="Shape 80"/>
          <p:cNvSpPr/>
          <p:nvPr/>
        </p:nvSpPr>
        <p:spPr>
          <a:xfrm>
            <a:off x="8275320" y="4343400"/>
            <a:ext cx="932688" cy="155448"/>
          </a:xfrm>
          <a:prstGeom prst="roundRect">
            <a:avLst>
              <a:gd name="adj" fmla="val 17647"/>
            </a:avLst>
          </a:prstGeom>
          <a:solidFill>
            <a:srgbClr val="DCFCE7"/>
          </a:solidFill>
          <a:ln w="12700">
            <a:solidFill>
              <a:srgbClr val="15803D"/>
            </a:solidFill>
            <a:prstDash val="solid"/>
          </a:ln>
        </p:spPr>
      </p:sp>
      <p:sp>
        <p:nvSpPr>
          <p:cNvPr id="83" name="Text 81"/>
          <p:cNvSpPr/>
          <p:nvPr/>
        </p:nvSpPr>
        <p:spPr>
          <a:xfrm>
            <a:off x="8275320" y="4343400"/>
            <a:ext cx="932688" cy="155448"/>
          </a:xfrm>
          <a:prstGeom prst="rect">
            <a:avLst/>
          </a:prstGeom>
          <a:noFill/>
          <a:ln/>
        </p:spPr>
        <p:txBody>
          <a:bodyPr wrap="square" lIns="0" tIns="0" rIns="0" bIns="0" rtlCol="0" anchor="ctr"/>
          <a:lstStyle/>
          <a:p>
            <a:pPr algn="ctr" indent="0" marL="0">
              <a:buNone/>
            </a:pPr>
            <a:r>
              <a:rPr lang="en-US" sz="700" dirty="0">
                <a:solidFill>
                  <a:srgbClr val="14532D"/>
                </a:solidFill>
              </a:rPr>
              <a:t>Done</a:t>
            </a:r>
            <a:endParaRPr lang="en-US" sz="700" dirty="0"/>
          </a:p>
        </p:txBody>
      </p:sp>
      <p:sp>
        <p:nvSpPr>
          <p:cNvPr id="84" name="Shape 82"/>
          <p:cNvSpPr/>
          <p:nvPr/>
        </p:nvSpPr>
        <p:spPr>
          <a:xfrm>
            <a:off x="1170432" y="4590288"/>
            <a:ext cx="932688" cy="182880"/>
          </a:xfrm>
          <a:prstGeom prst="roundRect">
            <a:avLst>
              <a:gd name="adj" fmla="val 15000"/>
            </a:avLst>
          </a:prstGeom>
          <a:solidFill>
            <a:srgbClr val="FFFFFF"/>
          </a:solidFill>
          <a:ln w="9525">
            <a:solidFill>
              <a:srgbClr val="CBD5E1"/>
            </a:solidFill>
            <a:prstDash val="solid"/>
          </a:ln>
        </p:spPr>
      </p:sp>
      <p:sp>
        <p:nvSpPr>
          <p:cNvPr id="85" name="Text 83"/>
          <p:cNvSpPr/>
          <p:nvPr/>
        </p:nvSpPr>
        <p:spPr>
          <a:xfrm>
            <a:off x="1170432" y="45902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Linear</a:t>
            </a:r>
            <a:endParaRPr lang="en-US" sz="750" dirty="0"/>
          </a:p>
        </p:txBody>
      </p:sp>
      <p:sp>
        <p:nvSpPr>
          <p:cNvPr id="86" name="Shape 84"/>
          <p:cNvSpPr/>
          <p:nvPr/>
        </p:nvSpPr>
        <p:spPr>
          <a:xfrm>
            <a:off x="1170432" y="4800600"/>
            <a:ext cx="932688" cy="155448"/>
          </a:xfrm>
          <a:prstGeom prst="roundRect">
            <a:avLst>
              <a:gd name="adj" fmla="val 17647"/>
            </a:avLst>
          </a:prstGeom>
          <a:solidFill>
            <a:srgbClr val="1558A8"/>
          </a:solidFill>
          <a:ln w="12700">
            <a:solidFill>
              <a:srgbClr val="1558A8"/>
            </a:solidFill>
            <a:prstDash val="solid"/>
          </a:ln>
        </p:spPr>
      </p:sp>
      <p:sp>
        <p:nvSpPr>
          <p:cNvPr id="87" name="Text 85"/>
          <p:cNvSpPr/>
          <p:nvPr/>
        </p:nvSpPr>
        <p:spPr>
          <a:xfrm>
            <a:off x="1170432" y="48006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88" name="Shape 86"/>
          <p:cNvSpPr/>
          <p:nvPr/>
        </p:nvSpPr>
        <p:spPr>
          <a:xfrm>
            <a:off x="164592" y="5399532"/>
            <a:ext cx="9116568" cy="1476756"/>
          </a:xfrm>
          <a:prstGeom prst="rect">
            <a:avLst/>
          </a:prstGeom>
          <a:solidFill>
            <a:srgbClr val="FFFFFF"/>
          </a:solidFill>
          <a:ln w="6350">
            <a:solidFill>
              <a:srgbClr val="E5E7EB"/>
            </a:solidFill>
            <a:prstDash val="solid"/>
          </a:ln>
        </p:spPr>
      </p:sp>
      <p:sp>
        <p:nvSpPr>
          <p:cNvPr id="89" name="Shape 87"/>
          <p:cNvSpPr/>
          <p:nvPr/>
        </p:nvSpPr>
        <p:spPr>
          <a:xfrm>
            <a:off x="182880" y="5472684"/>
            <a:ext cx="859536" cy="1330452"/>
          </a:xfrm>
          <a:prstGeom prst="roundRect">
            <a:avLst>
              <a:gd name="adj" fmla="val 5319"/>
            </a:avLst>
          </a:prstGeom>
          <a:solidFill>
            <a:srgbClr val="9CA3AF"/>
          </a:solidFill>
          <a:ln w="12700">
            <a:solidFill>
              <a:srgbClr val="9CA3AF"/>
            </a:solidFill>
            <a:prstDash val="solid"/>
          </a:ln>
        </p:spPr>
      </p:sp>
      <p:sp>
        <p:nvSpPr>
          <p:cNvPr id="90" name="Text 88"/>
          <p:cNvSpPr/>
          <p:nvPr/>
        </p:nvSpPr>
        <p:spPr>
          <a:xfrm>
            <a:off x="182880" y="547268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Onboarding</a:t>
            </a:r>
            <a:endParaRPr lang="en-US" sz="800" dirty="0"/>
          </a:p>
        </p:txBody>
      </p:sp>
      <p:sp>
        <p:nvSpPr>
          <p:cNvPr id="91" name="Text 89"/>
          <p:cNvSpPr/>
          <p:nvPr/>
        </p:nvSpPr>
        <p:spPr>
          <a:xfrm>
            <a:off x="1170432" y="544525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4 / 6 In Progress · 1 Done</a:t>
            </a:r>
            <a:endParaRPr lang="en-US" sz="750" dirty="0"/>
          </a:p>
        </p:txBody>
      </p:sp>
      <p:sp>
        <p:nvSpPr>
          <p:cNvPr id="92" name="Shape 90"/>
          <p:cNvSpPr/>
          <p:nvPr/>
        </p:nvSpPr>
        <p:spPr>
          <a:xfrm>
            <a:off x="1170432" y="5664708"/>
            <a:ext cx="932688" cy="182880"/>
          </a:xfrm>
          <a:prstGeom prst="roundRect">
            <a:avLst>
              <a:gd name="adj" fmla="val 15000"/>
            </a:avLst>
          </a:prstGeom>
          <a:solidFill>
            <a:srgbClr val="FFFFFF"/>
          </a:solidFill>
          <a:ln w="9525">
            <a:solidFill>
              <a:srgbClr val="CBD5E1"/>
            </a:solidFill>
            <a:prstDash val="solid"/>
          </a:ln>
        </p:spPr>
      </p:sp>
      <p:sp>
        <p:nvSpPr>
          <p:cNvPr id="93" name="Text 91"/>
          <p:cNvSpPr/>
          <p:nvPr/>
        </p:nvSpPr>
        <p:spPr>
          <a:xfrm>
            <a:off x="1170432"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Unentitled</a:t>
            </a:r>
            <a:endParaRPr lang="en-US" sz="750" dirty="0"/>
          </a:p>
        </p:txBody>
      </p:sp>
      <p:sp>
        <p:nvSpPr>
          <p:cNvPr id="94" name="Shape 92"/>
          <p:cNvSpPr/>
          <p:nvPr/>
        </p:nvSpPr>
        <p:spPr>
          <a:xfrm>
            <a:off x="1170432" y="5875020"/>
            <a:ext cx="932688" cy="155448"/>
          </a:xfrm>
          <a:prstGeom prst="roundRect">
            <a:avLst>
              <a:gd name="adj" fmla="val 17647"/>
            </a:avLst>
          </a:prstGeom>
          <a:solidFill>
            <a:srgbClr val="1558A8"/>
          </a:solidFill>
          <a:ln w="12700">
            <a:solidFill>
              <a:srgbClr val="1558A8"/>
            </a:solidFill>
            <a:prstDash val="solid"/>
          </a:ln>
        </p:spPr>
      </p:sp>
      <p:sp>
        <p:nvSpPr>
          <p:cNvPr id="95" name="Text 93"/>
          <p:cNvSpPr/>
          <p:nvPr/>
        </p:nvSpPr>
        <p:spPr>
          <a:xfrm>
            <a:off x="1170432"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96" name="Shape 94"/>
          <p:cNvSpPr/>
          <p:nvPr/>
        </p:nvSpPr>
        <p:spPr>
          <a:xfrm>
            <a:off x="2185416" y="5664708"/>
            <a:ext cx="932688" cy="182880"/>
          </a:xfrm>
          <a:prstGeom prst="roundRect">
            <a:avLst>
              <a:gd name="adj" fmla="val 15000"/>
            </a:avLst>
          </a:prstGeom>
          <a:solidFill>
            <a:srgbClr val="FFFFFF"/>
          </a:solidFill>
          <a:ln w="9525">
            <a:solidFill>
              <a:srgbClr val="CBD5E1"/>
            </a:solidFill>
            <a:prstDash val="solid"/>
          </a:ln>
        </p:spPr>
      </p:sp>
      <p:sp>
        <p:nvSpPr>
          <p:cNvPr id="97" name="Text 95"/>
          <p:cNvSpPr/>
          <p:nvPr/>
        </p:nvSpPr>
        <p:spPr>
          <a:xfrm>
            <a:off x="2185416"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Sign-in</a:t>
            </a:r>
            <a:endParaRPr lang="en-US" sz="750" dirty="0"/>
          </a:p>
        </p:txBody>
      </p:sp>
      <p:sp>
        <p:nvSpPr>
          <p:cNvPr id="98" name="Shape 96"/>
          <p:cNvSpPr/>
          <p:nvPr/>
        </p:nvSpPr>
        <p:spPr>
          <a:xfrm>
            <a:off x="2185416" y="5875020"/>
            <a:ext cx="932688" cy="155448"/>
          </a:xfrm>
          <a:prstGeom prst="roundRect">
            <a:avLst>
              <a:gd name="adj" fmla="val 17647"/>
            </a:avLst>
          </a:prstGeom>
          <a:solidFill>
            <a:srgbClr val="1558A8"/>
          </a:solidFill>
          <a:ln w="12700">
            <a:solidFill>
              <a:srgbClr val="1558A8"/>
            </a:solidFill>
            <a:prstDash val="solid"/>
          </a:ln>
        </p:spPr>
      </p:sp>
      <p:sp>
        <p:nvSpPr>
          <p:cNvPr id="99" name="Text 97"/>
          <p:cNvSpPr/>
          <p:nvPr/>
        </p:nvSpPr>
        <p:spPr>
          <a:xfrm>
            <a:off x="2185416"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00" name="Shape 98"/>
          <p:cNvSpPr/>
          <p:nvPr/>
        </p:nvSpPr>
        <p:spPr>
          <a:xfrm>
            <a:off x="3200400" y="5664708"/>
            <a:ext cx="932688" cy="182880"/>
          </a:xfrm>
          <a:prstGeom prst="roundRect">
            <a:avLst>
              <a:gd name="adj" fmla="val 15000"/>
            </a:avLst>
          </a:prstGeom>
          <a:solidFill>
            <a:srgbClr val="FFFFFF"/>
          </a:solidFill>
          <a:ln w="9525">
            <a:solidFill>
              <a:srgbClr val="CBD5E1"/>
            </a:solidFill>
            <a:prstDash val="solid"/>
          </a:ln>
        </p:spPr>
      </p:sp>
      <p:sp>
        <p:nvSpPr>
          <p:cNvPr id="101" name="Text 99"/>
          <p:cNvSpPr/>
          <p:nvPr/>
        </p:nvSpPr>
        <p:spPr>
          <a:xfrm>
            <a:off x="3200400"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Subscription</a:t>
            </a:r>
            <a:endParaRPr lang="en-US" sz="750" dirty="0"/>
          </a:p>
        </p:txBody>
      </p:sp>
      <p:sp>
        <p:nvSpPr>
          <p:cNvPr id="102" name="Shape 100"/>
          <p:cNvSpPr/>
          <p:nvPr/>
        </p:nvSpPr>
        <p:spPr>
          <a:xfrm>
            <a:off x="3200400" y="5875020"/>
            <a:ext cx="932688" cy="155448"/>
          </a:xfrm>
          <a:prstGeom prst="roundRect">
            <a:avLst>
              <a:gd name="adj" fmla="val 17647"/>
            </a:avLst>
          </a:prstGeom>
          <a:solidFill>
            <a:srgbClr val="1558A8"/>
          </a:solidFill>
          <a:ln w="12700">
            <a:solidFill>
              <a:srgbClr val="1558A8"/>
            </a:solidFill>
            <a:prstDash val="solid"/>
          </a:ln>
        </p:spPr>
      </p:sp>
      <p:sp>
        <p:nvSpPr>
          <p:cNvPr id="103" name="Text 101"/>
          <p:cNvSpPr/>
          <p:nvPr/>
        </p:nvSpPr>
        <p:spPr>
          <a:xfrm>
            <a:off x="3200400"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04" name="Shape 102"/>
          <p:cNvSpPr/>
          <p:nvPr/>
        </p:nvSpPr>
        <p:spPr>
          <a:xfrm>
            <a:off x="4215384" y="5664708"/>
            <a:ext cx="932688" cy="182880"/>
          </a:xfrm>
          <a:prstGeom prst="roundRect">
            <a:avLst>
              <a:gd name="adj" fmla="val 15000"/>
            </a:avLst>
          </a:prstGeom>
          <a:solidFill>
            <a:srgbClr val="FFFFFF"/>
          </a:solidFill>
          <a:ln w="9525">
            <a:solidFill>
              <a:srgbClr val="CBD5E1"/>
            </a:solidFill>
            <a:prstDash val="solid"/>
          </a:ln>
        </p:spPr>
      </p:sp>
      <p:sp>
        <p:nvSpPr>
          <p:cNvPr id="105" name="Text 103"/>
          <p:cNvSpPr/>
          <p:nvPr/>
        </p:nvSpPr>
        <p:spPr>
          <a:xfrm>
            <a:off x="4215384"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MVPD</a:t>
            </a:r>
            <a:endParaRPr lang="en-US" sz="750" dirty="0"/>
          </a:p>
        </p:txBody>
      </p:sp>
      <p:sp>
        <p:nvSpPr>
          <p:cNvPr id="106" name="Shape 104"/>
          <p:cNvSpPr/>
          <p:nvPr/>
        </p:nvSpPr>
        <p:spPr>
          <a:xfrm>
            <a:off x="4215384" y="5875020"/>
            <a:ext cx="932688" cy="155448"/>
          </a:xfrm>
          <a:prstGeom prst="roundRect">
            <a:avLst>
              <a:gd name="adj" fmla="val 17647"/>
            </a:avLst>
          </a:prstGeom>
          <a:solidFill>
            <a:srgbClr val="DCFCE7"/>
          </a:solidFill>
          <a:ln w="12700">
            <a:solidFill>
              <a:srgbClr val="15803D"/>
            </a:solidFill>
            <a:prstDash val="solid"/>
          </a:ln>
        </p:spPr>
      </p:sp>
      <p:sp>
        <p:nvSpPr>
          <p:cNvPr id="107" name="Text 105"/>
          <p:cNvSpPr/>
          <p:nvPr/>
        </p:nvSpPr>
        <p:spPr>
          <a:xfrm>
            <a:off x="4215384" y="5875020"/>
            <a:ext cx="932688" cy="155448"/>
          </a:xfrm>
          <a:prstGeom prst="rect">
            <a:avLst/>
          </a:prstGeom>
          <a:noFill/>
          <a:ln/>
        </p:spPr>
        <p:txBody>
          <a:bodyPr wrap="square" lIns="0" tIns="0" rIns="0" bIns="0" rtlCol="0" anchor="ctr"/>
          <a:lstStyle/>
          <a:p>
            <a:pPr algn="ctr" indent="0" marL="0">
              <a:buNone/>
            </a:pPr>
            <a:r>
              <a:rPr lang="en-US" sz="700" dirty="0">
                <a:solidFill>
                  <a:srgbClr val="14532D"/>
                </a:solidFill>
              </a:rPr>
              <a:t>Done</a:t>
            </a:r>
            <a:endParaRPr lang="en-US" sz="700" dirty="0"/>
          </a:p>
        </p:txBody>
      </p:sp>
      <p:sp>
        <p:nvSpPr>
          <p:cNvPr id="108" name="Shape 106"/>
          <p:cNvSpPr/>
          <p:nvPr/>
        </p:nvSpPr>
        <p:spPr>
          <a:xfrm>
            <a:off x="5230368" y="5664708"/>
            <a:ext cx="932688" cy="182880"/>
          </a:xfrm>
          <a:prstGeom prst="roundRect">
            <a:avLst>
              <a:gd name="adj" fmla="val 15000"/>
            </a:avLst>
          </a:prstGeom>
          <a:solidFill>
            <a:srgbClr val="FFFFFF"/>
          </a:solidFill>
          <a:ln w="9525">
            <a:solidFill>
              <a:srgbClr val="CBD5E1"/>
            </a:solidFill>
            <a:prstDash val="solid"/>
          </a:ln>
        </p:spPr>
      </p:sp>
      <p:sp>
        <p:nvSpPr>
          <p:cNvPr id="109" name="Text 107"/>
          <p:cNvSpPr/>
          <p:nvPr/>
        </p:nvSpPr>
        <p:spPr>
          <a:xfrm>
            <a:off x="5230368"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Cleeng</a:t>
            </a:r>
            <a:endParaRPr lang="en-US" sz="750" dirty="0"/>
          </a:p>
        </p:txBody>
      </p:sp>
      <p:sp>
        <p:nvSpPr>
          <p:cNvPr id="110" name="Shape 108"/>
          <p:cNvSpPr/>
          <p:nvPr/>
        </p:nvSpPr>
        <p:spPr>
          <a:xfrm>
            <a:off x="5230368" y="5875020"/>
            <a:ext cx="932688" cy="155448"/>
          </a:xfrm>
          <a:prstGeom prst="roundRect">
            <a:avLst>
              <a:gd name="adj" fmla="val 17647"/>
            </a:avLst>
          </a:prstGeom>
          <a:solidFill>
            <a:srgbClr val="1558A8"/>
          </a:solidFill>
          <a:ln w="12700">
            <a:solidFill>
              <a:srgbClr val="1558A8"/>
            </a:solidFill>
            <a:prstDash val="solid"/>
          </a:ln>
        </p:spPr>
      </p:sp>
      <p:sp>
        <p:nvSpPr>
          <p:cNvPr id="111" name="Text 109"/>
          <p:cNvSpPr/>
          <p:nvPr/>
        </p:nvSpPr>
        <p:spPr>
          <a:xfrm>
            <a:off x="5230368"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12" name="Shape 110"/>
          <p:cNvSpPr/>
          <p:nvPr/>
        </p:nvSpPr>
        <p:spPr>
          <a:xfrm>
            <a:off x="6245352" y="5664708"/>
            <a:ext cx="932688" cy="182880"/>
          </a:xfrm>
          <a:prstGeom prst="roundRect">
            <a:avLst>
              <a:gd name="adj" fmla="val 15000"/>
            </a:avLst>
          </a:prstGeom>
          <a:solidFill>
            <a:srgbClr val="FFFFFF"/>
          </a:solidFill>
          <a:ln w="9525">
            <a:solidFill>
              <a:srgbClr val="CBD5E1"/>
            </a:solidFill>
            <a:prstDash val="solid"/>
          </a:ln>
        </p:spPr>
      </p:sp>
      <p:sp>
        <p:nvSpPr>
          <p:cNvPr id="113" name="Text 111"/>
          <p:cNvSpPr/>
          <p:nvPr/>
        </p:nvSpPr>
        <p:spPr>
          <a:xfrm>
            <a:off x="6245352"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Promos</a:t>
            </a:r>
            <a:endParaRPr lang="en-US" sz="750" dirty="0"/>
          </a:p>
        </p:txBody>
      </p:sp>
      <p:sp>
        <p:nvSpPr>
          <p:cNvPr id="114" name="Shape 112"/>
          <p:cNvSpPr/>
          <p:nvPr/>
        </p:nvSpPr>
        <p:spPr>
          <a:xfrm>
            <a:off x="6245352" y="5875020"/>
            <a:ext cx="932688" cy="155448"/>
          </a:xfrm>
          <a:prstGeom prst="roundRect">
            <a:avLst>
              <a:gd name="adj" fmla="val 17647"/>
            </a:avLst>
          </a:prstGeom>
          <a:solidFill>
            <a:srgbClr val="F3F4F6"/>
          </a:solidFill>
          <a:ln w="9525">
            <a:solidFill>
              <a:srgbClr val="D1D5DB"/>
            </a:solidFill>
            <a:prstDash val="solid"/>
          </a:ln>
        </p:spPr>
      </p:sp>
      <p:sp>
        <p:nvSpPr>
          <p:cNvPr id="115" name="Text 113"/>
          <p:cNvSpPr/>
          <p:nvPr/>
        </p:nvSpPr>
        <p:spPr>
          <a:xfrm>
            <a:off x="6245352" y="587502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16" name="Shape 114"/>
          <p:cNvSpPr/>
          <p:nvPr/>
        </p:nvSpPr>
        <p:spPr>
          <a:xfrm>
            <a:off x="9372600" y="804672"/>
            <a:ext cx="2834640" cy="6071616"/>
          </a:xfrm>
          <a:prstGeom prst="rect">
            <a:avLst/>
          </a:prstGeom>
          <a:solidFill>
            <a:srgbClr val="F8FAFB"/>
          </a:solidFill>
          <a:ln w="12700">
            <a:solidFill>
              <a:srgbClr val="DDE1E6"/>
            </a:solidFill>
            <a:prstDash val="solid"/>
          </a:ln>
        </p:spPr>
      </p:sp>
      <p:sp>
        <p:nvSpPr>
          <p:cNvPr id="117" name="Text 115"/>
          <p:cNvSpPr/>
          <p:nvPr/>
        </p:nvSpPr>
        <p:spPr>
          <a:xfrm>
            <a:off x="9500616" y="950976"/>
            <a:ext cx="2633472" cy="201168"/>
          </a:xfrm>
          <a:prstGeom prst="rect">
            <a:avLst/>
          </a:prstGeom>
          <a:noFill/>
          <a:ln/>
        </p:spPr>
        <p:txBody>
          <a:bodyPr wrap="square" lIns="0" tIns="0" rIns="0" bIns="0" rtlCol="0" anchor="ctr"/>
          <a:lstStyle/>
          <a:p>
            <a:pPr indent="0" marL="0">
              <a:buNone/>
            </a:pPr>
            <a:r>
              <a:rPr lang="en-US" sz="950" b="1" dirty="0">
                <a:solidFill>
                  <a:srgbClr val="111827"/>
                </a:solidFill>
              </a:rPr>
              <a:t>Milestones</a:t>
            </a:r>
            <a:endParaRPr lang="en-US" sz="950" dirty="0"/>
          </a:p>
        </p:txBody>
      </p:sp>
      <p:sp>
        <p:nvSpPr>
          <p:cNvPr id="118" name="Shape 116"/>
          <p:cNvSpPr/>
          <p:nvPr/>
        </p:nvSpPr>
        <p:spPr>
          <a:xfrm>
            <a:off x="9464040" y="1225296"/>
            <a:ext cx="2670048" cy="420624"/>
          </a:xfrm>
          <a:prstGeom prst="rect">
            <a:avLst/>
          </a:prstGeom>
          <a:solidFill>
            <a:srgbClr val="FFFFFF"/>
          </a:solidFill>
          <a:ln w="6350">
            <a:solidFill>
              <a:srgbClr val="E5E7EB"/>
            </a:solidFill>
            <a:prstDash val="solid"/>
          </a:ln>
        </p:spPr>
      </p:sp>
      <p:sp>
        <p:nvSpPr>
          <p:cNvPr id="119" name="Shape 117"/>
          <p:cNvSpPr/>
          <p:nvPr/>
        </p:nvSpPr>
        <p:spPr>
          <a:xfrm>
            <a:off x="9537192" y="1316736"/>
            <a:ext cx="109728" cy="109728"/>
          </a:xfrm>
          <a:prstGeom prst="ellipse">
            <a:avLst/>
          </a:prstGeom>
          <a:solidFill>
            <a:srgbClr val="16A34A"/>
          </a:solidFill>
          <a:ln w="12700">
            <a:solidFill>
              <a:srgbClr val="16A34A"/>
            </a:solidFill>
            <a:prstDash val="solid"/>
          </a:ln>
        </p:spPr>
      </p:sp>
      <p:sp>
        <p:nvSpPr>
          <p:cNvPr id="120" name="Text 118"/>
          <p:cNvSpPr/>
          <p:nvPr/>
        </p:nvSpPr>
        <p:spPr>
          <a:xfrm>
            <a:off x="9701784" y="1243584"/>
            <a:ext cx="2304288" cy="173736"/>
          </a:xfrm>
          <a:prstGeom prst="rect">
            <a:avLst/>
          </a:prstGeom>
          <a:noFill/>
          <a:ln/>
        </p:spPr>
        <p:txBody>
          <a:bodyPr wrap="square" lIns="0" tIns="0" rIns="0" bIns="0" rtlCol="0" anchor="ctr"/>
          <a:lstStyle/>
          <a:p>
            <a:pPr indent="0" marL="0">
              <a:buNone/>
            </a:pPr>
            <a:r>
              <a:rPr lang="en-US" sz="800" b="1" dirty="0">
                <a:solidFill>
                  <a:srgbClr val="15803D"/>
                </a:solidFill>
              </a:rPr>
              <a:t>Requirements</a:t>
            </a:r>
            <a:endParaRPr lang="en-US" sz="800" dirty="0"/>
          </a:p>
        </p:txBody>
      </p:sp>
      <p:sp>
        <p:nvSpPr>
          <p:cNvPr id="121" name="Text 119"/>
          <p:cNvSpPr/>
          <p:nvPr/>
        </p:nvSpPr>
        <p:spPr>
          <a:xfrm>
            <a:off x="9701784" y="1453896"/>
            <a:ext cx="1773936" cy="137160"/>
          </a:xfrm>
          <a:prstGeom prst="rect">
            <a:avLst/>
          </a:prstGeom>
          <a:noFill/>
          <a:ln/>
        </p:spPr>
        <p:txBody>
          <a:bodyPr wrap="square" lIns="0" tIns="0" rIns="0" bIns="0" rtlCol="0" anchor="ctr"/>
          <a:lstStyle/>
          <a:p>
            <a:pPr indent="0" marL="0">
              <a:buNone/>
            </a:pPr>
            <a:r>
              <a:rPr lang="en-US" sz="700" dirty="0">
                <a:solidFill>
                  <a:srgbClr val="6B7280"/>
                </a:solidFill>
              </a:rPr>
              <a:t>Jun 30, 2026</a:t>
            </a:r>
            <a:endParaRPr lang="en-US" sz="700" dirty="0"/>
          </a:p>
        </p:txBody>
      </p:sp>
      <p:sp>
        <p:nvSpPr>
          <p:cNvPr id="122" name="Shape 120"/>
          <p:cNvSpPr/>
          <p:nvPr/>
        </p:nvSpPr>
        <p:spPr>
          <a:xfrm>
            <a:off x="11494008" y="1453896"/>
            <a:ext cx="658368" cy="137160"/>
          </a:xfrm>
          <a:prstGeom prst="roundRect">
            <a:avLst>
              <a:gd name="adj" fmla="val 20000"/>
            </a:avLst>
          </a:prstGeom>
          <a:solidFill>
            <a:srgbClr val="DCFCE7"/>
          </a:solidFill>
          <a:ln w="12700">
            <a:solidFill>
              <a:srgbClr val="DCFCE7"/>
            </a:solidFill>
            <a:prstDash val="solid"/>
          </a:ln>
        </p:spPr>
      </p:sp>
      <p:sp>
        <p:nvSpPr>
          <p:cNvPr id="123" name="Text 121"/>
          <p:cNvSpPr/>
          <p:nvPr/>
        </p:nvSpPr>
        <p:spPr>
          <a:xfrm>
            <a:off x="11494008" y="1453896"/>
            <a:ext cx="658368" cy="137160"/>
          </a:xfrm>
          <a:prstGeom prst="rect">
            <a:avLst/>
          </a:prstGeom>
          <a:noFill/>
          <a:ln/>
        </p:spPr>
        <p:txBody>
          <a:bodyPr wrap="square" lIns="0" tIns="0" rIns="0" bIns="0" rtlCol="0" anchor="ctr"/>
          <a:lstStyle/>
          <a:p>
            <a:pPr algn="ctr" indent="0" marL="0">
              <a:buNone/>
            </a:pPr>
            <a:r>
              <a:rPr lang="en-US" sz="600" b="1" dirty="0">
                <a:solidFill>
                  <a:srgbClr val="166534"/>
                </a:solidFill>
              </a:rPr>
              <a:t>Complete</a:t>
            </a:r>
            <a:endParaRPr lang="en-US" sz="600" dirty="0"/>
          </a:p>
        </p:txBody>
      </p:sp>
      <p:sp>
        <p:nvSpPr>
          <p:cNvPr id="124" name="Shape 122"/>
          <p:cNvSpPr/>
          <p:nvPr/>
        </p:nvSpPr>
        <p:spPr>
          <a:xfrm>
            <a:off x="9464040" y="1700784"/>
            <a:ext cx="2670048" cy="420624"/>
          </a:xfrm>
          <a:prstGeom prst="rect">
            <a:avLst/>
          </a:prstGeom>
          <a:solidFill>
            <a:srgbClr val="FFFFFF"/>
          </a:solidFill>
          <a:ln w="6350">
            <a:solidFill>
              <a:srgbClr val="E5E7EB"/>
            </a:solidFill>
            <a:prstDash val="solid"/>
          </a:ln>
        </p:spPr>
      </p:sp>
      <p:sp>
        <p:nvSpPr>
          <p:cNvPr id="125" name="Shape 123"/>
          <p:cNvSpPr/>
          <p:nvPr/>
        </p:nvSpPr>
        <p:spPr>
          <a:xfrm>
            <a:off x="9537192" y="1792224"/>
            <a:ext cx="109728" cy="109728"/>
          </a:xfrm>
          <a:prstGeom prst="ellipse">
            <a:avLst/>
          </a:prstGeom>
          <a:solidFill>
            <a:srgbClr val="1558A8"/>
          </a:solidFill>
          <a:ln w="12700">
            <a:solidFill>
              <a:srgbClr val="1558A8"/>
            </a:solidFill>
            <a:prstDash val="solid"/>
          </a:ln>
        </p:spPr>
      </p:sp>
      <p:sp>
        <p:nvSpPr>
          <p:cNvPr id="126" name="Text 124"/>
          <p:cNvSpPr/>
          <p:nvPr/>
        </p:nvSpPr>
        <p:spPr>
          <a:xfrm>
            <a:off x="9701784" y="1719072"/>
            <a:ext cx="2304288" cy="173736"/>
          </a:xfrm>
          <a:prstGeom prst="rect">
            <a:avLst/>
          </a:prstGeom>
          <a:noFill/>
          <a:ln/>
        </p:spPr>
        <p:txBody>
          <a:bodyPr wrap="square" lIns="0" tIns="0" rIns="0" bIns="0" rtlCol="0" anchor="ctr"/>
          <a:lstStyle/>
          <a:p>
            <a:pPr indent="0" marL="0">
              <a:buNone/>
            </a:pPr>
            <a:r>
              <a:rPr lang="en-US" sz="800" b="1" dirty="0">
                <a:solidFill>
                  <a:srgbClr val="1D4ED8"/>
                </a:solidFill>
              </a:rPr>
              <a:t>Beta</a:t>
            </a:r>
            <a:endParaRPr lang="en-US" sz="800" dirty="0"/>
          </a:p>
        </p:txBody>
      </p:sp>
      <p:sp>
        <p:nvSpPr>
          <p:cNvPr id="127" name="Text 125"/>
          <p:cNvSpPr/>
          <p:nvPr/>
        </p:nvSpPr>
        <p:spPr>
          <a:xfrm>
            <a:off x="9701784" y="1929384"/>
            <a:ext cx="1773936" cy="137160"/>
          </a:xfrm>
          <a:prstGeom prst="rect">
            <a:avLst/>
          </a:prstGeom>
          <a:noFill/>
          <a:ln/>
        </p:spPr>
        <p:txBody>
          <a:bodyPr wrap="square" lIns="0" tIns="0" rIns="0" bIns="0" rtlCol="0" anchor="ctr"/>
          <a:lstStyle/>
          <a:p>
            <a:pPr indent="0" marL="0">
              <a:buNone/>
            </a:pPr>
            <a:r>
              <a:rPr lang="en-US" sz="700" dirty="0">
                <a:solidFill>
                  <a:srgbClr val="6B7280"/>
                </a:solidFill>
              </a:rPr>
              <a:t>Sep 30, 2026</a:t>
            </a:r>
            <a:endParaRPr lang="en-US" sz="700" dirty="0"/>
          </a:p>
        </p:txBody>
      </p:sp>
      <p:sp>
        <p:nvSpPr>
          <p:cNvPr id="128" name="Shape 126"/>
          <p:cNvSpPr/>
          <p:nvPr/>
        </p:nvSpPr>
        <p:spPr>
          <a:xfrm>
            <a:off x="11494008" y="1929384"/>
            <a:ext cx="658368" cy="137160"/>
          </a:xfrm>
          <a:prstGeom prst="roundRect">
            <a:avLst>
              <a:gd name="adj" fmla="val 20000"/>
            </a:avLst>
          </a:prstGeom>
          <a:solidFill>
            <a:srgbClr val="DBEAFE"/>
          </a:solidFill>
          <a:ln w="12700">
            <a:solidFill>
              <a:srgbClr val="DBEAFE"/>
            </a:solidFill>
            <a:prstDash val="solid"/>
          </a:ln>
        </p:spPr>
      </p:sp>
      <p:sp>
        <p:nvSpPr>
          <p:cNvPr id="129" name="Text 127"/>
          <p:cNvSpPr/>
          <p:nvPr/>
        </p:nvSpPr>
        <p:spPr>
          <a:xfrm>
            <a:off x="11494008" y="1929384"/>
            <a:ext cx="658368" cy="137160"/>
          </a:xfrm>
          <a:prstGeom prst="rect">
            <a:avLst/>
          </a:prstGeom>
          <a:noFill/>
          <a:ln/>
        </p:spPr>
        <p:txBody>
          <a:bodyPr wrap="square" lIns="0" tIns="0" rIns="0" bIns="0" rtlCol="0" anchor="ctr"/>
          <a:lstStyle/>
          <a:p>
            <a:pPr algn="ctr" indent="0" marL="0">
              <a:buNone/>
            </a:pPr>
            <a:r>
              <a:rPr lang="en-US" sz="600" b="1" dirty="0">
                <a:solidFill>
                  <a:srgbClr val="1E40AF"/>
                </a:solidFill>
              </a:rPr>
              <a:t>In Progress</a:t>
            </a:r>
            <a:endParaRPr lang="en-US" sz="600" dirty="0"/>
          </a:p>
        </p:txBody>
      </p:sp>
      <p:sp>
        <p:nvSpPr>
          <p:cNvPr id="130" name="Shape 128"/>
          <p:cNvSpPr/>
          <p:nvPr/>
        </p:nvSpPr>
        <p:spPr>
          <a:xfrm>
            <a:off x="9464040" y="2176272"/>
            <a:ext cx="2670048" cy="420624"/>
          </a:xfrm>
          <a:prstGeom prst="rect">
            <a:avLst/>
          </a:prstGeom>
          <a:solidFill>
            <a:srgbClr val="FFFFFF"/>
          </a:solidFill>
          <a:ln w="6350">
            <a:solidFill>
              <a:srgbClr val="E5E7EB"/>
            </a:solidFill>
            <a:prstDash val="solid"/>
          </a:ln>
        </p:spPr>
      </p:sp>
      <p:sp>
        <p:nvSpPr>
          <p:cNvPr id="131" name="Shape 129"/>
          <p:cNvSpPr/>
          <p:nvPr/>
        </p:nvSpPr>
        <p:spPr>
          <a:xfrm>
            <a:off x="9537192" y="2267712"/>
            <a:ext cx="109728" cy="109728"/>
          </a:xfrm>
          <a:prstGeom prst="ellipse">
            <a:avLst/>
          </a:prstGeom>
          <a:solidFill>
            <a:srgbClr val="9CA3AF"/>
          </a:solidFill>
          <a:ln w="12700">
            <a:solidFill>
              <a:srgbClr val="9CA3AF"/>
            </a:solidFill>
            <a:prstDash val="solid"/>
          </a:ln>
        </p:spPr>
      </p:sp>
      <p:sp>
        <p:nvSpPr>
          <p:cNvPr id="132" name="Text 130"/>
          <p:cNvSpPr/>
          <p:nvPr/>
        </p:nvSpPr>
        <p:spPr>
          <a:xfrm>
            <a:off x="9701784" y="2194560"/>
            <a:ext cx="2304288" cy="173736"/>
          </a:xfrm>
          <a:prstGeom prst="rect">
            <a:avLst/>
          </a:prstGeom>
          <a:noFill/>
          <a:ln/>
        </p:spPr>
        <p:txBody>
          <a:bodyPr wrap="square" lIns="0" tIns="0" rIns="0" bIns="0" rtlCol="0" anchor="ctr"/>
          <a:lstStyle/>
          <a:p>
            <a:pPr indent="0" marL="0">
              <a:buNone/>
            </a:pPr>
            <a:r>
              <a:rPr lang="en-US" sz="800" b="1" dirty="0">
                <a:solidFill>
                  <a:srgbClr val="1F2937"/>
                </a:solidFill>
              </a:rPr>
              <a:t>UAT / Testing</a:t>
            </a:r>
            <a:endParaRPr lang="en-US" sz="800" dirty="0"/>
          </a:p>
        </p:txBody>
      </p:sp>
      <p:sp>
        <p:nvSpPr>
          <p:cNvPr id="133" name="Text 131"/>
          <p:cNvSpPr/>
          <p:nvPr/>
        </p:nvSpPr>
        <p:spPr>
          <a:xfrm>
            <a:off x="9701784" y="2404872"/>
            <a:ext cx="1773936" cy="137160"/>
          </a:xfrm>
          <a:prstGeom prst="rect">
            <a:avLst/>
          </a:prstGeom>
          <a:noFill/>
          <a:ln/>
        </p:spPr>
        <p:txBody>
          <a:bodyPr wrap="square" lIns="0" tIns="0" rIns="0" bIns="0" rtlCol="0" anchor="ctr"/>
          <a:lstStyle/>
          <a:p>
            <a:pPr indent="0" marL="0">
              <a:buNone/>
            </a:pPr>
            <a:r>
              <a:rPr lang="en-US" sz="700" dirty="0">
                <a:solidFill>
                  <a:srgbClr val="6B7280"/>
                </a:solidFill>
              </a:rPr>
              <a:t>Nov 30, 2026</a:t>
            </a:r>
            <a:endParaRPr lang="en-US" sz="700" dirty="0"/>
          </a:p>
        </p:txBody>
      </p:sp>
      <p:sp>
        <p:nvSpPr>
          <p:cNvPr id="134" name="Shape 132"/>
          <p:cNvSpPr/>
          <p:nvPr/>
        </p:nvSpPr>
        <p:spPr>
          <a:xfrm>
            <a:off x="11494008" y="2404872"/>
            <a:ext cx="658368" cy="137160"/>
          </a:xfrm>
          <a:prstGeom prst="roundRect">
            <a:avLst>
              <a:gd name="adj" fmla="val 20000"/>
            </a:avLst>
          </a:prstGeom>
          <a:solidFill>
            <a:srgbClr val="F3F4F6"/>
          </a:solidFill>
          <a:ln w="12700">
            <a:solidFill>
              <a:srgbClr val="F3F4F6"/>
            </a:solidFill>
            <a:prstDash val="solid"/>
          </a:ln>
        </p:spPr>
      </p:sp>
      <p:sp>
        <p:nvSpPr>
          <p:cNvPr id="135" name="Text 133"/>
          <p:cNvSpPr/>
          <p:nvPr/>
        </p:nvSpPr>
        <p:spPr>
          <a:xfrm>
            <a:off x="11494008" y="2404872"/>
            <a:ext cx="658368" cy="137160"/>
          </a:xfrm>
          <a:prstGeom prst="rect">
            <a:avLst/>
          </a:prstGeom>
          <a:noFill/>
          <a:ln/>
        </p:spPr>
        <p:txBody>
          <a:bodyPr wrap="square" lIns="0" tIns="0" rIns="0" bIns="0" rtlCol="0" anchor="ctr"/>
          <a:lstStyle/>
          <a:p>
            <a:pPr algn="ctr" indent="0" marL="0">
              <a:buNone/>
            </a:pPr>
            <a:r>
              <a:rPr lang="en-US" sz="600" b="1" dirty="0">
                <a:solidFill>
                  <a:srgbClr val="6B7280"/>
                </a:solidFill>
              </a:rPr>
              <a:t>Upcoming</a:t>
            </a:r>
            <a:endParaRPr lang="en-US" sz="600" dirty="0"/>
          </a:p>
        </p:txBody>
      </p:sp>
      <p:sp>
        <p:nvSpPr>
          <p:cNvPr id="136" name="Shape 134"/>
          <p:cNvSpPr/>
          <p:nvPr/>
        </p:nvSpPr>
        <p:spPr>
          <a:xfrm>
            <a:off x="9464040" y="2651760"/>
            <a:ext cx="2670048" cy="420624"/>
          </a:xfrm>
          <a:prstGeom prst="rect">
            <a:avLst/>
          </a:prstGeom>
          <a:solidFill>
            <a:srgbClr val="FFFFFF"/>
          </a:solidFill>
          <a:ln w="6350">
            <a:solidFill>
              <a:srgbClr val="E5E7EB"/>
            </a:solidFill>
            <a:prstDash val="solid"/>
          </a:ln>
        </p:spPr>
      </p:sp>
      <p:sp>
        <p:nvSpPr>
          <p:cNvPr id="137" name="Shape 135"/>
          <p:cNvSpPr/>
          <p:nvPr/>
        </p:nvSpPr>
        <p:spPr>
          <a:xfrm>
            <a:off x="9537192" y="2743200"/>
            <a:ext cx="109728" cy="109728"/>
          </a:xfrm>
          <a:prstGeom prst="ellipse">
            <a:avLst/>
          </a:prstGeom>
          <a:solidFill>
            <a:srgbClr val="9CA3AF"/>
          </a:solidFill>
          <a:ln w="12700">
            <a:solidFill>
              <a:srgbClr val="9CA3AF"/>
            </a:solidFill>
            <a:prstDash val="solid"/>
          </a:ln>
        </p:spPr>
      </p:sp>
      <p:sp>
        <p:nvSpPr>
          <p:cNvPr id="138" name="Text 136"/>
          <p:cNvSpPr/>
          <p:nvPr/>
        </p:nvSpPr>
        <p:spPr>
          <a:xfrm>
            <a:off x="9701784" y="2670048"/>
            <a:ext cx="2304288" cy="173736"/>
          </a:xfrm>
          <a:prstGeom prst="rect">
            <a:avLst/>
          </a:prstGeom>
          <a:noFill/>
          <a:ln/>
        </p:spPr>
        <p:txBody>
          <a:bodyPr wrap="square" lIns="0" tIns="0" rIns="0" bIns="0" rtlCol="0" anchor="ctr"/>
          <a:lstStyle/>
          <a:p>
            <a:pPr indent="0" marL="0">
              <a:buNone/>
            </a:pPr>
            <a:r>
              <a:rPr lang="en-US" sz="800" b="1" dirty="0">
                <a:solidFill>
                  <a:srgbClr val="1F2937"/>
                </a:solidFill>
              </a:rPr>
              <a:t>Release</a:t>
            </a:r>
            <a:endParaRPr lang="en-US" sz="800" dirty="0"/>
          </a:p>
        </p:txBody>
      </p:sp>
      <p:sp>
        <p:nvSpPr>
          <p:cNvPr id="139" name="Text 137"/>
          <p:cNvSpPr/>
          <p:nvPr/>
        </p:nvSpPr>
        <p:spPr>
          <a:xfrm>
            <a:off x="9701784" y="2880360"/>
            <a:ext cx="1773936" cy="137160"/>
          </a:xfrm>
          <a:prstGeom prst="rect">
            <a:avLst/>
          </a:prstGeom>
          <a:noFill/>
          <a:ln/>
        </p:spPr>
        <p:txBody>
          <a:bodyPr wrap="square" lIns="0" tIns="0" rIns="0" bIns="0" rtlCol="0" anchor="ctr"/>
          <a:lstStyle/>
          <a:p>
            <a:pPr indent="0" marL="0">
              <a:buNone/>
            </a:pPr>
            <a:r>
              <a:rPr lang="en-US" sz="700" dirty="0">
                <a:solidFill>
                  <a:srgbClr val="6B7280"/>
                </a:solidFill>
              </a:rPr>
              <a:t>Dec 2026</a:t>
            </a:r>
            <a:endParaRPr lang="en-US" sz="700" dirty="0"/>
          </a:p>
        </p:txBody>
      </p:sp>
      <p:sp>
        <p:nvSpPr>
          <p:cNvPr id="140" name="Shape 138"/>
          <p:cNvSpPr/>
          <p:nvPr/>
        </p:nvSpPr>
        <p:spPr>
          <a:xfrm>
            <a:off x="11494008" y="2880360"/>
            <a:ext cx="658368" cy="137160"/>
          </a:xfrm>
          <a:prstGeom prst="roundRect">
            <a:avLst>
              <a:gd name="adj" fmla="val 20000"/>
            </a:avLst>
          </a:prstGeom>
          <a:solidFill>
            <a:srgbClr val="F3F4F6"/>
          </a:solidFill>
          <a:ln w="12700">
            <a:solidFill>
              <a:srgbClr val="F3F4F6"/>
            </a:solidFill>
            <a:prstDash val="solid"/>
          </a:ln>
        </p:spPr>
      </p:sp>
      <p:sp>
        <p:nvSpPr>
          <p:cNvPr id="141" name="Text 139"/>
          <p:cNvSpPr/>
          <p:nvPr/>
        </p:nvSpPr>
        <p:spPr>
          <a:xfrm>
            <a:off x="11494008" y="2880360"/>
            <a:ext cx="658368" cy="137160"/>
          </a:xfrm>
          <a:prstGeom prst="rect">
            <a:avLst/>
          </a:prstGeom>
          <a:noFill/>
          <a:ln/>
        </p:spPr>
        <p:txBody>
          <a:bodyPr wrap="square" lIns="0" tIns="0" rIns="0" bIns="0" rtlCol="0" anchor="ctr"/>
          <a:lstStyle/>
          <a:p>
            <a:pPr algn="ctr" indent="0" marL="0">
              <a:buNone/>
            </a:pPr>
            <a:r>
              <a:rPr lang="en-US" sz="600" b="1" dirty="0">
                <a:solidFill>
                  <a:srgbClr val="6B7280"/>
                </a:solidFill>
              </a:rPr>
              <a:t>Upcoming</a:t>
            </a:r>
            <a:endParaRPr lang="en-US" sz="600" dirty="0"/>
          </a:p>
        </p:txBody>
      </p:sp>
      <p:sp>
        <p:nvSpPr>
          <p:cNvPr id="142" name="Shape 140"/>
          <p:cNvSpPr/>
          <p:nvPr/>
        </p:nvSpPr>
        <p:spPr>
          <a:xfrm>
            <a:off x="9482328" y="3200400"/>
            <a:ext cx="2633472" cy="0"/>
          </a:xfrm>
          <a:prstGeom prst="line">
            <a:avLst/>
          </a:prstGeom>
          <a:noFill/>
          <a:ln w="9525">
            <a:solidFill>
              <a:srgbClr val="DDE1E6"/>
            </a:solidFill>
            <a:prstDash val="solid"/>
          </a:ln>
        </p:spPr>
      </p:sp>
      <p:sp>
        <p:nvSpPr>
          <p:cNvPr id="143" name="Text 141"/>
          <p:cNvSpPr/>
          <p:nvPr/>
        </p:nvSpPr>
        <p:spPr>
          <a:xfrm>
            <a:off x="9500616" y="3337560"/>
            <a:ext cx="2633472" cy="201168"/>
          </a:xfrm>
          <a:prstGeom prst="rect">
            <a:avLst/>
          </a:prstGeom>
          <a:noFill/>
          <a:ln/>
        </p:spPr>
        <p:txBody>
          <a:bodyPr wrap="square" lIns="0" tIns="0" rIns="0" bIns="0" rtlCol="0" anchor="ctr"/>
          <a:lstStyle/>
          <a:p>
            <a:pPr indent="0" marL="0">
              <a:buNone/>
            </a:pPr>
            <a:r>
              <a:rPr lang="en-US" sz="950" b="1" dirty="0">
                <a:solidFill>
                  <a:srgbClr val="111827"/>
                </a:solidFill>
              </a:rPr>
              <a:t>Status Key</a:t>
            </a:r>
            <a:endParaRPr lang="en-US" sz="950" dirty="0"/>
          </a:p>
        </p:txBody>
      </p:sp>
      <p:sp>
        <p:nvSpPr>
          <p:cNvPr id="144" name="Shape 142"/>
          <p:cNvSpPr/>
          <p:nvPr/>
        </p:nvSpPr>
        <p:spPr>
          <a:xfrm>
            <a:off x="9500616" y="3584448"/>
            <a:ext cx="822960" cy="173736"/>
          </a:xfrm>
          <a:prstGeom prst="roundRect">
            <a:avLst>
              <a:gd name="adj" fmla="val 15789"/>
            </a:avLst>
          </a:prstGeom>
          <a:solidFill>
            <a:srgbClr val="F3F4F6"/>
          </a:solidFill>
          <a:ln w="9525">
            <a:solidFill>
              <a:srgbClr val="D1D5DB"/>
            </a:solidFill>
            <a:prstDash val="solid"/>
          </a:ln>
        </p:spPr>
      </p:sp>
      <p:sp>
        <p:nvSpPr>
          <p:cNvPr id="145" name="Text 143"/>
          <p:cNvSpPr/>
          <p:nvPr/>
        </p:nvSpPr>
        <p:spPr>
          <a:xfrm>
            <a:off x="9500616" y="3584448"/>
            <a:ext cx="822960" cy="173736"/>
          </a:xfrm>
          <a:prstGeom prst="rect">
            <a:avLst/>
          </a:prstGeom>
          <a:noFill/>
          <a:ln/>
        </p:spPr>
        <p:txBody>
          <a:bodyPr wrap="square" lIns="0" tIns="0" rIns="0" bIns="0" rtlCol="0" anchor="ctr"/>
          <a:lstStyle/>
          <a:p>
            <a:pPr algn="ctr" indent="0" marL="0">
              <a:buNone/>
            </a:pPr>
            <a:r>
              <a:rPr lang="en-US" sz="700" b="1" dirty="0">
                <a:solidFill>
                  <a:srgbClr val="374151"/>
                </a:solidFill>
              </a:rPr>
              <a:t>Not Started</a:t>
            </a:r>
            <a:endParaRPr lang="en-US" sz="700" dirty="0"/>
          </a:p>
        </p:txBody>
      </p:sp>
      <p:sp>
        <p:nvSpPr>
          <p:cNvPr id="146" name="Shape 144"/>
          <p:cNvSpPr/>
          <p:nvPr/>
        </p:nvSpPr>
        <p:spPr>
          <a:xfrm>
            <a:off x="9500616" y="3813048"/>
            <a:ext cx="822960" cy="173736"/>
          </a:xfrm>
          <a:prstGeom prst="roundRect">
            <a:avLst>
              <a:gd name="adj" fmla="val 15789"/>
            </a:avLst>
          </a:prstGeom>
          <a:solidFill>
            <a:srgbClr val="1558A8"/>
          </a:solidFill>
          <a:ln w="12700">
            <a:solidFill>
              <a:srgbClr val="1558A8"/>
            </a:solidFill>
            <a:prstDash val="solid"/>
          </a:ln>
        </p:spPr>
      </p:sp>
      <p:sp>
        <p:nvSpPr>
          <p:cNvPr id="147" name="Text 145"/>
          <p:cNvSpPr/>
          <p:nvPr/>
        </p:nvSpPr>
        <p:spPr>
          <a:xfrm>
            <a:off x="9500616" y="3813048"/>
            <a:ext cx="822960" cy="173736"/>
          </a:xfrm>
          <a:prstGeom prst="rect">
            <a:avLst/>
          </a:prstGeom>
          <a:noFill/>
          <a:ln/>
        </p:spPr>
        <p:txBody>
          <a:bodyPr wrap="square" lIns="0" tIns="0" rIns="0" bIns="0" rtlCol="0" anchor="ctr"/>
          <a:lstStyle/>
          <a:p>
            <a:pPr algn="ctr" indent="0" marL="0">
              <a:buNone/>
            </a:pPr>
            <a:r>
              <a:rPr lang="en-US" sz="700" b="1" dirty="0">
                <a:solidFill>
                  <a:srgbClr val="FFFFFF"/>
                </a:solidFill>
              </a:rPr>
              <a:t>In Progress</a:t>
            </a:r>
            <a:endParaRPr lang="en-US" sz="700" dirty="0"/>
          </a:p>
        </p:txBody>
      </p:sp>
      <p:sp>
        <p:nvSpPr>
          <p:cNvPr id="148" name="Shape 146"/>
          <p:cNvSpPr/>
          <p:nvPr/>
        </p:nvSpPr>
        <p:spPr>
          <a:xfrm>
            <a:off x="9500616" y="4041648"/>
            <a:ext cx="822960" cy="173736"/>
          </a:xfrm>
          <a:prstGeom prst="roundRect">
            <a:avLst>
              <a:gd name="adj" fmla="val 15789"/>
            </a:avLst>
          </a:prstGeom>
          <a:solidFill>
            <a:srgbClr val="FEE2E2"/>
          </a:solidFill>
          <a:ln w="19050">
            <a:solidFill>
              <a:srgbClr val="DC2626"/>
            </a:solidFill>
            <a:prstDash val="solid"/>
          </a:ln>
        </p:spPr>
      </p:sp>
      <p:sp>
        <p:nvSpPr>
          <p:cNvPr id="149" name="Text 147"/>
          <p:cNvSpPr/>
          <p:nvPr/>
        </p:nvSpPr>
        <p:spPr>
          <a:xfrm>
            <a:off x="9500616" y="4041648"/>
            <a:ext cx="822960" cy="173736"/>
          </a:xfrm>
          <a:prstGeom prst="rect">
            <a:avLst/>
          </a:prstGeom>
          <a:noFill/>
          <a:ln/>
        </p:spPr>
        <p:txBody>
          <a:bodyPr wrap="square" lIns="0" tIns="0" rIns="0" bIns="0" rtlCol="0" anchor="ctr"/>
          <a:lstStyle/>
          <a:p>
            <a:pPr algn="ctr" indent="0" marL="0">
              <a:buNone/>
            </a:pPr>
            <a:r>
              <a:rPr lang="en-US" sz="700" b="1" dirty="0">
                <a:solidFill>
                  <a:srgbClr val="7F1D1D"/>
                </a:solidFill>
              </a:rPr>
              <a:t>Blocked</a:t>
            </a:r>
            <a:endParaRPr lang="en-US" sz="700" dirty="0"/>
          </a:p>
        </p:txBody>
      </p:sp>
      <p:sp>
        <p:nvSpPr>
          <p:cNvPr id="150" name="Shape 148"/>
          <p:cNvSpPr/>
          <p:nvPr/>
        </p:nvSpPr>
        <p:spPr>
          <a:xfrm>
            <a:off x="9500616" y="4270248"/>
            <a:ext cx="822960" cy="173736"/>
          </a:xfrm>
          <a:prstGeom prst="roundRect">
            <a:avLst>
              <a:gd name="adj" fmla="val 15789"/>
            </a:avLst>
          </a:prstGeom>
          <a:solidFill>
            <a:srgbClr val="DCFCE7"/>
          </a:solidFill>
          <a:ln w="12700">
            <a:solidFill>
              <a:srgbClr val="15803D"/>
            </a:solidFill>
            <a:prstDash val="solid"/>
          </a:ln>
        </p:spPr>
      </p:sp>
      <p:sp>
        <p:nvSpPr>
          <p:cNvPr id="151" name="Text 149"/>
          <p:cNvSpPr/>
          <p:nvPr/>
        </p:nvSpPr>
        <p:spPr>
          <a:xfrm>
            <a:off x="9500616" y="4270248"/>
            <a:ext cx="822960" cy="173736"/>
          </a:xfrm>
          <a:prstGeom prst="rect">
            <a:avLst/>
          </a:prstGeom>
          <a:noFill/>
          <a:ln/>
        </p:spPr>
        <p:txBody>
          <a:bodyPr wrap="square" lIns="0" tIns="0" rIns="0" bIns="0" rtlCol="0" anchor="ctr"/>
          <a:lstStyle/>
          <a:p>
            <a:pPr algn="ctr" indent="0" marL="0">
              <a:buNone/>
            </a:pPr>
            <a:r>
              <a:rPr lang="en-US" sz="700" b="1" dirty="0">
                <a:solidFill>
                  <a:srgbClr val="14532D"/>
                </a:solidFill>
              </a:rPr>
              <a:t>Done</a:t>
            </a:r>
            <a:endParaRPr lang="en-US" sz="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show="0">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344400" cy="457200"/>
          </a:xfrm>
          <a:prstGeom prst="rect">
            <a:avLst/>
          </a:prstGeom>
          <a:solidFill>
            <a:srgbClr val="8ED973"/>
          </a:solidFill>
          <a:ln w="12700">
            <a:solidFill>
              <a:srgbClr val="8ED973"/>
            </a:solidFill>
            <a:prstDash val="solid"/>
          </a:ln>
        </p:spPr>
      </p:sp>
      <p:sp>
        <p:nvSpPr>
          <p:cNvPr id="3" name="Text 1"/>
          <p:cNvSpPr/>
          <p:nvPr/>
        </p:nvSpPr>
        <p:spPr>
          <a:xfrm>
            <a:off x="201168" y="0"/>
            <a:ext cx="8229600" cy="457200"/>
          </a:xfrm>
          <a:prstGeom prst="rect">
            <a:avLst/>
          </a:prstGeom>
          <a:noFill/>
          <a:ln/>
        </p:spPr>
        <p:txBody>
          <a:bodyPr wrap="square" lIns="0" tIns="0" rIns="0" bIns="0" rtlCol="0" anchor="ctr"/>
          <a:lstStyle/>
          <a:p>
            <a:pPr algn="l" indent="0" marL="0">
              <a:buNone/>
            </a:pPr>
            <a:r>
              <a:rPr lang="en-US" sz="1600" b="1" dirty="0">
                <a:solidFill>
                  <a:srgbClr val="000000"/>
                </a:solidFill>
              </a:rPr>
              <a:t>Project SABR  ·  iOS</a:t>
            </a:r>
            <a:endParaRPr lang="en-US" sz="1600" dirty="0"/>
          </a:p>
        </p:txBody>
      </p:sp>
      <p:sp>
        <p:nvSpPr>
          <p:cNvPr id="4" name="Text 2"/>
          <p:cNvSpPr/>
          <p:nvPr/>
        </p:nvSpPr>
        <p:spPr>
          <a:xfrm>
            <a:off x="8686800" y="0"/>
            <a:ext cx="3337560" cy="457200"/>
          </a:xfrm>
          <a:prstGeom prst="rect">
            <a:avLst/>
          </a:prstGeom>
          <a:noFill/>
          <a:ln/>
        </p:spPr>
        <p:txBody>
          <a:bodyPr wrap="square" lIns="0" tIns="0" rIns="0" bIns="0" rtlCol="0" anchor="ctr"/>
          <a:lstStyle/>
          <a:p>
            <a:pPr algn="r" indent="0" marL="0">
              <a:buNone/>
            </a:pPr>
            <a:r>
              <a:rPr lang="en-US" sz="1100" dirty="0">
                <a:solidFill>
                  <a:srgbClr val="388849"/>
                </a:solidFill>
              </a:rPr>
              <a:t>iPhone · iPad  ·  Aug 5, 2026</a:t>
            </a:r>
            <a:endParaRPr lang="en-US" sz="1100" dirty="0"/>
          </a:p>
        </p:txBody>
      </p:sp>
      <p:sp>
        <p:nvSpPr>
          <p:cNvPr id="5" name="Shape 3"/>
          <p:cNvSpPr/>
          <p:nvPr/>
        </p:nvSpPr>
        <p:spPr>
          <a:xfrm>
            <a:off x="0" y="457200"/>
            <a:ext cx="12344400" cy="347472"/>
          </a:xfrm>
          <a:prstGeom prst="rect">
            <a:avLst/>
          </a:prstGeom>
          <a:solidFill>
            <a:srgbClr val="EFF7F3"/>
          </a:solidFill>
          <a:ln w="12700">
            <a:solidFill>
              <a:srgbClr val="CCE4D8"/>
            </a:solidFill>
            <a:prstDash val="solid"/>
          </a:ln>
        </p:spPr>
      </p:sp>
      <p:sp>
        <p:nvSpPr>
          <p:cNvPr id="6" name="Shape 4"/>
          <p:cNvSpPr/>
          <p:nvPr/>
        </p:nvSpPr>
        <p:spPr>
          <a:xfrm>
            <a:off x="256032" y="521208"/>
            <a:ext cx="1005840" cy="219456"/>
          </a:xfrm>
          <a:prstGeom prst="roundRect">
            <a:avLst>
              <a:gd name="adj" fmla="val 20833"/>
            </a:avLst>
          </a:prstGeom>
          <a:solidFill>
            <a:srgbClr val="DCFCE7"/>
          </a:solidFill>
          <a:ln w="9525">
            <a:solidFill>
              <a:srgbClr val="D1D5DB"/>
            </a:solidFill>
            <a:prstDash val="solid"/>
          </a:ln>
        </p:spPr>
      </p:sp>
      <p:sp>
        <p:nvSpPr>
          <p:cNvPr id="7" name="Text 5"/>
          <p:cNvSpPr/>
          <p:nvPr/>
        </p:nvSpPr>
        <p:spPr>
          <a:xfrm>
            <a:off x="256032" y="521208"/>
            <a:ext cx="1005840" cy="219456"/>
          </a:xfrm>
          <a:prstGeom prst="rect">
            <a:avLst/>
          </a:prstGeom>
          <a:noFill/>
          <a:ln/>
        </p:spPr>
        <p:txBody>
          <a:bodyPr wrap="square" lIns="0" tIns="0" rIns="0" bIns="0" rtlCol="0" anchor="ctr"/>
          <a:lstStyle/>
          <a:p>
            <a:pPr algn="ctr" indent="0" marL="0">
              <a:buNone/>
            </a:pPr>
            <a:r>
              <a:rPr lang="en-US" sz="900" b="1" dirty="0">
                <a:solidFill>
                  <a:srgbClr val="166534"/>
                </a:solidFill>
              </a:rPr>
              <a:t>3  Done</a:t>
            </a:r>
            <a:endParaRPr lang="en-US" sz="900" dirty="0"/>
          </a:p>
        </p:txBody>
      </p:sp>
      <p:sp>
        <p:nvSpPr>
          <p:cNvPr id="8" name="Shape 6"/>
          <p:cNvSpPr/>
          <p:nvPr/>
        </p:nvSpPr>
        <p:spPr>
          <a:xfrm>
            <a:off x="1389888" y="521208"/>
            <a:ext cx="1325880" cy="219456"/>
          </a:xfrm>
          <a:prstGeom prst="roundRect">
            <a:avLst>
              <a:gd name="adj" fmla="val 20833"/>
            </a:avLst>
          </a:prstGeom>
          <a:solidFill>
            <a:srgbClr val="DBEAFE"/>
          </a:solidFill>
          <a:ln w="9525">
            <a:solidFill>
              <a:srgbClr val="D1D5DB"/>
            </a:solidFill>
            <a:prstDash val="solid"/>
          </a:ln>
        </p:spPr>
      </p:sp>
      <p:sp>
        <p:nvSpPr>
          <p:cNvPr id="9" name="Text 7"/>
          <p:cNvSpPr/>
          <p:nvPr/>
        </p:nvSpPr>
        <p:spPr>
          <a:xfrm>
            <a:off x="1389888" y="521208"/>
            <a:ext cx="1325880" cy="219456"/>
          </a:xfrm>
          <a:prstGeom prst="rect">
            <a:avLst/>
          </a:prstGeom>
          <a:noFill/>
          <a:ln/>
        </p:spPr>
        <p:txBody>
          <a:bodyPr wrap="square" lIns="0" tIns="0" rIns="0" bIns="0" rtlCol="0" anchor="ctr"/>
          <a:lstStyle/>
          <a:p>
            <a:pPr algn="ctr" indent="0" marL="0">
              <a:buNone/>
            </a:pPr>
            <a:r>
              <a:rPr lang="en-US" sz="900" b="1" dirty="0">
                <a:solidFill>
                  <a:srgbClr val="1D4ED8"/>
                </a:solidFill>
              </a:rPr>
              <a:t>16  In Progress</a:t>
            </a:r>
            <a:endParaRPr lang="en-US" sz="900" dirty="0"/>
          </a:p>
        </p:txBody>
      </p:sp>
      <p:sp>
        <p:nvSpPr>
          <p:cNvPr id="10" name="Shape 8"/>
          <p:cNvSpPr/>
          <p:nvPr/>
        </p:nvSpPr>
        <p:spPr>
          <a:xfrm>
            <a:off x="2843784" y="521208"/>
            <a:ext cx="1325880" cy="219456"/>
          </a:xfrm>
          <a:prstGeom prst="roundRect">
            <a:avLst>
              <a:gd name="adj" fmla="val 20833"/>
            </a:avLst>
          </a:prstGeom>
          <a:solidFill>
            <a:srgbClr val="F3F4F6"/>
          </a:solidFill>
          <a:ln w="9525">
            <a:solidFill>
              <a:srgbClr val="D1D5DB"/>
            </a:solidFill>
            <a:prstDash val="solid"/>
          </a:ln>
        </p:spPr>
      </p:sp>
      <p:sp>
        <p:nvSpPr>
          <p:cNvPr id="11" name="Text 9"/>
          <p:cNvSpPr/>
          <p:nvPr/>
        </p:nvSpPr>
        <p:spPr>
          <a:xfrm>
            <a:off x="2843784" y="521208"/>
            <a:ext cx="1325880" cy="219456"/>
          </a:xfrm>
          <a:prstGeom prst="rect">
            <a:avLst/>
          </a:prstGeom>
          <a:noFill/>
          <a:ln/>
        </p:spPr>
        <p:txBody>
          <a:bodyPr wrap="square" lIns="0" tIns="0" rIns="0" bIns="0" rtlCol="0" anchor="ctr"/>
          <a:lstStyle/>
          <a:p>
            <a:pPr algn="ctr" indent="0" marL="0">
              <a:buNone/>
            </a:pPr>
            <a:r>
              <a:rPr lang="en-US" sz="900" b="1" dirty="0">
                <a:solidFill>
                  <a:srgbClr val="374151"/>
                </a:solidFill>
              </a:rPr>
              <a:t>2  Not Started</a:t>
            </a:r>
            <a:endParaRPr lang="en-US" sz="900" dirty="0"/>
          </a:p>
        </p:txBody>
      </p:sp>
      <p:sp>
        <p:nvSpPr>
          <p:cNvPr id="12" name="Shape 10"/>
          <p:cNvSpPr/>
          <p:nvPr/>
        </p:nvSpPr>
        <p:spPr>
          <a:xfrm>
            <a:off x="4297680" y="521208"/>
            <a:ext cx="1005840" cy="219456"/>
          </a:xfrm>
          <a:prstGeom prst="roundRect">
            <a:avLst>
              <a:gd name="adj" fmla="val 20833"/>
            </a:avLst>
          </a:prstGeom>
          <a:solidFill>
            <a:srgbClr val="FEE2E2"/>
          </a:solidFill>
          <a:ln w="9525">
            <a:solidFill>
              <a:srgbClr val="D1D5DB"/>
            </a:solidFill>
            <a:prstDash val="solid"/>
          </a:ln>
        </p:spPr>
      </p:sp>
      <p:sp>
        <p:nvSpPr>
          <p:cNvPr id="13" name="Text 11"/>
          <p:cNvSpPr/>
          <p:nvPr/>
        </p:nvSpPr>
        <p:spPr>
          <a:xfrm>
            <a:off x="4297680" y="521208"/>
            <a:ext cx="1005840" cy="219456"/>
          </a:xfrm>
          <a:prstGeom prst="rect">
            <a:avLst/>
          </a:prstGeom>
          <a:noFill/>
          <a:ln/>
        </p:spPr>
        <p:txBody>
          <a:bodyPr wrap="square" lIns="0" tIns="0" rIns="0" bIns="0" rtlCol="0" anchor="ctr"/>
          <a:lstStyle/>
          <a:p>
            <a:pPr algn="ctr" indent="0" marL="0">
              <a:buNone/>
            </a:pPr>
            <a:r>
              <a:rPr lang="en-US" sz="900" b="1" dirty="0">
                <a:solidFill>
                  <a:srgbClr val="7F1D1D"/>
                </a:solidFill>
              </a:rPr>
              <a:t>0  Blocked</a:t>
            </a:r>
            <a:endParaRPr lang="en-US" sz="900" dirty="0"/>
          </a:p>
        </p:txBody>
      </p:sp>
      <p:sp>
        <p:nvSpPr>
          <p:cNvPr id="14" name="Shape 12"/>
          <p:cNvSpPr/>
          <p:nvPr/>
        </p:nvSpPr>
        <p:spPr>
          <a:xfrm>
            <a:off x="5431536" y="521208"/>
            <a:ext cx="2377440" cy="219456"/>
          </a:xfrm>
          <a:prstGeom prst="roundRect">
            <a:avLst>
              <a:gd name="adj" fmla="val 20833"/>
            </a:avLst>
          </a:prstGeom>
          <a:solidFill>
            <a:srgbClr val="FFFFFF"/>
          </a:solidFill>
          <a:ln w="9525">
            <a:solidFill>
              <a:srgbClr val="D1D5DB"/>
            </a:solidFill>
            <a:prstDash val="solid"/>
          </a:ln>
        </p:spPr>
      </p:sp>
      <p:sp>
        <p:nvSpPr>
          <p:cNvPr id="15" name="Text 13"/>
          <p:cNvSpPr/>
          <p:nvPr/>
        </p:nvSpPr>
        <p:spPr>
          <a:xfrm>
            <a:off x="5431536" y="521208"/>
            <a:ext cx="2377440" cy="219456"/>
          </a:xfrm>
          <a:prstGeom prst="rect">
            <a:avLst/>
          </a:prstGeom>
          <a:noFill/>
          <a:ln/>
        </p:spPr>
        <p:txBody>
          <a:bodyPr wrap="square" lIns="0" tIns="0" rIns="0" bIns="0" rtlCol="0" anchor="ctr"/>
          <a:lstStyle/>
          <a:p>
            <a:pPr algn="ctr" indent="0" marL="0">
              <a:buNone/>
            </a:pPr>
            <a:r>
              <a:rPr lang="en-US" sz="900" b="1" dirty="0">
                <a:solidFill>
                  <a:srgbClr val="374151"/>
                </a:solidFill>
              </a:rPr>
              <a:t>Sep 30, 2026  ·  Beta</a:t>
            </a:r>
            <a:endParaRPr lang="en-US" sz="900" dirty="0"/>
          </a:p>
        </p:txBody>
      </p:sp>
      <p:sp>
        <p:nvSpPr>
          <p:cNvPr id="16" name="Shape 14"/>
          <p:cNvSpPr/>
          <p:nvPr/>
        </p:nvSpPr>
        <p:spPr>
          <a:xfrm>
            <a:off x="0" y="6876288"/>
            <a:ext cx="12344400" cy="438912"/>
          </a:xfrm>
          <a:prstGeom prst="rect">
            <a:avLst/>
          </a:prstGeom>
          <a:solidFill>
            <a:srgbClr val="F4F6F8"/>
          </a:solidFill>
          <a:ln w="12700">
            <a:solidFill>
              <a:srgbClr val="D1D5DB"/>
            </a:solidFill>
            <a:prstDash val="solid"/>
          </a:ln>
        </p:spPr>
      </p:sp>
      <p:sp>
        <p:nvSpPr>
          <p:cNvPr id="17" name="Text 15"/>
          <p:cNvSpPr/>
          <p:nvPr/>
        </p:nvSpPr>
        <p:spPr>
          <a:xfrm>
            <a:off x="201168" y="6876288"/>
            <a:ext cx="5029200" cy="438912"/>
          </a:xfrm>
          <a:prstGeom prst="rect">
            <a:avLst/>
          </a:prstGeom>
          <a:noFill/>
          <a:ln/>
        </p:spPr>
        <p:txBody>
          <a:bodyPr wrap="square" lIns="0" tIns="0" rIns="0" bIns="0" rtlCol="0" anchor="ctr"/>
          <a:lstStyle/>
          <a:p>
            <a:pPr algn="l" indent="0" marL="0">
              <a:buNone/>
            </a:pPr>
            <a:r>
              <a:rPr lang="en-US" sz="800" dirty="0">
                <a:solidFill>
                  <a:srgbClr val="9CA3AF"/>
                </a:solidFill>
              </a:rPr>
              <a:t>Project SABR  ·  Tennis Channel OTT  ·  CONFIDENTIAL</a:t>
            </a:r>
            <a:endParaRPr lang="en-US" sz="800" dirty="0"/>
          </a:p>
        </p:txBody>
      </p:sp>
      <p:sp>
        <p:nvSpPr>
          <p:cNvPr id="18" name="Text 16"/>
          <p:cNvSpPr/>
          <p:nvPr/>
        </p:nvSpPr>
        <p:spPr>
          <a:xfrm>
            <a:off x="5486400" y="6876288"/>
            <a:ext cx="4572000" cy="438912"/>
          </a:xfrm>
          <a:prstGeom prst="rect">
            <a:avLst/>
          </a:prstGeom>
          <a:noFill/>
          <a:ln/>
        </p:spPr>
        <p:txBody>
          <a:bodyPr wrap="square" lIns="0" tIns="0" rIns="0" bIns="0" rtlCol="0" anchor="ctr"/>
          <a:lstStyle/>
          <a:p>
            <a:pPr algn="ctr" indent="0" marL="0">
              <a:buNone/>
            </a:pPr>
            <a:r>
              <a:rPr lang="en-US" sz="800" dirty="0">
                <a:solidFill>
                  <a:srgbClr val="9CA3AF"/>
                </a:solidFill>
              </a:rPr>
              <a:t>Beta: Sep 30, 2026  ·  55 days remaining</a:t>
            </a:r>
            <a:endParaRPr lang="en-US" sz="800" dirty="0"/>
          </a:p>
        </p:txBody>
      </p:sp>
      <p:sp>
        <p:nvSpPr>
          <p:cNvPr id="19" name="Text 17"/>
          <p:cNvSpPr/>
          <p:nvPr/>
        </p:nvSpPr>
        <p:spPr>
          <a:xfrm>
            <a:off x="10515600" y="6876288"/>
            <a:ext cx="1508760" cy="438912"/>
          </a:xfrm>
          <a:prstGeom prst="rect">
            <a:avLst/>
          </a:prstGeom>
          <a:noFill/>
          <a:ln/>
        </p:spPr>
        <p:txBody>
          <a:bodyPr wrap="square" lIns="0" tIns="0" rIns="0" bIns="0" rtlCol="0" anchor="ctr"/>
          <a:lstStyle/>
          <a:p>
            <a:pPr algn="r" indent="0" marL="0">
              <a:buNone/>
            </a:pPr>
            <a:r>
              <a:rPr lang="en-US" sz="1100" b="1" dirty="0">
                <a:solidFill>
                  <a:srgbClr val="388849"/>
                </a:solidFill>
              </a:rPr>
              <a:t>14% Ready</a:t>
            </a:r>
            <a:endParaRPr lang="en-US" sz="1100" dirty="0"/>
          </a:p>
        </p:txBody>
      </p:sp>
      <p:sp>
        <p:nvSpPr>
          <p:cNvPr id="20" name="Shape 18"/>
          <p:cNvSpPr/>
          <p:nvPr/>
        </p:nvSpPr>
        <p:spPr>
          <a:xfrm>
            <a:off x="164592" y="804672"/>
            <a:ext cx="9116568" cy="1476756"/>
          </a:xfrm>
          <a:prstGeom prst="rect">
            <a:avLst/>
          </a:prstGeom>
          <a:solidFill>
            <a:srgbClr val="FAFBFC"/>
          </a:solidFill>
          <a:ln w="6350">
            <a:solidFill>
              <a:srgbClr val="E5E7EB"/>
            </a:solidFill>
            <a:prstDash val="solid"/>
          </a:ln>
        </p:spPr>
      </p:sp>
      <p:sp>
        <p:nvSpPr>
          <p:cNvPr id="21" name="Shape 19"/>
          <p:cNvSpPr/>
          <p:nvPr/>
        </p:nvSpPr>
        <p:spPr>
          <a:xfrm>
            <a:off x="182880" y="877824"/>
            <a:ext cx="859536" cy="1330452"/>
          </a:xfrm>
          <a:prstGeom prst="roundRect">
            <a:avLst>
              <a:gd name="adj" fmla="val 5319"/>
            </a:avLst>
          </a:prstGeom>
          <a:solidFill>
            <a:srgbClr val="9CA3AF"/>
          </a:solidFill>
          <a:ln w="12700">
            <a:solidFill>
              <a:srgbClr val="9CA3AF"/>
            </a:solidFill>
            <a:prstDash val="solid"/>
          </a:ln>
        </p:spPr>
      </p:sp>
      <p:sp>
        <p:nvSpPr>
          <p:cNvPr id="22" name="Text 20"/>
          <p:cNvSpPr/>
          <p:nvPr/>
        </p:nvSpPr>
        <p:spPr>
          <a:xfrm>
            <a:off x="182880" y="87782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Video</a:t>
            </a:r>
            <a:endParaRPr lang="en-US" sz="800" dirty="0"/>
          </a:p>
          <a:p>
            <a:pPr algn="ctr" indent="0" marL="0">
              <a:buNone/>
            </a:pPr>
            <a:r>
              <a:rPr lang="en-US" sz="800" b="1" dirty="0">
                <a:solidFill>
                  <a:srgbClr val="FFFFFF"/>
                </a:solidFill>
              </a:rPr>
              <a:t>Delivery</a:t>
            </a:r>
            <a:endParaRPr lang="en-US" sz="800" dirty="0"/>
          </a:p>
        </p:txBody>
      </p:sp>
      <p:sp>
        <p:nvSpPr>
          <p:cNvPr id="23" name="Text 21"/>
          <p:cNvSpPr/>
          <p:nvPr/>
        </p:nvSpPr>
        <p:spPr>
          <a:xfrm>
            <a:off x="1170432" y="85039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4 / 4 In Progress</a:t>
            </a:r>
            <a:endParaRPr lang="en-US" sz="750" dirty="0"/>
          </a:p>
        </p:txBody>
      </p:sp>
      <p:sp>
        <p:nvSpPr>
          <p:cNvPr id="24" name="Shape 22"/>
          <p:cNvSpPr/>
          <p:nvPr/>
        </p:nvSpPr>
        <p:spPr>
          <a:xfrm>
            <a:off x="1170432" y="1069848"/>
            <a:ext cx="932688" cy="182880"/>
          </a:xfrm>
          <a:prstGeom prst="roundRect">
            <a:avLst>
              <a:gd name="adj" fmla="val 15000"/>
            </a:avLst>
          </a:prstGeom>
          <a:solidFill>
            <a:srgbClr val="FFFFFF"/>
          </a:solidFill>
          <a:ln w="9525">
            <a:solidFill>
              <a:srgbClr val="CBD5E1"/>
            </a:solidFill>
            <a:prstDash val="solid"/>
          </a:ln>
        </p:spPr>
      </p:sp>
      <p:sp>
        <p:nvSpPr>
          <p:cNvPr id="25" name="Text 23"/>
          <p:cNvSpPr/>
          <p:nvPr/>
        </p:nvSpPr>
        <p:spPr>
          <a:xfrm>
            <a:off x="1170432"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HLS</a:t>
            </a:r>
            <a:endParaRPr lang="en-US" sz="750" dirty="0"/>
          </a:p>
        </p:txBody>
      </p:sp>
      <p:sp>
        <p:nvSpPr>
          <p:cNvPr id="26" name="Shape 24"/>
          <p:cNvSpPr/>
          <p:nvPr/>
        </p:nvSpPr>
        <p:spPr>
          <a:xfrm>
            <a:off x="1170432" y="1280160"/>
            <a:ext cx="932688" cy="155448"/>
          </a:xfrm>
          <a:prstGeom prst="roundRect">
            <a:avLst>
              <a:gd name="adj" fmla="val 17647"/>
            </a:avLst>
          </a:prstGeom>
          <a:solidFill>
            <a:srgbClr val="1558A8"/>
          </a:solidFill>
          <a:ln w="12700">
            <a:solidFill>
              <a:srgbClr val="1558A8"/>
            </a:solidFill>
            <a:prstDash val="solid"/>
          </a:ln>
        </p:spPr>
      </p:sp>
      <p:sp>
        <p:nvSpPr>
          <p:cNvPr id="27" name="Text 25"/>
          <p:cNvSpPr/>
          <p:nvPr/>
        </p:nvSpPr>
        <p:spPr>
          <a:xfrm>
            <a:off x="1170432"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28" name="Shape 26"/>
          <p:cNvSpPr/>
          <p:nvPr/>
        </p:nvSpPr>
        <p:spPr>
          <a:xfrm>
            <a:off x="2185416" y="1069848"/>
            <a:ext cx="932688" cy="182880"/>
          </a:xfrm>
          <a:prstGeom prst="roundRect">
            <a:avLst>
              <a:gd name="adj" fmla="val 15000"/>
            </a:avLst>
          </a:prstGeom>
          <a:solidFill>
            <a:srgbClr val="FFFFFF"/>
          </a:solidFill>
          <a:ln w="9525">
            <a:solidFill>
              <a:srgbClr val="CBD5E1"/>
            </a:solidFill>
            <a:prstDash val="solid"/>
          </a:ln>
        </p:spPr>
      </p:sp>
      <p:sp>
        <p:nvSpPr>
          <p:cNvPr id="29" name="Text 27"/>
          <p:cNvSpPr/>
          <p:nvPr/>
        </p:nvSpPr>
        <p:spPr>
          <a:xfrm>
            <a:off x="2185416"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FairPlay DRM</a:t>
            </a:r>
            <a:endParaRPr lang="en-US" sz="750" dirty="0"/>
          </a:p>
        </p:txBody>
      </p:sp>
      <p:sp>
        <p:nvSpPr>
          <p:cNvPr id="30" name="Shape 28"/>
          <p:cNvSpPr/>
          <p:nvPr/>
        </p:nvSpPr>
        <p:spPr>
          <a:xfrm>
            <a:off x="2185416" y="1280160"/>
            <a:ext cx="932688" cy="155448"/>
          </a:xfrm>
          <a:prstGeom prst="roundRect">
            <a:avLst>
              <a:gd name="adj" fmla="val 17647"/>
            </a:avLst>
          </a:prstGeom>
          <a:solidFill>
            <a:srgbClr val="1558A8"/>
          </a:solidFill>
          <a:ln w="12700">
            <a:solidFill>
              <a:srgbClr val="1558A8"/>
            </a:solidFill>
            <a:prstDash val="solid"/>
          </a:ln>
        </p:spPr>
      </p:sp>
      <p:sp>
        <p:nvSpPr>
          <p:cNvPr id="31" name="Text 29"/>
          <p:cNvSpPr/>
          <p:nvPr/>
        </p:nvSpPr>
        <p:spPr>
          <a:xfrm>
            <a:off x="2185416"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32" name="Shape 30"/>
          <p:cNvSpPr/>
          <p:nvPr/>
        </p:nvSpPr>
        <p:spPr>
          <a:xfrm>
            <a:off x="3200400" y="1069848"/>
            <a:ext cx="932688" cy="182880"/>
          </a:xfrm>
          <a:prstGeom prst="roundRect">
            <a:avLst>
              <a:gd name="adj" fmla="val 15000"/>
            </a:avLst>
          </a:prstGeom>
          <a:solidFill>
            <a:srgbClr val="FFFFFF"/>
          </a:solidFill>
          <a:ln w="9525">
            <a:solidFill>
              <a:srgbClr val="CBD5E1"/>
            </a:solidFill>
            <a:prstDash val="solid"/>
          </a:ln>
        </p:spPr>
      </p:sp>
      <p:sp>
        <p:nvSpPr>
          <p:cNvPr id="33" name="Text 31"/>
          <p:cNvSpPr/>
          <p:nvPr/>
        </p:nvSpPr>
        <p:spPr>
          <a:xfrm>
            <a:off x="3200400"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VOD Streams</a:t>
            </a:r>
            <a:endParaRPr lang="en-US" sz="750" dirty="0"/>
          </a:p>
        </p:txBody>
      </p:sp>
      <p:sp>
        <p:nvSpPr>
          <p:cNvPr id="34" name="Shape 32"/>
          <p:cNvSpPr/>
          <p:nvPr/>
        </p:nvSpPr>
        <p:spPr>
          <a:xfrm>
            <a:off x="3200400" y="1280160"/>
            <a:ext cx="932688" cy="155448"/>
          </a:xfrm>
          <a:prstGeom prst="roundRect">
            <a:avLst>
              <a:gd name="adj" fmla="val 17647"/>
            </a:avLst>
          </a:prstGeom>
          <a:solidFill>
            <a:srgbClr val="1558A8"/>
          </a:solidFill>
          <a:ln w="12700">
            <a:solidFill>
              <a:srgbClr val="1558A8"/>
            </a:solidFill>
            <a:prstDash val="solid"/>
          </a:ln>
        </p:spPr>
      </p:sp>
      <p:sp>
        <p:nvSpPr>
          <p:cNvPr id="35" name="Text 33"/>
          <p:cNvSpPr/>
          <p:nvPr/>
        </p:nvSpPr>
        <p:spPr>
          <a:xfrm>
            <a:off x="3200400"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36" name="Shape 34"/>
          <p:cNvSpPr/>
          <p:nvPr/>
        </p:nvSpPr>
        <p:spPr>
          <a:xfrm>
            <a:off x="4215384" y="1069848"/>
            <a:ext cx="932688" cy="182880"/>
          </a:xfrm>
          <a:prstGeom prst="roundRect">
            <a:avLst>
              <a:gd name="adj" fmla="val 15000"/>
            </a:avLst>
          </a:prstGeom>
          <a:solidFill>
            <a:srgbClr val="FFFFFF"/>
          </a:solidFill>
          <a:ln w="9525">
            <a:solidFill>
              <a:srgbClr val="CBD5E1"/>
            </a:solidFill>
            <a:prstDash val="solid"/>
          </a:ln>
        </p:spPr>
      </p:sp>
      <p:sp>
        <p:nvSpPr>
          <p:cNvPr id="37" name="Text 35"/>
          <p:cNvSpPr/>
          <p:nvPr/>
        </p:nvSpPr>
        <p:spPr>
          <a:xfrm>
            <a:off x="4215384"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Linear</a:t>
            </a:r>
            <a:endParaRPr lang="en-US" sz="750" dirty="0"/>
          </a:p>
        </p:txBody>
      </p:sp>
      <p:sp>
        <p:nvSpPr>
          <p:cNvPr id="38" name="Shape 36"/>
          <p:cNvSpPr/>
          <p:nvPr/>
        </p:nvSpPr>
        <p:spPr>
          <a:xfrm>
            <a:off x="4215384" y="1280160"/>
            <a:ext cx="932688" cy="155448"/>
          </a:xfrm>
          <a:prstGeom prst="roundRect">
            <a:avLst>
              <a:gd name="adj" fmla="val 17647"/>
            </a:avLst>
          </a:prstGeom>
          <a:solidFill>
            <a:srgbClr val="1558A8"/>
          </a:solidFill>
          <a:ln w="12700">
            <a:solidFill>
              <a:srgbClr val="1558A8"/>
            </a:solidFill>
            <a:prstDash val="solid"/>
          </a:ln>
        </p:spPr>
      </p:sp>
      <p:sp>
        <p:nvSpPr>
          <p:cNvPr id="39" name="Text 37"/>
          <p:cNvSpPr/>
          <p:nvPr/>
        </p:nvSpPr>
        <p:spPr>
          <a:xfrm>
            <a:off x="4215384"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40" name="Shape 38"/>
          <p:cNvSpPr/>
          <p:nvPr/>
        </p:nvSpPr>
        <p:spPr>
          <a:xfrm>
            <a:off x="164592" y="2336292"/>
            <a:ext cx="9116568" cy="1476756"/>
          </a:xfrm>
          <a:prstGeom prst="rect">
            <a:avLst/>
          </a:prstGeom>
          <a:solidFill>
            <a:srgbClr val="FFFFFF"/>
          </a:solidFill>
          <a:ln w="6350">
            <a:solidFill>
              <a:srgbClr val="E5E7EB"/>
            </a:solidFill>
            <a:prstDash val="solid"/>
          </a:ln>
        </p:spPr>
      </p:sp>
      <p:sp>
        <p:nvSpPr>
          <p:cNvPr id="41" name="Shape 39"/>
          <p:cNvSpPr/>
          <p:nvPr/>
        </p:nvSpPr>
        <p:spPr>
          <a:xfrm>
            <a:off x="182880" y="2409444"/>
            <a:ext cx="859536" cy="1330452"/>
          </a:xfrm>
          <a:prstGeom prst="roundRect">
            <a:avLst>
              <a:gd name="adj" fmla="val 5319"/>
            </a:avLst>
          </a:prstGeom>
          <a:solidFill>
            <a:srgbClr val="9CA3AF"/>
          </a:solidFill>
          <a:ln w="12700">
            <a:solidFill>
              <a:srgbClr val="9CA3AF"/>
            </a:solidFill>
            <a:prstDash val="solid"/>
          </a:ln>
        </p:spPr>
      </p:sp>
      <p:sp>
        <p:nvSpPr>
          <p:cNvPr id="42" name="Text 40"/>
          <p:cNvSpPr/>
          <p:nvPr/>
        </p:nvSpPr>
        <p:spPr>
          <a:xfrm>
            <a:off x="182880" y="240944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Player</a:t>
            </a:r>
            <a:endParaRPr lang="en-US" sz="800" dirty="0"/>
          </a:p>
        </p:txBody>
      </p:sp>
      <p:sp>
        <p:nvSpPr>
          <p:cNvPr id="43" name="Text 41"/>
          <p:cNvSpPr/>
          <p:nvPr/>
        </p:nvSpPr>
        <p:spPr>
          <a:xfrm>
            <a:off x="1170432" y="238201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2 / 2 In Progress</a:t>
            </a:r>
            <a:endParaRPr lang="en-US" sz="750" dirty="0"/>
          </a:p>
        </p:txBody>
      </p:sp>
      <p:sp>
        <p:nvSpPr>
          <p:cNvPr id="44" name="Shape 42"/>
          <p:cNvSpPr/>
          <p:nvPr/>
        </p:nvSpPr>
        <p:spPr>
          <a:xfrm>
            <a:off x="1170432" y="2601468"/>
            <a:ext cx="932688" cy="182880"/>
          </a:xfrm>
          <a:prstGeom prst="roundRect">
            <a:avLst>
              <a:gd name="adj" fmla="val 15000"/>
            </a:avLst>
          </a:prstGeom>
          <a:solidFill>
            <a:srgbClr val="FFFFFF"/>
          </a:solidFill>
          <a:ln w="9525">
            <a:solidFill>
              <a:srgbClr val="CBD5E1"/>
            </a:solidFill>
            <a:prstDash val="solid"/>
          </a:ln>
        </p:spPr>
      </p:sp>
      <p:sp>
        <p:nvSpPr>
          <p:cNvPr id="45" name="Text 43"/>
          <p:cNvSpPr/>
          <p:nvPr/>
        </p:nvSpPr>
        <p:spPr>
          <a:xfrm>
            <a:off x="1170432" y="26014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iOS Player</a:t>
            </a:r>
            <a:endParaRPr lang="en-US" sz="750" dirty="0"/>
          </a:p>
        </p:txBody>
      </p:sp>
      <p:sp>
        <p:nvSpPr>
          <p:cNvPr id="46" name="Shape 44"/>
          <p:cNvSpPr/>
          <p:nvPr/>
        </p:nvSpPr>
        <p:spPr>
          <a:xfrm>
            <a:off x="1170432" y="2811780"/>
            <a:ext cx="932688" cy="155448"/>
          </a:xfrm>
          <a:prstGeom prst="roundRect">
            <a:avLst>
              <a:gd name="adj" fmla="val 17647"/>
            </a:avLst>
          </a:prstGeom>
          <a:solidFill>
            <a:srgbClr val="1558A8"/>
          </a:solidFill>
          <a:ln w="12700">
            <a:solidFill>
              <a:srgbClr val="1558A8"/>
            </a:solidFill>
            <a:prstDash val="solid"/>
          </a:ln>
        </p:spPr>
      </p:sp>
      <p:sp>
        <p:nvSpPr>
          <p:cNvPr id="47" name="Text 45"/>
          <p:cNvSpPr/>
          <p:nvPr/>
        </p:nvSpPr>
        <p:spPr>
          <a:xfrm>
            <a:off x="1170432" y="28117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48" name="Shape 46"/>
          <p:cNvSpPr/>
          <p:nvPr/>
        </p:nvSpPr>
        <p:spPr>
          <a:xfrm>
            <a:off x="2185416" y="2601468"/>
            <a:ext cx="932688" cy="182880"/>
          </a:xfrm>
          <a:prstGeom prst="roundRect">
            <a:avLst>
              <a:gd name="adj" fmla="val 15000"/>
            </a:avLst>
          </a:prstGeom>
          <a:solidFill>
            <a:srgbClr val="FFFFFF"/>
          </a:solidFill>
          <a:ln w="9525">
            <a:solidFill>
              <a:srgbClr val="CBD5E1"/>
            </a:solidFill>
            <a:prstDash val="solid"/>
          </a:ln>
        </p:spPr>
      </p:sp>
      <p:sp>
        <p:nvSpPr>
          <p:cNvPr id="49" name="Text 47"/>
          <p:cNvSpPr/>
          <p:nvPr/>
        </p:nvSpPr>
        <p:spPr>
          <a:xfrm>
            <a:off x="2185416" y="26014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HLS/DASH PB</a:t>
            </a:r>
            <a:endParaRPr lang="en-US" sz="750" dirty="0"/>
          </a:p>
        </p:txBody>
      </p:sp>
      <p:sp>
        <p:nvSpPr>
          <p:cNvPr id="50" name="Shape 48"/>
          <p:cNvSpPr/>
          <p:nvPr/>
        </p:nvSpPr>
        <p:spPr>
          <a:xfrm>
            <a:off x="2185416" y="2811780"/>
            <a:ext cx="932688" cy="155448"/>
          </a:xfrm>
          <a:prstGeom prst="roundRect">
            <a:avLst>
              <a:gd name="adj" fmla="val 17647"/>
            </a:avLst>
          </a:prstGeom>
          <a:solidFill>
            <a:srgbClr val="1558A8"/>
          </a:solidFill>
          <a:ln w="12700">
            <a:solidFill>
              <a:srgbClr val="1558A8"/>
            </a:solidFill>
            <a:prstDash val="solid"/>
          </a:ln>
        </p:spPr>
      </p:sp>
      <p:sp>
        <p:nvSpPr>
          <p:cNvPr id="51" name="Text 49"/>
          <p:cNvSpPr/>
          <p:nvPr/>
        </p:nvSpPr>
        <p:spPr>
          <a:xfrm>
            <a:off x="2185416" y="28117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52" name="Shape 50"/>
          <p:cNvSpPr/>
          <p:nvPr/>
        </p:nvSpPr>
        <p:spPr>
          <a:xfrm>
            <a:off x="164592" y="3867912"/>
            <a:ext cx="9116568" cy="1476756"/>
          </a:xfrm>
          <a:prstGeom prst="rect">
            <a:avLst/>
          </a:prstGeom>
          <a:solidFill>
            <a:srgbClr val="FAFBFC"/>
          </a:solidFill>
          <a:ln w="6350">
            <a:solidFill>
              <a:srgbClr val="E5E7EB"/>
            </a:solidFill>
            <a:prstDash val="solid"/>
          </a:ln>
        </p:spPr>
      </p:sp>
      <p:sp>
        <p:nvSpPr>
          <p:cNvPr id="53" name="Shape 51"/>
          <p:cNvSpPr/>
          <p:nvPr/>
        </p:nvSpPr>
        <p:spPr>
          <a:xfrm>
            <a:off x="182880" y="3941064"/>
            <a:ext cx="859536" cy="1330452"/>
          </a:xfrm>
          <a:prstGeom prst="roundRect">
            <a:avLst>
              <a:gd name="adj" fmla="val 5319"/>
            </a:avLst>
          </a:prstGeom>
          <a:solidFill>
            <a:srgbClr val="9CA3AF"/>
          </a:solidFill>
          <a:ln w="12700">
            <a:solidFill>
              <a:srgbClr val="9CA3AF"/>
            </a:solidFill>
            <a:prstDash val="solid"/>
          </a:ln>
        </p:spPr>
      </p:sp>
      <p:sp>
        <p:nvSpPr>
          <p:cNvPr id="54" name="Text 52"/>
          <p:cNvSpPr/>
          <p:nvPr/>
        </p:nvSpPr>
        <p:spPr>
          <a:xfrm>
            <a:off x="182880" y="394106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Merchandising</a:t>
            </a:r>
            <a:endParaRPr lang="en-US" sz="800" dirty="0"/>
          </a:p>
        </p:txBody>
      </p:sp>
      <p:sp>
        <p:nvSpPr>
          <p:cNvPr id="55" name="Text 53"/>
          <p:cNvSpPr/>
          <p:nvPr/>
        </p:nvSpPr>
        <p:spPr>
          <a:xfrm>
            <a:off x="1170432" y="391363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6 / 9 In Progress · 2 Done</a:t>
            </a:r>
            <a:endParaRPr lang="en-US" sz="750" dirty="0"/>
          </a:p>
        </p:txBody>
      </p:sp>
      <p:sp>
        <p:nvSpPr>
          <p:cNvPr id="56" name="Shape 54"/>
          <p:cNvSpPr/>
          <p:nvPr/>
        </p:nvSpPr>
        <p:spPr>
          <a:xfrm>
            <a:off x="1170432" y="4133088"/>
            <a:ext cx="932688" cy="182880"/>
          </a:xfrm>
          <a:prstGeom prst="roundRect">
            <a:avLst>
              <a:gd name="adj" fmla="val 15000"/>
            </a:avLst>
          </a:prstGeom>
          <a:solidFill>
            <a:srgbClr val="FFFFFF"/>
          </a:solidFill>
          <a:ln w="9525">
            <a:solidFill>
              <a:srgbClr val="CBD5E1"/>
            </a:solidFill>
            <a:prstDash val="solid"/>
          </a:ln>
        </p:spPr>
      </p:sp>
      <p:sp>
        <p:nvSpPr>
          <p:cNvPr id="57" name="Text 55"/>
          <p:cNvSpPr/>
          <p:nvPr/>
        </p:nvSpPr>
        <p:spPr>
          <a:xfrm>
            <a:off x="1170432"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Metadata</a:t>
            </a:r>
            <a:endParaRPr lang="en-US" sz="750" dirty="0"/>
          </a:p>
        </p:txBody>
      </p:sp>
      <p:sp>
        <p:nvSpPr>
          <p:cNvPr id="58" name="Shape 56"/>
          <p:cNvSpPr/>
          <p:nvPr/>
        </p:nvSpPr>
        <p:spPr>
          <a:xfrm>
            <a:off x="1170432" y="4343400"/>
            <a:ext cx="932688" cy="155448"/>
          </a:xfrm>
          <a:prstGeom prst="roundRect">
            <a:avLst>
              <a:gd name="adj" fmla="val 17647"/>
            </a:avLst>
          </a:prstGeom>
          <a:solidFill>
            <a:srgbClr val="1558A8"/>
          </a:solidFill>
          <a:ln w="12700">
            <a:solidFill>
              <a:srgbClr val="1558A8"/>
            </a:solidFill>
            <a:prstDash val="solid"/>
          </a:ln>
        </p:spPr>
      </p:sp>
      <p:sp>
        <p:nvSpPr>
          <p:cNvPr id="59" name="Text 57"/>
          <p:cNvSpPr/>
          <p:nvPr/>
        </p:nvSpPr>
        <p:spPr>
          <a:xfrm>
            <a:off x="1170432"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0" name="Shape 58"/>
          <p:cNvSpPr/>
          <p:nvPr/>
        </p:nvSpPr>
        <p:spPr>
          <a:xfrm>
            <a:off x="2185416" y="4133088"/>
            <a:ext cx="932688" cy="182880"/>
          </a:xfrm>
          <a:prstGeom prst="roundRect">
            <a:avLst>
              <a:gd name="adj" fmla="val 15000"/>
            </a:avLst>
          </a:prstGeom>
          <a:solidFill>
            <a:srgbClr val="FFFFFF"/>
          </a:solidFill>
          <a:ln w="9525">
            <a:solidFill>
              <a:srgbClr val="CBD5E1"/>
            </a:solidFill>
            <a:prstDash val="solid"/>
          </a:ln>
        </p:spPr>
      </p:sp>
      <p:sp>
        <p:nvSpPr>
          <p:cNvPr id="61" name="Text 59"/>
          <p:cNvSpPr/>
          <p:nvPr/>
        </p:nvSpPr>
        <p:spPr>
          <a:xfrm>
            <a:off x="2185416"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Images</a:t>
            </a:r>
            <a:endParaRPr lang="en-US" sz="750" dirty="0"/>
          </a:p>
        </p:txBody>
      </p:sp>
      <p:sp>
        <p:nvSpPr>
          <p:cNvPr id="62" name="Shape 60"/>
          <p:cNvSpPr/>
          <p:nvPr/>
        </p:nvSpPr>
        <p:spPr>
          <a:xfrm>
            <a:off x="2185416" y="4343400"/>
            <a:ext cx="932688" cy="155448"/>
          </a:xfrm>
          <a:prstGeom prst="roundRect">
            <a:avLst>
              <a:gd name="adj" fmla="val 17647"/>
            </a:avLst>
          </a:prstGeom>
          <a:solidFill>
            <a:srgbClr val="1558A8"/>
          </a:solidFill>
          <a:ln w="12700">
            <a:solidFill>
              <a:srgbClr val="1558A8"/>
            </a:solidFill>
            <a:prstDash val="solid"/>
          </a:ln>
        </p:spPr>
      </p:sp>
      <p:sp>
        <p:nvSpPr>
          <p:cNvPr id="63" name="Text 61"/>
          <p:cNvSpPr/>
          <p:nvPr/>
        </p:nvSpPr>
        <p:spPr>
          <a:xfrm>
            <a:off x="2185416"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4" name="Shape 62"/>
          <p:cNvSpPr/>
          <p:nvPr/>
        </p:nvSpPr>
        <p:spPr>
          <a:xfrm>
            <a:off x="3200400" y="4133088"/>
            <a:ext cx="932688" cy="182880"/>
          </a:xfrm>
          <a:prstGeom prst="roundRect">
            <a:avLst>
              <a:gd name="adj" fmla="val 15000"/>
            </a:avLst>
          </a:prstGeom>
          <a:solidFill>
            <a:srgbClr val="FFFFFF"/>
          </a:solidFill>
          <a:ln w="9525">
            <a:solidFill>
              <a:srgbClr val="CBD5E1"/>
            </a:solidFill>
            <a:prstDash val="solid"/>
          </a:ln>
        </p:spPr>
      </p:sp>
      <p:sp>
        <p:nvSpPr>
          <p:cNvPr id="65" name="Text 63"/>
          <p:cNvSpPr/>
          <p:nvPr/>
        </p:nvSpPr>
        <p:spPr>
          <a:xfrm>
            <a:off x="3200400"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Carousels</a:t>
            </a:r>
            <a:endParaRPr lang="en-US" sz="750" dirty="0"/>
          </a:p>
        </p:txBody>
      </p:sp>
      <p:sp>
        <p:nvSpPr>
          <p:cNvPr id="66" name="Shape 64"/>
          <p:cNvSpPr/>
          <p:nvPr/>
        </p:nvSpPr>
        <p:spPr>
          <a:xfrm>
            <a:off x="3200400" y="4343400"/>
            <a:ext cx="932688" cy="155448"/>
          </a:xfrm>
          <a:prstGeom prst="roundRect">
            <a:avLst>
              <a:gd name="adj" fmla="val 17647"/>
            </a:avLst>
          </a:prstGeom>
          <a:solidFill>
            <a:srgbClr val="1558A8"/>
          </a:solidFill>
          <a:ln w="12700">
            <a:solidFill>
              <a:srgbClr val="1558A8"/>
            </a:solidFill>
            <a:prstDash val="solid"/>
          </a:ln>
        </p:spPr>
      </p:sp>
      <p:sp>
        <p:nvSpPr>
          <p:cNvPr id="67" name="Text 65"/>
          <p:cNvSpPr/>
          <p:nvPr/>
        </p:nvSpPr>
        <p:spPr>
          <a:xfrm>
            <a:off x="3200400"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8" name="Shape 66"/>
          <p:cNvSpPr/>
          <p:nvPr/>
        </p:nvSpPr>
        <p:spPr>
          <a:xfrm>
            <a:off x="4215384" y="4133088"/>
            <a:ext cx="932688" cy="182880"/>
          </a:xfrm>
          <a:prstGeom prst="roundRect">
            <a:avLst>
              <a:gd name="adj" fmla="val 15000"/>
            </a:avLst>
          </a:prstGeom>
          <a:solidFill>
            <a:srgbClr val="FFFFFF"/>
          </a:solidFill>
          <a:ln w="9525">
            <a:solidFill>
              <a:srgbClr val="CBD5E1"/>
            </a:solidFill>
            <a:prstDash val="solid"/>
          </a:ln>
        </p:spPr>
      </p:sp>
      <p:sp>
        <p:nvSpPr>
          <p:cNvPr id="69" name="Text 67"/>
          <p:cNvSpPr/>
          <p:nvPr/>
        </p:nvSpPr>
        <p:spPr>
          <a:xfrm>
            <a:off x="4215384"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Live Events</a:t>
            </a:r>
            <a:endParaRPr lang="en-US" sz="750" dirty="0"/>
          </a:p>
        </p:txBody>
      </p:sp>
      <p:sp>
        <p:nvSpPr>
          <p:cNvPr id="70" name="Shape 68"/>
          <p:cNvSpPr/>
          <p:nvPr/>
        </p:nvSpPr>
        <p:spPr>
          <a:xfrm>
            <a:off x="4215384" y="4343400"/>
            <a:ext cx="932688" cy="155448"/>
          </a:xfrm>
          <a:prstGeom prst="roundRect">
            <a:avLst>
              <a:gd name="adj" fmla="val 17647"/>
            </a:avLst>
          </a:prstGeom>
          <a:solidFill>
            <a:srgbClr val="1558A8"/>
          </a:solidFill>
          <a:ln w="12700">
            <a:solidFill>
              <a:srgbClr val="1558A8"/>
            </a:solidFill>
            <a:prstDash val="solid"/>
          </a:ln>
        </p:spPr>
      </p:sp>
      <p:sp>
        <p:nvSpPr>
          <p:cNvPr id="71" name="Text 69"/>
          <p:cNvSpPr/>
          <p:nvPr/>
        </p:nvSpPr>
        <p:spPr>
          <a:xfrm>
            <a:off x="4215384"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72" name="Shape 70"/>
          <p:cNvSpPr/>
          <p:nvPr/>
        </p:nvSpPr>
        <p:spPr>
          <a:xfrm>
            <a:off x="5230368" y="4133088"/>
            <a:ext cx="932688" cy="182880"/>
          </a:xfrm>
          <a:prstGeom prst="roundRect">
            <a:avLst>
              <a:gd name="adj" fmla="val 15000"/>
            </a:avLst>
          </a:prstGeom>
          <a:solidFill>
            <a:srgbClr val="FFFFFF"/>
          </a:solidFill>
          <a:ln w="9525">
            <a:solidFill>
              <a:srgbClr val="CBD5E1"/>
            </a:solidFill>
            <a:prstDash val="solid"/>
          </a:ln>
        </p:spPr>
      </p:sp>
      <p:sp>
        <p:nvSpPr>
          <p:cNvPr id="73" name="Text 71"/>
          <p:cNvSpPr/>
          <p:nvPr/>
        </p:nvSpPr>
        <p:spPr>
          <a:xfrm>
            <a:off x="5230368"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Back Catalog</a:t>
            </a:r>
            <a:endParaRPr lang="en-US" sz="750" dirty="0"/>
          </a:p>
        </p:txBody>
      </p:sp>
      <p:sp>
        <p:nvSpPr>
          <p:cNvPr id="74" name="Shape 72"/>
          <p:cNvSpPr/>
          <p:nvPr/>
        </p:nvSpPr>
        <p:spPr>
          <a:xfrm>
            <a:off x="5230368" y="4343400"/>
            <a:ext cx="932688" cy="155448"/>
          </a:xfrm>
          <a:prstGeom prst="roundRect">
            <a:avLst>
              <a:gd name="adj" fmla="val 17647"/>
            </a:avLst>
          </a:prstGeom>
          <a:solidFill>
            <a:srgbClr val="F3F4F6"/>
          </a:solidFill>
          <a:ln w="9525">
            <a:solidFill>
              <a:srgbClr val="D1D5DB"/>
            </a:solidFill>
            <a:prstDash val="solid"/>
          </a:ln>
        </p:spPr>
      </p:sp>
      <p:sp>
        <p:nvSpPr>
          <p:cNvPr id="75" name="Text 73"/>
          <p:cNvSpPr/>
          <p:nvPr/>
        </p:nvSpPr>
        <p:spPr>
          <a:xfrm>
            <a:off x="5230368" y="434340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76" name="Shape 74"/>
          <p:cNvSpPr/>
          <p:nvPr/>
        </p:nvSpPr>
        <p:spPr>
          <a:xfrm>
            <a:off x="6245352" y="4133088"/>
            <a:ext cx="932688" cy="182880"/>
          </a:xfrm>
          <a:prstGeom prst="roundRect">
            <a:avLst>
              <a:gd name="adj" fmla="val 15000"/>
            </a:avLst>
          </a:prstGeom>
          <a:solidFill>
            <a:srgbClr val="FFFFFF"/>
          </a:solidFill>
          <a:ln w="9525">
            <a:solidFill>
              <a:srgbClr val="CBD5E1"/>
            </a:solidFill>
            <a:prstDash val="solid"/>
          </a:ln>
        </p:spPr>
      </p:sp>
      <p:sp>
        <p:nvSpPr>
          <p:cNvPr id="77" name="Text 75"/>
          <p:cNvSpPr/>
          <p:nvPr/>
        </p:nvSpPr>
        <p:spPr>
          <a:xfrm>
            <a:off x="6245352"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Full Replays</a:t>
            </a:r>
            <a:endParaRPr lang="en-US" sz="750" dirty="0"/>
          </a:p>
        </p:txBody>
      </p:sp>
      <p:sp>
        <p:nvSpPr>
          <p:cNvPr id="78" name="Shape 76"/>
          <p:cNvSpPr/>
          <p:nvPr/>
        </p:nvSpPr>
        <p:spPr>
          <a:xfrm>
            <a:off x="6245352" y="4343400"/>
            <a:ext cx="932688" cy="155448"/>
          </a:xfrm>
          <a:prstGeom prst="roundRect">
            <a:avLst>
              <a:gd name="adj" fmla="val 17647"/>
            </a:avLst>
          </a:prstGeom>
          <a:solidFill>
            <a:srgbClr val="1558A8"/>
          </a:solidFill>
          <a:ln w="12700">
            <a:solidFill>
              <a:srgbClr val="1558A8"/>
            </a:solidFill>
            <a:prstDash val="solid"/>
          </a:ln>
        </p:spPr>
      </p:sp>
      <p:sp>
        <p:nvSpPr>
          <p:cNvPr id="79" name="Text 77"/>
          <p:cNvSpPr/>
          <p:nvPr/>
        </p:nvSpPr>
        <p:spPr>
          <a:xfrm>
            <a:off x="6245352"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80" name="Shape 78"/>
          <p:cNvSpPr/>
          <p:nvPr/>
        </p:nvSpPr>
        <p:spPr>
          <a:xfrm>
            <a:off x="7260336" y="4133088"/>
            <a:ext cx="932688" cy="182880"/>
          </a:xfrm>
          <a:prstGeom prst="roundRect">
            <a:avLst>
              <a:gd name="adj" fmla="val 15000"/>
            </a:avLst>
          </a:prstGeom>
          <a:solidFill>
            <a:srgbClr val="FFFFFF"/>
          </a:solidFill>
          <a:ln w="9525">
            <a:solidFill>
              <a:srgbClr val="CBD5E1"/>
            </a:solidFill>
            <a:prstDash val="solid"/>
          </a:ln>
        </p:spPr>
      </p:sp>
      <p:sp>
        <p:nvSpPr>
          <p:cNvPr id="81" name="Text 79"/>
          <p:cNvSpPr/>
          <p:nvPr/>
        </p:nvSpPr>
        <p:spPr>
          <a:xfrm>
            <a:off x="7260336"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M15</a:t>
            </a:r>
            <a:endParaRPr lang="en-US" sz="750" dirty="0"/>
          </a:p>
        </p:txBody>
      </p:sp>
      <p:sp>
        <p:nvSpPr>
          <p:cNvPr id="82" name="Shape 80"/>
          <p:cNvSpPr/>
          <p:nvPr/>
        </p:nvSpPr>
        <p:spPr>
          <a:xfrm>
            <a:off x="7260336" y="4343400"/>
            <a:ext cx="932688" cy="155448"/>
          </a:xfrm>
          <a:prstGeom prst="roundRect">
            <a:avLst>
              <a:gd name="adj" fmla="val 17647"/>
            </a:avLst>
          </a:prstGeom>
          <a:solidFill>
            <a:srgbClr val="DCFCE7"/>
          </a:solidFill>
          <a:ln w="12700">
            <a:solidFill>
              <a:srgbClr val="15803D"/>
            </a:solidFill>
            <a:prstDash val="solid"/>
          </a:ln>
        </p:spPr>
      </p:sp>
      <p:sp>
        <p:nvSpPr>
          <p:cNvPr id="83" name="Text 81"/>
          <p:cNvSpPr/>
          <p:nvPr/>
        </p:nvSpPr>
        <p:spPr>
          <a:xfrm>
            <a:off x="7260336" y="4343400"/>
            <a:ext cx="932688" cy="155448"/>
          </a:xfrm>
          <a:prstGeom prst="rect">
            <a:avLst/>
          </a:prstGeom>
          <a:noFill/>
          <a:ln/>
        </p:spPr>
        <p:txBody>
          <a:bodyPr wrap="square" lIns="0" tIns="0" rIns="0" bIns="0" rtlCol="0" anchor="ctr"/>
          <a:lstStyle/>
          <a:p>
            <a:pPr algn="ctr" indent="0" marL="0">
              <a:buNone/>
            </a:pPr>
            <a:r>
              <a:rPr lang="en-US" sz="700" dirty="0">
                <a:solidFill>
                  <a:srgbClr val="14532D"/>
                </a:solidFill>
              </a:rPr>
              <a:t>Done</a:t>
            </a:r>
            <a:endParaRPr lang="en-US" sz="700" dirty="0"/>
          </a:p>
        </p:txBody>
      </p:sp>
      <p:sp>
        <p:nvSpPr>
          <p:cNvPr id="84" name="Shape 82"/>
          <p:cNvSpPr/>
          <p:nvPr/>
        </p:nvSpPr>
        <p:spPr>
          <a:xfrm>
            <a:off x="8275320" y="4133088"/>
            <a:ext cx="932688" cy="182880"/>
          </a:xfrm>
          <a:prstGeom prst="roundRect">
            <a:avLst>
              <a:gd name="adj" fmla="val 15000"/>
            </a:avLst>
          </a:prstGeom>
          <a:solidFill>
            <a:srgbClr val="FFFFFF"/>
          </a:solidFill>
          <a:ln w="9525">
            <a:solidFill>
              <a:srgbClr val="CBD5E1"/>
            </a:solidFill>
            <a:prstDash val="solid"/>
          </a:ln>
        </p:spPr>
      </p:sp>
      <p:sp>
        <p:nvSpPr>
          <p:cNvPr id="85" name="Text 83"/>
          <p:cNvSpPr/>
          <p:nvPr/>
        </p:nvSpPr>
        <p:spPr>
          <a:xfrm>
            <a:off x="8275320"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Highlights</a:t>
            </a:r>
            <a:endParaRPr lang="en-US" sz="750" dirty="0"/>
          </a:p>
        </p:txBody>
      </p:sp>
      <p:sp>
        <p:nvSpPr>
          <p:cNvPr id="86" name="Shape 84"/>
          <p:cNvSpPr/>
          <p:nvPr/>
        </p:nvSpPr>
        <p:spPr>
          <a:xfrm>
            <a:off x="8275320" y="4343400"/>
            <a:ext cx="932688" cy="155448"/>
          </a:xfrm>
          <a:prstGeom prst="roundRect">
            <a:avLst>
              <a:gd name="adj" fmla="val 17647"/>
            </a:avLst>
          </a:prstGeom>
          <a:solidFill>
            <a:srgbClr val="DCFCE7"/>
          </a:solidFill>
          <a:ln w="12700">
            <a:solidFill>
              <a:srgbClr val="15803D"/>
            </a:solidFill>
            <a:prstDash val="solid"/>
          </a:ln>
        </p:spPr>
      </p:sp>
      <p:sp>
        <p:nvSpPr>
          <p:cNvPr id="87" name="Text 85"/>
          <p:cNvSpPr/>
          <p:nvPr/>
        </p:nvSpPr>
        <p:spPr>
          <a:xfrm>
            <a:off x="8275320" y="4343400"/>
            <a:ext cx="932688" cy="155448"/>
          </a:xfrm>
          <a:prstGeom prst="rect">
            <a:avLst/>
          </a:prstGeom>
          <a:noFill/>
          <a:ln/>
        </p:spPr>
        <p:txBody>
          <a:bodyPr wrap="square" lIns="0" tIns="0" rIns="0" bIns="0" rtlCol="0" anchor="ctr"/>
          <a:lstStyle/>
          <a:p>
            <a:pPr algn="ctr" indent="0" marL="0">
              <a:buNone/>
            </a:pPr>
            <a:r>
              <a:rPr lang="en-US" sz="700" dirty="0">
                <a:solidFill>
                  <a:srgbClr val="14532D"/>
                </a:solidFill>
              </a:rPr>
              <a:t>Done</a:t>
            </a:r>
            <a:endParaRPr lang="en-US" sz="700" dirty="0"/>
          </a:p>
        </p:txBody>
      </p:sp>
      <p:sp>
        <p:nvSpPr>
          <p:cNvPr id="88" name="Shape 86"/>
          <p:cNvSpPr/>
          <p:nvPr/>
        </p:nvSpPr>
        <p:spPr>
          <a:xfrm>
            <a:off x="1170432" y="4590288"/>
            <a:ext cx="932688" cy="182880"/>
          </a:xfrm>
          <a:prstGeom prst="roundRect">
            <a:avLst>
              <a:gd name="adj" fmla="val 15000"/>
            </a:avLst>
          </a:prstGeom>
          <a:solidFill>
            <a:srgbClr val="FFFFFF"/>
          </a:solidFill>
          <a:ln w="9525">
            <a:solidFill>
              <a:srgbClr val="CBD5E1"/>
            </a:solidFill>
            <a:prstDash val="solid"/>
          </a:ln>
        </p:spPr>
      </p:sp>
      <p:sp>
        <p:nvSpPr>
          <p:cNvPr id="89" name="Text 87"/>
          <p:cNvSpPr/>
          <p:nvPr/>
        </p:nvSpPr>
        <p:spPr>
          <a:xfrm>
            <a:off x="1170432" y="45902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Linear</a:t>
            </a:r>
            <a:endParaRPr lang="en-US" sz="750" dirty="0"/>
          </a:p>
        </p:txBody>
      </p:sp>
      <p:sp>
        <p:nvSpPr>
          <p:cNvPr id="90" name="Shape 88"/>
          <p:cNvSpPr/>
          <p:nvPr/>
        </p:nvSpPr>
        <p:spPr>
          <a:xfrm>
            <a:off x="1170432" y="4800600"/>
            <a:ext cx="932688" cy="155448"/>
          </a:xfrm>
          <a:prstGeom prst="roundRect">
            <a:avLst>
              <a:gd name="adj" fmla="val 17647"/>
            </a:avLst>
          </a:prstGeom>
          <a:solidFill>
            <a:srgbClr val="1558A8"/>
          </a:solidFill>
          <a:ln w="12700">
            <a:solidFill>
              <a:srgbClr val="1558A8"/>
            </a:solidFill>
            <a:prstDash val="solid"/>
          </a:ln>
        </p:spPr>
      </p:sp>
      <p:sp>
        <p:nvSpPr>
          <p:cNvPr id="91" name="Text 89"/>
          <p:cNvSpPr/>
          <p:nvPr/>
        </p:nvSpPr>
        <p:spPr>
          <a:xfrm>
            <a:off x="1170432" y="48006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92" name="Shape 90"/>
          <p:cNvSpPr/>
          <p:nvPr/>
        </p:nvSpPr>
        <p:spPr>
          <a:xfrm>
            <a:off x="164592" y="5399532"/>
            <a:ext cx="9116568" cy="1476756"/>
          </a:xfrm>
          <a:prstGeom prst="rect">
            <a:avLst/>
          </a:prstGeom>
          <a:solidFill>
            <a:srgbClr val="FFFFFF"/>
          </a:solidFill>
          <a:ln w="6350">
            <a:solidFill>
              <a:srgbClr val="E5E7EB"/>
            </a:solidFill>
            <a:prstDash val="solid"/>
          </a:ln>
        </p:spPr>
      </p:sp>
      <p:sp>
        <p:nvSpPr>
          <p:cNvPr id="93" name="Shape 91"/>
          <p:cNvSpPr/>
          <p:nvPr/>
        </p:nvSpPr>
        <p:spPr>
          <a:xfrm>
            <a:off x="182880" y="5472684"/>
            <a:ext cx="859536" cy="1330452"/>
          </a:xfrm>
          <a:prstGeom prst="roundRect">
            <a:avLst>
              <a:gd name="adj" fmla="val 5319"/>
            </a:avLst>
          </a:prstGeom>
          <a:solidFill>
            <a:srgbClr val="9CA3AF"/>
          </a:solidFill>
          <a:ln w="12700">
            <a:solidFill>
              <a:srgbClr val="9CA3AF"/>
            </a:solidFill>
            <a:prstDash val="solid"/>
          </a:ln>
        </p:spPr>
      </p:sp>
      <p:sp>
        <p:nvSpPr>
          <p:cNvPr id="94" name="Text 92"/>
          <p:cNvSpPr/>
          <p:nvPr/>
        </p:nvSpPr>
        <p:spPr>
          <a:xfrm>
            <a:off x="182880" y="547268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Onboarding</a:t>
            </a:r>
            <a:endParaRPr lang="en-US" sz="800" dirty="0"/>
          </a:p>
        </p:txBody>
      </p:sp>
      <p:sp>
        <p:nvSpPr>
          <p:cNvPr id="95" name="Text 93"/>
          <p:cNvSpPr/>
          <p:nvPr/>
        </p:nvSpPr>
        <p:spPr>
          <a:xfrm>
            <a:off x="1170432" y="544525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4 / 6 In Progress · 1 Done</a:t>
            </a:r>
            <a:endParaRPr lang="en-US" sz="750" dirty="0"/>
          </a:p>
        </p:txBody>
      </p:sp>
      <p:sp>
        <p:nvSpPr>
          <p:cNvPr id="96" name="Shape 94"/>
          <p:cNvSpPr/>
          <p:nvPr/>
        </p:nvSpPr>
        <p:spPr>
          <a:xfrm>
            <a:off x="1170432" y="5664708"/>
            <a:ext cx="932688" cy="182880"/>
          </a:xfrm>
          <a:prstGeom prst="roundRect">
            <a:avLst>
              <a:gd name="adj" fmla="val 15000"/>
            </a:avLst>
          </a:prstGeom>
          <a:solidFill>
            <a:srgbClr val="FFFFFF"/>
          </a:solidFill>
          <a:ln w="9525">
            <a:solidFill>
              <a:srgbClr val="CBD5E1"/>
            </a:solidFill>
            <a:prstDash val="solid"/>
          </a:ln>
        </p:spPr>
      </p:sp>
      <p:sp>
        <p:nvSpPr>
          <p:cNvPr id="97" name="Text 95"/>
          <p:cNvSpPr/>
          <p:nvPr/>
        </p:nvSpPr>
        <p:spPr>
          <a:xfrm>
            <a:off x="1170432"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Unentitled</a:t>
            </a:r>
            <a:endParaRPr lang="en-US" sz="750" dirty="0"/>
          </a:p>
        </p:txBody>
      </p:sp>
      <p:sp>
        <p:nvSpPr>
          <p:cNvPr id="98" name="Shape 96"/>
          <p:cNvSpPr/>
          <p:nvPr/>
        </p:nvSpPr>
        <p:spPr>
          <a:xfrm>
            <a:off x="1170432" y="5875020"/>
            <a:ext cx="932688" cy="155448"/>
          </a:xfrm>
          <a:prstGeom prst="roundRect">
            <a:avLst>
              <a:gd name="adj" fmla="val 17647"/>
            </a:avLst>
          </a:prstGeom>
          <a:solidFill>
            <a:srgbClr val="1558A8"/>
          </a:solidFill>
          <a:ln w="12700">
            <a:solidFill>
              <a:srgbClr val="1558A8"/>
            </a:solidFill>
            <a:prstDash val="solid"/>
          </a:ln>
        </p:spPr>
      </p:sp>
      <p:sp>
        <p:nvSpPr>
          <p:cNvPr id="99" name="Text 97"/>
          <p:cNvSpPr/>
          <p:nvPr/>
        </p:nvSpPr>
        <p:spPr>
          <a:xfrm>
            <a:off x="1170432"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00" name="Shape 98"/>
          <p:cNvSpPr/>
          <p:nvPr/>
        </p:nvSpPr>
        <p:spPr>
          <a:xfrm>
            <a:off x="2185416" y="5664708"/>
            <a:ext cx="932688" cy="182880"/>
          </a:xfrm>
          <a:prstGeom prst="roundRect">
            <a:avLst>
              <a:gd name="adj" fmla="val 15000"/>
            </a:avLst>
          </a:prstGeom>
          <a:solidFill>
            <a:srgbClr val="FFFFFF"/>
          </a:solidFill>
          <a:ln w="9525">
            <a:solidFill>
              <a:srgbClr val="CBD5E1"/>
            </a:solidFill>
            <a:prstDash val="solid"/>
          </a:ln>
        </p:spPr>
      </p:sp>
      <p:sp>
        <p:nvSpPr>
          <p:cNvPr id="101" name="Text 99"/>
          <p:cNvSpPr/>
          <p:nvPr/>
        </p:nvSpPr>
        <p:spPr>
          <a:xfrm>
            <a:off x="2185416"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Sign-in</a:t>
            </a:r>
            <a:endParaRPr lang="en-US" sz="750" dirty="0"/>
          </a:p>
        </p:txBody>
      </p:sp>
      <p:sp>
        <p:nvSpPr>
          <p:cNvPr id="102" name="Shape 100"/>
          <p:cNvSpPr/>
          <p:nvPr/>
        </p:nvSpPr>
        <p:spPr>
          <a:xfrm>
            <a:off x="2185416" y="5875020"/>
            <a:ext cx="932688" cy="155448"/>
          </a:xfrm>
          <a:prstGeom prst="roundRect">
            <a:avLst>
              <a:gd name="adj" fmla="val 17647"/>
            </a:avLst>
          </a:prstGeom>
          <a:solidFill>
            <a:srgbClr val="1558A8"/>
          </a:solidFill>
          <a:ln w="12700">
            <a:solidFill>
              <a:srgbClr val="1558A8"/>
            </a:solidFill>
            <a:prstDash val="solid"/>
          </a:ln>
        </p:spPr>
      </p:sp>
      <p:sp>
        <p:nvSpPr>
          <p:cNvPr id="103" name="Text 101"/>
          <p:cNvSpPr/>
          <p:nvPr/>
        </p:nvSpPr>
        <p:spPr>
          <a:xfrm>
            <a:off x="2185416"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04" name="Shape 102"/>
          <p:cNvSpPr/>
          <p:nvPr/>
        </p:nvSpPr>
        <p:spPr>
          <a:xfrm>
            <a:off x="3200400" y="5664708"/>
            <a:ext cx="932688" cy="182880"/>
          </a:xfrm>
          <a:prstGeom prst="roundRect">
            <a:avLst>
              <a:gd name="adj" fmla="val 15000"/>
            </a:avLst>
          </a:prstGeom>
          <a:solidFill>
            <a:srgbClr val="FFFFFF"/>
          </a:solidFill>
          <a:ln w="9525">
            <a:solidFill>
              <a:srgbClr val="CBD5E1"/>
            </a:solidFill>
            <a:prstDash val="solid"/>
          </a:ln>
        </p:spPr>
      </p:sp>
      <p:sp>
        <p:nvSpPr>
          <p:cNvPr id="105" name="Text 103"/>
          <p:cNvSpPr/>
          <p:nvPr/>
        </p:nvSpPr>
        <p:spPr>
          <a:xfrm>
            <a:off x="3200400"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Subscription</a:t>
            </a:r>
            <a:endParaRPr lang="en-US" sz="750" dirty="0"/>
          </a:p>
        </p:txBody>
      </p:sp>
      <p:sp>
        <p:nvSpPr>
          <p:cNvPr id="106" name="Shape 104"/>
          <p:cNvSpPr/>
          <p:nvPr/>
        </p:nvSpPr>
        <p:spPr>
          <a:xfrm>
            <a:off x="3200400" y="5875020"/>
            <a:ext cx="932688" cy="155448"/>
          </a:xfrm>
          <a:prstGeom prst="roundRect">
            <a:avLst>
              <a:gd name="adj" fmla="val 17647"/>
            </a:avLst>
          </a:prstGeom>
          <a:solidFill>
            <a:srgbClr val="1558A8"/>
          </a:solidFill>
          <a:ln w="12700">
            <a:solidFill>
              <a:srgbClr val="1558A8"/>
            </a:solidFill>
            <a:prstDash val="solid"/>
          </a:ln>
        </p:spPr>
      </p:sp>
      <p:sp>
        <p:nvSpPr>
          <p:cNvPr id="107" name="Text 105"/>
          <p:cNvSpPr/>
          <p:nvPr/>
        </p:nvSpPr>
        <p:spPr>
          <a:xfrm>
            <a:off x="3200400"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08" name="Shape 106"/>
          <p:cNvSpPr/>
          <p:nvPr/>
        </p:nvSpPr>
        <p:spPr>
          <a:xfrm>
            <a:off x="4215384" y="5664708"/>
            <a:ext cx="932688" cy="182880"/>
          </a:xfrm>
          <a:prstGeom prst="roundRect">
            <a:avLst>
              <a:gd name="adj" fmla="val 15000"/>
            </a:avLst>
          </a:prstGeom>
          <a:solidFill>
            <a:srgbClr val="FFFFFF"/>
          </a:solidFill>
          <a:ln w="9525">
            <a:solidFill>
              <a:srgbClr val="CBD5E1"/>
            </a:solidFill>
            <a:prstDash val="solid"/>
          </a:ln>
        </p:spPr>
      </p:sp>
      <p:sp>
        <p:nvSpPr>
          <p:cNvPr id="109" name="Text 107"/>
          <p:cNvSpPr/>
          <p:nvPr/>
        </p:nvSpPr>
        <p:spPr>
          <a:xfrm>
            <a:off x="4215384"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MVPD</a:t>
            </a:r>
            <a:endParaRPr lang="en-US" sz="750" dirty="0"/>
          </a:p>
        </p:txBody>
      </p:sp>
      <p:sp>
        <p:nvSpPr>
          <p:cNvPr id="110" name="Shape 108"/>
          <p:cNvSpPr/>
          <p:nvPr/>
        </p:nvSpPr>
        <p:spPr>
          <a:xfrm>
            <a:off x="4215384" y="5875020"/>
            <a:ext cx="932688" cy="155448"/>
          </a:xfrm>
          <a:prstGeom prst="roundRect">
            <a:avLst>
              <a:gd name="adj" fmla="val 17647"/>
            </a:avLst>
          </a:prstGeom>
          <a:solidFill>
            <a:srgbClr val="DCFCE7"/>
          </a:solidFill>
          <a:ln w="12700">
            <a:solidFill>
              <a:srgbClr val="15803D"/>
            </a:solidFill>
            <a:prstDash val="solid"/>
          </a:ln>
        </p:spPr>
      </p:sp>
      <p:sp>
        <p:nvSpPr>
          <p:cNvPr id="111" name="Text 109"/>
          <p:cNvSpPr/>
          <p:nvPr/>
        </p:nvSpPr>
        <p:spPr>
          <a:xfrm>
            <a:off x="4215384" y="5875020"/>
            <a:ext cx="932688" cy="155448"/>
          </a:xfrm>
          <a:prstGeom prst="rect">
            <a:avLst/>
          </a:prstGeom>
          <a:noFill/>
          <a:ln/>
        </p:spPr>
        <p:txBody>
          <a:bodyPr wrap="square" lIns="0" tIns="0" rIns="0" bIns="0" rtlCol="0" anchor="ctr"/>
          <a:lstStyle/>
          <a:p>
            <a:pPr algn="ctr" indent="0" marL="0">
              <a:buNone/>
            </a:pPr>
            <a:r>
              <a:rPr lang="en-US" sz="700" dirty="0">
                <a:solidFill>
                  <a:srgbClr val="14532D"/>
                </a:solidFill>
              </a:rPr>
              <a:t>Done</a:t>
            </a:r>
            <a:endParaRPr lang="en-US" sz="700" dirty="0"/>
          </a:p>
        </p:txBody>
      </p:sp>
      <p:sp>
        <p:nvSpPr>
          <p:cNvPr id="112" name="Shape 110"/>
          <p:cNvSpPr/>
          <p:nvPr/>
        </p:nvSpPr>
        <p:spPr>
          <a:xfrm>
            <a:off x="5230368" y="5664708"/>
            <a:ext cx="932688" cy="182880"/>
          </a:xfrm>
          <a:prstGeom prst="roundRect">
            <a:avLst>
              <a:gd name="adj" fmla="val 15000"/>
            </a:avLst>
          </a:prstGeom>
          <a:solidFill>
            <a:srgbClr val="FFFFFF"/>
          </a:solidFill>
          <a:ln w="9525">
            <a:solidFill>
              <a:srgbClr val="CBD5E1"/>
            </a:solidFill>
            <a:prstDash val="solid"/>
          </a:ln>
        </p:spPr>
      </p:sp>
      <p:sp>
        <p:nvSpPr>
          <p:cNvPr id="113" name="Text 111"/>
          <p:cNvSpPr/>
          <p:nvPr/>
        </p:nvSpPr>
        <p:spPr>
          <a:xfrm>
            <a:off x="5230368"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Cleeng</a:t>
            </a:r>
            <a:endParaRPr lang="en-US" sz="750" dirty="0"/>
          </a:p>
        </p:txBody>
      </p:sp>
      <p:sp>
        <p:nvSpPr>
          <p:cNvPr id="114" name="Shape 112"/>
          <p:cNvSpPr/>
          <p:nvPr/>
        </p:nvSpPr>
        <p:spPr>
          <a:xfrm>
            <a:off x="5230368" y="5875020"/>
            <a:ext cx="932688" cy="155448"/>
          </a:xfrm>
          <a:prstGeom prst="roundRect">
            <a:avLst>
              <a:gd name="adj" fmla="val 17647"/>
            </a:avLst>
          </a:prstGeom>
          <a:solidFill>
            <a:srgbClr val="1558A8"/>
          </a:solidFill>
          <a:ln w="12700">
            <a:solidFill>
              <a:srgbClr val="1558A8"/>
            </a:solidFill>
            <a:prstDash val="solid"/>
          </a:ln>
        </p:spPr>
      </p:sp>
      <p:sp>
        <p:nvSpPr>
          <p:cNvPr id="115" name="Text 113"/>
          <p:cNvSpPr/>
          <p:nvPr/>
        </p:nvSpPr>
        <p:spPr>
          <a:xfrm>
            <a:off x="5230368"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16" name="Shape 114"/>
          <p:cNvSpPr/>
          <p:nvPr/>
        </p:nvSpPr>
        <p:spPr>
          <a:xfrm>
            <a:off x="6245352" y="5664708"/>
            <a:ext cx="932688" cy="182880"/>
          </a:xfrm>
          <a:prstGeom prst="roundRect">
            <a:avLst>
              <a:gd name="adj" fmla="val 15000"/>
            </a:avLst>
          </a:prstGeom>
          <a:solidFill>
            <a:srgbClr val="FFFFFF"/>
          </a:solidFill>
          <a:ln w="9525">
            <a:solidFill>
              <a:srgbClr val="CBD5E1"/>
            </a:solidFill>
            <a:prstDash val="solid"/>
          </a:ln>
        </p:spPr>
      </p:sp>
      <p:sp>
        <p:nvSpPr>
          <p:cNvPr id="117" name="Text 115"/>
          <p:cNvSpPr/>
          <p:nvPr/>
        </p:nvSpPr>
        <p:spPr>
          <a:xfrm>
            <a:off x="6245352"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Promos</a:t>
            </a:r>
            <a:endParaRPr lang="en-US" sz="750" dirty="0"/>
          </a:p>
        </p:txBody>
      </p:sp>
      <p:sp>
        <p:nvSpPr>
          <p:cNvPr id="118" name="Shape 116"/>
          <p:cNvSpPr/>
          <p:nvPr/>
        </p:nvSpPr>
        <p:spPr>
          <a:xfrm>
            <a:off x="6245352" y="5875020"/>
            <a:ext cx="932688" cy="155448"/>
          </a:xfrm>
          <a:prstGeom prst="roundRect">
            <a:avLst>
              <a:gd name="adj" fmla="val 17647"/>
            </a:avLst>
          </a:prstGeom>
          <a:solidFill>
            <a:srgbClr val="F3F4F6"/>
          </a:solidFill>
          <a:ln w="9525">
            <a:solidFill>
              <a:srgbClr val="D1D5DB"/>
            </a:solidFill>
            <a:prstDash val="solid"/>
          </a:ln>
        </p:spPr>
      </p:sp>
      <p:sp>
        <p:nvSpPr>
          <p:cNvPr id="119" name="Text 117"/>
          <p:cNvSpPr/>
          <p:nvPr/>
        </p:nvSpPr>
        <p:spPr>
          <a:xfrm>
            <a:off x="6245352" y="587502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20" name="Shape 118"/>
          <p:cNvSpPr/>
          <p:nvPr/>
        </p:nvSpPr>
        <p:spPr>
          <a:xfrm>
            <a:off x="9372600" y="804672"/>
            <a:ext cx="2834640" cy="6071616"/>
          </a:xfrm>
          <a:prstGeom prst="rect">
            <a:avLst/>
          </a:prstGeom>
          <a:solidFill>
            <a:srgbClr val="F8FAFB"/>
          </a:solidFill>
          <a:ln w="12700">
            <a:solidFill>
              <a:srgbClr val="DDE1E6"/>
            </a:solidFill>
            <a:prstDash val="solid"/>
          </a:ln>
        </p:spPr>
      </p:sp>
      <p:sp>
        <p:nvSpPr>
          <p:cNvPr id="121" name="Text 119"/>
          <p:cNvSpPr/>
          <p:nvPr/>
        </p:nvSpPr>
        <p:spPr>
          <a:xfrm>
            <a:off x="9500616" y="950976"/>
            <a:ext cx="2633472" cy="201168"/>
          </a:xfrm>
          <a:prstGeom prst="rect">
            <a:avLst/>
          </a:prstGeom>
          <a:noFill/>
          <a:ln/>
        </p:spPr>
        <p:txBody>
          <a:bodyPr wrap="square" lIns="0" tIns="0" rIns="0" bIns="0" rtlCol="0" anchor="ctr"/>
          <a:lstStyle/>
          <a:p>
            <a:pPr indent="0" marL="0">
              <a:buNone/>
            </a:pPr>
            <a:r>
              <a:rPr lang="en-US" sz="950" b="1" dirty="0">
                <a:solidFill>
                  <a:srgbClr val="111827"/>
                </a:solidFill>
              </a:rPr>
              <a:t>Milestones</a:t>
            </a:r>
            <a:endParaRPr lang="en-US" sz="950" dirty="0"/>
          </a:p>
        </p:txBody>
      </p:sp>
      <p:sp>
        <p:nvSpPr>
          <p:cNvPr id="122" name="Shape 120"/>
          <p:cNvSpPr/>
          <p:nvPr/>
        </p:nvSpPr>
        <p:spPr>
          <a:xfrm>
            <a:off x="9464040" y="1225296"/>
            <a:ext cx="2670048" cy="420624"/>
          </a:xfrm>
          <a:prstGeom prst="rect">
            <a:avLst/>
          </a:prstGeom>
          <a:solidFill>
            <a:srgbClr val="FFFFFF"/>
          </a:solidFill>
          <a:ln w="6350">
            <a:solidFill>
              <a:srgbClr val="E5E7EB"/>
            </a:solidFill>
            <a:prstDash val="solid"/>
          </a:ln>
        </p:spPr>
      </p:sp>
      <p:sp>
        <p:nvSpPr>
          <p:cNvPr id="123" name="Shape 121"/>
          <p:cNvSpPr/>
          <p:nvPr/>
        </p:nvSpPr>
        <p:spPr>
          <a:xfrm>
            <a:off x="9537192" y="1316736"/>
            <a:ext cx="109728" cy="109728"/>
          </a:xfrm>
          <a:prstGeom prst="ellipse">
            <a:avLst/>
          </a:prstGeom>
          <a:solidFill>
            <a:srgbClr val="16A34A"/>
          </a:solidFill>
          <a:ln w="12700">
            <a:solidFill>
              <a:srgbClr val="16A34A"/>
            </a:solidFill>
            <a:prstDash val="solid"/>
          </a:ln>
        </p:spPr>
      </p:sp>
      <p:sp>
        <p:nvSpPr>
          <p:cNvPr id="124" name="Text 122"/>
          <p:cNvSpPr/>
          <p:nvPr/>
        </p:nvSpPr>
        <p:spPr>
          <a:xfrm>
            <a:off x="9701784" y="1243584"/>
            <a:ext cx="2304288" cy="173736"/>
          </a:xfrm>
          <a:prstGeom prst="rect">
            <a:avLst/>
          </a:prstGeom>
          <a:noFill/>
          <a:ln/>
        </p:spPr>
        <p:txBody>
          <a:bodyPr wrap="square" lIns="0" tIns="0" rIns="0" bIns="0" rtlCol="0" anchor="ctr"/>
          <a:lstStyle/>
          <a:p>
            <a:pPr indent="0" marL="0">
              <a:buNone/>
            </a:pPr>
            <a:r>
              <a:rPr lang="en-US" sz="800" b="1" dirty="0">
                <a:solidFill>
                  <a:srgbClr val="15803D"/>
                </a:solidFill>
              </a:rPr>
              <a:t>Requirements</a:t>
            </a:r>
            <a:endParaRPr lang="en-US" sz="800" dirty="0"/>
          </a:p>
        </p:txBody>
      </p:sp>
      <p:sp>
        <p:nvSpPr>
          <p:cNvPr id="125" name="Text 123"/>
          <p:cNvSpPr/>
          <p:nvPr/>
        </p:nvSpPr>
        <p:spPr>
          <a:xfrm>
            <a:off x="9701784" y="1453896"/>
            <a:ext cx="1773936" cy="137160"/>
          </a:xfrm>
          <a:prstGeom prst="rect">
            <a:avLst/>
          </a:prstGeom>
          <a:noFill/>
          <a:ln/>
        </p:spPr>
        <p:txBody>
          <a:bodyPr wrap="square" lIns="0" tIns="0" rIns="0" bIns="0" rtlCol="0" anchor="ctr"/>
          <a:lstStyle/>
          <a:p>
            <a:pPr indent="0" marL="0">
              <a:buNone/>
            </a:pPr>
            <a:r>
              <a:rPr lang="en-US" sz="700" dirty="0">
                <a:solidFill>
                  <a:srgbClr val="6B7280"/>
                </a:solidFill>
              </a:rPr>
              <a:t>Jun 30, 2026</a:t>
            </a:r>
            <a:endParaRPr lang="en-US" sz="700" dirty="0"/>
          </a:p>
        </p:txBody>
      </p:sp>
      <p:sp>
        <p:nvSpPr>
          <p:cNvPr id="126" name="Shape 124"/>
          <p:cNvSpPr/>
          <p:nvPr/>
        </p:nvSpPr>
        <p:spPr>
          <a:xfrm>
            <a:off x="11494008" y="1453896"/>
            <a:ext cx="658368" cy="137160"/>
          </a:xfrm>
          <a:prstGeom prst="roundRect">
            <a:avLst>
              <a:gd name="adj" fmla="val 20000"/>
            </a:avLst>
          </a:prstGeom>
          <a:solidFill>
            <a:srgbClr val="DCFCE7"/>
          </a:solidFill>
          <a:ln w="12700">
            <a:solidFill>
              <a:srgbClr val="DCFCE7"/>
            </a:solidFill>
            <a:prstDash val="solid"/>
          </a:ln>
        </p:spPr>
      </p:sp>
      <p:sp>
        <p:nvSpPr>
          <p:cNvPr id="127" name="Text 125"/>
          <p:cNvSpPr/>
          <p:nvPr/>
        </p:nvSpPr>
        <p:spPr>
          <a:xfrm>
            <a:off x="11494008" y="1453896"/>
            <a:ext cx="658368" cy="137160"/>
          </a:xfrm>
          <a:prstGeom prst="rect">
            <a:avLst/>
          </a:prstGeom>
          <a:noFill/>
          <a:ln/>
        </p:spPr>
        <p:txBody>
          <a:bodyPr wrap="square" lIns="0" tIns="0" rIns="0" bIns="0" rtlCol="0" anchor="ctr"/>
          <a:lstStyle/>
          <a:p>
            <a:pPr algn="ctr" indent="0" marL="0">
              <a:buNone/>
            </a:pPr>
            <a:r>
              <a:rPr lang="en-US" sz="600" b="1" dirty="0">
                <a:solidFill>
                  <a:srgbClr val="166534"/>
                </a:solidFill>
              </a:rPr>
              <a:t>Complete</a:t>
            </a:r>
            <a:endParaRPr lang="en-US" sz="600" dirty="0"/>
          </a:p>
        </p:txBody>
      </p:sp>
      <p:sp>
        <p:nvSpPr>
          <p:cNvPr id="128" name="Shape 126"/>
          <p:cNvSpPr/>
          <p:nvPr/>
        </p:nvSpPr>
        <p:spPr>
          <a:xfrm>
            <a:off x="9464040" y="1700784"/>
            <a:ext cx="2670048" cy="420624"/>
          </a:xfrm>
          <a:prstGeom prst="rect">
            <a:avLst/>
          </a:prstGeom>
          <a:solidFill>
            <a:srgbClr val="FFFFFF"/>
          </a:solidFill>
          <a:ln w="6350">
            <a:solidFill>
              <a:srgbClr val="E5E7EB"/>
            </a:solidFill>
            <a:prstDash val="solid"/>
          </a:ln>
        </p:spPr>
      </p:sp>
      <p:sp>
        <p:nvSpPr>
          <p:cNvPr id="129" name="Shape 127"/>
          <p:cNvSpPr/>
          <p:nvPr/>
        </p:nvSpPr>
        <p:spPr>
          <a:xfrm>
            <a:off x="9537192" y="1792224"/>
            <a:ext cx="109728" cy="109728"/>
          </a:xfrm>
          <a:prstGeom prst="ellipse">
            <a:avLst/>
          </a:prstGeom>
          <a:solidFill>
            <a:srgbClr val="1558A8"/>
          </a:solidFill>
          <a:ln w="12700">
            <a:solidFill>
              <a:srgbClr val="1558A8"/>
            </a:solidFill>
            <a:prstDash val="solid"/>
          </a:ln>
        </p:spPr>
      </p:sp>
      <p:sp>
        <p:nvSpPr>
          <p:cNvPr id="130" name="Text 128"/>
          <p:cNvSpPr/>
          <p:nvPr/>
        </p:nvSpPr>
        <p:spPr>
          <a:xfrm>
            <a:off x="9701784" y="1719072"/>
            <a:ext cx="2304288" cy="173736"/>
          </a:xfrm>
          <a:prstGeom prst="rect">
            <a:avLst/>
          </a:prstGeom>
          <a:noFill/>
          <a:ln/>
        </p:spPr>
        <p:txBody>
          <a:bodyPr wrap="square" lIns="0" tIns="0" rIns="0" bIns="0" rtlCol="0" anchor="ctr"/>
          <a:lstStyle/>
          <a:p>
            <a:pPr indent="0" marL="0">
              <a:buNone/>
            </a:pPr>
            <a:r>
              <a:rPr lang="en-US" sz="800" b="1" dirty="0">
                <a:solidFill>
                  <a:srgbClr val="1D4ED8"/>
                </a:solidFill>
              </a:rPr>
              <a:t>Beta</a:t>
            </a:r>
            <a:endParaRPr lang="en-US" sz="800" dirty="0"/>
          </a:p>
        </p:txBody>
      </p:sp>
      <p:sp>
        <p:nvSpPr>
          <p:cNvPr id="131" name="Text 129"/>
          <p:cNvSpPr/>
          <p:nvPr/>
        </p:nvSpPr>
        <p:spPr>
          <a:xfrm>
            <a:off x="9701784" y="1929384"/>
            <a:ext cx="1773936" cy="137160"/>
          </a:xfrm>
          <a:prstGeom prst="rect">
            <a:avLst/>
          </a:prstGeom>
          <a:noFill/>
          <a:ln/>
        </p:spPr>
        <p:txBody>
          <a:bodyPr wrap="square" lIns="0" tIns="0" rIns="0" bIns="0" rtlCol="0" anchor="ctr"/>
          <a:lstStyle/>
          <a:p>
            <a:pPr indent="0" marL="0">
              <a:buNone/>
            </a:pPr>
            <a:r>
              <a:rPr lang="en-US" sz="700" dirty="0">
                <a:solidFill>
                  <a:srgbClr val="6B7280"/>
                </a:solidFill>
              </a:rPr>
              <a:t>Sep 30, 2026</a:t>
            </a:r>
            <a:endParaRPr lang="en-US" sz="700" dirty="0"/>
          </a:p>
        </p:txBody>
      </p:sp>
      <p:sp>
        <p:nvSpPr>
          <p:cNvPr id="132" name="Shape 130"/>
          <p:cNvSpPr/>
          <p:nvPr/>
        </p:nvSpPr>
        <p:spPr>
          <a:xfrm>
            <a:off x="11494008" y="1929384"/>
            <a:ext cx="658368" cy="137160"/>
          </a:xfrm>
          <a:prstGeom prst="roundRect">
            <a:avLst>
              <a:gd name="adj" fmla="val 20000"/>
            </a:avLst>
          </a:prstGeom>
          <a:solidFill>
            <a:srgbClr val="DBEAFE"/>
          </a:solidFill>
          <a:ln w="12700">
            <a:solidFill>
              <a:srgbClr val="DBEAFE"/>
            </a:solidFill>
            <a:prstDash val="solid"/>
          </a:ln>
        </p:spPr>
      </p:sp>
      <p:sp>
        <p:nvSpPr>
          <p:cNvPr id="133" name="Text 131"/>
          <p:cNvSpPr/>
          <p:nvPr/>
        </p:nvSpPr>
        <p:spPr>
          <a:xfrm>
            <a:off x="11494008" y="1929384"/>
            <a:ext cx="658368" cy="137160"/>
          </a:xfrm>
          <a:prstGeom prst="rect">
            <a:avLst/>
          </a:prstGeom>
          <a:noFill/>
          <a:ln/>
        </p:spPr>
        <p:txBody>
          <a:bodyPr wrap="square" lIns="0" tIns="0" rIns="0" bIns="0" rtlCol="0" anchor="ctr"/>
          <a:lstStyle/>
          <a:p>
            <a:pPr algn="ctr" indent="0" marL="0">
              <a:buNone/>
            </a:pPr>
            <a:r>
              <a:rPr lang="en-US" sz="600" b="1" dirty="0">
                <a:solidFill>
                  <a:srgbClr val="1E40AF"/>
                </a:solidFill>
              </a:rPr>
              <a:t>In Progress</a:t>
            </a:r>
            <a:endParaRPr lang="en-US" sz="600" dirty="0"/>
          </a:p>
        </p:txBody>
      </p:sp>
      <p:sp>
        <p:nvSpPr>
          <p:cNvPr id="134" name="Shape 132"/>
          <p:cNvSpPr/>
          <p:nvPr/>
        </p:nvSpPr>
        <p:spPr>
          <a:xfrm>
            <a:off x="9464040" y="2176272"/>
            <a:ext cx="2670048" cy="420624"/>
          </a:xfrm>
          <a:prstGeom prst="rect">
            <a:avLst/>
          </a:prstGeom>
          <a:solidFill>
            <a:srgbClr val="FFFFFF"/>
          </a:solidFill>
          <a:ln w="6350">
            <a:solidFill>
              <a:srgbClr val="E5E7EB"/>
            </a:solidFill>
            <a:prstDash val="solid"/>
          </a:ln>
        </p:spPr>
      </p:sp>
      <p:sp>
        <p:nvSpPr>
          <p:cNvPr id="135" name="Shape 133"/>
          <p:cNvSpPr/>
          <p:nvPr/>
        </p:nvSpPr>
        <p:spPr>
          <a:xfrm>
            <a:off x="9537192" y="2267712"/>
            <a:ext cx="109728" cy="109728"/>
          </a:xfrm>
          <a:prstGeom prst="ellipse">
            <a:avLst/>
          </a:prstGeom>
          <a:solidFill>
            <a:srgbClr val="9CA3AF"/>
          </a:solidFill>
          <a:ln w="12700">
            <a:solidFill>
              <a:srgbClr val="9CA3AF"/>
            </a:solidFill>
            <a:prstDash val="solid"/>
          </a:ln>
        </p:spPr>
      </p:sp>
      <p:sp>
        <p:nvSpPr>
          <p:cNvPr id="136" name="Text 134"/>
          <p:cNvSpPr/>
          <p:nvPr/>
        </p:nvSpPr>
        <p:spPr>
          <a:xfrm>
            <a:off x="9701784" y="2194560"/>
            <a:ext cx="2304288" cy="173736"/>
          </a:xfrm>
          <a:prstGeom prst="rect">
            <a:avLst/>
          </a:prstGeom>
          <a:noFill/>
          <a:ln/>
        </p:spPr>
        <p:txBody>
          <a:bodyPr wrap="square" lIns="0" tIns="0" rIns="0" bIns="0" rtlCol="0" anchor="ctr"/>
          <a:lstStyle/>
          <a:p>
            <a:pPr indent="0" marL="0">
              <a:buNone/>
            </a:pPr>
            <a:r>
              <a:rPr lang="en-US" sz="800" b="1" dirty="0">
                <a:solidFill>
                  <a:srgbClr val="1F2937"/>
                </a:solidFill>
              </a:rPr>
              <a:t>UAT / Testing</a:t>
            </a:r>
            <a:endParaRPr lang="en-US" sz="800" dirty="0"/>
          </a:p>
        </p:txBody>
      </p:sp>
      <p:sp>
        <p:nvSpPr>
          <p:cNvPr id="137" name="Text 135"/>
          <p:cNvSpPr/>
          <p:nvPr/>
        </p:nvSpPr>
        <p:spPr>
          <a:xfrm>
            <a:off x="9701784" y="2404872"/>
            <a:ext cx="1773936" cy="137160"/>
          </a:xfrm>
          <a:prstGeom prst="rect">
            <a:avLst/>
          </a:prstGeom>
          <a:noFill/>
          <a:ln/>
        </p:spPr>
        <p:txBody>
          <a:bodyPr wrap="square" lIns="0" tIns="0" rIns="0" bIns="0" rtlCol="0" anchor="ctr"/>
          <a:lstStyle/>
          <a:p>
            <a:pPr indent="0" marL="0">
              <a:buNone/>
            </a:pPr>
            <a:r>
              <a:rPr lang="en-US" sz="700" dirty="0">
                <a:solidFill>
                  <a:srgbClr val="6B7280"/>
                </a:solidFill>
              </a:rPr>
              <a:t>Nov 30, 2026</a:t>
            </a:r>
            <a:endParaRPr lang="en-US" sz="700" dirty="0"/>
          </a:p>
        </p:txBody>
      </p:sp>
      <p:sp>
        <p:nvSpPr>
          <p:cNvPr id="138" name="Shape 136"/>
          <p:cNvSpPr/>
          <p:nvPr/>
        </p:nvSpPr>
        <p:spPr>
          <a:xfrm>
            <a:off x="11494008" y="2404872"/>
            <a:ext cx="658368" cy="137160"/>
          </a:xfrm>
          <a:prstGeom prst="roundRect">
            <a:avLst>
              <a:gd name="adj" fmla="val 20000"/>
            </a:avLst>
          </a:prstGeom>
          <a:solidFill>
            <a:srgbClr val="F3F4F6"/>
          </a:solidFill>
          <a:ln w="12700">
            <a:solidFill>
              <a:srgbClr val="F3F4F6"/>
            </a:solidFill>
            <a:prstDash val="solid"/>
          </a:ln>
        </p:spPr>
      </p:sp>
      <p:sp>
        <p:nvSpPr>
          <p:cNvPr id="139" name="Text 137"/>
          <p:cNvSpPr/>
          <p:nvPr/>
        </p:nvSpPr>
        <p:spPr>
          <a:xfrm>
            <a:off x="11494008" y="2404872"/>
            <a:ext cx="658368" cy="137160"/>
          </a:xfrm>
          <a:prstGeom prst="rect">
            <a:avLst/>
          </a:prstGeom>
          <a:noFill/>
          <a:ln/>
        </p:spPr>
        <p:txBody>
          <a:bodyPr wrap="square" lIns="0" tIns="0" rIns="0" bIns="0" rtlCol="0" anchor="ctr"/>
          <a:lstStyle/>
          <a:p>
            <a:pPr algn="ctr" indent="0" marL="0">
              <a:buNone/>
            </a:pPr>
            <a:r>
              <a:rPr lang="en-US" sz="600" b="1" dirty="0">
                <a:solidFill>
                  <a:srgbClr val="6B7280"/>
                </a:solidFill>
              </a:rPr>
              <a:t>Upcoming</a:t>
            </a:r>
            <a:endParaRPr lang="en-US" sz="600" dirty="0"/>
          </a:p>
        </p:txBody>
      </p:sp>
      <p:sp>
        <p:nvSpPr>
          <p:cNvPr id="140" name="Shape 138"/>
          <p:cNvSpPr/>
          <p:nvPr/>
        </p:nvSpPr>
        <p:spPr>
          <a:xfrm>
            <a:off x="9464040" y="2651760"/>
            <a:ext cx="2670048" cy="420624"/>
          </a:xfrm>
          <a:prstGeom prst="rect">
            <a:avLst/>
          </a:prstGeom>
          <a:solidFill>
            <a:srgbClr val="FFFFFF"/>
          </a:solidFill>
          <a:ln w="6350">
            <a:solidFill>
              <a:srgbClr val="E5E7EB"/>
            </a:solidFill>
            <a:prstDash val="solid"/>
          </a:ln>
        </p:spPr>
      </p:sp>
      <p:sp>
        <p:nvSpPr>
          <p:cNvPr id="141" name="Shape 139"/>
          <p:cNvSpPr/>
          <p:nvPr/>
        </p:nvSpPr>
        <p:spPr>
          <a:xfrm>
            <a:off x="9537192" y="2743200"/>
            <a:ext cx="109728" cy="109728"/>
          </a:xfrm>
          <a:prstGeom prst="ellipse">
            <a:avLst/>
          </a:prstGeom>
          <a:solidFill>
            <a:srgbClr val="9CA3AF"/>
          </a:solidFill>
          <a:ln w="12700">
            <a:solidFill>
              <a:srgbClr val="9CA3AF"/>
            </a:solidFill>
            <a:prstDash val="solid"/>
          </a:ln>
        </p:spPr>
      </p:sp>
      <p:sp>
        <p:nvSpPr>
          <p:cNvPr id="142" name="Text 140"/>
          <p:cNvSpPr/>
          <p:nvPr/>
        </p:nvSpPr>
        <p:spPr>
          <a:xfrm>
            <a:off x="9701784" y="2670048"/>
            <a:ext cx="2304288" cy="173736"/>
          </a:xfrm>
          <a:prstGeom prst="rect">
            <a:avLst/>
          </a:prstGeom>
          <a:noFill/>
          <a:ln/>
        </p:spPr>
        <p:txBody>
          <a:bodyPr wrap="square" lIns="0" tIns="0" rIns="0" bIns="0" rtlCol="0" anchor="ctr"/>
          <a:lstStyle/>
          <a:p>
            <a:pPr indent="0" marL="0">
              <a:buNone/>
            </a:pPr>
            <a:r>
              <a:rPr lang="en-US" sz="800" b="1" dirty="0">
                <a:solidFill>
                  <a:srgbClr val="1F2937"/>
                </a:solidFill>
              </a:rPr>
              <a:t>Release</a:t>
            </a:r>
            <a:endParaRPr lang="en-US" sz="800" dirty="0"/>
          </a:p>
        </p:txBody>
      </p:sp>
      <p:sp>
        <p:nvSpPr>
          <p:cNvPr id="143" name="Text 141"/>
          <p:cNvSpPr/>
          <p:nvPr/>
        </p:nvSpPr>
        <p:spPr>
          <a:xfrm>
            <a:off x="9701784" y="2880360"/>
            <a:ext cx="1773936" cy="137160"/>
          </a:xfrm>
          <a:prstGeom prst="rect">
            <a:avLst/>
          </a:prstGeom>
          <a:noFill/>
          <a:ln/>
        </p:spPr>
        <p:txBody>
          <a:bodyPr wrap="square" lIns="0" tIns="0" rIns="0" bIns="0" rtlCol="0" anchor="ctr"/>
          <a:lstStyle/>
          <a:p>
            <a:pPr indent="0" marL="0">
              <a:buNone/>
            </a:pPr>
            <a:r>
              <a:rPr lang="en-US" sz="700" dirty="0">
                <a:solidFill>
                  <a:srgbClr val="6B7280"/>
                </a:solidFill>
              </a:rPr>
              <a:t>Dec 2026</a:t>
            </a:r>
            <a:endParaRPr lang="en-US" sz="700" dirty="0"/>
          </a:p>
        </p:txBody>
      </p:sp>
      <p:sp>
        <p:nvSpPr>
          <p:cNvPr id="144" name="Shape 142"/>
          <p:cNvSpPr/>
          <p:nvPr/>
        </p:nvSpPr>
        <p:spPr>
          <a:xfrm>
            <a:off x="11494008" y="2880360"/>
            <a:ext cx="658368" cy="137160"/>
          </a:xfrm>
          <a:prstGeom prst="roundRect">
            <a:avLst>
              <a:gd name="adj" fmla="val 20000"/>
            </a:avLst>
          </a:prstGeom>
          <a:solidFill>
            <a:srgbClr val="F3F4F6"/>
          </a:solidFill>
          <a:ln w="12700">
            <a:solidFill>
              <a:srgbClr val="F3F4F6"/>
            </a:solidFill>
            <a:prstDash val="solid"/>
          </a:ln>
        </p:spPr>
      </p:sp>
      <p:sp>
        <p:nvSpPr>
          <p:cNvPr id="145" name="Text 143"/>
          <p:cNvSpPr/>
          <p:nvPr/>
        </p:nvSpPr>
        <p:spPr>
          <a:xfrm>
            <a:off x="11494008" y="2880360"/>
            <a:ext cx="658368" cy="137160"/>
          </a:xfrm>
          <a:prstGeom prst="rect">
            <a:avLst/>
          </a:prstGeom>
          <a:noFill/>
          <a:ln/>
        </p:spPr>
        <p:txBody>
          <a:bodyPr wrap="square" lIns="0" tIns="0" rIns="0" bIns="0" rtlCol="0" anchor="ctr"/>
          <a:lstStyle/>
          <a:p>
            <a:pPr algn="ctr" indent="0" marL="0">
              <a:buNone/>
            </a:pPr>
            <a:r>
              <a:rPr lang="en-US" sz="600" b="1" dirty="0">
                <a:solidFill>
                  <a:srgbClr val="6B7280"/>
                </a:solidFill>
              </a:rPr>
              <a:t>Upcoming</a:t>
            </a:r>
            <a:endParaRPr lang="en-US" sz="600" dirty="0"/>
          </a:p>
        </p:txBody>
      </p:sp>
      <p:sp>
        <p:nvSpPr>
          <p:cNvPr id="146" name="Shape 144"/>
          <p:cNvSpPr/>
          <p:nvPr/>
        </p:nvSpPr>
        <p:spPr>
          <a:xfrm>
            <a:off x="9482328" y="3200400"/>
            <a:ext cx="2633472" cy="0"/>
          </a:xfrm>
          <a:prstGeom prst="line">
            <a:avLst/>
          </a:prstGeom>
          <a:noFill/>
          <a:ln w="9525">
            <a:solidFill>
              <a:srgbClr val="DDE1E6"/>
            </a:solidFill>
            <a:prstDash val="solid"/>
          </a:ln>
        </p:spPr>
      </p:sp>
      <p:sp>
        <p:nvSpPr>
          <p:cNvPr id="147" name="Text 145"/>
          <p:cNvSpPr/>
          <p:nvPr/>
        </p:nvSpPr>
        <p:spPr>
          <a:xfrm>
            <a:off x="9500616" y="3337560"/>
            <a:ext cx="2633472" cy="201168"/>
          </a:xfrm>
          <a:prstGeom prst="rect">
            <a:avLst/>
          </a:prstGeom>
          <a:noFill/>
          <a:ln/>
        </p:spPr>
        <p:txBody>
          <a:bodyPr wrap="square" lIns="0" tIns="0" rIns="0" bIns="0" rtlCol="0" anchor="ctr"/>
          <a:lstStyle/>
          <a:p>
            <a:pPr indent="0" marL="0">
              <a:buNone/>
            </a:pPr>
            <a:r>
              <a:rPr lang="en-US" sz="950" b="1" dirty="0">
                <a:solidFill>
                  <a:srgbClr val="111827"/>
                </a:solidFill>
              </a:rPr>
              <a:t>Status Key</a:t>
            </a:r>
            <a:endParaRPr lang="en-US" sz="950" dirty="0"/>
          </a:p>
        </p:txBody>
      </p:sp>
      <p:sp>
        <p:nvSpPr>
          <p:cNvPr id="148" name="Shape 146"/>
          <p:cNvSpPr/>
          <p:nvPr/>
        </p:nvSpPr>
        <p:spPr>
          <a:xfrm>
            <a:off x="9500616" y="3584448"/>
            <a:ext cx="822960" cy="173736"/>
          </a:xfrm>
          <a:prstGeom prst="roundRect">
            <a:avLst>
              <a:gd name="adj" fmla="val 15789"/>
            </a:avLst>
          </a:prstGeom>
          <a:solidFill>
            <a:srgbClr val="F3F4F6"/>
          </a:solidFill>
          <a:ln w="9525">
            <a:solidFill>
              <a:srgbClr val="D1D5DB"/>
            </a:solidFill>
            <a:prstDash val="solid"/>
          </a:ln>
        </p:spPr>
      </p:sp>
      <p:sp>
        <p:nvSpPr>
          <p:cNvPr id="149" name="Text 147"/>
          <p:cNvSpPr/>
          <p:nvPr/>
        </p:nvSpPr>
        <p:spPr>
          <a:xfrm>
            <a:off x="9500616" y="3584448"/>
            <a:ext cx="822960" cy="173736"/>
          </a:xfrm>
          <a:prstGeom prst="rect">
            <a:avLst/>
          </a:prstGeom>
          <a:noFill/>
          <a:ln/>
        </p:spPr>
        <p:txBody>
          <a:bodyPr wrap="square" lIns="0" tIns="0" rIns="0" bIns="0" rtlCol="0" anchor="ctr"/>
          <a:lstStyle/>
          <a:p>
            <a:pPr algn="ctr" indent="0" marL="0">
              <a:buNone/>
            </a:pPr>
            <a:r>
              <a:rPr lang="en-US" sz="700" b="1" dirty="0">
                <a:solidFill>
                  <a:srgbClr val="374151"/>
                </a:solidFill>
              </a:rPr>
              <a:t>Not Started</a:t>
            </a:r>
            <a:endParaRPr lang="en-US" sz="700" dirty="0"/>
          </a:p>
        </p:txBody>
      </p:sp>
      <p:sp>
        <p:nvSpPr>
          <p:cNvPr id="150" name="Shape 148"/>
          <p:cNvSpPr/>
          <p:nvPr/>
        </p:nvSpPr>
        <p:spPr>
          <a:xfrm>
            <a:off x="9500616" y="3813048"/>
            <a:ext cx="822960" cy="173736"/>
          </a:xfrm>
          <a:prstGeom prst="roundRect">
            <a:avLst>
              <a:gd name="adj" fmla="val 15789"/>
            </a:avLst>
          </a:prstGeom>
          <a:solidFill>
            <a:srgbClr val="1558A8"/>
          </a:solidFill>
          <a:ln w="12700">
            <a:solidFill>
              <a:srgbClr val="1558A8"/>
            </a:solidFill>
            <a:prstDash val="solid"/>
          </a:ln>
        </p:spPr>
      </p:sp>
      <p:sp>
        <p:nvSpPr>
          <p:cNvPr id="151" name="Text 149"/>
          <p:cNvSpPr/>
          <p:nvPr/>
        </p:nvSpPr>
        <p:spPr>
          <a:xfrm>
            <a:off x="9500616" y="3813048"/>
            <a:ext cx="822960" cy="173736"/>
          </a:xfrm>
          <a:prstGeom prst="rect">
            <a:avLst/>
          </a:prstGeom>
          <a:noFill/>
          <a:ln/>
        </p:spPr>
        <p:txBody>
          <a:bodyPr wrap="square" lIns="0" tIns="0" rIns="0" bIns="0" rtlCol="0" anchor="ctr"/>
          <a:lstStyle/>
          <a:p>
            <a:pPr algn="ctr" indent="0" marL="0">
              <a:buNone/>
            </a:pPr>
            <a:r>
              <a:rPr lang="en-US" sz="700" b="1" dirty="0">
                <a:solidFill>
                  <a:srgbClr val="FFFFFF"/>
                </a:solidFill>
              </a:rPr>
              <a:t>In Progress</a:t>
            </a:r>
            <a:endParaRPr lang="en-US" sz="700" dirty="0"/>
          </a:p>
        </p:txBody>
      </p:sp>
      <p:sp>
        <p:nvSpPr>
          <p:cNvPr id="152" name="Shape 150"/>
          <p:cNvSpPr/>
          <p:nvPr/>
        </p:nvSpPr>
        <p:spPr>
          <a:xfrm>
            <a:off x="9500616" y="4041648"/>
            <a:ext cx="822960" cy="173736"/>
          </a:xfrm>
          <a:prstGeom prst="roundRect">
            <a:avLst>
              <a:gd name="adj" fmla="val 15789"/>
            </a:avLst>
          </a:prstGeom>
          <a:solidFill>
            <a:srgbClr val="FEE2E2"/>
          </a:solidFill>
          <a:ln w="19050">
            <a:solidFill>
              <a:srgbClr val="DC2626"/>
            </a:solidFill>
            <a:prstDash val="solid"/>
          </a:ln>
        </p:spPr>
      </p:sp>
      <p:sp>
        <p:nvSpPr>
          <p:cNvPr id="153" name="Text 151"/>
          <p:cNvSpPr/>
          <p:nvPr/>
        </p:nvSpPr>
        <p:spPr>
          <a:xfrm>
            <a:off x="9500616" y="4041648"/>
            <a:ext cx="822960" cy="173736"/>
          </a:xfrm>
          <a:prstGeom prst="rect">
            <a:avLst/>
          </a:prstGeom>
          <a:noFill/>
          <a:ln/>
        </p:spPr>
        <p:txBody>
          <a:bodyPr wrap="square" lIns="0" tIns="0" rIns="0" bIns="0" rtlCol="0" anchor="ctr"/>
          <a:lstStyle/>
          <a:p>
            <a:pPr algn="ctr" indent="0" marL="0">
              <a:buNone/>
            </a:pPr>
            <a:r>
              <a:rPr lang="en-US" sz="700" b="1" dirty="0">
                <a:solidFill>
                  <a:srgbClr val="7F1D1D"/>
                </a:solidFill>
              </a:rPr>
              <a:t>Blocked</a:t>
            </a:r>
            <a:endParaRPr lang="en-US" sz="700" dirty="0"/>
          </a:p>
        </p:txBody>
      </p:sp>
      <p:sp>
        <p:nvSpPr>
          <p:cNvPr id="154" name="Shape 152"/>
          <p:cNvSpPr/>
          <p:nvPr/>
        </p:nvSpPr>
        <p:spPr>
          <a:xfrm>
            <a:off x="9500616" y="4270248"/>
            <a:ext cx="822960" cy="173736"/>
          </a:xfrm>
          <a:prstGeom prst="roundRect">
            <a:avLst>
              <a:gd name="adj" fmla="val 15789"/>
            </a:avLst>
          </a:prstGeom>
          <a:solidFill>
            <a:srgbClr val="DCFCE7"/>
          </a:solidFill>
          <a:ln w="12700">
            <a:solidFill>
              <a:srgbClr val="15803D"/>
            </a:solidFill>
            <a:prstDash val="solid"/>
          </a:ln>
        </p:spPr>
      </p:sp>
      <p:sp>
        <p:nvSpPr>
          <p:cNvPr id="155" name="Text 153"/>
          <p:cNvSpPr/>
          <p:nvPr/>
        </p:nvSpPr>
        <p:spPr>
          <a:xfrm>
            <a:off x="9500616" y="4270248"/>
            <a:ext cx="822960" cy="173736"/>
          </a:xfrm>
          <a:prstGeom prst="rect">
            <a:avLst/>
          </a:prstGeom>
          <a:noFill/>
          <a:ln/>
        </p:spPr>
        <p:txBody>
          <a:bodyPr wrap="square" lIns="0" tIns="0" rIns="0" bIns="0" rtlCol="0" anchor="ctr"/>
          <a:lstStyle/>
          <a:p>
            <a:pPr algn="ctr" indent="0" marL="0">
              <a:buNone/>
            </a:pPr>
            <a:r>
              <a:rPr lang="en-US" sz="700" b="1" dirty="0">
                <a:solidFill>
                  <a:srgbClr val="14532D"/>
                </a:solidFill>
              </a:rPr>
              <a:t>Done</a:t>
            </a:r>
            <a:endParaRPr lang="en-US" sz="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show="0">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344400" cy="457200"/>
          </a:xfrm>
          <a:prstGeom prst="rect">
            <a:avLst/>
          </a:prstGeom>
          <a:solidFill>
            <a:srgbClr val="8ED973"/>
          </a:solidFill>
          <a:ln w="12700">
            <a:solidFill>
              <a:srgbClr val="8ED973"/>
            </a:solidFill>
            <a:prstDash val="solid"/>
          </a:ln>
        </p:spPr>
      </p:sp>
      <p:sp>
        <p:nvSpPr>
          <p:cNvPr id="3" name="Text 1"/>
          <p:cNvSpPr/>
          <p:nvPr/>
        </p:nvSpPr>
        <p:spPr>
          <a:xfrm>
            <a:off x="201168" y="0"/>
            <a:ext cx="8229600" cy="457200"/>
          </a:xfrm>
          <a:prstGeom prst="rect">
            <a:avLst/>
          </a:prstGeom>
          <a:noFill/>
          <a:ln/>
        </p:spPr>
        <p:txBody>
          <a:bodyPr wrap="square" lIns="0" tIns="0" rIns="0" bIns="0" rtlCol="0" anchor="ctr"/>
          <a:lstStyle/>
          <a:p>
            <a:pPr algn="l" indent="0" marL="0">
              <a:buNone/>
            </a:pPr>
            <a:r>
              <a:rPr lang="en-US" sz="1600" b="1" dirty="0">
                <a:solidFill>
                  <a:srgbClr val="000000"/>
                </a:solidFill>
              </a:rPr>
              <a:t>Project SABR  ·  Android</a:t>
            </a:r>
            <a:endParaRPr lang="en-US" sz="1600" dirty="0"/>
          </a:p>
        </p:txBody>
      </p:sp>
      <p:sp>
        <p:nvSpPr>
          <p:cNvPr id="4" name="Text 2"/>
          <p:cNvSpPr/>
          <p:nvPr/>
        </p:nvSpPr>
        <p:spPr>
          <a:xfrm>
            <a:off x="8686800" y="0"/>
            <a:ext cx="3337560" cy="457200"/>
          </a:xfrm>
          <a:prstGeom prst="rect">
            <a:avLst/>
          </a:prstGeom>
          <a:noFill/>
          <a:ln/>
        </p:spPr>
        <p:txBody>
          <a:bodyPr wrap="square" lIns="0" tIns="0" rIns="0" bIns="0" rtlCol="0" anchor="ctr"/>
          <a:lstStyle/>
          <a:p>
            <a:pPr algn="r" indent="0" marL="0">
              <a:buNone/>
            </a:pPr>
            <a:r>
              <a:rPr lang="en-US" sz="1100" dirty="0">
                <a:solidFill>
                  <a:srgbClr val="388849"/>
                </a:solidFill>
              </a:rPr>
              <a:t>Android Phone · Tablet  ·  Aug 5, 2026</a:t>
            </a:r>
            <a:endParaRPr lang="en-US" sz="1100" dirty="0"/>
          </a:p>
        </p:txBody>
      </p:sp>
      <p:sp>
        <p:nvSpPr>
          <p:cNvPr id="5" name="Shape 3"/>
          <p:cNvSpPr/>
          <p:nvPr/>
        </p:nvSpPr>
        <p:spPr>
          <a:xfrm>
            <a:off x="0" y="457200"/>
            <a:ext cx="12344400" cy="347472"/>
          </a:xfrm>
          <a:prstGeom prst="rect">
            <a:avLst/>
          </a:prstGeom>
          <a:solidFill>
            <a:srgbClr val="EFF7F3"/>
          </a:solidFill>
          <a:ln w="12700">
            <a:solidFill>
              <a:srgbClr val="CCE4D8"/>
            </a:solidFill>
            <a:prstDash val="solid"/>
          </a:ln>
        </p:spPr>
      </p:sp>
      <p:sp>
        <p:nvSpPr>
          <p:cNvPr id="6" name="Shape 4"/>
          <p:cNvSpPr/>
          <p:nvPr/>
        </p:nvSpPr>
        <p:spPr>
          <a:xfrm>
            <a:off x="256032" y="521208"/>
            <a:ext cx="1005840" cy="219456"/>
          </a:xfrm>
          <a:prstGeom prst="roundRect">
            <a:avLst>
              <a:gd name="adj" fmla="val 20833"/>
            </a:avLst>
          </a:prstGeom>
          <a:solidFill>
            <a:srgbClr val="DCFCE7"/>
          </a:solidFill>
          <a:ln w="9525">
            <a:solidFill>
              <a:srgbClr val="D1D5DB"/>
            </a:solidFill>
            <a:prstDash val="solid"/>
          </a:ln>
        </p:spPr>
      </p:sp>
      <p:sp>
        <p:nvSpPr>
          <p:cNvPr id="7" name="Text 5"/>
          <p:cNvSpPr/>
          <p:nvPr/>
        </p:nvSpPr>
        <p:spPr>
          <a:xfrm>
            <a:off x="256032" y="521208"/>
            <a:ext cx="1005840" cy="219456"/>
          </a:xfrm>
          <a:prstGeom prst="rect">
            <a:avLst/>
          </a:prstGeom>
          <a:noFill/>
          <a:ln/>
        </p:spPr>
        <p:txBody>
          <a:bodyPr wrap="square" lIns="0" tIns="0" rIns="0" bIns="0" rtlCol="0" anchor="ctr"/>
          <a:lstStyle/>
          <a:p>
            <a:pPr algn="ctr" indent="0" marL="0">
              <a:buNone/>
            </a:pPr>
            <a:r>
              <a:rPr lang="en-US" sz="900" b="1" dirty="0">
                <a:solidFill>
                  <a:srgbClr val="166534"/>
                </a:solidFill>
              </a:rPr>
              <a:t>3  Done</a:t>
            </a:r>
            <a:endParaRPr lang="en-US" sz="900" dirty="0"/>
          </a:p>
        </p:txBody>
      </p:sp>
      <p:sp>
        <p:nvSpPr>
          <p:cNvPr id="8" name="Shape 6"/>
          <p:cNvSpPr/>
          <p:nvPr/>
        </p:nvSpPr>
        <p:spPr>
          <a:xfrm>
            <a:off x="1389888" y="521208"/>
            <a:ext cx="1325880" cy="219456"/>
          </a:xfrm>
          <a:prstGeom prst="roundRect">
            <a:avLst>
              <a:gd name="adj" fmla="val 20833"/>
            </a:avLst>
          </a:prstGeom>
          <a:solidFill>
            <a:srgbClr val="DBEAFE"/>
          </a:solidFill>
          <a:ln w="9525">
            <a:solidFill>
              <a:srgbClr val="D1D5DB"/>
            </a:solidFill>
            <a:prstDash val="solid"/>
          </a:ln>
        </p:spPr>
      </p:sp>
      <p:sp>
        <p:nvSpPr>
          <p:cNvPr id="9" name="Text 7"/>
          <p:cNvSpPr/>
          <p:nvPr/>
        </p:nvSpPr>
        <p:spPr>
          <a:xfrm>
            <a:off x="1389888" y="521208"/>
            <a:ext cx="1325880" cy="219456"/>
          </a:xfrm>
          <a:prstGeom prst="rect">
            <a:avLst/>
          </a:prstGeom>
          <a:noFill/>
          <a:ln/>
        </p:spPr>
        <p:txBody>
          <a:bodyPr wrap="square" lIns="0" tIns="0" rIns="0" bIns="0" rtlCol="0" anchor="ctr"/>
          <a:lstStyle/>
          <a:p>
            <a:pPr algn="ctr" indent="0" marL="0">
              <a:buNone/>
            </a:pPr>
            <a:r>
              <a:rPr lang="en-US" sz="900" b="1" dirty="0">
                <a:solidFill>
                  <a:srgbClr val="1D4ED8"/>
                </a:solidFill>
              </a:rPr>
              <a:t>17  In Progress</a:t>
            </a:r>
            <a:endParaRPr lang="en-US" sz="900" dirty="0"/>
          </a:p>
        </p:txBody>
      </p:sp>
      <p:sp>
        <p:nvSpPr>
          <p:cNvPr id="10" name="Shape 8"/>
          <p:cNvSpPr/>
          <p:nvPr/>
        </p:nvSpPr>
        <p:spPr>
          <a:xfrm>
            <a:off x="2843784" y="521208"/>
            <a:ext cx="1325880" cy="219456"/>
          </a:xfrm>
          <a:prstGeom prst="roundRect">
            <a:avLst>
              <a:gd name="adj" fmla="val 20833"/>
            </a:avLst>
          </a:prstGeom>
          <a:solidFill>
            <a:srgbClr val="F3F4F6"/>
          </a:solidFill>
          <a:ln w="9525">
            <a:solidFill>
              <a:srgbClr val="D1D5DB"/>
            </a:solidFill>
            <a:prstDash val="solid"/>
          </a:ln>
        </p:spPr>
      </p:sp>
      <p:sp>
        <p:nvSpPr>
          <p:cNvPr id="11" name="Text 9"/>
          <p:cNvSpPr/>
          <p:nvPr/>
        </p:nvSpPr>
        <p:spPr>
          <a:xfrm>
            <a:off x="2843784" y="521208"/>
            <a:ext cx="1325880" cy="219456"/>
          </a:xfrm>
          <a:prstGeom prst="rect">
            <a:avLst/>
          </a:prstGeom>
          <a:noFill/>
          <a:ln/>
        </p:spPr>
        <p:txBody>
          <a:bodyPr wrap="square" lIns="0" tIns="0" rIns="0" bIns="0" rtlCol="0" anchor="ctr"/>
          <a:lstStyle/>
          <a:p>
            <a:pPr algn="ctr" indent="0" marL="0">
              <a:buNone/>
            </a:pPr>
            <a:r>
              <a:rPr lang="en-US" sz="900" b="1" dirty="0">
                <a:solidFill>
                  <a:srgbClr val="374151"/>
                </a:solidFill>
              </a:rPr>
              <a:t>2  Not Started</a:t>
            </a:r>
            <a:endParaRPr lang="en-US" sz="900" dirty="0"/>
          </a:p>
        </p:txBody>
      </p:sp>
      <p:sp>
        <p:nvSpPr>
          <p:cNvPr id="12" name="Shape 10"/>
          <p:cNvSpPr/>
          <p:nvPr/>
        </p:nvSpPr>
        <p:spPr>
          <a:xfrm>
            <a:off x="4297680" y="521208"/>
            <a:ext cx="1005840" cy="219456"/>
          </a:xfrm>
          <a:prstGeom prst="roundRect">
            <a:avLst>
              <a:gd name="adj" fmla="val 20833"/>
            </a:avLst>
          </a:prstGeom>
          <a:solidFill>
            <a:srgbClr val="FEE2E2"/>
          </a:solidFill>
          <a:ln w="9525">
            <a:solidFill>
              <a:srgbClr val="D1D5DB"/>
            </a:solidFill>
            <a:prstDash val="solid"/>
          </a:ln>
        </p:spPr>
      </p:sp>
      <p:sp>
        <p:nvSpPr>
          <p:cNvPr id="13" name="Text 11"/>
          <p:cNvSpPr/>
          <p:nvPr/>
        </p:nvSpPr>
        <p:spPr>
          <a:xfrm>
            <a:off x="4297680" y="521208"/>
            <a:ext cx="1005840" cy="219456"/>
          </a:xfrm>
          <a:prstGeom prst="rect">
            <a:avLst/>
          </a:prstGeom>
          <a:noFill/>
          <a:ln/>
        </p:spPr>
        <p:txBody>
          <a:bodyPr wrap="square" lIns="0" tIns="0" rIns="0" bIns="0" rtlCol="0" anchor="ctr"/>
          <a:lstStyle/>
          <a:p>
            <a:pPr algn="ctr" indent="0" marL="0">
              <a:buNone/>
            </a:pPr>
            <a:r>
              <a:rPr lang="en-US" sz="900" b="1" dirty="0">
                <a:solidFill>
                  <a:srgbClr val="7F1D1D"/>
                </a:solidFill>
              </a:rPr>
              <a:t>0  Blocked</a:t>
            </a:r>
            <a:endParaRPr lang="en-US" sz="900" dirty="0"/>
          </a:p>
        </p:txBody>
      </p:sp>
      <p:sp>
        <p:nvSpPr>
          <p:cNvPr id="14" name="Shape 12"/>
          <p:cNvSpPr/>
          <p:nvPr/>
        </p:nvSpPr>
        <p:spPr>
          <a:xfrm>
            <a:off x="5431536" y="521208"/>
            <a:ext cx="2377440" cy="219456"/>
          </a:xfrm>
          <a:prstGeom prst="roundRect">
            <a:avLst>
              <a:gd name="adj" fmla="val 20833"/>
            </a:avLst>
          </a:prstGeom>
          <a:solidFill>
            <a:srgbClr val="FFFFFF"/>
          </a:solidFill>
          <a:ln w="9525">
            <a:solidFill>
              <a:srgbClr val="D1D5DB"/>
            </a:solidFill>
            <a:prstDash val="solid"/>
          </a:ln>
        </p:spPr>
      </p:sp>
      <p:sp>
        <p:nvSpPr>
          <p:cNvPr id="15" name="Text 13"/>
          <p:cNvSpPr/>
          <p:nvPr/>
        </p:nvSpPr>
        <p:spPr>
          <a:xfrm>
            <a:off x="5431536" y="521208"/>
            <a:ext cx="2377440" cy="219456"/>
          </a:xfrm>
          <a:prstGeom prst="rect">
            <a:avLst/>
          </a:prstGeom>
          <a:noFill/>
          <a:ln/>
        </p:spPr>
        <p:txBody>
          <a:bodyPr wrap="square" lIns="0" tIns="0" rIns="0" bIns="0" rtlCol="0" anchor="ctr"/>
          <a:lstStyle/>
          <a:p>
            <a:pPr algn="ctr" indent="0" marL="0">
              <a:buNone/>
            </a:pPr>
            <a:r>
              <a:rPr lang="en-US" sz="900" b="1" dirty="0">
                <a:solidFill>
                  <a:srgbClr val="374151"/>
                </a:solidFill>
              </a:rPr>
              <a:t>Sep 30, 2026  ·  Beta</a:t>
            </a:r>
            <a:endParaRPr lang="en-US" sz="900" dirty="0"/>
          </a:p>
        </p:txBody>
      </p:sp>
      <p:sp>
        <p:nvSpPr>
          <p:cNvPr id="16" name="Shape 14"/>
          <p:cNvSpPr/>
          <p:nvPr/>
        </p:nvSpPr>
        <p:spPr>
          <a:xfrm>
            <a:off x="0" y="6876288"/>
            <a:ext cx="12344400" cy="438912"/>
          </a:xfrm>
          <a:prstGeom prst="rect">
            <a:avLst/>
          </a:prstGeom>
          <a:solidFill>
            <a:srgbClr val="F4F6F8"/>
          </a:solidFill>
          <a:ln w="12700">
            <a:solidFill>
              <a:srgbClr val="D1D5DB"/>
            </a:solidFill>
            <a:prstDash val="solid"/>
          </a:ln>
        </p:spPr>
      </p:sp>
      <p:sp>
        <p:nvSpPr>
          <p:cNvPr id="17" name="Text 15"/>
          <p:cNvSpPr/>
          <p:nvPr/>
        </p:nvSpPr>
        <p:spPr>
          <a:xfrm>
            <a:off x="201168" y="6876288"/>
            <a:ext cx="5029200" cy="438912"/>
          </a:xfrm>
          <a:prstGeom prst="rect">
            <a:avLst/>
          </a:prstGeom>
          <a:noFill/>
          <a:ln/>
        </p:spPr>
        <p:txBody>
          <a:bodyPr wrap="square" lIns="0" tIns="0" rIns="0" bIns="0" rtlCol="0" anchor="ctr"/>
          <a:lstStyle/>
          <a:p>
            <a:pPr algn="l" indent="0" marL="0">
              <a:buNone/>
            </a:pPr>
            <a:r>
              <a:rPr lang="en-US" sz="800" dirty="0">
                <a:solidFill>
                  <a:srgbClr val="9CA3AF"/>
                </a:solidFill>
              </a:rPr>
              <a:t>Project SABR  ·  Tennis Channel OTT  ·  CONFIDENTIAL</a:t>
            </a:r>
            <a:endParaRPr lang="en-US" sz="800" dirty="0"/>
          </a:p>
        </p:txBody>
      </p:sp>
      <p:sp>
        <p:nvSpPr>
          <p:cNvPr id="18" name="Text 16"/>
          <p:cNvSpPr/>
          <p:nvPr/>
        </p:nvSpPr>
        <p:spPr>
          <a:xfrm>
            <a:off x="5486400" y="6876288"/>
            <a:ext cx="4572000" cy="438912"/>
          </a:xfrm>
          <a:prstGeom prst="rect">
            <a:avLst/>
          </a:prstGeom>
          <a:noFill/>
          <a:ln/>
        </p:spPr>
        <p:txBody>
          <a:bodyPr wrap="square" lIns="0" tIns="0" rIns="0" bIns="0" rtlCol="0" anchor="ctr"/>
          <a:lstStyle/>
          <a:p>
            <a:pPr algn="ctr" indent="0" marL="0">
              <a:buNone/>
            </a:pPr>
            <a:r>
              <a:rPr lang="en-US" sz="800" dirty="0">
                <a:solidFill>
                  <a:srgbClr val="9CA3AF"/>
                </a:solidFill>
              </a:rPr>
              <a:t>Beta: Sep 30, 2026  ·  55 days remaining</a:t>
            </a:r>
            <a:endParaRPr lang="en-US" sz="800" dirty="0"/>
          </a:p>
        </p:txBody>
      </p:sp>
      <p:sp>
        <p:nvSpPr>
          <p:cNvPr id="19" name="Text 17"/>
          <p:cNvSpPr/>
          <p:nvPr/>
        </p:nvSpPr>
        <p:spPr>
          <a:xfrm>
            <a:off x="10515600" y="6876288"/>
            <a:ext cx="1508760" cy="438912"/>
          </a:xfrm>
          <a:prstGeom prst="rect">
            <a:avLst/>
          </a:prstGeom>
          <a:noFill/>
          <a:ln/>
        </p:spPr>
        <p:txBody>
          <a:bodyPr wrap="square" lIns="0" tIns="0" rIns="0" bIns="0" rtlCol="0" anchor="ctr"/>
          <a:lstStyle/>
          <a:p>
            <a:pPr algn="r" indent="0" marL="0">
              <a:buNone/>
            </a:pPr>
            <a:r>
              <a:rPr lang="en-US" sz="1100" b="1" dirty="0">
                <a:solidFill>
                  <a:srgbClr val="388849"/>
                </a:solidFill>
              </a:rPr>
              <a:t>14% Ready</a:t>
            </a:r>
            <a:endParaRPr lang="en-US" sz="1100" dirty="0"/>
          </a:p>
        </p:txBody>
      </p:sp>
      <p:sp>
        <p:nvSpPr>
          <p:cNvPr id="20" name="Shape 18"/>
          <p:cNvSpPr/>
          <p:nvPr/>
        </p:nvSpPr>
        <p:spPr>
          <a:xfrm>
            <a:off x="164592" y="804672"/>
            <a:ext cx="9116568" cy="1476756"/>
          </a:xfrm>
          <a:prstGeom prst="rect">
            <a:avLst/>
          </a:prstGeom>
          <a:solidFill>
            <a:srgbClr val="FAFBFC"/>
          </a:solidFill>
          <a:ln w="6350">
            <a:solidFill>
              <a:srgbClr val="E5E7EB"/>
            </a:solidFill>
            <a:prstDash val="solid"/>
          </a:ln>
        </p:spPr>
      </p:sp>
      <p:sp>
        <p:nvSpPr>
          <p:cNvPr id="21" name="Shape 19"/>
          <p:cNvSpPr/>
          <p:nvPr/>
        </p:nvSpPr>
        <p:spPr>
          <a:xfrm>
            <a:off x="182880" y="877824"/>
            <a:ext cx="859536" cy="1330452"/>
          </a:xfrm>
          <a:prstGeom prst="roundRect">
            <a:avLst>
              <a:gd name="adj" fmla="val 5319"/>
            </a:avLst>
          </a:prstGeom>
          <a:solidFill>
            <a:srgbClr val="9CA3AF"/>
          </a:solidFill>
          <a:ln w="12700">
            <a:solidFill>
              <a:srgbClr val="9CA3AF"/>
            </a:solidFill>
            <a:prstDash val="solid"/>
          </a:ln>
        </p:spPr>
      </p:sp>
      <p:sp>
        <p:nvSpPr>
          <p:cNvPr id="22" name="Text 20"/>
          <p:cNvSpPr/>
          <p:nvPr/>
        </p:nvSpPr>
        <p:spPr>
          <a:xfrm>
            <a:off x="182880" y="87782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Video</a:t>
            </a:r>
            <a:endParaRPr lang="en-US" sz="800" dirty="0"/>
          </a:p>
          <a:p>
            <a:pPr algn="ctr" indent="0" marL="0">
              <a:buNone/>
            </a:pPr>
            <a:r>
              <a:rPr lang="en-US" sz="800" b="1" dirty="0">
                <a:solidFill>
                  <a:srgbClr val="FFFFFF"/>
                </a:solidFill>
              </a:rPr>
              <a:t>Delivery</a:t>
            </a:r>
            <a:endParaRPr lang="en-US" sz="800" dirty="0"/>
          </a:p>
        </p:txBody>
      </p:sp>
      <p:sp>
        <p:nvSpPr>
          <p:cNvPr id="23" name="Text 21"/>
          <p:cNvSpPr/>
          <p:nvPr/>
        </p:nvSpPr>
        <p:spPr>
          <a:xfrm>
            <a:off x="1170432" y="85039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5 / 5 In Progress</a:t>
            </a:r>
            <a:endParaRPr lang="en-US" sz="750" dirty="0"/>
          </a:p>
        </p:txBody>
      </p:sp>
      <p:sp>
        <p:nvSpPr>
          <p:cNvPr id="24" name="Shape 22"/>
          <p:cNvSpPr/>
          <p:nvPr/>
        </p:nvSpPr>
        <p:spPr>
          <a:xfrm>
            <a:off x="1170432" y="1069848"/>
            <a:ext cx="932688" cy="182880"/>
          </a:xfrm>
          <a:prstGeom prst="roundRect">
            <a:avLst>
              <a:gd name="adj" fmla="val 15000"/>
            </a:avLst>
          </a:prstGeom>
          <a:solidFill>
            <a:srgbClr val="FFFFFF"/>
          </a:solidFill>
          <a:ln w="9525">
            <a:solidFill>
              <a:srgbClr val="CBD5E1"/>
            </a:solidFill>
            <a:prstDash val="solid"/>
          </a:ln>
        </p:spPr>
      </p:sp>
      <p:sp>
        <p:nvSpPr>
          <p:cNvPr id="25" name="Text 23"/>
          <p:cNvSpPr/>
          <p:nvPr/>
        </p:nvSpPr>
        <p:spPr>
          <a:xfrm>
            <a:off x="1170432"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HLS</a:t>
            </a:r>
            <a:endParaRPr lang="en-US" sz="750" dirty="0"/>
          </a:p>
        </p:txBody>
      </p:sp>
      <p:sp>
        <p:nvSpPr>
          <p:cNvPr id="26" name="Shape 24"/>
          <p:cNvSpPr/>
          <p:nvPr/>
        </p:nvSpPr>
        <p:spPr>
          <a:xfrm>
            <a:off x="1170432" y="1280160"/>
            <a:ext cx="932688" cy="155448"/>
          </a:xfrm>
          <a:prstGeom prst="roundRect">
            <a:avLst>
              <a:gd name="adj" fmla="val 17647"/>
            </a:avLst>
          </a:prstGeom>
          <a:solidFill>
            <a:srgbClr val="1558A8"/>
          </a:solidFill>
          <a:ln w="12700">
            <a:solidFill>
              <a:srgbClr val="1558A8"/>
            </a:solidFill>
            <a:prstDash val="solid"/>
          </a:ln>
        </p:spPr>
      </p:sp>
      <p:sp>
        <p:nvSpPr>
          <p:cNvPr id="27" name="Text 25"/>
          <p:cNvSpPr/>
          <p:nvPr/>
        </p:nvSpPr>
        <p:spPr>
          <a:xfrm>
            <a:off x="1170432"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28" name="Shape 26"/>
          <p:cNvSpPr/>
          <p:nvPr/>
        </p:nvSpPr>
        <p:spPr>
          <a:xfrm>
            <a:off x="2185416" y="1069848"/>
            <a:ext cx="932688" cy="182880"/>
          </a:xfrm>
          <a:prstGeom prst="roundRect">
            <a:avLst>
              <a:gd name="adj" fmla="val 15000"/>
            </a:avLst>
          </a:prstGeom>
          <a:solidFill>
            <a:srgbClr val="FFFFFF"/>
          </a:solidFill>
          <a:ln w="9525">
            <a:solidFill>
              <a:srgbClr val="CBD5E1"/>
            </a:solidFill>
            <a:prstDash val="solid"/>
          </a:ln>
        </p:spPr>
      </p:sp>
      <p:sp>
        <p:nvSpPr>
          <p:cNvPr id="29" name="Text 27"/>
          <p:cNvSpPr/>
          <p:nvPr/>
        </p:nvSpPr>
        <p:spPr>
          <a:xfrm>
            <a:off x="2185416"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MPEG-DASH</a:t>
            </a:r>
            <a:endParaRPr lang="en-US" sz="750" dirty="0"/>
          </a:p>
        </p:txBody>
      </p:sp>
      <p:sp>
        <p:nvSpPr>
          <p:cNvPr id="30" name="Shape 28"/>
          <p:cNvSpPr/>
          <p:nvPr/>
        </p:nvSpPr>
        <p:spPr>
          <a:xfrm>
            <a:off x="2185416" y="1280160"/>
            <a:ext cx="932688" cy="155448"/>
          </a:xfrm>
          <a:prstGeom prst="roundRect">
            <a:avLst>
              <a:gd name="adj" fmla="val 17647"/>
            </a:avLst>
          </a:prstGeom>
          <a:solidFill>
            <a:srgbClr val="1558A8"/>
          </a:solidFill>
          <a:ln w="12700">
            <a:solidFill>
              <a:srgbClr val="1558A8"/>
            </a:solidFill>
            <a:prstDash val="solid"/>
          </a:ln>
        </p:spPr>
      </p:sp>
      <p:sp>
        <p:nvSpPr>
          <p:cNvPr id="31" name="Text 29"/>
          <p:cNvSpPr/>
          <p:nvPr/>
        </p:nvSpPr>
        <p:spPr>
          <a:xfrm>
            <a:off x="2185416"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32" name="Shape 30"/>
          <p:cNvSpPr/>
          <p:nvPr/>
        </p:nvSpPr>
        <p:spPr>
          <a:xfrm>
            <a:off x="3200400" y="1069848"/>
            <a:ext cx="932688" cy="182880"/>
          </a:xfrm>
          <a:prstGeom prst="roundRect">
            <a:avLst>
              <a:gd name="adj" fmla="val 15000"/>
            </a:avLst>
          </a:prstGeom>
          <a:solidFill>
            <a:srgbClr val="FFFFFF"/>
          </a:solidFill>
          <a:ln w="9525">
            <a:solidFill>
              <a:srgbClr val="CBD5E1"/>
            </a:solidFill>
            <a:prstDash val="solid"/>
          </a:ln>
        </p:spPr>
      </p:sp>
      <p:sp>
        <p:nvSpPr>
          <p:cNvPr id="33" name="Text 31"/>
          <p:cNvSpPr/>
          <p:nvPr/>
        </p:nvSpPr>
        <p:spPr>
          <a:xfrm>
            <a:off x="3200400"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Widevine DRM</a:t>
            </a:r>
            <a:endParaRPr lang="en-US" sz="750" dirty="0"/>
          </a:p>
        </p:txBody>
      </p:sp>
      <p:sp>
        <p:nvSpPr>
          <p:cNvPr id="34" name="Shape 32"/>
          <p:cNvSpPr/>
          <p:nvPr/>
        </p:nvSpPr>
        <p:spPr>
          <a:xfrm>
            <a:off x="3200400" y="1280160"/>
            <a:ext cx="932688" cy="155448"/>
          </a:xfrm>
          <a:prstGeom prst="roundRect">
            <a:avLst>
              <a:gd name="adj" fmla="val 17647"/>
            </a:avLst>
          </a:prstGeom>
          <a:solidFill>
            <a:srgbClr val="1558A8"/>
          </a:solidFill>
          <a:ln w="12700">
            <a:solidFill>
              <a:srgbClr val="1558A8"/>
            </a:solidFill>
            <a:prstDash val="solid"/>
          </a:ln>
        </p:spPr>
      </p:sp>
      <p:sp>
        <p:nvSpPr>
          <p:cNvPr id="35" name="Text 33"/>
          <p:cNvSpPr/>
          <p:nvPr/>
        </p:nvSpPr>
        <p:spPr>
          <a:xfrm>
            <a:off x="3200400"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36" name="Shape 34"/>
          <p:cNvSpPr/>
          <p:nvPr/>
        </p:nvSpPr>
        <p:spPr>
          <a:xfrm>
            <a:off x="4215384" y="1069848"/>
            <a:ext cx="932688" cy="182880"/>
          </a:xfrm>
          <a:prstGeom prst="roundRect">
            <a:avLst>
              <a:gd name="adj" fmla="val 15000"/>
            </a:avLst>
          </a:prstGeom>
          <a:solidFill>
            <a:srgbClr val="FFFFFF"/>
          </a:solidFill>
          <a:ln w="9525">
            <a:solidFill>
              <a:srgbClr val="CBD5E1"/>
            </a:solidFill>
            <a:prstDash val="solid"/>
          </a:ln>
        </p:spPr>
      </p:sp>
      <p:sp>
        <p:nvSpPr>
          <p:cNvPr id="37" name="Text 35"/>
          <p:cNvSpPr/>
          <p:nvPr/>
        </p:nvSpPr>
        <p:spPr>
          <a:xfrm>
            <a:off x="4215384"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VOD Streams</a:t>
            </a:r>
            <a:endParaRPr lang="en-US" sz="750" dirty="0"/>
          </a:p>
        </p:txBody>
      </p:sp>
      <p:sp>
        <p:nvSpPr>
          <p:cNvPr id="38" name="Shape 36"/>
          <p:cNvSpPr/>
          <p:nvPr/>
        </p:nvSpPr>
        <p:spPr>
          <a:xfrm>
            <a:off x="4215384" y="1280160"/>
            <a:ext cx="932688" cy="155448"/>
          </a:xfrm>
          <a:prstGeom prst="roundRect">
            <a:avLst>
              <a:gd name="adj" fmla="val 17647"/>
            </a:avLst>
          </a:prstGeom>
          <a:solidFill>
            <a:srgbClr val="1558A8"/>
          </a:solidFill>
          <a:ln w="12700">
            <a:solidFill>
              <a:srgbClr val="1558A8"/>
            </a:solidFill>
            <a:prstDash val="solid"/>
          </a:ln>
        </p:spPr>
      </p:sp>
      <p:sp>
        <p:nvSpPr>
          <p:cNvPr id="39" name="Text 37"/>
          <p:cNvSpPr/>
          <p:nvPr/>
        </p:nvSpPr>
        <p:spPr>
          <a:xfrm>
            <a:off x="4215384"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40" name="Shape 38"/>
          <p:cNvSpPr/>
          <p:nvPr/>
        </p:nvSpPr>
        <p:spPr>
          <a:xfrm>
            <a:off x="5230368" y="1069848"/>
            <a:ext cx="932688" cy="182880"/>
          </a:xfrm>
          <a:prstGeom prst="roundRect">
            <a:avLst>
              <a:gd name="adj" fmla="val 15000"/>
            </a:avLst>
          </a:prstGeom>
          <a:solidFill>
            <a:srgbClr val="FFFFFF"/>
          </a:solidFill>
          <a:ln w="9525">
            <a:solidFill>
              <a:srgbClr val="CBD5E1"/>
            </a:solidFill>
            <a:prstDash val="solid"/>
          </a:ln>
        </p:spPr>
      </p:sp>
      <p:sp>
        <p:nvSpPr>
          <p:cNvPr id="41" name="Text 39"/>
          <p:cNvSpPr/>
          <p:nvPr/>
        </p:nvSpPr>
        <p:spPr>
          <a:xfrm>
            <a:off x="5230368"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Linear</a:t>
            </a:r>
            <a:endParaRPr lang="en-US" sz="750" dirty="0"/>
          </a:p>
        </p:txBody>
      </p:sp>
      <p:sp>
        <p:nvSpPr>
          <p:cNvPr id="42" name="Shape 40"/>
          <p:cNvSpPr/>
          <p:nvPr/>
        </p:nvSpPr>
        <p:spPr>
          <a:xfrm>
            <a:off x="5230368" y="1280160"/>
            <a:ext cx="932688" cy="155448"/>
          </a:xfrm>
          <a:prstGeom prst="roundRect">
            <a:avLst>
              <a:gd name="adj" fmla="val 17647"/>
            </a:avLst>
          </a:prstGeom>
          <a:solidFill>
            <a:srgbClr val="1558A8"/>
          </a:solidFill>
          <a:ln w="12700">
            <a:solidFill>
              <a:srgbClr val="1558A8"/>
            </a:solidFill>
            <a:prstDash val="solid"/>
          </a:ln>
        </p:spPr>
      </p:sp>
      <p:sp>
        <p:nvSpPr>
          <p:cNvPr id="43" name="Text 41"/>
          <p:cNvSpPr/>
          <p:nvPr/>
        </p:nvSpPr>
        <p:spPr>
          <a:xfrm>
            <a:off x="5230368"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44" name="Shape 42"/>
          <p:cNvSpPr/>
          <p:nvPr/>
        </p:nvSpPr>
        <p:spPr>
          <a:xfrm>
            <a:off x="164592" y="2336292"/>
            <a:ext cx="9116568" cy="1476756"/>
          </a:xfrm>
          <a:prstGeom prst="rect">
            <a:avLst/>
          </a:prstGeom>
          <a:solidFill>
            <a:srgbClr val="FFFFFF"/>
          </a:solidFill>
          <a:ln w="6350">
            <a:solidFill>
              <a:srgbClr val="E5E7EB"/>
            </a:solidFill>
            <a:prstDash val="solid"/>
          </a:ln>
        </p:spPr>
      </p:sp>
      <p:sp>
        <p:nvSpPr>
          <p:cNvPr id="45" name="Shape 43"/>
          <p:cNvSpPr/>
          <p:nvPr/>
        </p:nvSpPr>
        <p:spPr>
          <a:xfrm>
            <a:off x="182880" y="2409444"/>
            <a:ext cx="859536" cy="1330452"/>
          </a:xfrm>
          <a:prstGeom prst="roundRect">
            <a:avLst>
              <a:gd name="adj" fmla="val 5319"/>
            </a:avLst>
          </a:prstGeom>
          <a:solidFill>
            <a:srgbClr val="9CA3AF"/>
          </a:solidFill>
          <a:ln w="12700">
            <a:solidFill>
              <a:srgbClr val="9CA3AF"/>
            </a:solidFill>
            <a:prstDash val="solid"/>
          </a:ln>
        </p:spPr>
      </p:sp>
      <p:sp>
        <p:nvSpPr>
          <p:cNvPr id="46" name="Text 44"/>
          <p:cNvSpPr/>
          <p:nvPr/>
        </p:nvSpPr>
        <p:spPr>
          <a:xfrm>
            <a:off x="182880" y="240944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Player</a:t>
            </a:r>
            <a:endParaRPr lang="en-US" sz="800" dirty="0"/>
          </a:p>
        </p:txBody>
      </p:sp>
      <p:sp>
        <p:nvSpPr>
          <p:cNvPr id="47" name="Text 45"/>
          <p:cNvSpPr/>
          <p:nvPr/>
        </p:nvSpPr>
        <p:spPr>
          <a:xfrm>
            <a:off x="1170432" y="238201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2 / 2 In Progress</a:t>
            </a:r>
            <a:endParaRPr lang="en-US" sz="750" dirty="0"/>
          </a:p>
        </p:txBody>
      </p:sp>
      <p:sp>
        <p:nvSpPr>
          <p:cNvPr id="48" name="Shape 46"/>
          <p:cNvSpPr/>
          <p:nvPr/>
        </p:nvSpPr>
        <p:spPr>
          <a:xfrm>
            <a:off x="1170432" y="2601468"/>
            <a:ext cx="932688" cy="182880"/>
          </a:xfrm>
          <a:prstGeom prst="roundRect">
            <a:avLst>
              <a:gd name="adj" fmla="val 15000"/>
            </a:avLst>
          </a:prstGeom>
          <a:solidFill>
            <a:srgbClr val="FFFFFF"/>
          </a:solidFill>
          <a:ln w="9525">
            <a:solidFill>
              <a:srgbClr val="CBD5E1"/>
            </a:solidFill>
            <a:prstDash val="solid"/>
          </a:ln>
        </p:spPr>
      </p:sp>
      <p:sp>
        <p:nvSpPr>
          <p:cNvPr id="49" name="Text 47"/>
          <p:cNvSpPr/>
          <p:nvPr/>
        </p:nvSpPr>
        <p:spPr>
          <a:xfrm>
            <a:off x="1170432" y="26014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Android Player</a:t>
            </a:r>
            <a:endParaRPr lang="en-US" sz="750" dirty="0"/>
          </a:p>
        </p:txBody>
      </p:sp>
      <p:sp>
        <p:nvSpPr>
          <p:cNvPr id="50" name="Shape 48"/>
          <p:cNvSpPr/>
          <p:nvPr/>
        </p:nvSpPr>
        <p:spPr>
          <a:xfrm>
            <a:off x="1170432" y="2811780"/>
            <a:ext cx="932688" cy="155448"/>
          </a:xfrm>
          <a:prstGeom prst="roundRect">
            <a:avLst>
              <a:gd name="adj" fmla="val 17647"/>
            </a:avLst>
          </a:prstGeom>
          <a:solidFill>
            <a:srgbClr val="1558A8"/>
          </a:solidFill>
          <a:ln w="12700">
            <a:solidFill>
              <a:srgbClr val="1558A8"/>
            </a:solidFill>
            <a:prstDash val="solid"/>
          </a:ln>
        </p:spPr>
      </p:sp>
      <p:sp>
        <p:nvSpPr>
          <p:cNvPr id="51" name="Text 49"/>
          <p:cNvSpPr/>
          <p:nvPr/>
        </p:nvSpPr>
        <p:spPr>
          <a:xfrm>
            <a:off x="1170432" y="28117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52" name="Shape 50"/>
          <p:cNvSpPr/>
          <p:nvPr/>
        </p:nvSpPr>
        <p:spPr>
          <a:xfrm>
            <a:off x="2185416" y="2601468"/>
            <a:ext cx="932688" cy="182880"/>
          </a:xfrm>
          <a:prstGeom prst="roundRect">
            <a:avLst>
              <a:gd name="adj" fmla="val 15000"/>
            </a:avLst>
          </a:prstGeom>
          <a:solidFill>
            <a:srgbClr val="FFFFFF"/>
          </a:solidFill>
          <a:ln w="9525">
            <a:solidFill>
              <a:srgbClr val="CBD5E1"/>
            </a:solidFill>
            <a:prstDash val="solid"/>
          </a:ln>
        </p:spPr>
      </p:sp>
      <p:sp>
        <p:nvSpPr>
          <p:cNvPr id="53" name="Text 51"/>
          <p:cNvSpPr/>
          <p:nvPr/>
        </p:nvSpPr>
        <p:spPr>
          <a:xfrm>
            <a:off x="2185416" y="26014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HLS/DASH PB</a:t>
            </a:r>
            <a:endParaRPr lang="en-US" sz="750" dirty="0"/>
          </a:p>
        </p:txBody>
      </p:sp>
      <p:sp>
        <p:nvSpPr>
          <p:cNvPr id="54" name="Shape 52"/>
          <p:cNvSpPr/>
          <p:nvPr/>
        </p:nvSpPr>
        <p:spPr>
          <a:xfrm>
            <a:off x="2185416" y="2811780"/>
            <a:ext cx="932688" cy="155448"/>
          </a:xfrm>
          <a:prstGeom prst="roundRect">
            <a:avLst>
              <a:gd name="adj" fmla="val 17647"/>
            </a:avLst>
          </a:prstGeom>
          <a:solidFill>
            <a:srgbClr val="1558A8"/>
          </a:solidFill>
          <a:ln w="12700">
            <a:solidFill>
              <a:srgbClr val="1558A8"/>
            </a:solidFill>
            <a:prstDash val="solid"/>
          </a:ln>
        </p:spPr>
      </p:sp>
      <p:sp>
        <p:nvSpPr>
          <p:cNvPr id="55" name="Text 53"/>
          <p:cNvSpPr/>
          <p:nvPr/>
        </p:nvSpPr>
        <p:spPr>
          <a:xfrm>
            <a:off x="2185416" y="28117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56" name="Shape 54"/>
          <p:cNvSpPr/>
          <p:nvPr/>
        </p:nvSpPr>
        <p:spPr>
          <a:xfrm>
            <a:off x="164592" y="3867912"/>
            <a:ext cx="9116568" cy="1476756"/>
          </a:xfrm>
          <a:prstGeom prst="rect">
            <a:avLst/>
          </a:prstGeom>
          <a:solidFill>
            <a:srgbClr val="FAFBFC"/>
          </a:solidFill>
          <a:ln w="6350">
            <a:solidFill>
              <a:srgbClr val="E5E7EB"/>
            </a:solidFill>
            <a:prstDash val="solid"/>
          </a:ln>
        </p:spPr>
      </p:sp>
      <p:sp>
        <p:nvSpPr>
          <p:cNvPr id="57" name="Shape 55"/>
          <p:cNvSpPr/>
          <p:nvPr/>
        </p:nvSpPr>
        <p:spPr>
          <a:xfrm>
            <a:off x="182880" y="3941064"/>
            <a:ext cx="859536" cy="1330452"/>
          </a:xfrm>
          <a:prstGeom prst="roundRect">
            <a:avLst>
              <a:gd name="adj" fmla="val 5319"/>
            </a:avLst>
          </a:prstGeom>
          <a:solidFill>
            <a:srgbClr val="9CA3AF"/>
          </a:solidFill>
          <a:ln w="12700">
            <a:solidFill>
              <a:srgbClr val="9CA3AF"/>
            </a:solidFill>
            <a:prstDash val="solid"/>
          </a:ln>
        </p:spPr>
      </p:sp>
      <p:sp>
        <p:nvSpPr>
          <p:cNvPr id="58" name="Text 56"/>
          <p:cNvSpPr/>
          <p:nvPr/>
        </p:nvSpPr>
        <p:spPr>
          <a:xfrm>
            <a:off x="182880" y="394106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Merchandising</a:t>
            </a:r>
            <a:endParaRPr lang="en-US" sz="800" dirty="0"/>
          </a:p>
        </p:txBody>
      </p:sp>
      <p:sp>
        <p:nvSpPr>
          <p:cNvPr id="59" name="Text 57"/>
          <p:cNvSpPr/>
          <p:nvPr/>
        </p:nvSpPr>
        <p:spPr>
          <a:xfrm>
            <a:off x="1170432" y="391363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6 / 9 In Progress · 2 Done</a:t>
            </a:r>
            <a:endParaRPr lang="en-US" sz="750" dirty="0"/>
          </a:p>
        </p:txBody>
      </p:sp>
      <p:sp>
        <p:nvSpPr>
          <p:cNvPr id="60" name="Shape 58"/>
          <p:cNvSpPr/>
          <p:nvPr/>
        </p:nvSpPr>
        <p:spPr>
          <a:xfrm>
            <a:off x="1170432" y="4133088"/>
            <a:ext cx="932688" cy="182880"/>
          </a:xfrm>
          <a:prstGeom prst="roundRect">
            <a:avLst>
              <a:gd name="adj" fmla="val 15000"/>
            </a:avLst>
          </a:prstGeom>
          <a:solidFill>
            <a:srgbClr val="FFFFFF"/>
          </a:solidFill>
          <a:ln w="9525">
            <a:solidFill>
              <a:srgbClr val="CBD5E1"/>
            </a:solidFill>
            <a:prstDash val="solid"/>
          </a:ln>
        </p:spPr>
      </p:sp>
      <p:sp>
        <p:nvSpPr>
          <p:cNvPr id="61" name="Text 59"/>
          <p:cNvSpPr/>
          <p:nvPr/>
        </p:nvSpPr>
        <p:spPr>
          <a:xfrm>
            <a:off x="1170432"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Metadata</a:t>
            </a:r>
            <a:endParaRPr lang="en-US" sz="750" dirty="0"/>
          </a:p>
        </p:txBody>
      </p:sp>
      <p:sp>
        <p:nvSpPr>
          <p:cNvPr id="62" name="Shape 60"/>
          <p:cNvSpPr/>
          <p:nvPr/>
        </p:nvSpPr>
        <p:spPr>
          <a:xfrm>
            <a:off x="1170432" y="4343400"/>
            <a:ext cx="932688" cy="155448"/>
          </a:xfrm>
          <a:prstGeom prst="roundRect">
            <a:avLst>
              <a:gd name="adj" fmla="val 17647"/>
            </a:avLst>
          </a:prstGeom>
          <a:solidFill>
            <a:srgbClr val="1558A8"/>
          </a:solidFill>
          <a:ln w="12700">
            <a:solidFill>
              <a:srgbClr val="1558A8"/>
            </a:solidFill>
            <a:prstDash val="solid"/>
          </a:ln>
        </p:spPr>
      </p:sp>
      <p:sp>
        <p:nvSpPr>
          <p:cNvPr id="63" name="Text 61"/>
          <p:cNvSpPr/>
          <p:nvPr/>
        </p:nvSpPr>
        <p:spPr>
          <a:xfrm>
            <a:off x="1170432"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4" name="Shape 62"/>
          <p:cNvSpPr/>
          <p:nvPr/>
        </p:nvSpPr>
        <p:spPr>
          <a:xfrm>
            <a:off x="2185416" y="4133088"/>
            <a:ext cx="932688" cy="182880"/>
          </a:xfrm>
          <a:prstGeom prst="roundRect">
            <a:avLst>
              <a:gd name="adj" fmla="val 15000"/>
            </a:avLst>
          </a:prstGeom>
          <a:solidFill>
            <a:srgbClr val="FFFFFF"/>
          </a:solidFill>
          <a:ln w="9525">
            <a:solidFill>
              <a:srgbClr val="CBD5E1"/>
            </a:solidFill>
            <a:prstDash val="solid"/>
          </a:ln>
        </p:spPr>
      </p:sp>
      <p:sp>
        <p:nvSpPr>
          <p:cNvPr id="65" name="Text 63"/>
          <p:cNvSpPr/>
          <p:nvPr/>
        </p:nvSpPr>
        <p:spPr>
          <a:xfrm>
            <a:off x="2185416"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Images</a:t>
            </a:r>
            <a:endParaRPr lang="en-US" sz="750" dirty="0"/>
          </a:p>
        </p:txBody>
      </p:sp>
      <p:sp>
        <p:nvSpPr>
          <p:cNvPr id="66" name="Shape 64"/>
          <p:cNvSpPr/>
          <p:nvPr/>
        </p:nvSpPr>
        <p:spPr>
          <a:xfrm>
            <a:off x="2185416" y="4343400"/>
            <a:ext cx="932688" cy="155448"/>
          </a:xfrm>
          <a:prstGeom prst="roundRect">
            <a:avLst>
              <a:gd name="adj" fmla="val 17647"/>
            </a:avLst>
          </a:prstGeom>
          <a:solidFill>
            <a:srgbClr val="1558A8"/>
          </a:solidFill>
          <a:ln w="12700">
            <a:solidFill>
              <a:srgbClr val="1558A8"/>
            </a:solidFill>
            <a:prstDash val="solid"/>
          </a:ln>
        </p:spPr>
      </p:sp>
      <p:sp>
        <p:nvSpPr>
          <p:cNvPr id="67" name="Text 65"/>
          <p:cNvSpPr/>
          <p:nvPr/>
        </p:nvSpPr>
        <p:spPr>
          <a:xfrm>
            <a:off x="2185416"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8" name="Shape 66"/>
          <p:cNvSpPr/>
          <p:nvPr/>
        </p:nvSpPr>
        <p:spPr>
          <a:xfrm>
            <a:off x="3200400" y="4133088"/>
            <a:ext cx="932688" cy="182880"/>
          </a:xfrm>
          <a:prstGeom prst="roundRect">
            <a:avLst>
              <a:gd name="adj" fmla="val 15000"/>
            </a:avLst>
          </a:prstGeom>
          <a:solidFill>
            <a:srgbClr val="FFFFFF"/>
          </a:solidFill>
          <a:ln w="9525">
            <a:solidFill>
              <a:srgbClr val="CBD5E1"/>
            </a:solidFill>
            <a:prstDash val="solid"/>
          </a:ln>
        </p:spPr>
      </p:sp>
      <p:sp>
        <p:nvSpPr>
          <p:cNvPr id="69" name="Text 67"/>
          <p:cNvSpPr/>
          <p:nvPr/>
        </p:nvSpPr>
        <p:spPr>
          <a:xfrm>
            <a:off x="3200400"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Carousels</a:t>
            </a:r>
            <a:endParaRPr lang="en-US" sz="750" dirty="0"/>
          </a:p>
        </p:txBody>
      </p:sp>
      <p:sp>
        <p:nvSpPr>
          <p:cNvPr id="70" name="Shape 68"/>
          <p:cNvSpPr/>
          <p:nvPr/>
        </p:nvSpPr>
        <p:spPr>
          <a:xfrm>
            <a:off x="3200400" y="4343400"/>
            <a:ext cx="932688" cy="155448"/>
          </a:xfrm>
          <a:prstGeom prst="roundRect">
            <a:avLst>
              <a:gd name="adj" fmla="val 17647"/>
            </a:avLst>
          </a:prstGeom>
          <a:solidFill>
            <a:srgbClr val="1558A8"/>
          </a:solidFill>
          <a:ln w="12700">
            <a:solidFill>
              <a:srgbClr val="1558A8"/>
            </a:solidFill>
            <a:prstDash val="solid"/>
          </a:ln>
        </p:spPr>
      </p:sp>
      <p:sp>
        <p:nvSpPr>
          <p:cNvPr id="71" name="Text 69"/>
          <p:cNvSpPr/>
          <p:nvPr/>
        </p:nvSpPr>
        <p:spPr>
          <a:xfrm>
            <a:off x="3200400"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72" name="Shape 70"/>
          <p:cNvSpPr/>
          <p:nvPr/>
        </p:nvSpPr>
        <p:spPr>
          <a:xfrm>
            <a:off x="4215384" y="4133088"/>
            <a:ext cx="932688" cy="182880"/>
          </a:xfrm>
          <a:prstGeom prst="roundRect">
            <a:avLst>
              <a:gd name="adj" fmla="val 15000"/>
            </a:avLst>
          </a:prstGeom>
          <a:solidFill>
            <a:srgbClr val="FFFFFF"/>
          </a:solidFill>
          <a:ln w="9525">
            <a:solidFill>
              <a:srgbClr val="CBD5E1"/>
            </a:solidFill>
            <a:prstDash val="solid"/>
          </a:ln>
        </p:spPr>
      </p:sp>
      <p:sp>
        <p:nvSpPr>
          <p:cNvPr id="73" name="Text 71"/>
          <p:cNvSpPr/>
          <p:nvPr/>
        </p:nvSpPr>
        <p:spPr>
          <a:xfrm>
            <a:off x="4215384"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Live Events</a:t>
            </a:r>
            <a:endParaRPr lang="en-US" sz="750" dirty="0"/>
          </a:p>
        </p:txBody>
      </p:sp>
      <p:sp>
        <p:nvSpPr>
          <p:cNvPr id="74" name="Shape 72"/>
          <p:cNvSpPr/>
          <p:nvPr/>
        </p:nvSpPr>
        <p:spPr>
          <a:xfrm>
            <a:off x="4215384" y="4343400"/>
            <a:ext cx="932688" cy="155448"/>
          </a:xfrm>
          <a:prstGeom prst="roundRect">
            <a:avLst>
              <a:gd name="adj" fmla="val 17647"/>
            </a:avLst>
          </a:prstGeom>
          <a:solidFill>
            <a:srgbClr val="1558A8"/>
          </a:solidFill>
          <a:ln w="12700">
            <a:solidFill>
              <a:srgbClr val="1558A8"/>
            </a:solidFill>
            <a:prstDash val="solid"/>
          </a:ln>
        </p:spPr>
      </p:sp>
      <p:sp>
        <p:nvSpPr>
          <p:cNvPr id="75" name="Text 73"/>
          <p:cNvSpPr/>
          <p:nvPr/>
        </p:nvSpPr>
        <p:spPr>
          <a:xfrm>
            <a:off x="4215384"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76" name="Shape 74"/>
          <p:cNvSpPr/>
          <p:nvPr/>
        </p:nvSpPr>
        <p:spPr>
          <a:xfrm>
            <a:off x="5230368" y="4133088"/>
            <a:ext cx="932688" cy="182880"/>
          </a:xfrm>
          <a:prstGeom prst="roundRect">
            <a:avLst>
              <a:gd name="adj" fmla="val 15000"/>
            </a:avLst>
          </a:prstGeom>
          <a:solidFill>
            <a:srgbClr val="FFFFFF"/>
          </a:solidFill>
          <a:ln w="9525">
            <a:solidFill>
              <a:srgbClr val="CBD5E1"/>
            </a:solidFill>
            <a:prstDash val="solid"/>
          </a:ln>
        </p:spPr>
      </p:sp>
      <p:sp>
        <p:nvSpPr>
          <p:cNvPr id="77" name="Text 75"/>
          <p:cNvSpPr/>
          <p:nvPr/>
        </p:nvSpPr>
        <p:spPr>
          <a:xfrm>
            <a:off x="5230368"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Back Catalog</a:t>
            </a:r>
            <a:endParaRPr lang="en-US" sz="750" dirty="0"/>
          </a:p>
        </p:txBody>
      </p:sp>
      <p:sp>
        <p:nvSpPr>
          <p:cNvPr id="78" name="Shape 76"/>
          <p:cNvSpPr/>
          <p:nvPr/>
        </p:nvSpPr>
        <p:spPr>
          <a:xfrm>
            <a:off x="5230368" y="4343400"/>
            <a:ext cx="932688" cy="155448"/>
          </a:xfrm>
          <a:prstGeom prst="roundRect">
            <a:avLst>
              <a:gd name="adj" fmla="val 17647"/>
            </a:avLst>
          </a:prstGeom>
          <a:solidFill>
            <a:srgbClr val="F3F4F6"/>
          </a:solidFill>
          <a:ln w="9525">
            <a:solidFill>
              <a:srgbClr val="D1D5DB"/>
            </a:solidFill>
            <a:prstDash val="solid"/>
          </a:ln>
        </p:spPr>
      </p:sp>
      <p:sp>
        <p:nvSpPr>
          <p:cNvPr id="79" name="Text 77"/>
          <p:cNvSpPr/>
          <p:nvPr/>
        </p:nvSpPr>
        <p:spPr>
          <a:xfrm>
            <a:off x="5230368" y="434340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80" name="Shape 78"/>
          <p:cNvSpPr/>
          <p:nvPr/>
        </p:nvSpPr>
        <p:spPr>
          <a:xfrm>
            <a:off x="6245352" y="4133088"/>
            <a:ext cx="932688" cy="182880"/>
          </a:xfrm>
          <a:prstGeom prst="roundRect">
            <a:avLst>
              <a:gd name="adj" fmla="val 15000"/>
            </a:avLst>
          </a:prstGeom>
          <a:solidFill>
            <a:srgbClr val="FFFFFF"/>
          </a:solidFill>
          <a:ln w="9525">
            <a:solidFill>
              <a:srgbClr val="CBD5E1"/>
            </a:solidFill>
            <a:prstDash val="solid"/>
          </a:ln>
        </p:spPr>
      </p:sp>
      <p:sp>
        <p:nvSpPr>
          <p:cNvPr id="81" name="Text 79"/>
          <p:cNvSpPr/>
          <p:nvPr/>
        </p:nvSpPr>
        <p:spPr>
          <a:xfrm>
            <a:off x="6245352"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Full Replays</a:t>
            </a:r>
            <a:endParaRPr lang="en-US" sz="750" dirty="0"/>
          </a:p>
        </p:txBody>
      </p:sp>
      <p:sp>
        <p:nvSpPr>
          <p:cNvPr id="82" name="Shape 80"/>
          <p:cNvSpPr/>
          <p:nvPr/>
        </p:nvSpPr>
        <p:spPr>
          <a:xfrm>
            <a:off x="6245352" y="4343400"/>
            <a:ext cx="932688" cy="155448"/>
          </a:xfrm>
          <a:prstGeom prst="roundRect">
            <a:avLst>
              <a:gd name="adj" fmla="val 17647"/>
            </a:avLst>
          </a:prstGeom>
          <a:solidFill>
            <a:srgbClr val="1558A8"/>
          </a:solidFill>
          <a:ln w="12700">
            <a:solidFill>
              <a:srgbClr val="1558A8"/>
            </a:solidFill>
            <a:prstDash val="solid"/>
          </a:ln>
        </p:spPr>
      </p:sp>
      <p:sp>
        <p:nvSpPr>
          <p:cNvPr id="83" name="Text 81"/>
          <p:cNvSpPr/>
          <p:nvPr/>
        </p:nvSpPr>
        <p:spPr>
          <a:xfrm>
            <a:off x="6245352"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84" name="Shape 82"/>
          <p:cNvSpPr/>
          <p:nvPr/>
        </p:nvSpPr>
        <p:spPr>
          <a:xfrm>
            <a:off x="7260336" y="4133088"/>
            <a:ext cx="932688" cy="182880"/>
          </a:xfrm>
          <a:prstGeom prst="roundRect">
            <a:avLst>
              <a:gd name="adj" fmla="val 15000"/>
            </a:avLst>
          </a:prstGeom>
          <a:solidFill>
            <a:srgbClr val="FFFFFF"/>
          </a:solidFill>
          <a:ln w="9525">
            <a:solidFill>
              <a:srgbClr val="CBD5E1"/>
            </a:solidFill>
            <a:prstDash val="solid"/>
          </a:ln>
        </p:spPr>
      </p:sp>
      <p:sp>
        <p:nvSpPr>
          <p:cNvPr id="85" name="Text 83"/>
          <p:cNvSpPr/>
          <p:nvPr/>
        </p:nvSpPr>
        <p:spPr>
          <a:xfrm>
            <a:off x="7260336"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M15</a:t>
            </a:r>
            <a:endParaRPr lang="en-US" sz="750" dirty="0"/>
          </a:p>
        </p:txBody>
      </p:sp>
      <p:sp>
        <p:nvSpPr>
          <p:cNvPr id="86" name="Shape 84"/>
          <p:cNvSpPr/>
          <p:nvPr/>
        </p:nvSpPr>
        <p:spPr>
          <a:xfrm>
            <a:off x="7260336" y="4343400"/>
            <a:ext cx="932688" cy="155448"/>
          </a:xfrm>
          <a:prstGeom prst="roundRect">
            <a:avLst>
              <a:gd name="adj" fmla="val 17647"/>
            </a:avLst>
          </a:prstGeom>
          <a:solidFill>
            <a:srgbClr val="DCFCE7"/>
          </a:solidFill>
          <a:ln w="12700">
            <a:solidFill>
              <a:srgbClr val="15803D"/>
            </a:solidFill>
            <a:prstDash val="solid"/>
          </a:ln>
        </p:spPr>
      </p:sp>
      <p:sp>
        <p:nvSpPr>
          <p:cNvPr id="87" name="Text 85"/>
          <p:cNvSpPr/>
          <p:nvPr/>
        </p:nvSpPr>
        <p:spPr>
          <a:xfrm>
            <a:off x="7260336" y="4343400"/>
            <a:ext cx="932688" cy="155448"/>
          </a:xfrm>
          <a:prstGeom prst="rect">
            <a:avLst/>
          </a:prstGeom>
          <a:noFill/>
          <a:ln/>
        </p:spPr>
        <p:txBody>
          <a:bodyPr wrap="square" lIns="0" tIns="0" rIns="0" bIns="0" rtlCol="0" anchor="ctr"/>
          <a:lstStyle/>
          <a:p>
            <a:pPr algn="ctr" indent="0" marL="0">
              <a:buNone/>
            </a:pPr>
            <a:r>
              <a:rPr lang="en-US" sz="700" dirty="0">
                <a:solidFill>
                  <a:srgbClr val="14532D"/>
                </a:solidFill>
              </a:rPr>
              <a:t>Done</a:t>
            </a:r>
            <a:endParaRPr lang="en-US" sz="700" dirty="0"/>
          </a:p>
        </p:txBody>
      </p:sp>
      <p:sp>
        <p:nvSpPr>
          <p:cNvPr id="88" name="Shape 86"/>
          <p:cNvSpPr/>
          <p:nvPr/>
        </p:nvSpPr>
        <p:spPr>
          <a:xfrm>
            <a:off x="8275320" y="4133088"/>
            <a:ext cx="932688" cy="182880"/>
          </a:xfrm>
          <a:prstGeom prst="roundRect">
            <a:avLst>
              <a:gd name="adj" fmla="val 15000"/>
            </a:avLst>
          </a:prstGeom>
          <a:solidFill>
            <a:srgbClr val="FFFFFF"/>
          </a:solidFill>
          <a:ln w="9525">
            <a:solidFill>
              <a:srgbClr val="CBD5E1"/>
            </a:solidFill>
            <a:prstDash val="solid"/>
          </a:ln>
        </p:spPr>
      </p:sp>
      <p:sp>
        <p:nvSpPr>
          <p:cNvPr id="89" name="Text 87"/>
          <p:cNvSpPr/>
          <p:nvPr/>
        </p:nvSpPr>
        <p:spPr>
          <a:xfrm>
            <a:off x="8275320"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Highlights</a:t>
            </a:r>
            <a:endParaRPr lang="en-US" sz="750" dirty="0"/>
          </a:p>
        </p:txBody>
      </p:sp>
      <p:sp>
        <p:nvSpPr>
          <p:cNvPr id="90" name="Shape 88"/>
          <p:cNvSpPr/>
          <p:nvPr/>
        </p:nvSpPr>
        <p:spPr>
          <a:xfrm>
            <a:off x="8275320" y="4343400"/>
            <a:ext cx="932688" cy="155448"/>
          </a:xfrm>
          <a:prstGeom prst="roundRect">
            <a:avLst>
              <a:gd name="adj" fmla="val 17647"/>
            </a:avLst>
          </a:prstGeom>
          <a:solidFill>
            <a:srgbClr val="DCFCE7"/>
          </a:solidFill>
          <a:ln w="12700">
            <a:solidFill>
              <a:srgbClr val="15803D"/>
            </a:solidFill>
            <a:prstDash val="solid"/>
          </a:ln>
        </p:spPr>
      </p:sp>
      <p:sp>
        <p:nvSpPr>
          <p:cNvPr id="91" name="Text 89"/>
          <p:cNvSpPr/>
          <p:nvPr/>
        </p:nvSpPr>
        <p:spPr>
          <a:xfrm>
            <a:off x="8275320" y="4343400"/>
            <a:ext cx="932688" cy="155448"/>
          </a:xfrm>
          <a:prstGeom prst="rect">
            <a:avLst/>
          </a:prstGeom>
          <a:noFill/>
          <a:ln/>
        </p:spPr>
        <p:txBody>
          <a:bodyPr wrap="square" lIns="0" tIns="0" rIns="0" bIns="0" rtlCol="0" anchor="ctr"/>
          <a:lstStyle/>
          <a:p>
            <a:pPr algn="ctr" indent="0" marL="0">
              <a:buNone/>
            </a:pPr>
            <a:r>
              <a:rPr lang="en-US" sz="700" dirty="0">
                <a:solidFill>
                  <a:srgbClr val="14532D"/>
                </a:solidFill>
              </a:rPr>
              <a:t>Done</a:t>
            </a:r>
            <a:endParaRPr lang="en-US" sz="700" dirty="0"/>
          </a:p>
        </p:txBody>
      </p:sp>
      <p:sp>
        <p:nvSpPr>
          <p:cNvPr id="92" name="Shape 90"/>
          <p:cNvSpPr/>
          <p:nvPr/>
        </p:nvSpPr>
        <p:spPr>
          <a:xfrm>
            <a:off x="1170432" y="4590288"/>
            <a:ext cx="932688" cy="182880"/>
          </a:xfrm>
          <a:prstGeom prst="roundRect">
            <a:avLst>
              <a:gd name="adj" fmla="val 15000"/>
            </a:avLst>
          </a:prstGeom>
          <a:solidFill>
            <a:srgbClr val="FFFFFF"/>
          </a:solidFill>
          <a:ln w="9525">
            <a:solidFill>
              <a:srgbClr val="CBD5E1"/>
            </a:solidFill>
            <a:prstDash val="solid"/>
          </a:ln>
        </p:spPr>
      </p:sp>
      <p:sp>
        <p:nvSpPr>
          <p:cNvPr id="93" name="Text 91"/>
          <p:cNvSpPr/>
          <p:nvPr/>
        </p:nvSpPr>
        <p:spPr>
          <a:xfrm>
            <a:off x="1170432" y="45902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Linear</a:t>
            </a:r>
            <a:endParaRPr lang="en-US" sz="750" dirty="0"/>
          </a:p>
        </p:txBody>
      </p:sp>
      <p:sp>
        <p:nvSpPr>
          <p:cNvPr id="94" name="Shape 92"/>
          <p:cNvSpPr/>
          <p:nvPr/>
        </p:nvSpPr>
        <p:spPr>
          <a:xfrm>
            <a:off x="1170432" y="4800600"/>
            <a:ext cx="932688" cy="155448"/>
          </a:xfrm>
          <a:prstGeom prst="roundRect">
            <a:avLst>
              <a:gd name="adj" fmla="val 17647"/>
            </a:avLst>
          </a:prstGeom>
          <a:solidFill>
            <a:srgbClr val="1558A8"/>
          </a:solidFill>
          <a:ln w="12700">
            <a:solidFill>
              <a:srgbClr val="1558A8"/>
            </a:solidFill>
            <a:prstDash val="solid"/>
          </a:ln>
        </p:spPr>
      </p:sp>
      <p:sp>
        <p:nvSpPr>
          <p:cNvPr id="95" name="Text 93"/>
          <p:cNvSpPr/>
          <p:nvPr/>
        </p:nvSpPr>
        <p:spPr>
          <a:xfrm>
            <a:off x="1170432" y="48006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96" name="Shape 94"/>
          <p:cNvSpPr/>
          <p:nvPr/>
        </p:nvSpPr>
        <p:spPr>
          <a:xfrm>
            <a:off x="164592" y="5399532"/>
            <a:ext cx="9116568" cy="1476756"/>
          </a:xfrm>
          <a:prstGeom prst="rect">
            <a:avLst/>
          </a:prstGeom>
          <a:solidFill>
            <a:srgbClr val="FFFFFF"/>
          </a:solidFill>
          <a:ln w="6350">
            <a:solidFill>
              <a:srgbClr val="E5E7EB"/>
            </a:solidFill>
            <a:prstDash val="solid"/>
          </a:ln>
        </p:spPr>
      </p:sp>
      <p:sp>
        <p:nvSpPr>
          <p:cNvPr id="97" name="Shape 95"/>
          <p:cNvSpPr/>
          <p:nvPr/>
        </p:nvSpPr>
        <p:spPr>
          <a:xfrm>
            <a:off x="182880" y="5472684"/>
            <a:ext cx="859536" cy="1330452"/>
          </a:xfrm>
          <a:prstGeom prst="roundRect">
            <a:avLst>
              <a:gd name="adj" fmla="val 5319"/>
            </a:avLst>
          </a:prstGeom>
          <a:solidFill>
            <a:srgbClr val="9CA3AF"/>
          </a:solidFill>
          <a:ln w="12700">
            <a:solidFill>
              <a:srgbClr val="9CA3AF"/>
            </a:solidFill>
            <a:prstDash val="solid"/>
          </a:ln>
        </p:spPr>
      </p:sp>
      <p:sp>
        <p:nvSpPr>
          <p:cNvPr id="98" name="Text 96"/>
          <p:cNvSpPr/>
          <p:nvPr/>
        </p:nvSpPr>
        <p:spPr>
          <a:xfrm>
            <a:off x="182880" y="547268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Onboarding</a:t>
            </a:r>
            <a:endParaRPr lang="en-US" sz="800" dirty="0"/>
          </a:p>
        </p:txBody>
      </p:sp>
      <p:sp>
        <p:nvSpPr>
          <p:cNvPr id="99" name="Text 97"/>
          <p:cNvSpPr/>
          <p:nvPr/>
        </p:nvSpPr>
        <p:spPr>
          <a:xfrm>
            <a:off x="1170432" y="544525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4 / 6 In Progress · 1 Done</a:t>
            </a:r>
            <a:endParaRPr lang="en-US" sz="750" dirty="0"/>
          </a:p>
        </p:txBody>
      </p:sp>
      <p:sp>
        <p:nvSpPr>
          <p:cNvPr id="100" name="Shape 98"/>
          <p:cNvSpPr/>
          <p:nvPr/>
        </p:nvSpPr>
        <p:spPr>
          <a:xfrm>
            <a:off x="1170432" y="5664708"/>
            <a:ext cx="932688" cy="182880"/>
          </a:xfrm>
          <a:prstGeom prst="roundRect">
            <a:avLst>
              <a:gd name="adj" fmla="val 15000"/>
            </a:avLst>
          </a:prstGeom>
          <a:solidFill>
            <a:srgbClr val="FFFFFF"/>
          </a:solidFill>
          <a:ln w="9525">
            <a:solidFill>
              <a:srgbClr val="CBD5E1"/>
            </a:solidFill>
            <a:prstDash val="solid"/>
          </a:ln>
        </p:spPr>
      </p:sp>
      <p:sp>
        <p:nvSpPr>
          <p:cNvPr id="101" name="Text 99"/>
          <p:cNvSpPr/>
          <p:nvPr/>
        </p:nvSpPr>
        <p:spPr>
          <a:xfrm>
            <a:off x="1170432"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Unentitled</a:t>
            </a:r>
            <a:endParaRPr lang="en-US" sz="750" dirty="0"/>
          </a:p>
        </p:txBody>
      </p:sp>
      <p:sp>
        <p:nvSpPr>
          <p:cNvPr id="102" name="Shape 100"/>
          <p:cNvSpPr/>
          <p:nvPr/>
        </p:nvSpPr>
        <p:spPr>
          <a:xfrm>
            <a:off x="1170432" y="5875020"/>
            <a:ext cx="932688" cy="155448"/>
          </a:xfrm>
          <a:prstGeom prst="roundRect">
            <a:avLst>
              <a:gd name="adj" fmla="val 17647"/>
            </a:avLst>
          </a:prstGeom>
          <a:solidFill>
            <a:srgbClr val="1558A8"/>
          </a:solidFill>
          <a:ln w="12700">
            <a:solidFill>
              <a:srgbClr val="1558A8"/>
            </a:solidFill>
            <a:prstDash val="solid"/>
          </a:ln>
        </p:spPr>
      </p:sp>
      <p:sp>
        <p:nvSpPr>
          <p:cNvPr id="103" name="Text 101"/>
          <p:cNvSpPr/>
          <p:nvPr/>
        </p:nvSpPr>
        <p:spPr>
          <a:xfrm>
            <a:off x="1170432"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04" name="Shape 102"/>
          <p:cNvSpPr/>
          <p:nvPr/>
        </p:nvSpPr>
        <p:spPr>
          <a:xfrm>
            <a:off x="2185416" y="5664708"/>
            <a:ext cx="932688" cy="182880"/>
          </a:xfrm>
          <a:prstGeom prst="roundRect">
            <a:avLst>
              <a:gd name="adj" fmla="val 15000"/>
            </a:avLst>
          </a:prstGeom>
          <a:solidFill>
            <a:srgbClr val="FFFFFF"/>
          </a:solidFill>
          <a:ln w="9525">
            <a:solidFill>
              <a:srgbClr val="CBD5E1"/>
            </a:solidFill>
            <a:prstDash val="solid"/>
          </a:ln>
        </p:spPr>
      </p:sp>
      <p:sp>
        <p:nvSpPr>
          <p:cNvPr id="105" name="Text 103"/>
          <p:cNvSpPr/>
          <p:nvPr/>
        </p:nvSpPr>
        <p:spPr>
          <a:xfrm>
            <a:off x="2185416"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Sign-in</a:t>
            </a:r>
            <a:endParaRPr lang="en-US" sz="750" dirty="0"/>
          </a:p>
        </p:txBody>
      </p:sp>
      <p:sp>
        <p:nvSpPr>
          <p:cNvPr id="106" name="Shape 104"/>
          <p:cNvSpPr/>
          <p:nvPr/>
        </p:nvSpPr>
        <p:spPr>
          <a:xfrm>
            <a:off x="2185416" y="5875020"/>
            <a:ext cx="932688" cy="155448"/>
          </a:xfrm>
          <a:prstGeom prst="roundRect">
            <a:avLst>
              <a:gd name="adj" fmla="val 17647"/>
            </a:avLst>
          </a:prstGeom>
          <a:solidFill>
            <a:srgbClr val="1558A8"/>
          </a:solidFill>
          <a:ln w="12700">
            <a:solidFill>
              <a:srgbClr val="1558A8"/>
            </a:solidFill>
            <a:prstDash val="solid"/>
          </a:ln>
        </p:spPr>
      </p:sp>
      <p:sp>
        <p:nvSpPr>
          <p:cNvPr id="107" name="Text 105"/>
          <p:cNvSpPr/>
          <p:nvPr/>
        </p:nvSpPr>
        <p:spPr>
          <a:xfrm>
            <a:off x="2185416"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08" name="Shape 106"/>
          <p:cNvSpPr/>
          <p:nvPr/>
        </p:nvSpPr>
        <p:spPr>
          <a:xfrm>
            <a:off x="3200400" y="5664708"/>
            <a:ext cx="932688" cy="182880"/>
          </a:xfrm>
          <a:prstGeom prst="roundRect">
            <a:avLst>
              <a:gd name="adj" fmla="val 15000"/>
            </a:avLst>
          </a:prstGeom>
          <a:solidFill>
            <a:srgbClr val="FFFFFF"/>
          </a:solidFill>
          <a:ln w="9525">
            <a:solidFill>
              <a:srgbClr val="CBD5E1"/>
            </a:solidFill>
            <a:prstDash val="solid"/>
          </a:ln>
        </p:spPr>
      </p:sp>
      <p:sp>
        <p:nvSpPr>
          <p:cNvPr id="109" name="Text 107"/>
          <p:cNvSpPr/>
          <p:nvPr/>
        </p:nvSpPr>
        <p:spPr>
          <a:xfrm>
            <a:off x="3200400"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Subscription</a:t>
            </a:r>
            <a:endParaRPr lang="en-US" sz="750" dirty="0"/>
          </a:p>
        </p:txBody>
      </p:sp>
      <p:sp>
        <p:nvSpPr>
          <p:cNvPr id="110" name="Shape 108"/>
          <p:cNvSpPr/>
          <p:nvPr/>
        </p:nvSpPr>
        <p:spPr>
          <a:xfrm>
            <a:off x="3200400" y="5875020"/>
            <a:ext cx="932688" cy="155448"/>
          </a:xfrm>
          <a:prstGeom prst="roundRect">
            <a:avLst>
              <a:gd name="adj" fmla="val 17647"/>
            </a:avLst>
          </a:prstGeom>
          <a:solidFill>
            <a:srgbClr val="1558A8"/>
          </a:solidFill>
          <a:ln w="12700">
            <a:solidFill>
              <a:srgbClr val="1558A8"/>
            </a:solidFill>
            <a:prstDash val="solid"/>
          </a:ln>
        </p:spPr>
      </p:sp>
      <p:sp>
        <p:nvSpPr>
          <p:cNvPr id="111" name="Text 109"/>
          <p:cNvSpPr/>
          <p:nvPr/>
        </p:nvSpPr>
        <p:spPr>
          <a:xfrm>
            <a:off x="3200400"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12" name="Shape 110"/>
          <p:cNvSpPr/>
          <p:nvPr/>
        </p:nvSpPr>
        <p:spPr>
          <a:xfrm>
            <a:off x="4215384" y="5664708"/>
            <a:ext cx="932688" cy="182880"/>
          </a:xfrm>
          <a:prstGeom prst="roundRect">
            <a:avLst>
              <a:gd name="adj" fmla="val 15000"/>
            </a:avLst>
          </a:prstGeom>
          <a:solidFill>
            <a:srgbClr val="FFFFFF"/>
          </a:solidFill>
          <a:ln w="9525">
            <a:solidFill>
              <a:srgbClr val="CBD5E1"/>
            </a:solidFill>
            <a:prstDash val="solid"/>
          </a:ln>
        </p:spPr>
      </p:sp>
      <p:sp>
        <p:nvSpPr>
          <p:cNvPr id="113" name="Text 111"/>
          <p:cNvSpPr/>
          <p:nvPr/>
        </p:nvSpPr>
        <p:spPr>
          <a:xfrm>
            <a:off x="4215384"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MVPD</a:t>
            </a:r>
            <a:endParaRPr lang="en-US" sz="750" dirty="0"/>
          </a:p>
        </p:txBody>
      </p:sp>
      <p:sp>
        <p:nvSpPr>
          <p:cNvPr id="114" name="Shape 112"/>
          <p:cNvSpPr/>
          <p:nvPr/>
        </p:nvSpPr>
        <p:spPr>
          <a:xfrm>
            <a:off x="4215384" y="5875020"/>
            <a:ext cx="932688" cy="155448"/>
          </a:xfrm>
          <a:prstGeom prst="roundRect">
            <a:avLst>
              <a:gd name="adj" fmla="val 17647"/>
            </a:avLst>
          </a:prstGeom>
          <a:solidFill>
            <a:srgbClr val="DCFCE7"/>
          </a:solidFill>
          <a:ln w="12700">
            <a:solidFill>
              <a:srgbClr val="15803D"/>
            </a:solidFill>
            <a:prstDash val="solid"/>
          </a:ln>
        </p:spPr>
      </p:sp>
      <p:sp>
        <p:nvSpPr>
          <p:cNvPr id="115" name="Text 113"/>
          <p:cNvSpPr/>
          <p:nvPr/>
        </p:nvSpPr>
        <p:spPr>
          <a:xfrm>
            <a:off x="4215384" y="5875020"/>
            <a:ext cx="932688" cy="155448"/>
          </a:xfrm>
          <a:prstGeom prst="rect">
            <a:avLst/>
          </a:prstGeom>
          <a:noFill/>
          <a:ln/>
        </p:spPr>
        <p:txBody>
          <a:bodyPr wrap="square" lIns="0" tIns="0" rIns="0" bIns="0" rtlCol="0" anchor="ctr"/>
          <a:lstStyle/>
          <a:p>
            <a:pPr algn="ctr" indent="0" marL="0">
              <a:buNone/>
            </a:pPr>
            <a:r>
              <a:rPr lang="en-US" sz="700" dirty="0">
                <a:solidFill>
                  <a:srgbClr val="14532D"/>
                </a:solidFill>
              </a:rPr>
              <a:t>Done</a:t>
            </a:r>
            <a:endParaRPr lang="en-US" sz="700" dirty="0"/>
          </a:p>
        </p:txBody>
      </p:sp>
      <p:sp>
        <p:nvSpPr>
          <p:cNvPr id="116" name="Shape 114"/>
          <p:cNvSpPr/>
          <p:nvPr/>
        </p:nvSpPr>
        <p:spPr>
          <a:xfrm>
            <a:off x="5230368" y="5664708"/>
            <a:ext cx="932688" cy="182880"/>
          </a:xfrm>
          <a:prstGeom prst="roundRect">
            <a:avLst>
              <a:gd name="adj" fmla="val 15000"/>
            </a:avLst>
          </a:prstGeom>
          <a:solidFill>
            <a:srgbClr val="FFFFFF"/>
          </a:solidFill>
          <a:ln w="9525">
            <a:solidFill>
              <a:srgbClr val="CBD5E1"/>
            </a:solidFill>
            <a:prstDash val="solid"/>
          </a:ln>
        </p:spPr>
      </p:sp>
      <p:sp>
        <p:nvSpPr>
          <p:cNvPr id="117" name="Text 115"/>
          <p:cNvSpPr/>
          <p:nvPr/>
        </p:nvSpPr>
        <p:spPr>
          <a:xfrm>
            <a:off x="5230368"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Cleeng</a:t>
            </a:r>
            <a:endParaRPr lang="en-US" sz="750" dirty="0"/>
          </a:p>
        </p:txBody>
      </p:sp>
      <p:sp>
        <p:nvSpPr>
          <p:cNvPr id="118" name="Shape 116"/>
          <p:cNvSpPr/>
          <p:nvPr/>
        </p:nvSpPr>
        <p:spPr>
          <a:xfrm>
            <a:off x="5230368" y="5875020"/>
            <a:ext cx="932688" cy="155448"/>
          </a:xfrm>
          <a:prstGeom prst="roundRect">
            <a:avLst>
              <a:gd name="adj" fmla="val 17647"/>
            </a:avLst>
          </a:prstGeom>
          <a:solidFill>
            <a:srgbClr val="1558A8"/>
          </a:solidFill>
          <a:ln w="12700">
            <a:solidFill>
              <a:srgbClr val="1558A8"/>
            </a:solidFill>
            <a:prstDash val="solid"/>
          </a:ln>
        </p:spPr>
      </p:sp>
      <p:sp>
        <p:nvSpPr>
          <p:cNvPr id="119" name="Text 117"/>
          <p:cNvSpPr/>
          <p:nvPr/>
        </p:nvSpPr>
        <p:spPr>
          <a:xfrm>
            <a:off x="5230368"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20" name="Shape 118"/>
          <p:cNvSpPr/>
          <p:nvPr/>
        </p:nvSpPr>
        <p:spPr>
          <a:xfrm>
            <a:off x="6245352" y="5664708"/>
            <a:ext cx="932688" cy="182880"/>
          </a:xfrm>
          <a:prstGeom prst="roundRect">
            <a:avLst>
              <a:gd name="adj" fmla="val 15000"/>
            </a:avLst>
          </a:prstGeom>
          <a:solidFill>
            <a:srgbClr val="FFFFFF"/>
          </a:solidFill>
          <a:ln w="9525">
            <a:solidFill>
              <a:srgbClr val="CBD5E1"/>
            </a:solidFill>
            <a:prstDash val="solid"/>
          </a:ln>
        </p:spPr>
      </p:sp>
      <p:sp>
        <p:nvSpPr>
          <p:cNvPr id="121" name="Text 119"/>
          <p:cNvSpPr/>
          <p:nvPr/>
        </p:nvSpPr>
        <p:spPr>
          <a:xfrm>
            <a:off x="6245352"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Promos</a:t>
            </a:r>
            <a:endParaRPr lang="en-US" sz="750" dirty="0"/>
          </a:p>
        </p:txBody>
      </p:sp>
      <p:sp>
        <p:nvSpPr>
          <p:cNvPr id="122" name="Shape 120"/>
          <p:cNvSpPr/>
          <p:nvPr/>
        </p:nvSpPr>
        <p:spPr>
          <a:xfrm>
            <a:off x="6245352" y="5875020"/>
            <a:ext cx="932688" cy="155448"/>
          </a:xfrm>
          <a:prstGeom prst="roundRect">
            <a:avLst>
              <a:gd name="adj" fmla="val 17647"/>
            </a:avLst>
          </a:prstGeom>
          <a:solidFill>
            <a:srgbClr val="F3F4F6"/>
          </a:solidFill>
          <a:ln w="9525">
            <a:solidFill>
              <a:srgbClr val="D1D5DB"/>
            </a:solidFill>
            <a:prstDash val="solid"/>
          </a:ln>
        </p:spPr>
      </p:sp>
      <p:sp>
        <p:nvSpPr>
          <p:cNvPr id="123" name="Text 121"/>
          <p:cNvSpPr/>
          <p:nvPr/>
        </p:nvSpPr>
        <p:spPr>
          <a:xfrm>
            <a:off x="6245352" y="587502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24" name="Shape 122"/>
          <p:cNvSpPr/>
          <p:nvPr/>
        </p:nvSpPr>
        <p:spPr>
          <a:xfrm>
            <a:off x="9372600" y="804672"/>
            <a:ext cx="2834640" cy="6071616"/>
          </a:xfrm>
          <a:prstGeom prst="rect">
            <a:avLst/>
          </a:prstGeom>
          <a:solidFill>
            <a:srgbClr val="F8FAFB"/>
          </a:solidFill>
          <a:ln w="12700">
            <a:solidFill>
              <a:srgbClr val="DDE1E6"/>
            </a:solidFill>
            <a:prstDash val="solid"/>
          </a:ln>
        </p:spPr>
      </p:sp>
      <p:sp>
        <p:nvSpPr>
          <p:cNvPr id="125" name="Text 123"/>
          <p:cNvSpPr/>
          <p:nvPr/>
        </p:nvSpPr>
        <p:spPr>
          <a:xfrm>
            <a:off x="9500616" y="950976"/>
            <a:ext cx="2633472" cy="201168"/>
          </a:xfrm>
          <a:prstGeom prst="rect">
            <a:avLst/>
          </a:prstGeom>
          <a:noFill/>
          <a:ln/>
        </p:spPr>
        <p:txBody>
          <a:bodyPr wrap="square" lIns="0" tIns="0" rIns="0" bIns="0" rtlCol="0" anchor="ctr"/>
          <a:lstStyle/>
          <a:p>
            <a:pPr indent="0" marL="0">
              <a:buNone/>
            </a:pPr>
            <a:r>
              <a:rPr lang="en-US" sz="950" b="1" dirty="0">
                <a:solidFill>
                  <a:srgbClr val="111827"/>
                </a:solidFill>
              </a:rPr>
              <a:t>Milestones</a:t>
            </a:r>
            <a:endParaRPr lang="en-US" sz="950" dirty="0"/>
          </a:p>
        </p:txBody>
      </p:sp>
      <p:sp>
        <p:nvSpPr>
          <p:cNvPr id="126" name="Shape 124"/>
          <p:cNvSpPr/>
          <p:nvPr/>
        </p:nvSpPr>
        <p:spPr>
          <a:xfrm>
            <a:off x="9464040" y="1225296"/>
            <a:ext cx="2670048" cy="420624"/>
          </a:xfrm>
          <a:prstGeom prst="rect">
            <a:avLst/>
          </a:prstGeom>
          <a:solidFill>
            <a:srgbClr val="FFFFFF"/>
          </a:solidFill>
          <a:ln w="6350">
            <a:solidFill>
              <a:srgbClr val="E5E7EB"/>
            </a:solidFill>
            <a:prstDash val="solid"/>
          </a:ln>
        </p:spPr>
      </p:sp>
      <p:sp>
        <p:nvSpPr>
          <p:cNvPr id="127" name="Shape 125"/>
          <p:cNvSpPr/>
          <p:nvPr/>
        </p:nvSpPr>
        <p:spPr>
          <a:xfrm>
            <a:off x="9537192" y="1316736"/>
            <a:ext cx="109728" cy="109728"/>
          </a:xfrm>
          <a:prstGeom prst="ellipse">
            <a:avLst/>
          </a:prstGeom>
          <a:solidFill>
            <a:srgbClr val="16A34A"/>
          </a:solidFill>
          <a:ln w="12700">
            <a:solidFill>
              <a:srgbClr val="16A34A"/>
            </a:solidFill>
            <a:prstDash val="solid"/>
          </a:ln>
        </p:spPr>
      </p:sp>
      <p:sp>
        <p:nvSpPr>
          <p:cNvPr id="128" name="Text 126"/>
          <p:cNvSpPr/>
          <p:nvPr/>
        </p:nvSpPr>
        <p:spPr>
          <a:xfrm>
            <a:off x="9701784" y="1243584"/>
            <a:ext cx="2304288" cy="173736"/>
          </a:xfrm>
          <a:prstGeom prst="rect">
            <a:avLst/>
          </a:prstGeom>
          <a:noFill/>
          <a:ln/>
        </p:spPr>
        <p:txBody>
          <a:bodyPr wrap="square" lIns="0" tIns="0" rIns="0" bIns="0" rtlCol="0" anchor="ctr"/>
          <a:lstStyle/>
          <a:p>
            <a:pPr indent="0" marL="0">
              <a:buNone/>
            </a:pPr>
            <a:r>
              <a:rPr lang="en-US" sz="800" b="1" dirty="0">
                <a:solidFill>
                  <a:srgbClr val="15803D"/>
                </a:solidFill>
              </a:rPr>
              <a:t>Requirements</a:t>
            </a:r>
            <a:endParaRPr lang="en-US" sz="800" dirty="0"/>
          </a:p>
        </p:txBody>
      </p:sp>
      <p:sp>
        <p:nvSpPr>
          <p:cNvPr id="129" name="Text 127"/>
          <p:cNvSpPr/>
          <p:nvPr/>
        </p:nvSpPr>
        <p:spPr>
          <a:xfrm>
            <a:off x="9701784" y="1453896"/>
            <a:ext cx="1773936" cy="137160"/>
          </a:xfrm>
          <a:prstGeom prst="rect">
            <a:avLst/>
          </a:prstGeom>
          <a:noFill/>
          <a:ln/>
        </p:spPr>
        <p:txBody>
          <a:bodyPr wrap="square" lIns="0" tIns="0" rIns="0" bIns="0" rtlCol="0" anchor="ctr"/>
          <a:lstStyle/>
          <a:p>
            <a:pPr indent="0" marL="0">
              <a:buNone/>
            </a:pPr>
            <a:r>
              <a:rPr lang="en-US" sz="700" dirty="0">
                <a:solidFill>
                  <a:srgbClr val="6B7280"/>
                </a:solidFill>
              </a:rPr>
              <a:t>Jun 30, 2026</a:t>
            </a:r>
            <a:endParaRPr lang="en-US" sz="700" dirty="0"/>
          </a:p>
        </p:txBody>
      </p:sp>
      <p:sp>
        <p:nvSpPr>
          <p:cNvPr id="130" name="Shape 128"/>
          <p:cNvSpPr/>
          <p:nvPr/>
        </p:nvSpPr>
        <p:spPr>
          <a:xfrm>
            <a:off x="11494008" y="1453896"/>
            <a:ext cx="658368" cy="137160"/>
          </a:xfrm>
          <a:prstGeom prst="roundRect">
            <a:avLst>
              <a:gd name="adj" fmla="val 20000"/>
            </a:avLst>
          </a:prstGeom>
          <a:solidFill>
            <a:srgbClr val="DCFCE7"/>
          </a:solidFill>
          <a:ln w="12700">
            <a:solidFill>
              <a:srgbClr val="DCFCE7"/>
            </a:solidFill>
            <a:prstDash val="solid"/>
          </a:ln>
        </p:spPr>
      </p:sp>
      <p:sp>
        <p:nvSpPr>
          <p:cNvPr id="131" name="Text 129"/>
          <p:cNvSpPr/>
          <p:nvPr/>
        </p:nvSpPr>
        <p:spPr>
          <a:xfrm>
            <a:off x="11494008" y="1453896"/>
            <a:ext cx="658368" cy="137160"/>
          </a:xfrm>
          <a:prstGeom prst="rect">
            <a:avLst/>
          </a:prstGeom>
          <a:noFill/>
          <a:ln/>
        </p:spPr>
        <p:txBody>
          <a:bodyPr wrap="square" lIns="0" tIns="0" rIns="0" bIns="0" rtlCol="0" anchor="ctr"/>
          <a:lstStyle/>
          <a:p>
            <a:pPr algn="ctr" indent="0" marL="0">
              <a:buNone/>
            </a:pPr>
            <a:r>
              <a:rPr lang="en-US" sz="600" b="1" dirty="0">
                <a:solidFill>
                  <a:srgbClr val="166534"/>
                </a:solidFill>
              </a:rPr>
              <a:t>Complete</a:t>
            </a:r>
            <a:endParaRPr lang="en-US" sz="600" dirty="0"/>
          </a:p>
        </p:txBody>
      </p:sp>
      <p:sp>
        <p:nvSpPr>
          <p:cNvPr id="132" name="Shape 130"/>
          <p:cNvSpPr/>
          <p:nvPr/>
        </p:nvSpPr>
        <p:spPr>
          <a:xfrm>
            <a:off x="9464040" y="1700784"/>
            <a:ext cx="2670048" cy="420624"/>
          </a:xfrm>
          <a:prstGeom prst="rect">
            <a:avLst/>
          </a:prstGeom>
          <a:solidFill>
            <a:srgbClr val="FFFFFF"/>
          </a:solidFill>
          <a:ln w="6350">
            <a:solidFill>
              <a:srgbClr val="E5E7EB"/>
            </a:solidFill>
            <a:prstDash val="solid"/>
          </a:ln>
        </p:spPr>
      </p:sp>
      <p:sp>
        <p:nvSpPr>
          <p:cNvPr id="133" name="Shape 131"/>
          <p:cNvSpPr/>
          <p:nvPr/>
        </p:nvSpPr>
        <p:spPr>
          <a:xfrm>
            <a:off x="9537192" y="1792224"/>
            <a:ext cx="109728" cy="109728"/>
          </a:xfrm>
          <a:prstGeom prst="ellipse">
            <a:avLst/>
          </a:prstGeom>
          <a:solidFill>
            <a:srgbClr val="1558A8"/>
          </a:solidFill>
          <a:ln w="12700">
            <a:solidFill>
              <a:srgbClr val="1558A8"/>
            </a:solidFill>
            <a:prstDash val="solid"/>
          </a:ln>
        </p:spPr>
      </p:sp>
      <p:sp>
        <p:nvSpPr>
          <p:cNvPr id="134" name="Text 132"/>
          <p:cNvSpPr/>
          <p:nvPr/>
        </p:nvSpPr>
        <p:spPr>
          <a:xfrm>
            <a:off x="9701784" y="1719072"/>
            <a:ext cx="2304288" cy="173736"/>
          </a:xfrm>
          <a:prstGeom prst="rect">
            <a:avLst/>
          </a:prstGeom>
          <a:noFill/>
          <a:ln/>
        </p:spPr>
        <p:txBody>
          <a:bodyPr wrap="square" lIns="0" tIns="0" rIns="0" bIns="0" rtlCol="0" anchor="ctr"/>
          <a:lstStyle/>
          <a:p>
            <a:pPr indent="0" marL="0">
              <a:buNone/>
            </a:pPr>
            <a:r>
              <a:rPr lang="en-US" sz="800" b="1" dirty="0">
                <a:solidFill>
                  <a:srgbClr val="1D4ED8"/>
                </a:solidFill>
              </a:rPr>
              <a:t>Beta</a:t>
            </a:r>
            <a:endParaRPr lang="en-US" sz="800" dirty="0"/>
          </a:p>
        </p:txBody>
      </p:sp>
      <p:sp>
        <p:nvSpPr>
          <p:cNvPr id="135" name="Text 133"/>
          <p:cNvSpPr/>
          <p:nvPr/>
        </p:nvSpPr>
        <p:spPr>
          <a:xfrm>
            <a:off x="9701784" y="1929384"/>
            <a:ext cx="1773936" cy="137160"/>
          </a:xfrm>
          <a:prstGeom prst="rect">
            <a:avLst/>
          </a:prstGeom>
          <a:noFill/>
          <a:ln/>
        </p:spPr>
        <p:txBody>
          <a:bodyPr wrap="square" lIns="0" tIns="0" rIns="0" bIns="0" rtlCol="0" anchor="ctr"/>
          <a:lstStyle/>
          <a:p>
            <a:pPr indent="0" marL="0">
              <a:buNone/>
            </a:pPr>
            <a:r>
              <a:rPr lang="en-US" sz="700" dirty="0">
                <a:solidFill>
                  <a:srgbClr val="6B7280"/>
                </a:solidFill>
              </a:rPr>
              <a:t>Sep 30, 2026</a:t>
            </a:r>
            <a:endParaRPr lang="en-US" sz="700" dirty="0"/>
          </a:p>
        </p:txBody>
      </p:sp>
      <p:sp>
        <p:nvSpPr>
          <p:cNvPr id="136" name="Shape 134"/>
          <p:cNvSpPr/>
          <p:nvPr/>
        </p:nvSpPr>
        <p:spPr>
          <a:xfrm>
            <a:off x="11494008" y="1929384"/>
            <a:ext cx="658368" cy="137160"/>
          </a:xfrm>
          <a:prstGeom prst="roundRect">
            <a:avLst>
              <a:gd name="adj" fmla="val 20000"/>
            </a:avLst>
          </a:prstGeom>
          <a:solidFill>
            <a:srgbClr val="DBEAFE"/>
          </a:solidFill>
          <a:ln w="12700">
            <a:solidFill>
              <a:srgbClr val="DBEAFE"/>
            </a:solidFill>
            <a:prstDash val="solid"/>
          </a:ln>
        </p:spPr>
      </p:sp>
      <p:sp>
        <p:nvSpPr>
          <p:cNvPr id="137" name="Text 135"/>
          <p:cNvSpPr/>
          <p:nvPr/>
        </p:nvSpPr>
        <p:spPr>
          <a:xfrm>
            <a:off x="11494008" y="1929384"/>
            <a:ext cx="658368" cy="137160"/>
          </a:xfrm>
          <a:prstGeom prst="rect">
            <a:avLst/>
          </a:prstGeom>
          <a:noFill/>
          <a:ln/>
        </p:spPr>
        <p:txBody>
          <a:bodyPr wrap="square" lIns="0" tIns="0" rIns="0" bIns="0" rtlCol="0" anchor="ctr"/>
          <a:lstStyle/>
          <a:p>
            <a:pPr algn="ctr" indent="0" marL="0">
              <a:buNone/>
            </a:pPr>
            <a:r>
              <a:rPr lang="en-US" sz="600" b="1" dirty="0">
                <a:solidFill>
                  <a:srgbClr val="1E40AF"/>
                </a:solidFill>
              </a:rPr>
              <a:t>In Progress</a:t>
            </a:r>
            <a:endParaRPr lang="en-US" sz="600" dirty="0"/>
          </a:p>
        </p:txBody>
      </p:sp>
      <p:sp>
        <p:nvSpPr>
          <p:cNvPr id="138" name="Shape 136"/>
          <p:cNvSpPr/>
          <p:nvPr/>
        </p:nvSpPr>
        <p:spPr>
          <a:xfrm>
            <a:off x="9464040" y="2176272"/>
            <a:ext cx="2670048" cy="420624"/>
          </a:xfrm>
          <a:prstGeom prst="rect">
            <a:avLst/>
          </a:prstGeom>
          <a:solidFill>
            <a:srgbClr val="FFFFFF"/>
          </a:solidFill>
          <a:ln w="6350">
            <a:solidFill>
              <a:srgbClr val="E5E7EB"/>
            </a:solidFill>
            <a:prstDash val="solid"/>
          </a:ln>
        </p:spPr>
      </p:sp>
      <p:sp>
        <p:nvSpPr>
          <p:cNvPr id="139" name="Shape 137"/>
          <p:cNvSpPr/>
          <p:nvPr/>
        </p:nvSpPr>
        <p:spPr>
          <a:xfrm>
            <a:off x="9537192" y="2267712"/>
            <a:ext cx="109728" cy="109728"/>
          </a:xfrm>
          <a:prstGeom prst="ellipse">
            <a:avLst/>
          </a:prstGeom>
          <a:solidFill>
            <a:srgbClr val="9CA3AF"/>
          </a:solidFill>
          <a:ln w="12700">
            <a:solidFill>
              <a:srgbClr val="9CA3AF"/>
            </a:solidFill>
            <a:prstDash val="solid"/>
          </a:ln>
        </p:spPr>
      </p:sp>
      <p:sp>
        <p:nvSpPr>
          <p:cNvPr id="140" name="Text 138"/>
          <p:cNvSpPr/>
          <p:nvPr/>
        </p:nvSpPr>
        <p:spPr>
          <a:xfrm>
            <a:off x="9701784" y="2194560"/>
            <a:ext cx="2304288" cy="173736"/>
          </a:xfrm>
          <a:prstGeom prst="rect">
            <a:avLst/>
          </a:prstGeom>
          <a:noFill/>
          <a:ln/>
        </p:spPr>
        <p:txBody>
          <a:bodyPr wrap="square" lIns="0" tIns="0" rIns="0" bIns="0" rtlCol="0" anchor="ctr"/>
          <a:lstStyle/>
          <a:p>
            <a:pPr indent="0" marL="0">
              <a:buNone/>
            </a:pPr>
            <a:r>
              <a:rPr lang="en-US" sz="800" b="1" dirty="0">
                <a:solidFill>
                  <a:srgbClr val="1F2937"/>
                </a:solidFill>
              </a:rPr>
              <a:t>UAT / Testing</a:t>
            </a:r>
            <a:endParaRPr lang="en-US" sz="800" dirty="0"/>
          </a:p>
        </p:txBody>
      </p:sp>
      <p:sp>
        <p:nvSpPr>
          <p:cNvPr id="141" name="Text 139"/>
          <p:cNvSpPr/>
          <p:nvPr/>
        </p:nvSpPr>
        <p:spPr>
          <a:xfrm>
            <a:off x="9701784" y="2404872"/>
            <a:ext cx="1773936" cy="137160"/>
          </a:xfrm>
          <a:prstGeom prst="rect">
            <a:avLst/>
          </a:prstGeom>
          <a:noFill/>
          <a:ln/>
        </p:spPr>
        <p:txBody>
          <a:bodyPr wrap="square" lIns="0" tIns="0" rIns="0" bIns="0" rtlCol="0" anchor="ctr"/>
          <a:lstStyle/>
          <a:p>
            <a:pPr indent="0" marL="0">
              <a:buNone/>
            </a:pPr>
            <a:r>
              <a:rPr lang="en-US" sz="700" dirty="0">
                <a:solidFill>
                  <a:srgbClr val="6B7280"/>
                </a:solidFill>
              </a:rPr>
              <a:t>Nov 30, 2026</a:t>
            </a:r>
            <a:endParaRPr lang="en-US" sz="700" dirty="0"/>
          </a:p>
        </p:txBody>
      </p:sp>
      <p:sp>
        <p:nvSpPr>
          <p:cNvPr id="142" name="Shape 140"/>
          <p:cNvSpPr/>
          <p:nvPr/>
        </p:nvSpPr>
        <p:spPr>
          <a:xfrm>
            <a:off x="11494008" y="2404872"/>
            <a:ext cx="658368" cy="137160"/>
          </a:xfrm>
          <a:prstGeom prst="roundRect">
            <a:avLst>
              <a:gd name="adj" fmla="val 20000"/>
            </a:avLst>
          </a:prstGeom>
          <a:solidFill>
            <a:srgbClr val="F3F4F6"/>
          </a:solidFill>
          <a:ln w="12700">
            <a:solidFill>
              <a:srgbClr val="F3F4F6"/>
            </a:solidFill>
            <a:prstDash val="solid"/>
          </a:ln>
        </p:spPr>
      </p:sp>
      <p:sp>
        <p:nvSpPr>
          <p:cNvPr id="143" name="Text 141"/>
          <p:cNvSpPr/>
          <p:nvPr/>
        </p:nvSpPr>
        <p:spPr>
          <a:xfrm>
            <a:off x="11494008" y="2404872"/>
            <a:ext cx="658368" cy="137160"/>
          </a:xfrm>
          <a:prstGeom prst="rect">
            <a:avLst/>
          </a:prstGeom>
          <a:noFill/>
          <a:ln/>
        </p:spPr>
        <p:txBody>
          <a:bodyPr wrap="square" lIns="0" tIns="0" rIns="0" bIns="0" rtlCol="0" anchor="ctr"/>
          <a:lstStyle/>
          <a:p>
            <a:pPr algn="ctr" indent="0" marL="0">
              <a:buNone/>
            </a:pPr>
            <a:r>
              <a:rPr lang="en-US" sz="600" b="1" dirty="0">
                <a:solidFill>
                  <a:srgbClr val="6B7280"/>
                </a:solidFill>
              </a:rPr>
              <a:t>Upcoming</a:t>
            </a:r>
            <a:endParaRPr lang="en-US" sz="600" dirty="0"/>
          </a:p>
        </p:txBody>
      </p:sp>
      <p:sp>
        <p:nvSpPr>
          <p:cNvPr id="144" name="Shape 142"/>
          <p:cNvSpPr/>
          <p:nvPr/>
        </p:nvSpPr>
        <p:spPr>
          <a:xfrm>
            <a:off x="9464040" y="2651760"/>
            <a:ext cx="2670048" cy="420624"/>
          </a:xfrm>
          <a:prstGeom prst="rect">
            <a:avLst/>
          </a:prstGeom>
          <a:solidFill>
            <a:srgbClr val="FFFFFF"/>
          </a:solidFill>
          <a:ln w="6350">
            <a:solidFill>
              <a:srgbClr val="E5E7EB"/>
            </a:solidFill>
            <a:prstDash val="solid"/>
          </a:ln>
        </p:spPr>
      </p:sp>
      <p:sp>
        <p:nvSpPr>
          <p:cNvPr id="145" name="Shape 143"/>
          <p:cNvSpPr/>
          <p:nvPr/>
        </p:nvSpPr>
        <p:spPr>
          <a:xfrm>
            <a:off x="9537192" y="2743200"/>
            <a:ext cx="109728" cy="109728"/>
          </a:xfrm>
          <a:prstGeom prst="ellipse">
            <a:avLst/>
          </a:prstGeom>
          <a:solidFill>
            <a:srgbClr val="9CA3AF"/>
          </a:solidFill>
          <a:ln w="12700">
            <a:solidFill>
              <a:srgbClr val="9CA3AF"/>
            </a:solidFill>
            <a:prstDash val="solid"/>
          </a:ln>
        </p:spPr>
      </p:sp>
      <p:sp>
        <p:nvSpPr>
          <p:cNvPr id="146" name="Text 144"/>
          <p:cNvSpPr/>
          <p:nvPr/>
        </p:nvSpPr>
        <p:spPr>
          <a:xfrm>
            <a:off x="9701784" y="2670048"/>
            <a:ext cx="2304288" cy="173736"/>
          </a:xfrm>
          <a:prstGeom prst="rect">
            <a:avLst/>
          </a:prstGeom>
          <a:noFill/>
          <a:ln/>
        </p:spPr>
        <p:txBody>
          <a:bodyPr wrap="square" lIns="0" tIns="0" rIns="0" bIns="0" rtlCol="0" anchor="ctr"/>
          <a:lstStyle/>
          <a:p>
            <a:pPr indent="0" marL="0">
              <a:buNone/>
            </a:pPr>
            <a:r>
              <a:rPr lang="en-US" sz="800" b="1" dirty="0">
                <a:solidFill>
                  <a:srgbClr val="1F2937"/>
                </a:solidFill>
              </a:rPr>
              <a:t>Release</a:t>
            </a:r>
            <a:endParaRPr lang="en-US" sz="800" dirty="0"/>
          </a:p>
        </p:txBody>
      </p:sp>
      <p:sp>
        <p:nvSpPr>
          <p:cNvPr id="147" name="Text 145"/>
          <p:cNvSpPr/>
          <p:nvPr/>
        </p:nvSpPr>
        <p:spPr>
          <a:xfrm>
            <a:off x="9701784" y="2880360"/>
            <a:ext cx="1773936" cy="137160"/>
          </a:xfrm>
          <a:prstGeom prst="rect">
            <a:avLst/>
          </a:prstGeom>
          <a:noFill/>
          <a:ln/>
        </p:spPr>
        <p:txBody>
          <a:bodyPr wrap="square" lIns="0" tIns="0" rIns="0" bIns="0" rtlCol="0" anchor="ctr"/>
          <a:lstStyle/>
          <a:p>
            <a:pPr indent="0" marL="0">
              <a:buNone/>
            </a:pPr>
            <a:r>
              <a:rPr lang="en-US" sz="700" dirty="0">
                <a:solidFill>
                  <a:srgbClr val="6B7280"/>
                </a:solidFill>
              </a:rPr>
              <a:t>Dec 2026</a:t>
            </a:r>
            <a:endParaRPr lang="en-US" sz="700" dirty="0"/>
          </a:p>
        </p:txBody>
      </p:sp>
      <p:sp>
        <p:nvSpPr>
          <p:cNvPr id="148" name="Shape 146"/>
          <p:cNvSpPr/>
          <p:nvPr/>
        </p:nvSpPr>
        <p:spPr>
          <a:xfrm>
            <a:off x="11494008" y="2880360"/>
            <a:ext cx="658368" cy="137160"/>
          </a:xfrm>
          <a:prstGeom prst="roundRect">
            <a:avLst>
              <a:gd name="adj" fmla="val 20000"/>
            </a:avLst>
          </a:prstGeom>
          <a:solidFill>
            <a:srgbClr val="F3F4F6"/>
          </a:solidFill>
          <a:ln w="12700">
            <a:solidFill>
              <a:srgbClr val="F3F4F6"/>
            </a:solidFill>
            <a:prstDash val="solid"/>
          </a:ln>
        </p:spPr>
      </p:sp>
      <p:sp>
        <p:nvSpPr>
          <p:cNvPr id="149" name="Text 147"/>
          <p:cNvSpPr/>
          <p:nvPr/>
        </p:nvSpPr>
        <p:spPr>
          <a:xfrm>
            <a:off x="11494008" y="2880360"/>
            <a:ext cx="658368" cy="137160"/>
          </a:xfrm>
          <a:prstGeom prst="rect">
            <a:avLst/>
          </a:prstGeom>
          <a:noFill/>
          <a:ln/>
        </p:spPr>
        <p:txBody>
          <a:bodyPr wrap="square" lIns="0" tIns="0" rIns="0" bIns="0" rtlCol="0" anchor="ctr"/>
          <a:lstStyle/>
          <a:p>
            <a:pPr algn="ctr" indent="0" marL="0">
              <a:buNone/>
            </a:pPr>
            <a:r>
              <a:rPr lang="en-US" sz="600" b="1" dirty="0">
                <a:solidFill>
                  <a:srgbClr val="6B7280"/>
                </a:solidFill>
              </a:rPr>
              <a:t>Upcoming</a:t>
            </a:r>
            <a:endParaRPr lang="en-US" sz="600" dirty="0"/>
          </a:p>
        </p:txBody>
      </p:sp>
      <p:sp>
        <p:nvSpPr>
          <p:cNvPr id="150" name="Shape 148"/>
          <p:cNvSpPr/>
          <p:nvPr/>
        </p:nvSpPr>
        <p:spPr>
          <a:xfrm>
            <a:off x="9482328" y="3200400"/>
            <a:ext cx="2633472" cy="0"/>
          </a:xfrm>
          <a:prstGeom prst="line">
            <a:avLst/>
          </a:prstGeom>
          <a:noFill/>
          <a:ln w="9525">
            <a:solidFill>
              <a:srgbClr val="DDE1E6"/>
            </a:solidFill>
            <a:prstDash val="solid"/>
          </a:ln>
        </p:spPr>
      </p:sp>
      <p:sp>
        <p:nvSpPr>
          <p:cNvPr id="151" name="Text 149"/>
          <p:cNvSpPr/>
          <p:nvPr/>
        </p:nvSpPr>
        <p:spPr>
          <a:xfrm>
            <a:off x="9500616" y="3337560"/>
            <a:ext cx="2633472" cy="201168"/>
          </a:xfrm>
          <a:prstGeom prst="rect">
            <a:avLst/>
          </a:prstGeom>
          <a:noFill/>
          <a:ln/>
        </p:spPr>
        <p:txBody>
          <a:bodyPr wrap="square" lIns="0" tIns="0" rIns="0" bIns="0" rtlCol="0" anchor="ctr"/>
          <a:lstStyle/>
          <a:p>
            <a:pPr indent="0" marL="0">
              <a:buNone/>
            </a:pPr>
            <a:r>
              <a:rPr lang="en-US" sz="950" b="1" dirty="0">
                <a:solidFill>
                  <a:srgbClr val="111827"/>
                </a:solidFill>
              </a:rPr>
              <a:t>Status Key</a:t>
            </a:r>
            <a:endParaRPr lang="en-US" sz="950" dirty="0"/>
          </a:p>
        </p:txBody>
      </p:sp>
      <p:sp>
        <p:nvSpPr>
          <p:cNvPr id="152" name="Shape 150"/>
          <p:cNvSpPr/>
          <p:nvPr/>
        </p:nvSpPr>
        <p:spPr>
          <a:xfrm>
            <a:off x="9500616" y="3584448"/>
            <a:ext cx="822960" cy="173736"/>
          </a:xfrm>
          <a:prstGeom prst="roundRect">
            <a:avLst>
              <a:gd name="adj" fmla="val 15789"/>
            </a:avLst>
          </a:prstGeom>
          <a:solidFill>
            <a:srgbClr val="F3F4F6"/>
          </a:solidFill>
          <a:ln w="9525">
            <a:solidFill>
              <a:srgbClr val="D1D5DB"/>
            </a:solidFill>
            <a:prstDash val="solid"/>
          </a:ln>
        </p:spPr>
      </p:sp>
      <p:sp>
        <p:nvSpPr>
          <p:cNvPr id="153" name="Text 151"/>
          <p:cNvSpPr/>
          <p:nvPr/>
        </p:nvSpPr>
        <p:spPr>
          <a:xfrm>
            <a:off x="9500616" y="3584448"/>
            <a:ext cx="822960" cy="173736"/>
          </a:xfrm>
          <a:prstGeom prst="rect">
            <a:avLst/>
          </a:prstGeom>
          <a:noFill/>
          <a:ln/>
        </p:spPr>
        <p:txBody>
          <a:bodyPr wrap="square" lIns="0" tIns="0" rIns="0" bIns="0" rtlCol="0" anchor="ctr"/>
          <a:lstStyle/>
          <a:p>
            <a:pPr algn="ctr" indent="0" marL="0">
              <a:buNone/>
            </a:pPr>
            <a:r>
              <a:rPr lang="en-US" sz="700" b="1" dirty="0">
                <a:solidFill>
                  <a:srgbClr val="374151"/>
                </a:solidFill>
              </a:rPr>
              <a:t>Not Started</a:t>
            </a:r>
            <a:endParaRPr lang="en-US" sz="700" dirty="0"/>
          </a:p>
        </p:txBody>
      </p:sp>
      <p:sp>
        <p:nvSpPr>
          <p:cNvPr id="154" name="Shape 152"/>
          <p:cNvSpPr/>
          <p:nvPr/>
        </p:nvSpPr>
        <p:spPr>
          <a:xfrm>
            <a:off x="9500616" y="3813048"/>
            <a:ext cx="822960" cy="173736"/>
          </a:xfrm>
          <a:prstGeom prst="roundRect">
            <a:avLst>
              <a:gd name="adj" fmla="val 15789"/>
            </a:avLst>
          </a:prstGeom>
          <a:solidFill>
            <a:srgbClr val="1558A8"/>
          </a:solidFill>
          <a:ln w="12700">
            <a:solidFill>
              <a:srgbClr val="1558A8"/>
            </a:solidFill>
            <a:prstDash val="solid"/>
          </a:ln>
        </p:spPr>
      </p:sp>
      <p:sp>
        <p:nvSpPr>
          <p:cNvPr id="155" name="Text 153"/>
          <p:cNvSpPr/>
          <p:nvPr/>
        </p:nvSpPr>
        <p:spPr>
          <a:xfrm>
            <a:off x="9500616" y="3813048"/>
            <a:ext cx="822960" cy="173736"/>
          </a:xfrm>
          <a:prstGeom prst="rect">
            <a:avLst/>
          </a:prstGeom>
          <a:noFill/>
          <a:ln/>
        </p:spPr>
        <p:txBody>
          <a:bodyPr wrap="square" lIns="0" tIns="0" rIns="0" bIns="0" rtlCol="0" anchor="ctr"/>
          <a:lstStyle/>
          <a:p>
            <a:pPr algn="ctr" indent="0" marL="0">
              <a:buNone/>
            </a:pPr>
            <a:r>
              <a:rPr lang="en-US" sz="700" b="1" dirty="0">
                <a:solidFill>
                  <a:srgbClr val="FFFFFF"/>
                </a:solidFill>
              </a:rPr>
              <a:t>In Progress</a:t>
            </a:r>
            <a:endParaRPr lang="en-US" sz="700" dirty="0"/>
          </a:p>
        </p:txBody>
      </p:sp>
      <p:sp>
        <p:nvSpPr>
          <p:cNvPr id="156" name="Shape 154"/>
          <p:cNvSpPr/>
          <p:nvPr/>
        </p:nvSpPr>
        <p:spPr>
          <a:xfrm>
            <a:off x="9500616" y="4041648"/>
            <a:ext cx="822960" cy="173736"/>
          </a:xfrm>
          <a:prstGeom prst="roundRect">
            <a:avLst>
              <a:gd name="adj" fmla="val 15789"/>
            </a:avLst>
          </a:prstGeom>
          <a:solidFill>
            <a:srgbClr val="FEE2E2"/>
          </a:solidFill>
          <a:ln w="19050">
            <a:solidFill>
              <a:srgbClr val="DC2626"/>
            </a:solidFill>
            <a:prstDash val="solid"/>
          </a:ln>
        </p:spPr>
      </p:sp>
      <p:sp>
        <p:nvSpPr>
          <p:cNvPr id="157" name="Text 155"/>
          <p:cNvSpPr/>
          <p:nvPr/>
        </p:nvSpPr>
        <p:spPr>
          <a:xfrm>
            <a:off x="9500616" y="4041648"/>
            <a:ext cx="822960" cy="173736"/>
          </a:xfrm>
          <a:prstGeom prst="rect">
            <a:avLst/>
          </a:prstGeom>
          <a:noFill/>
          <a:ln/>
        </p:spPr>
        <p:txBody>
          <a:bodyPr wrap="square" lIns="0" tIns="0" rIns="0" bIns="0" rtlCol="0" anchor="ctr"/>
          <a:lstStyle/>
          <a:p>
            <a:pPr algn="ctr" indent="0" marL="0">
              <a:buNone/>
            </a:pPr>
            <a:r>
              <a:rPr lang="en-US" sz="700" b="1" dirty="0">
                <a:solidFill>
                  <a:srgbClr val="7F1D1D"/>
                </a:solidFill>
              </a:rPr>
              <a:t>Blocked</a:t>
            </a:r>
            <a:endParaRPr lang="en-US" sz="700" dirty="0"/>
          </a:p>
        </p:txBody>
      </p:sp>
      <p:sp>
        <p:nvSpPr>
          <p:cNvPr id="158" name="Shape 156"/>
          <p:cNvSpPr/>
          <p:nvPr/>
        </p:nvSpPr>
        <p:spPr>
          <a:xfrm>
            <a:off x="9500616" y="4270248"/>
            <a:ext cx="822960" cy="173736"/>
          </a:xfrm>
          <a:prstGeom prst="roundRect">
            <a:avLst>
              <a:gd name="adj" fmla="val 15789"/>
            </a:avLst>
          </a:prstGeom>
          <a:solidFill>
            <a:srgbClr val="DCFCE7"/>
          </a:solidFill>
          <a:ln w="12700">
            <a:solidFill>
              <a:srgbClr val="15803D"/>
            </a:solidFill>
            <a:prstDash val="solid"/>
          </a:ln>
        </p:spPr>
      </p:sp>
      <p:sp>
        <p:nvSpPr>
          <p:cNvPr id="159" name="Text 157"/>
          <p:cNvSpPr/>
          <p:nvPr/>
        </p:nvSpPr>
        <p:spPr>
          <a:xfrm>
            <a:off x="9500616" y="4270248"/>
            <a:ext cx="822960" cy="173736"/>
          </a:xfrm>
          <a:prstGeom prst="rect">
            <a:avLst/>
          </a:prstGeom>
          <a:noFill/>
          <a:ln/>
        </p:spPr>
        <p:txBody>
          <a:bodyPr wrap="square" lIns="0" tIns="0" rIns="0" bIns="0" rtlCol="0" anchor="ctr"/>
          <a:lstStyle/>
          <a:p>
            <a:pPr algn="ctr" indent="0" marL="0">
              <a:buNone/>
            </a:pPr>
            <a:r>
              <a:rPr lang="en-US" sz="700" b="1" dirty="0">
                <a:solidFill>
                  <a:srgbClr val="14532D"/>
                </a:solidFill>
              </a:rPr>
              <a:t>Done</a:t>
            </a:r>
            <a:endParaRPr lang="en-US" sz="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show="0">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344400" cy="457200"/>
          </a:xfrm>
          <a:prstGeom prst="rect">
            <a:avLst/>
          </a:prstGeom>
          <a:solidFill>
            <a:srgbClr val="8ED973"/>
          </a:solidFill>
          <a:ln w="12700">
            <a:solidFill>
              <a:srgbClr val="8ED973"/>
            </a:solidFill>
            <a:prstDash val="solid"/>
          </a:ln>
        </p:spPr>
      </p:sp>
      <p:sp>
        <p:nvSpPr>
          <p:cNvPr id="3" name="Text 1"/>
          <p:cNvSpPr/>
          <p:nvPr/>
        </p:nvSpPr>
        <p:spPr>
          <a:xfrm>
            <a:off x="201168" y="0"/>
            <a:ext cx="8229600" cy="457200"/>
          </a:xfrm>
          <a:prstGeom prst="rect">
            <a:avLst/>
          </a:prstGeom>
          <a:noFill/>
          <a:ln/>
        </p:spPr>
        <p:txBody>
          <a:bodyPr wrap="square" lIns="0" tIns="0" rIns="0" bIns="0" rtlCol="0" anchor="ctr"/>
          <a:lstStyle/>
          <a:p>
            <a:pPr algn="l" indent="0" marL="0">
              <a:buNone/>
            </a:pPr>
            <a:r>
              <a:rPr lang="en-US" sz="1600" b="1" dirty="0">
                <a:solidFill>
                  <a:srgbClr val="000000"/>
                </a:solidFill>
              </a:rPr>
              <a:t>Project SABR  ·  FOXXUM</a:t>
            </a:r>
            <a:endParaRPr lang="en-US" sz="1600" dirty="0"/>
          </a:p>
        </p:txBody>
      </p:sp>
      <p:sp>
        <p:nvSpPr>
          <p:cNvPr id="4" name="Text 2"/>
          <p:cNvSpPr/>
          <p:nvPr/>
        </p:nvSpPr>
        <p:spPr>
          <a:xfrm>
            <a:off x="8686800" y="0"/>
            <a:ext cx="3337560" cy="457200"/>
          </a:xfrm>
          <a:prstGeom prst="rect">
            <a:avLst/>
          </a:prstGeom>
          <a:noFill/>
          <a:ln/>
        </p:spPr>
        <p:txBody>
          <a:bodyPr wrap="square" lIns="0" tIns="0" rIns="0" bIns="0" rtlCol="0" anchor="ctr"/>
          <a:lstStyle/>
          <a:p>
            <a:pPr algn="r" indent="0" marL="0">
              <a:buNone/>
            </a:pPr>
            <a:r>
              <a:rPr lang="en-US" sz="1100" dirty="0">
                <a:solidFill>
                  <a:srgbClr val="388849"/>
                </a:solidFill>
              </a:rPr>
              <a:t>Roku · Fire TV · Samsung · tvOS  ·  Aug 5, 2026</a:t>
            </a:r>
            <a:endParaRPr lang="en-US" sz="1100" dirty="0"/>
          </a:p>
        </p:txBody>
      </p:sp>
      <p:sp>
        <p:nvSpPr>
          <p:cNvPr id="5" name="Shape 3"/>
          <p:cNvSpPr/>
          <p:nvPr/>
        </p:nvSpPr>
        <p:spPr>
          <a:xfrm>
            <a:off x="0" y="457200"/>
            <a:ext cx="12344400" cy="347472"/>
          </a:xfrm>
          <a:prstGeom prst="rect">
            <a:avLst/>
          </a:prstGeom>
          <a:solidFill>
            <a:srgbClr val="EFF7F3"/>
          </a:solidFill>
          <a:ln w="12700">
            <a:solidFill>
              <a:srgbClr val="CCE4D8"/>
            </a:solidFill>
            <a:prstDash val="solid"/>
          </a:ln>
        </p:spPr>
      </p:sp>
      <p:sp>
        <p:nvSpPr>
          <p:cNvPr id="6" name="Shape 4"/>
          <p:cNvSpPr/>
          <p:nvPr/>
        </p:nvSpPr>
        <p:spPr>
          <a:xfrm>
            <a:off x="256032" y="521208"/>
            <a:ext cx="1005840" cy="219456"/>
          </a:xfrm>
          <a:prstGeom prst="roundRect">
            <a:avLst>
              <a:gd name="adj" fmla="val 20833"/>
            </a:avLst>
          </a:prstGeom>
          <a:solidFill>
            <a:srgbClr val="DCFCE7"/>
          </a:solidFill>
          <a:ln w="9525">
            <a:solidFill>
              <a:srgbClr val="D1D5DB"/>
            </a:solidFill>
            <a:prstDash val="solid"/>
          </a:ln>
        </p:spPr>
      </p:sp>
      <p:sp>
        <p:nvSpPr>
          <p:cNvPr id="7" name="Text 5"/>
          <p:cNvSpPr/>
          <p:nvPr/>
        </p:nvSpPr>
        <p:spPr>
          <a:xfrm>
            <a:off x="256032" y="521208"/>
            <a:ext cx="1005840" cy="219456"/>
          </a:xfrm>
          <a:prstGeom prst="rect">
            <a:avLst/>
          </a:prstGeom>
          <a:noFill/>
          <a:ln/>
        </p:spPr>
        <p:txBody>
          <a:bodyPr wrap="square" lIns="0" tIns="0" rIns="0" bIns="0" rtlCol="0" anchor="ctr"/>
          <a:lstStyle/>
          <a:p>
            <a:pPr algn="ctr" indent="0" marL="0">
              <a:buNone/>
            </a:pPr>
            <a:r>
              <a:rPr lang="en-US" sz="900" b="1" dirty="0">
                <a:solidFill>
                  <a:srgbClr val="166534"/>
                </a:solidFill>
              </a:rPr>
              <a:t>3  Done</a:t>
            </a:r>
            <a:endParaRPr lang="en-US" sz="900" dirty="0"/>
          </a:p>
        </p:txBody>
      </p:sp>
      <p:sp>
        <p:nvSpPr>
          <p:cNvPr id="8" name="Shape 6"/>
          <p:cNvSpPr/>
          <p:nvPr/>
        </p:nvSpPr>
        <p:spPr>
          <a:xfrm>
            <a:off x="1389888" y="521208"/>
            <a:ext cx="1325880" cy="219456"/>
          </a:xfrm>
          <a:prstGeom prst="roundRect">
            <a:avLst>
              <a:gd name="adj" fmla="val 20833"/>
            </a:avLst>
          </a:prstGeom>
          <a:solidFill>
            <a:srgbClr val="DBEAFE"/>
          </a:solidFill>
          <a:ln w="9525">
            <a:solidFill>
              <a:srgbClr val="D1D5DB"/>
            </a:solidFill>
            <a:prstDash val="solid"/>
          </a:ln>
        </p:spPr>
      </p:sp>
      <p:sp>
        <p:nvSpPr>
          <p:cNvPr id="9" name="Text 7"/>
          <p:cNvSpPr/>
          <p:nvPr/>
        </p:nvSpPr>
        <p:spPr>
          <a:xfrm>
            <a:off x="1389888" y="521208"/>
            <a:ext cx="1325880" cy="219456"/>
          </a:xfrm>
          <a:prstGeom prst="rect">
            <a:avLst/>
          </a:prstGeom>
          <a:noFill/>
          <a:ln/>
        </p:spPr>
        <p:txBody>
          <a:bodyPr wrap="square" lIns="0" tIns="0" rIns="0" bIns="0" rtlCol="0" anchor="ctr"/>
          <a:lstStyle/>
          <a:p>
            <a:pPr algn="ctr" indent="0" marL="0">
              <a:buNone/>
            </a:pPr>
            <a:r>
              <a:rPr lang="en-US" sz="900" b="1" dirty="0">
                <a:solidFill>
                  <a:srgbClr val="1D4ED8"/>
                </a:solidFill>
              </a:rPr>
              <a:t>19  In Progress</a:t>
            </a:r>
            <a:endParaRPr lang="en-US" sz="900" dirty="0"/>
          </a:p>
        </p:txBody>
      </p:sp>
      <p:sp>
        <p:nvSpPr>
          <p:cNvPr id="10" name="Shape 8"/>
          <p:cNvSpPr/>
          <p:nvPr/>
        </p:nvSpPr>
        <p:spPr>
          <a:xfrm>
            <a:off x="2843784" y="521208"/>
            <a:ext cx="1325880" cy="219456"/>
          </a:xfrm>
          <a:prstGeom prst="roundRect">
            <a:avLst>
              <a:gd name="adj" fmla="val 20833"/>
            </a:avLst>
          </a:prstGeom>
          <a:solidFill>
            <a:srgbClr val="F3F4F6"/>
          </a:solidFill>
          <a:ln w="9525">
            <a:solidFill>
              <a:srgbClr val="D1D5DB"/>
            </a:solidFill>
            <a:prstDash val="solid"/>
          </a:ln>
        </p:spPr>
      </p:sp>
      <p:sp>
        <p:nvSpPr>
          <p:cNvPr id="11" name="Text 9"/>
          <p:cNvSpPr/>
          <p:nvPr/>
        </p:nvSpPr>
        <p:spPr>
          <a:xfrm>
            <a:off x="2843784" y="521208"/>
            <a:ext cx="1325880" cy="219456"/>
          </a:xfrm>
          <a:prstGeom prst="rect">
            <a:avLst/>
          </a:prstGeom>
          <a:noFill/>
          <a:ln/>
        </p:spPr>
        <p:txBody>
          <a:bodyPr wrap="square" lIns="0" tIns="0" rIns="0" bIns="0" rtlCol="0" anchor="ctr"/>
          <a:lstStyle/>
          <a:p>
            <a:pPr algn="ctr" indent="0" marL="0">
              <a:buNone/>
            </a:pPr>
            <a:r>
              <a:rPr lang="en-US" sz="900" b="1" dirty="0">
                <a:solidFill>
                  <a:srgbClr val="374151"/>
                </a:solidFill>
              </a:rPr>
              <a:t>2  Not Started</a:t>
            </a:r>
            <a:endParaRPr lang="en-US" sz="900" dirty="0"/>
          </a:p>
        </p:txBody>
      </p:sp>
      <p:sp>
        <p:nvSpPr>
          <p:cNvPr id="12" name="Shape 10"/>
          <p:cNvSpPr/>
          <p:nvPr/>
        </p:nvSpPr>
        <p:spPr>
          <a:xfrm>
            <a:off x="4297680" y="521208"/>
            <a:ext cx="1005840" cy="219456"/>
          </a:xfrm>
          <a:prstGeom prst="roundRect">
            <a:avLst>
              <a:gd name="adj" fmla="val 20833"/>
            </a:avLst>
          </a:prstGeom>
          <a:solidFill>
            <a:srgbClr val="FEE2E2"/>
          </a:solidFill>
          <a:ln w="9525">
            <a:solidFill>
              <a:srgbClr val="D1D5DB"/>
            </a:solidFill>
            <a:prstDash val="solid"/>
          </a:ln>
        </p:spPr>
      </p:sp>
      <p:sp>
        <p:nvSpPr>
          <p:cNvPr id="13" name="Text 11"/>
          <p:cNvSpPr/>
          <p:nvPr/>
        </p:nvSpPr>
        <p:spPr>
          <a:xfrm>
            <a:off x="4297680" y="521208"/>
            <a:ext cx="1005840" cy="219456"/>
          </a:xfrm>
          <a:prstGeom prst="rect">
            <a:avLst/>
          </a:prstGeom>
          <a:noFill/>
          <a:ln/>
        </p:spPr>
        <p:txBody>
          <a:bodyPr wrap="square" lIns="0" tIns="0" rIns="0" bIns="0" rtlCol="0" anchor="ctr"/>
          <a:lstStyle/>
          <a:p>
            <a:pPr algn="ctr" indent="0" marL="0">
              <a:buNone/>
            </a:pPr>
            <a:r>
              <a:rPr lang="en-US" sz="900" b="1" dirty="0">
                <a:solidFill>
                  <a:srgbClr val="7F1D1D"/>
                </a:solidFill>
              </a:rPr>
              <a:t>0  Blocked</a:t>
            </a:r>
            <a:endParaRPr lang="en-US" sz="900" dirty="0"/>
          </a:p>
        </p:txBody>
      </p:sp>
      <p:sp>
        <p:nvSpPr>
          <p:cNvPr id="14" name="Shape 12"/>
          <p:cNvSpPr/>
          <p:nvPr/>
        </p:nvSpPr>
        <p:spPr>
          <a:xfrm>
            <a:off x="5431536" y="521208"/>
            <a:ext cx="2377440" cy="219456"/>
          </a:xfrm>
          <a:prstGeom prst="roundRect">
            <a:avLst>
              <a:gd name="adj" fmla="val 20833"/>
            </a:avLst>
          </a:prstGeom>
          <a:solidFill>
            <a:srgbClr val="FFFFFF"/>
          </a:solidFill>
          <a:ln w="9525">
            <a:solidFill>
              <a:srgbClr val="D1D5DB"/>
            </a:solidFill>
            <a:prstDash val="solid"/>
          </a:ln>
        </p:spPr>
      </p:sp>
      <p:sp>
        <p:nvSpPr>
          <p:cNvPr id="15" name="Text 13"/>
          <p:cNvSpPr/>
          <p:nvPr/>
        </p:nvSpPr>
        <p:spPr>
          <a:xfrm>
            <a:off x="5431536" y="521208"/>
            <a:ext cx="2377440" cy="219456"/>
          </a:xfrm>
          <a:prstGeom prst="rect">
            <a:avLst/>
          </a:prstGeom>
          <a:noFill/>
          <a:ln/>
        </p:spPr>
        <p:txBody>
          <a:bodyPr wrap="square" lIns="0" tIns="0" rIns="0" bIns="0" rtlCol="0" anchor="ctr"/>
          <a:lstStyle/>
          <a:p>
            <a:pPr algn="ctr" indent="0" marL="0">
              <a:buNone/>
            </a:pPr>
            <a:r>
              <a:rPr lang="en-US" sz="900" b="1" dirty="0">
                <a:solidFill>
                  <a:srgbClr val="374151"/>
                </a:solidFill>
              </a:rPr>
              <a:t>Sep 30, 2026  ·  Beta</a:t>
            </a:r>
            <a:endParaRPr lang="en-US" sz="900" dirty="0"/>
          </a:p>
        </p:txBody>
      </p:sp>
      <p:sp>
        <p:nvSpPr>
          <p:cNvPr id="16" name="Text 14"/>
          <p:cNvSpPr/>
          <p:nvPr/>
        </p:nvSpPr>
        <p:spPr>
          <a:xfrm>
            <a:off x="8028432" y="521208"/>
            <a:ext cx="548640" cy="219456"/>
          </a:xfrm>
          <a:prstGeom prst="rect">
            <a:avLst/>
          </a:prstGeom>
          <a:noFill/>
          <a:ln/>
        </p:spPr>
        <p:txBody>
          <a:bodyPr wrap="square" lIns="0" tIns="0" rIns="0" bIns="0" rtlCol="0" anchor="ctr"/>
          <a:lstStyle/>
          <a:p>
            <a:pPr algn="l" indent="0" marL="0">
              <a:buNone/>
            </a:pPr>
            <a:r>
              <a:rPr lang="en-US" sz="800" b="1" dirty="0">
                <a:solidFill>
                  <a:srgbClr val="374151"/>
                </a:solidFill>
              </a:rPr>
              <a:t>Covers:</a:t>
            </a:r>
            <a:endParaRPr lang="en-US" sz="800" dirty="0"/>
          </a:p>
        </p:txBody>
      </p:sp>
      <p:sp>
        <p:nvSpPr>
          <p:cNvPr id="17" name="Shape 15"/>
          <p:cNvSpPr/>
          <p:nvPr/>
        </p:nvSpPr>
        <p:spPr>
          <a:xfrm>
            <a:off x="8613648" y="512064"/>
            <a:ext cx="585216" cy="237744"/>
          </a:xfrm>
          <a:prstGeom prst="roundRect">
            <a:avLst>
              <a:gd name="adj" fmla="val 15385"/>
            </a:avLst>
          </a:prstGeom>
          <a:solidFill>
            <a:srgbClr val="F0FDF4"/>
          </a:solidFill>
          <a:ln w="12700">
            <a:solidFill>
              <a:srgbClr val="8ED973"/>
            </a:solidFill>
            <a:prstDash val="solid"/>
          </a:ln>
        </p:spPr>
      </p:sp>
      <p:sp>
        <p:nvSpPr>
          <p:cNvPr id="18" name="Text 16"/>
          <p:cNvSpPr/>
          <p:nvPr/>
        </p:nvSpPr>
        <p:spPr>
          <a:xfrm>
            <a:off x="8613648" y="512064"/>
            <a:ext cx="585216" cy="237744"/>
          </a:xfrm>
          <a:prstGeom prst="rect">
            <a:avLst/>
          </a:prstGeom>
          <a:noFill/>
          <a:ln/>
        </p:spPr>
        <p:txBody>
          <a:bodyPr wrap="square" lIns="0" tIns="0" rIns="0" bIns="0" rtlCol="0" anchor="ctr"/>
          <a:lstStyle/>
          <a:p>
            <a:pPr algn="ctr" indent="0" marL="0">
              <a:buNone/>
            </a:pPr>
            <a:r>
              <a:rPr lang="en-US" sz="800" b="1" dirty="0">
                <a:solidFill>
                  <a:srgbClr val="388849"/>
                </a:solidFill>
              </a:rPr>
              <a:t>Roku</a:t>
            </a:r>
            <a:endParaRPr lang="en-US" sz="800" dirty="0"/>
          </a:p>
        </p:txBody>
      </p:sp>
      <p:sp>
        <p:nvSpPr>
          <p:cNvPr id="19" name="Shape 17"/>
          <p:cNvSpPr/>
          <p:nvPr/>
        </p:nvSpPr>
        <p:spPr>
          <a:xfrm>
            <a:off x="9272016" y="512064"/>
            <a:ext cx="658368" cy="237744"/>
          </a:xfrm>
          <a:prstGeom prst="roundRect">
            <a:avLst>
              <a:gd name="adj" fmla="val 15385"/>
            </a:avLst>
          </a:prstGeom>
          <a:solidFill>
            <a:srgbClr val="F0FDF4"/>
          </a:solidFill>
          <a:ln w="12700">
            <a:solidFill>
              <a:srgbClr val="8ED973"/>
            </a:solidFill>
            <a:prstDash val="solid"/>
          </a:ln>
        </p:spPr>
      </p:sp>
      <p:sp>
        <p:nvSpPr>
          <p:cNvPr id="20" name="Text 18"/>
          <p:cNvSpPr/>
          <p:nvPr/>
        </p:nvSpPr>
        <p:spPr>
          <a:xfrm>
            <a:off x="9272016" y="512064"/>
            <a:ext cx="658368" cy="237744"/>
          </a:xfrm>
          <a:prstGeom prst="rect">
            <a:avLst/>
          </a:prstGeom>
          <a:noFill/>
          <a:ln/>
        </p:spPr>
        <p:txBody>
          <a:bodyPr wrap="square" lIns="0" tIns="0" rIns="0" bIns="0" rtlCol="0" anchor="ctr"/>
          <a:lstStyle/>
          <a:p>
            <a:pPr algn="ctr" indent="0" marL="0">
              <a:buNone/>
            </a:pPr>
            <a:r>
              <a:rPr lang="en-US" sz="800" b="1" dirty="0">
                <a:solidFill>
                  <a:srgbClr val="388849"/>
                </a:solidFill>
              </a:rPr>
              <a:t>Fire TV</a:t>
            </a:r>
            <a:endParaRPr lang="en-US" sz="800" dirty="0"/>
          </a:p>
        </p:txBody>
      </p:sp>
      <p:sp>
        <p:nvSpPr>
          <p:cNvPr id="21" name="Shape 19"/>
          <p:cNvSpPr/>
          <p:nvPr/>
        </p:nvSpPr>
        <p:spPr>
          <a:xfrm>
            <a:off x="10003536" y="512064"/>
            <a:ext cx="731520" cy="237744"/>
          </a:xfrm>
          <a:prstGeom prst="roundRect">
            <a:avLst>
              <a:gd name="adj" fmla="val 15385"/>
            </a:avLst>
          </a:prstGeom>
          <a:solidFill>
            <a:srgbClr val="F0FDF4"/>
          </a:solidFill>
          <a:ln w="12700">
            <a:solidFill>
              <a:srgbClr val="8ED973"/>
            </a:solidFill>
            <a:prstDash val="solid"/>
          </a:ln>
        </p:spPr>
      </p:sp>
      <p:sp>
        <p:nvSpPr>
          <p:cNvPr id="22" name="Text 20"/>
          <p:cNvSpPr/>
          <p:nvPr/>
        </p:nvSpPr>
        <p:spPr>
          <a:xfrm>
            <a:off x="10003536" y="512064"/>
            <a:ext cx="731520" cy="237744"/>
          </a:xfrm>
          <a:prstGeom prst="rect">
            <a:avLst/>
          </a:prstGeom>
          <a:noFill/>
          <a:ln/>
        </p:spPr>
        <p:txBody>
          <a:bodyPr wrap="square" lIns="0" tIns="0" rIns="0" bIns="0" rtlCol="0" anchor="ctr"/>
          <a:lstStyle/>
          <a:p>
            <a:pPr algn="ctr" indent="0" marL="0">
              <a:buNone/>
            </a:pPr>
            <a:r>
              <a:rPr lang="en-US" sz="800" b="1" dirty="0">
                <a:solidFill>
                  <a:srgbClr val="388849"/>
                </a:solidFill>
              </a:rPr>
              <a:t>Samsung</a:t>
            </a:r>
            <a:endParaRPr lang="en-US" sz="800" dirty="0"/>
          </a:p>
        </p:txBody>
      </p:sp>
      <p:sp>
        <p:nvSpPr>
          <p:cNvPr id="23" name="Shape 21"/>
          <p:cNvSpPr/>
          <p:nvPr/>
        </p:nvSpPr>
        <p:spPr>
          <a:xfrm>
            <a:off x="10808208" y="512064"/>
            <a:ext cx="585216" cy="237744"/>
          </a:xfrm>
          <a:prstGeom prst="roundRect">
            <a:avLst>
              <a:gd name="adj" fmla="val 15385"/>
            </a:avLst>
          </a:prstGeom>
          <a:solidFill>
            <a:srgbClr val="F0FDF4"/>
          </a:solidFill>
          <a:ln w="12700">
            <a:solidFill>
              <a:srgbClr val="8ED973"/>
            </a:solidFill>
            <a:prstDash val="solid"/>
          </a:ln>
        </p:spPr>
      </p:sp>
      <p:sp>
        <p:nvSpPr>
          <p:cNvPr id="24" name="Text 22"/>
          <p:cNvSpPr/>
          <p:nvPr/>
        </p:nvSpPr>
        <p:spPr>
          <a:xfrm>
            <a:off x="10808208" y="512064"/>
            <a:ext cx="585216" cy="237744"/>
          </a:xfrm>
          <a:prstGeom prst="rect">
            <a:avLst/>
          </a:prstGeom>
          <a:noFill/>
          <a:ln/>
        </p:spPr>
        <p:txBody>
          <a:bodyPr wrap="square" lIns="0" tIns="0" rIns="0" bIns="0" rtlCol="0" anchor="ctr"/>
          <a:lstStyle/>
          <a:p>
            <a:pPr algn="ctr" indent="0" marL="0">
              <a:buNone/>
            </a:pPr>
            <a:r>
              <a:rPr lang="en-US" sz="800" b="1" dirty="0">
                <a:solidFill>
                  <a:srgbClr val="388849"/>
                </a:solidFill>
              </a:rPr>
              <a:t>tvOS</a:t>
            </a:r>
            <a:endParaRPr lang="en-US" sz="800" dirty="0"/>
          </a:p>
        </p:txBody>
      </p:sp>
      <p:sp>
        <p:nvSpPr>
          <p:cNvPr id="25" name="Shape 23"/>
          <p:cNvSpPr/>
          <p:nvPr/>
        </p:nvSpPr>
        <p:spPr>
          <a:xfrm>
            <a:off x="0" y="6876288"/>
            <a:ext cx="12344400" cy="438912"/>
          </a:xfrm>
          <a:prstGeom prst="rect">
            <a:avLst/>
          </a:prstGeom>
          <a:solidFill>
            <a:srgbClr val="F4F6F8"/>
          </a:solidFill>
          <a:ln w="12700">
            <a:solidFill>
              <a:srgbClr val="D1D5DB"/>
            </a:solidFill>
            <a:prstDash val="solid"/>
          </a:ln>
        </p:spPr>
      </p:sp>
      <p:sp>
        <p:nvSpPr>
          <p:cNvPr id="26" name="Text 24"/>
          <p:cNvSpPr/>
          <p:nvPr/>
        </p:nvSpPr>
        <p:spPr>
          <a:xfrm>
            <a:off x="201168" y="6876288"/>
            <a:ext cx="5029200" cy="438912"/>
          </a:xfrm>
          <a:prstGeom prst="rect">
            <a:avLst/>
          </a:prstGeom>
          <a:noFill/>
          <a:ln/>
        </p:spPr>
        <p:txBody>
          <a:bodyPr wrap="square" lIns="0" tIns="0" rIns="0" bIns="0" rtlCol="0" anchor="ctr"/>
          <a:lstStyle/>
          <a:p>
            <a:pPr algn="l" indent="0" marL="0">
              <a:buNone/>
            </a:pPr>
            <a:r>
              <a:rPr lang="en-US" sz="800" dirty="0">
                <a:solidFill>
                  <a:srgbClr val="9CA3AF"/>
                </a:solidFill>
              </a:rPr>
              <a:t>Project SABR  ·  Tennis Channel OTT  ·  CONFIDENTIAL</a:t>
            </a:r>
            <a:endParaRPr lang="en-US" sz="800" dirty="0"/>
          </a:p>
        </p:txBody>
      </p:sp>
      <p:sp>
        <p:nvSpPr>
          <p:cNvPr id="27" name="Text 25"/>
          <p:cNvSpPr/>
          <p:nvPr/>
        </p:nvSpPr>
        <p:spPr>
          <a:xfrm>
            <a:off x="5486400" y="6876288"/>
            <a:ext cx="4572000" cy="438912"/>
          </a:xfrm>
          <a:prstGeom prst="rect">
            <a:avLst/>
          </a:prstGeom>
          <a:noFill/>
          <a:ln/>
        </p:spPr>
        <p:txBody>
          <a:bodyPr wrap="square" lIns="0" tIns="0" rIns="0" bIns="0" rtlCol="0" anchor="ctr"/>
          <a:lstStyle/>
          <a:p>
            <a:pPr algn="ctr" indent="0" marL="0">
              <a:buNone/>
            </a:pPr>
            <a:r>
              <a:rPr lang="en-US" sz="800" dirty="0">
                <a:solidFill>
                  <a:srgbClr val="9CA3AF"/>
                </a:solidFill>
              </a:rPr>
              <a:t>Beta: Sep 30, 2026  ·  55 days remaining</a:t>
            </a:r>
            <a:endParaRPr lang="en-US" sz="800" dirty="0"/>
          </a:p>
        </p:txBody>
      </p:sp>
      <p:sp>
        <p:nvSpPr>
          <p:cNvPr id="28" name="Text 26"/>
          <p:cNvSpPr/>
          <p:nvPr/>
        </p:nvSpPr>
        <p:spPr>
          <a:xfrm>
            <a:off x="10515600" y="6876288"/>
            <a:ext cx="1508760" cy="438912"/>
          </a:xfrm>
          <a:prstGeom prst="rect">
            <a:avLst/>
          </a:prstGeom>
          <a:noFill/>
          <a:ln/>
        </p:spPr>
        <p:txBody>
          <a:bodyPr wrap="square" lIns="0" tIns="0" rIns="0" bIns="0" rtlCol="0" anchor="ctr"/>
          <a:lstStyle/>
          <a:p>
            <a:pPr algn="r" indent="0" marL="0">
              <a:buNone/>
            </a:pPr>
            <a:r>
              <a:rPr lang="en-US" sz="1100" b="1" dirty="0">
                <a:solidFill>
                  <a:srgbClr val="388849"/>
                </a:solidFill>
              </a:rPr>
              <a:t>13% Ready</a:t>
            </a:r>
            <a:endParaRPr lang="en-US" sz="1100" dirty="0"/>
          </a:p>
        </p:txBody>
      </p:sp>
      <p:sp>
        <p:nvSpPr>
          <p:cNvPr id="29" name="Shape 27"/>
          <p:cNvSpPr/>
          <p:nvPr/>
        </p:nvSpPr>
        <p:spPr>
          <a:xfrm>
            <a:off x="164592" y="804672"/>
            <a:ext cx="9116568" cy="1476756"/>
          </a:xfrm>
          <a:prstGeom prst="rect">
            <a:avLst/>
          </a:prstGeom>
          <a:solidFill>
            <a:srgbClr val="FAFBFC"/>
          </a:solidFill>
          <a:ln w="6350">
            <a:solidFill>
              <a:srgbClr val="E5E7EB"/>
            </a:solidFill>
            <a:prstDash val="solid"/>
          </a:ln>
        </p:spPr>
      </p:sp>
      <p:sp>
        <p:nvSpPr>
          <p:cNvPr id="30" name="Shape 28"/>
          <p:cNvSpPr/>
          <p:nvPr/>
        </p:nvSpPr>
        <p:spPr>
          <a:xfrm>
            <a:off x="182880" y="877824"/>
            <a:ext cx="859536" cy="1330452"/>
          </a:xfrm>
          <a:prstGeom prst="roundRect">
            <a:avLst>
              <a:gd name="adj" fmla="val 5319"/>
            </a:avLst>
          </a:prstGeom>
          <a:solidFill>
            <a:srgbClr val="9CA3AF"/>
          </a:solidFill>
          <a:ln w="12700">
            <a:solidFill>
              <a:srgbClr val="9CA3AF"/>
            </a:solidFill>
            <a:prstDash val="solid"/>
          </a:ln>
        </p:spPr>
      </p:sp>
      <p:sp>
        <p:nvSpPr>
          <p:cNvPr id="31" name="Text 29"/>
          <p:cNvSpPr/>
          <p:nvPr/>
        </p:nvSpPr>
        <p:spPr>
          <a:xfrm>
            <a:off x="182880" y="87782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Video</a:t>
            </a:r>
            <a:endParaRPr lang="en-US" sz="800" dirty="0"/>
          </a:p>
          <a:p>
            <a:pPr algn="ctr" indent="0" marL="0">
              <a:buNone/>
            </a:pPr>
            <a:r>
              <a:rPr lang="en-US" sz="800" b="1" dirty="0">
                <a:solidFill>
                  <a:srgbClr val="FFFFFF"/>
                </a:solidFill>
              </a:rPr>
              <a:t>Delivery</a:t>
            </a:r>
            <a:endParaRPr lang="en-US" sz="800" dirty="0"/>
          </a:p>
        </p:txBody>
      </p:sp>
      <p:sp>
        <p:nvSpPr>
          <p:cNvPr id="32" name="Text 30"/>
          <p:cNvSpPr/>
          <p:nvPr/>
        </p:nvSpPr>
        <p:spPr>
          <a:xfrm>
            <a:off x="1170432" y="85039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6 / 6 In Progress</a:t>
            </a:r>
            <a:endParaRPr lang="en-US" sz="750" dirty="0"/>
          </a:p>
        </p:txBody>
      </p:sp>
      <p:sp>
        <p:nvSpPr>
          <p:cNvPr id="33" name="Shape 31"/>
          <p:cNvSpPr/>
          <p:nvPr/>
        </p:nvSpPr>
        <p:spPr>
          <a:xfrm>
            <a:off x="1170432" y="1069848"/>
            <a:ext cx="932688" cy="182880"/>
          </a:xfrm>
          <a:prstGeom prst="roundRect">
            <a:avLst>
              <a:gd name="adj" fmla="val 15000"/>
            </a:avLst>
          </a:prstGeom>
          <a:solidFill>
            <a:srgbClr val="FFFFFF"/>
          </a:solidFill>
          <a:ln w="9525">
            <a:solidFill>
              <a:srgbClr val="CBD5E1"/>
            </a:solidFill>
            <a:prstDash val="solid"/>
          </a:ln>
        </p:spPr>
      </p:sp>
      <p:sp>
        <p:nvSpPr>
          <p:cNvPr id="34" name="Text 32"/>
          <p:cNvSpPr/>
          <p:nvPr/>
        </p:nvSpPr>
        <p:spPr>
          <a:xfrm>
            <a:off x="1170432"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HLS</a:t>
            </a:r>
            <a:endParaRPr lang="en-US" sz="750" dirty="0"/>
          </a:p>
        </p:txBody>
      </p:sp>
      <p:sp>
        <p:nvSpPr>
          <p:cNvPr id="35" name="Shape 33"/>
          <p:cNvSpPr/>
          <p:nvPr/>
        </p:nvSpPr>
        <p:spPr>
          <a:xfrm>
            <a:off x="1170432" y="1280160"/>
            <a:ext cx="932688" cy="155448"/>
          </a:xfrm>
          <a:prstGeom prst="roundRect">
            <a:avLst>
              <a:gd name="adj" fmla="val 17647"/>
            </a:avLst>
          </a:prstGeom>
          <a:solidFill>
            <a:srgbClr val="1558A8"/>
          </a:solidFill>
          <a:ln w="12700">
            <a:solidFill>
              <a:srgbClr val="1558A8"/>
            </a:solidFill>
            <a:prstDash val="solid"/>
          </a:ln>
        </p:spPr>
      </p:sp>
      <p:sp>
        <p:nvSpPr>
          <p:cNvPr id="36" name="Text 34"/>
          <p:cNvSpPr/>
          <p:nvPr/>
        </p:nvSpPr>
        <p:spPr>
          <a:xfrm>
            <a:off x="1170432"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37" name="Shape 35"/>
          <p:cNvSpPr/>
          <p:nvPr/>
        </p:nvSpPr>
        <p:spPr>
          <a:xfrm>
            <a:off x="2185416" y="1069848"/>
            <a:ext cx="932688" cy="182880"/>
          </a:xfrm>
          <a:prstGeom prst="roundRect">
            <a:avLst>
              <a:gd name="adj" fmla="val 15000"/>
            </a:avLst>
          </a:prstGeom>
          <a:solidFill>
            <a:srgbClr val="FFFFFF"/>
          </a:solidFill>
          <a:ln w="9525">
            <a:solidFill>
              <a:srgbClr val="CBD5E1"/>
            </a:solidFill>
            <a:prstDash val="solid"/>
          </a:ln>
        </p:spPr>
      </p:sp>
      <p:sp>
        <p:nvSpPr>
          <p:cNvPr id="38" name="Text 36"/>
          <p:cNvSpPr/>
          <p:nvPr/>
        </p:nvSpPr>
        <p:spPr>
          <a:xfrm>
            <a:off x="2185416"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MPEG-DASH</a:t>
            </a:r>
            <a:endParaRPr lang="en-US" sz="750" dirty="0"/>
          </a:p>
        </p:txBody>
      </p:sp>
      <p:sp>
        <p:nvSpPr>
          <p:cNvPr id="39" name="Shape 37"/>
          <p:cNvSpPr/>
          <p:nvPr/>
        </p:nvSpPr>
        <p:spPr>
          <a:xfrm>
            <a:off x="2185416" y="1280160"/>
            <a:ext cx="932688" cy="155448"/>
          </a:xfrm>
          <a:prstGeom prst="roundRect">
            <a:avLst>
              <a:gd name="adj" fmla="val 17647"/>
            </a:avLst>
          </a:prstGeom>
          <a:solidFill>
            <a:srgbClr val="1558A8"/>
          </a:solidFill>
          <a:ln w="12700">
            <a:solidFill>
              <a:srgbClr val="1558A8"/>
            </a:solidFill>
            <a:prstDash val="solid"/>
          </a:ln>
        </p:spPr>
      </p:sp>
      <p:sp>
        <p:nvSpPr>
          <p:cNvPr id="40" name="Text 38"/>
          <p:cNvSpPr/>
          <p:nvPr/>
        </p:nvSpPr>
        <p:spPr>
          <a:xfrm>
            <a:off x="2185416"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41" name="Shape 39"/>
          <p:cNvSpPr/>
          <p:nvPr/>
        </p:nvSpPr>
        <p:spPr>
          <a:xfrm>
            <a:off x="3200400" y="1069848"/>
            <a:ext cx="932688" cy="182880"/>
          </a:xfrm>
          <a:prstGeom prst="roundRect">
            <a:avLst>
              <a:gd name="adj" fmla="val 15000"/>
            </a:avLst>
          </a:prstGeom>
          <a:solidFill>
            <a:srgbClr val="FFFFFF"/>
          </a:solidFill>
          <a:ln w="9525">
            <a:solidFill>
              <a:srgbClr val="CBD5E1"/>
            </a:solidFill>
            <a:prstDash val="solid"/>
          </a:ln>
        </p:spPr>
      </p:sp>
      <p:sp>
        <p:nvSpPr>
          <p:cNvPr id="42" name="Text 40"/>
          <p:cNvSpPr/>
          <p:nvPr/>
        </p:nvSpPr>
        <p:spPr>
          <a:xfrm>
            <a:off x="3200400"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FairPlay DRM</a:t>
            </a:r>
            <a:endParaRPr lang="en-US" sz="750" dirty="0"/>
          </a:p>
        </p:txBody>
      </p:sp>
      <p:sp>
        <p:nvSpPr>
          <p:cNvPr id="43" name="Shape 41"/>
          <p:cNvSpPr/>
          <p:nvPr/>
        </p:nvSpPr>
        <p:spPr>
          <a:xfrm>
            <a:off x="3200400" y="1280160"/>
            <a:ext cx="932688" cy="155448"/>
          </a:xfrm>
          <a:prstGeom prst="roundRect">
            <a:avLst>
              <a:gd name="adj" fmla="val 17647"/>
            </a:avLst>
          </a:prstGeom>
          <a:solidFill>
            <a:srgbClr val="1558A8"/>
          </a:solidFill>
          <a:ln w="12700">
            <a:solidFill>
              <a:srgbClr val="1558A8"/>
            </a:solidFill>
            <a:prstDash val="solid"/>
          </a:ln>
        </p:spPr>
      </p:sp>
      <p:sp>
        <p:nvSpPr>
          <p:cNvPr id="44" name="Text 42"/>
          <p:cNvSpPr/>
          <p:nvPr/>
        </p:nvSpPr>
        <p:spPr>
          <a:xfrm>
            <a:off x="3200400"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45" name="Shape 43"/>
          <p:cNvSpPr/>
          <p:nvPr/>
        </p:nvSpPr>
        <p:spPr>
          <a:xfrm>
            <a:off x="4215384" y="1069848"/>
            <a:ext cx="932688" cy="182880"/>
          </a:xfrm>
          <a:prstGeom prst="roundRect">
            <a:avLst>
              <a:gd name="adj" fmla="val 15000"/>
            </a:avLst>
          </a:prstGeom>
          <a:solidFill>
            <a:srgbClr val="FFFFFF"/>
          </a:solidFill>
          <a:ln w="9525">
            <a:solidFill>
              <a:srgbClr val="CBD5E1"/>
            </a:solidFill>
            <a:prstDash val="solid"/>
          </a:ln>
        </p:spPr>
      </p:sp>
      <p:sp>
        <p:nvSpPr>
          <p:cNvPr id="46" name="Text 44"/>
          <p:cNvSpPr/>
          <p:nvPr/>
        </p:nvSpPr>
        <p:spPr>
          <a:xfrm>
            <a:off x="4215384"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Widevine DRM</a:t>
            </a:r>
            <a:endParaRPr lang="en-US" sz="750" dirty="0"/>
          </a:p>
        </p:txBody>
      </p:sp>
      <p:sp>
        <p:nvSpPr>
          <p:cNvPr id="47" name="Shape 45"/>
          <p:cNvSpPr/>
          <p:nvPr/>
        </p:nvSpPr>
        <p:spPr>
          <a:xfrm>
            <a:off x="4215384" y="1280160"/>
            <a:ext cx="932688" cy="155448"/>
          </a:xfrm>
          <a:prstGeom prst="roundRect">
            <a:avLst>
              <a:gd name="adj" fmla="val 17647"/>
            </a:avLst>
          </a:prstGeom>
          <a:solidFill>
            <a:srgbClr val="1558A8"/>
          </a:solidFill>
          <a:ln w="12700">
            <a:solidFill>
              <a:srgbClr val="1558A8"/>
            </a:solidFill>
            <a:prstDash val="solid"/>
          </a:ln>
        </p:spPr>
      </p:sp>
      <p:sp>
        <p:nvSpPr>
          <p:cNvPr id="48" name="Text 46"/>
          <p:cNvSpPr/>
          <p:nvPr/>
        </p:nvSpPr>
        <p:spPr>
          <a:xfrm>
            <a:off x="4215384"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49" name="Shape 47"/>
          <p:cNvSpPr/>
          <p:nvPr/>
        </p:nvSpPr>
        <p:spPr>
          <a:xfrm>
            <a:off x="5230368" y="1069848"/>
            <a:ext cx="932688" cy="182880"/>
          </a:xfrm>
          <a:prstGeom prst="roundRect">
            <a:avLst>
              <a:gd name="adj" fmla="val 15000"/>
            </a:avLst>
          </a:prstGeom>
          <a:solidFill>
            <a:srgbClr val="FFFFFF"/>
          </a:solidFill>
          <a:ln w="9525">
            <a:solidFill>
              <a:srgbClr val="CBD5E1"/>
            </a:solidFill>
            <a:prstDash val="solid"/>
          </a:ln>
        </p:spPr>
      </p:sp>
      <p:sp>
        <p:nvSpPr>
          <p:cNvPr id="50" name="Text 48"/>
          <p:cNvSpPr/>
          <p:nvPr/>
        </p:nvSpPr>
        <p:spPr>
          <a:xfrm>
            <a:off x="5230368"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VOD Streams</a:t>
            </a:r>
            <a:endParaRPr lang="en-US" sz="750" dirty="0"/>
          </a:p>
        </p:txBody>
      </p:sp>
      <p:sp>
        <p:nvSpPr>
          <p:cNvPr id="51" name="Shape 49"/>
          <p:cNvSpPr/>
          <p:nvPr/>
        </p:nvSpPr>
        <p:spPr>
          <a:xfrm>
            <a:off x="5230368" y="1280160"/>
            <a:ext cx="932688" cy="155448"/>
          </a:xfrm>
          <a:prstGeom prst="roundRect">
            <a:avLst>
              <a:gd name="adj" fmla="val 17647"/>
            </a:avLst>
          </a:prstGeom>
          <a:solidFill>
            <a:srgbClr val="1558A8"/>
          </a:solidFill>
          <a:ln w="12700">
            <a:solidFill>
              <a:srgbClr val="1558A8"/>
            </a:solidFill>
            <a:prstDash val="solid"/>
          </a:ln>
        </p:spPr>
      </p:sp>
      <p:sp>
        <p:nvSpPr>
          <p:cNvPr id="52" name="Text 50"/>
          <p:cNvSpPr/>
          <p:nvPr/>
        </p:nvSpPr>
        <p:spPr>
          <a:xfrm>
            <a:off x="5230368"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53" name="Shape 51"/>
          <p:cNvSpPr/>
          <p:nvPr/>
        </p:nvSpPr>
        <p:spPr>
          <a:xfrm>
            <a:off x="6245352" y="1069848"/>
            <a:ext cx="932688" cy="182880"/>
          </a:xfrm>
          <a:prstGeom prst="roundRect">
            <a:avLst>
              <a:gd name="adj" fmla="val 15000"/>
            </a:avLst>
          </a:prstGeom>
          <a:solidFill>
            <a:srgbClr val="FFFFFF"/>
          </a:solidFill>
          <a:ln w="9525">
            <a:solidFill>
              <a:srgbClr val="CBD5E1"/>
            </a:solidFill>
            <a:prstDash val="solid"/>
          </a:ln>
        </p:spPr>
      </p:sp>
      <p:sp>
        <p:nvSpPr>
          <p:cNvPr id="54" name="Text 52"/>
          <p:cNvSpPr/>
          <p:nvPr/>
        </p:nvSpPr>
        <p:spPr>
          <a:xfrm>
            <a:off x="6245352"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Linear</a:t>
            </a:r>
            <a:endParaRPr lang="en-US" sz="750" dirty="0"/>
          </a:p>
        </p:txBody>
      </p:sp>
      <p:sp>
        <p:nvSpPr>
          <p:cNvPr id="55" name="Shape 53"/>
          <p:cNvSpPr/>
          <p:nvPr/>
        </p:nvSpPr>
        <p:spPr>
          <a:xfrm>
            <a:off x="6245352" y="1280160"/>
            <a:ext cx="932688" cy="155448"/>
          </a:xfrm>
          <a:prstGeom prst="roundRect">
            <a:avLst>
              <a:gd name="adj" fmla="val 17647"/>
            </a:avLst>
          </a:prstGeom>
          <a:solidFill>
            <a:srgbClr val="1558A8"/>
          </a:solidFill>
          <a:ln w="12700">
            <a:solidFill>
              <a:srgbClr val="1558A8"/>
            </a:solidFill>
            <a:prstDash val="solid"/>
          </a:ln>
        </p:spPr>
      </p:sp>
      <p:sp>
        <p:nvSpPr>
          <p:cNvPr id="56" name="Text 54"/>
          <p:cNvSpPr/>
          <p:nvPr/>
        </p:nvSpPr>
        <p:spPr>
          <a:xfrm>
            <a:off x="6245352"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57" name="Shape 55"/>
          <p:cNvSpPr/>
          <p:nvPr/>
        </p:nvSpPr>
        <p:spPr>
          <a:xfrm>
            <a:off x="164592" y="2336292"/>
            <a:ext cx="9116568" cy="1476756"/>
          </a:xfrm>
          <a:prstGeom prst="rect">
            <a:avLst/>
          </a:prstGeom>
          <a:solidFill>
            <a:srgbClr val="FFFFFF"/>
          </a:solidFill>
          <a:ln w="6350">
            <a:solidFill>
              <a:srgbClr val="E5E7EB"/>
            </a:solidFill>
            <a:prstDash val="solid"/>
          </a:ln>
        </p:spPr>
      </p:sp>
      <p:sp>
        <p:nvSpPr>
          <p:cNvPr id="58" name="Shape 56"/>
          <p:cNvSpPr/>
          <p:nvPr/>
        </p:nvSpPr>
        <p:spPr>
          <a:xfrm>
            <a:off x="182880" y="2409444"/>
            <a:ext cx="859536" cy="1330452"/>
          </a:xfrm>
          <a:prstGeom prst="roundRect">
            <a:avLst>
              <a:gd name="adj" fmla="val 5319"/>
            </a:avLst>
          </a:prstGeom>
          <a:solidFill>
            <a:srgbClr val="9CA3AF"/>
          </a:solidFill>
          <a:ln w="12700">
            <a:solidFill>
              <a:srgbClr val="9CA3AF"/>
            </a:solidFill>
            <a:prstDash val="solid"/>
          </a:ln>
        </p:spPr>
      </p:sp>
      <p:sp>
        <p:nvSpPr>
          <p:cNvPr id="59" name="Text 57"/>
          <p:cNvSpPr/>
          <p:nvPr/>
        </p:nvSpPr>
        <p:spPr>
          <a:xfrm>
            <a:off x="182880" y="240944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Player</a:t>
            </a:r>
            <a:endParaRPr lang="en-US" sz="800" dirty="0"/>
          </a:p>
        </p:txBody>
      </p:sp>
      <p:sp>
        <p:nvSpPr>
          <p:cNvPr id="60" name="Text 58"/>
          <p:cNvSpPr/>
          <p:nvPr/>
        </p:nvSpPr>
        <p:spPr>
          <a:xfrm>
            <a:off x="1170432" y="238201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3 / 3 In Progress</a:t>
            </a:r>
            <a:endParaRPr lang="en-US" sz="750" dirty="0"/>
          </a:p>
        </p:txBody>
      </p:sp>
      <p:sp>
        <p:nvSpPr>
          <p:cNvPr id="61" name="Shape 59"/>
          <p:cNvSpPr/>
          <p:nvPr/>
        </p:nvSpPr>
        <p:spPr>
          <a:xfrm>
            <a:off x="1170432" y="2601468"/>
            <a:ext cx="932688" cy="182880"/>
          </a:xfrm>
          <a:prstGeom prst="roundRect">
            <a:avLst>
              <a:gd name="adj" fmla="val 15000"/>
            </a:avLst>
          </a:prstGeom>
          <a:solidFill>
            <a:srgbClr val="FFFFFF"/>
          </a:solidFill>
          <a:ln w="9525">
            <a:solidFill>
              <a:srgbClr val="CBD5E1"/>
            </a:solidFill>
            <a:prstDash val="solid"/>
          </a:ln>
        </p:spPr>
      </p:sp>
      <p:sp>
        <p:nvSpPr>
          <p:cNvPr id="62" name="Text 60"/>
          <p:cNvSpPr/>
          <p:nvPr/>
        </p:nvSpPr>
        <p:spPr>
          <a:xfrm>
            <a:off x="1170432" y="26014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iOS Player</a:t>
            </a:r>
            <a:endParaRPr lang="en-US" sz="750" dirty="0"/>
          </a:p>
        </p:txBody>
      </p:sp>
      <p:sp>
        <p:nvSpPr>
          <p:cNvPr id="63" name="Shape 61"/>
          <p:cNvSpPr/>
          <p:nvPr/>
        </p:nvSpPr>
        <p:spPr>
          <a:xfrm>
            <a:off x="1170432" y="2811780"/>
            <a:ext cx="932688" cy="155448"/>
          </a:xfrm>
          <a:prstGeom prst="roundRect">
            <a:avLst>
              <a:gd name="adj" fmla="val 17647"/>
            </a:avLst>
          </a:prstGeom>
          <a:solidFill>
            <a:srgbClr val="1558A8"/>
          </a:solidFill>
          <a:ln w="12700">
            <a:solidFill>
              <a:srgbClr val="1558A8"/>
            </a:solidFill>
            <a:prstDash val="solid"/>
          </a:ln>
        </p:spPr>
      </p:sp>
      <p:sp>
        <p:nvSpPr>
          <p:cNvPr id="64" name="Text 62"/>
          <p:cNvSpPr/>
          <p:nvPr/>
        </p:nvSpPr>
        <p:spPr>
          <a:xfrm>
            <a:off x="1170432" y="28117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5" name="Shape 63"/>
          <p:cNvSpPr/>
          <p:nvPr/>
        </p:nvSpPr>
        <p:spPr>
          <a:xfrm>
            <a:off x="2185416" y="2601468"/>
            <a:ext cx="932688" cy="182880"/>
          </a:xfrm>
          <a:prstGeom prst="roundRect">
            <a:avLst>
              <a:gd name="adj" fmla="val 15000"/>
            </a:avLst>
          </a:prstGeom>
          <a:solidFill>
            <a:srgbClr val="FFFFFF"/>
          </a:solidFill>
          <a:ln w="9525">
            <a:solidFill>
              <a:srgbClr val="CBD5E1"/>
            </a:solidFill>
            <a:prstDash val="solid"/>
          </a:ln>
        </p:spPr>
      </p:sp>
      <p:sp>
        <p:nvSpPr>
          <p:cNvPr id="66" name="Text 64"/>
          <p:cNvSpPr/>
          <p:nvPr/>
        </p:nvSpPr>
        <p:spPr>
          <a:xfrm>
            <a:off x="2185416" y="26014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Android Player</a:t>
            </a:r>
            <a:endParaRPr lang="en-US" sz="750" dirty="0"/>
          </a:p>
        </p:txBody>
      </p:sp>
      <p:sp>
        <p:nvSpPr>
          <p:cNvPr id="67" name="Shape 65"/>
          <p:cNvSpPr/>
          <p:nvPr/>
        </p:nvSpPr>
        <p:spPr>
          <a:xfrm>
            <a:off x="2185416" y="2811780"/>
            <a:ext cx="932688" cy="155448"/>
          </a:xfrm>
          <a:prstGeom prst="roundRect">
            <a:avLst>
              <a:gd name="adj" fmla="val 17647"/>
            </a:avLst>
          </a:prstGeom>
          <a:solidFill>
            <a:srgbClr val="1558A8"/>
          </a:solidFill>
          <a:ln w="12700">
            <a:solidFill>
              <a:srgbClr val="1558A8"/>
            </a:solidFill>
            <a:prstDash val="solid"/>
          </a:ln>
        </p:spPr>
      </p:sp>
      <p:sp>
        <p:nvSpPr>
          <p:cNvPr id="68" name="Text 66"/>
          <p:cNvSpPr/>
          <p:nvPr/>
        </p:nvSpPr>
        <p:spPr>
          <a:xfrm>
            <a:off x="2185416" y="28117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9" name="Shape 67"/>
          <p:cNvSpPr/>
          <p:nvPr/>
        </p:nvSpPr>
        <p:spPr>
          <a:xfrm>
            <a:off x="3200400" y="2601468"/>
            <a:ext cx="932688" cy="182880"/>
          </a:xfrm>
          <a:prstGeom prst="roundRect">
            <a:avLst>
              <a:gd name="adj" fmla="val 15000"/>
            </a:avLst>
          </a:prstGeom>
          <a:solidFill>
            <a:srgbClr val="FFFFFF"/>
          </a:solidFill>
          <a:ln w="9525">
            <a:solidFill>
              <a:srgbClr val="CBD5E1"/>
            </a:solidFill>
            <a:prstDash val="solid"/>
          </a:ln>
        </p:spPr>
      </p:sp>
      <p:sp>
        <p:nvSpPr>
          <p:cNvPr id="70" name="Text 68"/>
          <p:cNvSpPr/>
          <p:nvPr/>
        </p:nvSpPr>
        <p:spPr>
          <a:xfrm>
            <a:off x="3200400" y="26014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HLS/DASH PB</a:t>
            </a:r>
            <a:endParaRPr lang="en-US" sz="750" dirty="0"/>
          </a:p>
        </p:txBody>
      </p:sp>
      <p:sp>
        <p:nvSpPr>
          <p:cNvPr id="71" name="Shape 69"/>
          <p:cNvSpPr/>
          <p:nvPr/>
        </p:nvSpPr>
        <p:spPr>
          <a:xfrm>
            <a:off x="3200400" y="2811780"/>
            <a:ext cx="932688" cy="155448"/>
          </a:xfrm>
          <a:prstGeom prst="roundRect">
            <a:avLst>
              <a:gd name="adj" fmla="val 17647"/>
            </a:avLst>
          </a:prstGeom>
          <a:solidFill>
            <a:srgbClr val="1558A8"/>
          </a:solidFill>
          <a:ln w="12700">
            <a:solidFill>
              <a:srgbClr val="1558A8"/>
            </a:solidFill>
            <a:prstDash val="solid"/>
          </a:ln>
        </p:spPr>
      </p:sp>
      <p:sp>
        <p:nvSpPr>
          <p:cNvPr id="72" name="Text 70"/>
          <p:cNvSpPr/>
          <p:nvPr/>
        </p:nvSpPr>
        <p:spPr>
          <a:xfrm>
            <a:off x="3200400" y="28117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73" name="Shape 71"/>
          <p:cNvSpPr/>
          <p:nvPr/>
        </p:nvSpPr>
        <p:spPr>
          <a:xfrm>
            <a:off x="164592" y="3867912"/>
            <a:ext cx="9116568" cy="1476756"/>
          </a:xfrm>
          <a:prstGeom prst="rect">
            <a:avLst/>
          </a:prstGeom>
          <a:solidFill>
            <a:srgbClr val="FAFBFC"/>
          </a:solidFill>
          <a:ln w="6350">
            <a:solidFill>
              <a:srgbClr val="E5E7EB"/>
            </a:solidFill>
            <a:prstDash val="solid"/>
          </a:ln>
        </p:spPr>
      </p:sp>
      <p:sp>
        <p:nvSpPr>
          <p:cNvPr id="74" name="Shape 72"/>
          <p:cNvSpPr/>
          <p:nvPr/>
        </p:nvSpPr>
        <p:spPr>
          <a:xfrm>
            <a:off x="182880" y="3941064"/>
            <a:ext cx="859536" cy="1330452"/>
          </a:xfrm>
          <a:prstGeom prst="roundRect">
            <a:avLst>
              <a:gd name="adj" fmla="val 5319"/>
            </a:avLst>
          </a:prstGeom>
          <a:solidFill>
            <a:srgbClr val="9CA3AF"/>
          </a:solidFill>
          <a:ln w="12700">
            <a:solidFill>
              <a:srgbClr val="9CA3AF"/>
            </a:solidFill>
            <a:prstDash val="solid"/>
          </a:ln>
        </p:spPr>
      </p:sp>
      <p:sp>
        <p:nvSpPr>
          <p:cNvPr id="75" name="Text 73"/>
          <p:cNvSpPr/>
          <p:nvPr/>
        </p:nvSpPr>
        <p:spPr>
          <a:xfrm>
            <a:off x="182880" y="394106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Merchandising</a:t>
            </a:r>
            <a:endParaRPr lang="en-US" sz="800" dirty="0"/>
          </a:p>
        </p:txBody>
      </p:sp>
      <p:sp>
        <p:nvSpPr>
          <p:cNvPr id="76" name="Text 74"/>
          <p:cNvSpPr/>
          <p:nvPr/>
        </p:nvSpPr>
        <p:spPr>
          <a:xfrm>
            <a:off x="1170432" y="391363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6 / 9 In Progress · 2 Done</a:t>
            </a:r>
            <a:endParaRPr lang="en-US" sz="750" dirty="0"/>
          </a:p>
        </p:txBody>
      </p:sp>
      <p:sp>
        <p:nvSpPr>
          <p:cNvPr id="77" name="Shape 75"/>
          <p:cNvSpPr/>
          <p:nvPr/>
        </p:nvSpPr>
        <p:spPr>
          <a:xfrm>
            <a:off x="1170432" y="4133088"/>
            <a:ext cx="932688" cy="182880"/>
          </a:xfrm>
          <a:prstGeom prst="roundRect">
            <a:avLst>
              <a:gd name="adj" fmla="val 15000"/>
            </a:avLst>
          </a:prstGeom>
          <a:solidFill>
            <a:srgbClr val="FFFFFF"/>
          </a:solidFill>
          <a:ln w="9525">
            <a:solidFill>
              <a:srgbClr val="CBD5E1"/>
            </a:solidFill>
            <a:prstDash val="solid"/>
          </a:ln>
        </p:spPr>
      </p:sp>
      <p:sp>
        <p:nvSpPr>
          <p:cNvPr id="78" name="Text 76"/>
          <p:cNvSpPr/>
          <p:nvPr/>
        </p:nvSpPr>
        <p:spPr>
          <a:xfrm>
            <a:off x="1170432"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Metadata</a:t>
            </a:r>
            <a:endParaRPr lang="en-US" sz="750" dirty="0"/>
          </a:p>
        </p:txBody>
      </p:sp>
      <p:sp>
        <p:nvSpPr>
          <p:cNvPr id="79" name="Shape 77"/>
          <p:cNvSpPr/>
          <p:nvPr/>
        </p:nvSpPr>
        <p:spPr>
          <a:xfrm>
            <a:off x="1170432" y="4343400"/>
            <a:ext cx="932688" cy="155448"/>
          </a:xfrm>
          <a:prstGeom prst="roundRect">
            <a:avLst>
              <a:gd name="adj" fmla="val 17647"/>
            </a:avLst>
          </a:prstGeom>
          <a:solidFill>
            <a:srgbClr val="1558A8"/>
          </a:solidFill>
          <a:ln w="12700">
            <a:solidFill>
              <a:srgbClr val="1558A8"/>
            </a:solidFill>
            <a:prstDash val="solid"/>
          </a:ln>
        </p:spPr>
      </p:sp>
      <p:sp>
        <p:nvSpPr>
          <p:cNvPr id="80" name="Text 78"/>
          <p:cNvSpPr/>
          <p:nvPr/>
        </p:nvSpPr>
        <p:spPr>
          <a:xfrm>
            <a:off x="1170432"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81" name="Shape 79"/>
          <p:cNvSpPr/>
          <p:nvPr/>
        </p:nvSpPr>
        <p:spPr>
          <a:xfrm>
            <a:off x="2185416" y="4133088"/>
            <a:ext cx="932688" cy="182880"/>
          </a:xfrm>
          <a:prstGeom prst="roundRect">
            <a:avLst>
              <a:gd name="adj" fmla="val 15000"/>
            </a:avLst>
          </a:prstGeom>
          <a:solidFill>
            <a:srgbClr val="FFFFFF"/>
          </a:solidFill>
          <a:ln w="9525">
            <a:solidFill>
              <a:srgbClr val="CBD5E1"/>
            </a:solidFill>
            <a:prstDash val="solid"/>
          </a:ln>
        </p:spPr>
      </p:sp>
      <p:sp>
        <p:nvSpPr>
          <p:cNvPr id="82" name="Text 80"/>
          <p:cNvSpPr/>
          <p:nvPr/>
        </p:nvSpPr>
        <p:spPr>
          <a:xfrm>
            <a:off x="2185416"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Images</a:t>
            </a:r>
            <a:endParaRPr lang="en-US" sz="750" dirty="0"/>
          </a:p>
        </p:txBody>
      </p:sp>
      <p:sp>
        <p:nvSpPr>
          <p:cNvPr id="83" name="Shape 81"/>
          <p:cNvSpPr/>
          <p:nvPr/>
        </p:nvSpPr>
        <p:spPr>
          <a:xfrm>
            <a:off x="2185416" y="4343400"/>
            <a:ext cx="932688" cy="155448"/>
          </a:xfrm>
          <a:prstGeom prst="roundRect">
            <a:avLst>
              <a:gd name="adj" fmla="val 17647"/>
            </a:avLst>
          </a:prstGeom>
          <a:solidFill>
            <a:srgbClr val="1558A8"/>
          </a:solidFill>
          <a:ln w="12700">
            <a:solidFill>
              <a:srgbClr val="1558A8"/>
            </a:solidFill>
            <a:prstDash val="solid"/>
          </a:ln>
        </p:spPr>
      </p:sp>
      <p:sp>
        <p:nvSpPr>
          <p:cNvPr id="84" name="Text 82"/>
          <p:cNvSpPr/>
          <p:nvPr/>
        </p:nvSpPr>
        <p:spPr>
          <a:xfrm>
            <a:off x="2185416"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85" name="Shape 83"/>
          <p:cNvSpPr/>
          <p:nvPr/>
        </p:nvSpPr>
        <p:spPr>
          <a:xfrm>
            <a:off x="3200400" y="4133088"/>
            <a:ext cx="932688" cy="182880"/>
          </a:xfrm>
          <a:prstGeom prst="roundRect">
            <a:avLst>
              <a:gd name="adj" fmla="val 15000"/>
            </a:avLst>
          </a:prstGeom>
          <a:solidFill>
            <a:srgbClr val="FFFFFF"/>
          </a:solidFill>
          <a:ln w="9525">
            <a:solidFill>
              <a:srgbClr val="CBD5E1"/>
            </a:solidFill>
            <a:prstDash val="solid"/>
          </a:ln>
        </p:spPr>
      </p:sp>
      <p:sp>
        <p:nvSpPr>
          <p:cNvPr id="86" name="Text 84"/>
          <p:cNvSpPr/>
          <p:nvPr/>
        </p:nvSpPr>
        <p:spPr>
          <a:xfrm>
            <a:off x="3200400"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Carousels</a:t>
            </a:r>
            <a:endParaRPr lang="en-US" sz="750" dirty="0"/>
          </a:p>
        </p:txBody>
      </p:sp>
      <p:sp>
        <p:nvSpPr>
          <p:cNvPr id="87" name="Shape 85"/>
          <p:cNvSpPr/>
          <p:nvPr/>
        </p:nvSpPr>
        <p:spPr>
          <a:xfrm>
            <a:off x="3200400" y="4343400"/>
            <a:ext cx="932688" cy="155448"/>
          </a:xfrm>
          <a:prstGeom prst="roundRect">
            <a:avLst>
              <a:gd name="adj" fmla="val 17647"/>
            </a:avLst>
          </a:prstGeom>
          <a:solidFill>
            <a:srgbClr val="1558A8"/>
          </a:solidFill>
          <a:ln w="12700">
            <a:solidFill>
              <a:srgbClr val="1558A8"/>
            </a:solidFill>
            <a:prstDash val="solid"/>
          </a:ln>
        </p:spPr>
      </p:sp>
      <p:sp>
        <p:nvSpPr>
          <p:cNvPr id="88" name="Text 86"/>
          <p:cNvSpPr/>
          <p:nvPr/>
        </p:nvSpPr>
        <p:spPr>
          <a:xfrm>
            <a:off x="3200400"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89" name="Shape 87"/>
          <p:cNvSpPr/>
          <p:nvPr/>
        </p:nvSpPr>
        <p:spPr>
          <a:xfrm>
            <a:off x="4215384" y="4133088"/>
            <a:ext cx="932688" cy="182880"/>
          </a:xfrm>
          <a:prstGeom prst="roundRect">
            <a:avLst>
              <a:gd name="adj" fmla="val 15000"/>
            </a:avLst>
          </a:prstGeom>
          <a:solidFill>
            <a:srgbClr val="FFFFFF"/>
          </a:solidFill>
          <a:ln w="9525">
            <a:solidFill>
              <a:srgbClr val="CBD5E1"/>
            </a:solidFill>
            <a:prstDash val="solid"/>
          </a:ln>
        </p:spPr>
      </p:sp>
      <p:sp>
        <p:nvSpPr>
          <p:cNvPr id="90" name="Text 88"/>
          <p:cNvSpPr/>
          <p:nvPr/>
        </p:nvSpPr>
        <p:spPr>
          <a:xfrm>
            <a:off x="4215384"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Live Events</a:t>
            </a:r>
            <a:endParaRPr lang="en-US" sz="750" dirty="0"/>
          </a:p>
        </p:txBody>
      </p:sp>
      <p:sp>
        <p:nvSpPr>
          <p:cNvPr id="91" name="Shape 89"/>
          <p:cNvSpPr/>
          <p:nvPr/>
        </p:nvSpPr>
        <p:spPr>
          <a:xfrm>
            <a:off x="4215384" y="4343400"/>
            <a:ext cx="932688" cy="155448"/>
          </a:xfrm>
          <a:prstGeom prst="roundRect">
            <a:avLst>
              <a:gd name="adj" fmla="val 17647"/>
            </a:avLst>
          </a:prstGeom>
          <a:solidFill>
            <a:srgbClr val="1558A8"/>
          </a:solidFill>
          <a:ln w="12700">
            <a:solidFill>
              <a:srgbClr val="1558A8"/>
            </a:solidFill>
            <a:prstDash val="solid"/>
          </a:ln>
        </p:spPr>
      </p:sp>
      <p:sp>
        <p:nvSpPr>
          <p:cNvPr id="92" name="Text 90"/>
          <p:cNvSpPr/>
          <p:nvPr/>
        </p:nvSpPr>
        <p:spPr>
          <a:xfrm>
            <a:off x="4215384"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93" name="Shape 91"/>
          <p:cNvSpPr/>
          <p:nvPr/>
        </p:nvSpPr>
        <p:spPr>
          <a:xfrm>
            <a:off x="5230368" y="4133088"/>
            <a:ext cx="932688" cy="182880"/>
          </a:xfrm>
          <a:prstGeom prst="roundRect">
            <a:avLst>
              <a:gd name="adj" fmla="val 15000"/>
            </a:avLst>
          </a:prstGeom>
          <a:solidFill>
            <a:srgbClr val="FFFFFF"/>
          </a:solidFill>
          <a:ln w="9525">
            <a:solidFill>
              <a:srgbClr val="CBD5E1"/>
            </a:solidFill>
            <a:prstDash val="solid"/>
          </a:ln>
        </p:spPr>
      </p:sp>
      <p:sp>
        <p:nvSpPr>
          <p:cNvPr id="94" name="Text 92"/>
          <p:cNvSpPr/>
          <p:nvPr/>
        </p:nvSpPr>
        <p:spPr>
          <a:xfrm>
            <a:off x="5230368"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Back Catalog</a:t>
            </a:r>
            <a:endParaRPr lang="en-US" sz="750" dirty="0"/>
          </a:p>
        </p:txBody>
      </p:sp>
      <p:sp>
        <p:nvSpPr>
          <p:cNvPr id="95" name="Shape 93"/>
          <p:cNvSpPr/>
          <p:nvPr/>
        </p:nvSpPr>
        <p:spPr>
          <a:xfrm>
            <a:off x="5230368" y="4343400"/>
            <a:ext cx="932688" cy="155448"/>
          </a:xfrm>
          <a:prstGeom prst="roundRect">
            <a:avLst>
              <a:gd name="adj" fmla="val 17647"/>
            </a:avLst>
          </a:prstGeom>
          <a:solidFill>
            <a:srgbClr val="F3F4F6"/>
          </a:solidFill>
          <a:ln w="9525">
            <a:solidFill>
              <a:srgbClr val="D1D5DB"/>
            </a:solidFill>
            <a:prstDash val="solid"/>
          </a:ln>
        </p:spPr>
      </p:sp>
      <p:sp>
        <p:nvSpPr>
          <p:cNvPr id="96" name="Text 94"/>
          <p:cNvSpPr/>
          <p:nvPr/>
        </p:nvSpPr>
        <p:spPr>
          <a:xfrm>
            <a:off x="5230368" y="434340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97" name="Shape 95"/>
          <p:cNvSpPr/>
          <p:nvPr/>
        </p:nvSpPr>
        <p:spPr>
          <a:xfrm>
            <a:off x="6245352" y="4133088"/>
            <a:ext cx="932688" cy="182880"/>
          </a:xfrm>
          <a:prstGeom prst="roundRect">
            <a:avLst>
              <a:gd name="adj" fmla="val 15000"/>
            </a:avLst>
          </a:prstGeom>
          <a:solidFill>
            <a:srgbClr val="FFFFFF"/>
          </a:solidFill>
          <a:ln w="9525">
            <a:solidFill>
              <a:srgbClr val="CBD5E1"/>
            </a:solidFill>
            <a:prstDash val="solid"/>
          </a:ln>
        </p:spPr>
      </p:sp>
      <p:sp>
        <p:nvSpPr>
          <p:cNvPr id="98" name="Text 96"/>
          <p:cNvSpPr/>
          <p:nvPr/>
        </p:nvSpPr>
        <p:spPr>
          <a:xfrm>
            <a:off x="6245352"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Full Replays</a:t>
            </a:r>
            <a:endParaRPr lang="en-US" sz="750" dirty="0"/>
          </a:p>
        </p:txBody>
      </p:sp>
      <p:sp>
        <p:nvSpPr>
          <p:cNvPr id="99" name="Shape 97"/>
          <p:cNvSpPr/>
          <p:nvPr/>
        </p:nvSpPr>
        <p:spPr>
          <a:xfrm>
            <a:off x="6245352" y="4343400"/>
            <a:ext cx="932688" cy="155448"/>
          </a:xfrm>
          <a:prstGeom prst="roundRect">
            <a:avLst>
              <a:gd name="adj" fmla="val 17647"/>
            </a:avLst>
          </a:prstGeom>
          <a:solidFill>
            <a:srgbClr val="1558A8"/>
          </a:solidFill>
          <a:ln w="12700">
            <a:solidFill>
              <a:srgbClr val="1558A8"/>
            </a:solidFill>
            <a:prstDash val="solid"/>
          </a:ln>
        </p:spPr>
      </p:sp>
      <p:sp>
        <p:nvSpPr>
          <p:cNvPr id="100" name="Text 98"/>
          <p:cNvSpPr/>
          <p:nvPr/>
        </p:nvSpPr>
        <p:spPr>
          <a:xfrm>
            <a:off x="6245352"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01" name="Shape 99"/>
          <p:cNvSpPr/>
          <p:nvPr/>
        </p:nvSpPr>
        <p:spPr>
          <a:xfrm>
            <a:off x="7260336" y="4133088"/>
            <a:ext cx="932688" cy="182880"/>
          </a:xfrm>
          <a:prstGeom prst="roundRect">
            <a:avLst>
              <a:gd name="adj" fmla="val 15000"/>
            </a:avLst>
          </a:prstGeom>
          <a:solidFill>
            <a:srgbClr val="FFFFFF"/>
          </a:solidFill>
          <a:ln w="9525">
            <a:solidFill>
              <a:srgbClr val="CBD5E1"/>
            </a:solidFill>
            <a:prstDash val="solid"/>
          </a:ln>
        </p:spPr>
      </p:sp>
      <p:sp>
        <p:nvSpPr>
          <p:cNvPr id="102" name="Text 100"/>
          <p:cNvSpPr/>
          <p:nvPr/>
        </p:nvSpPr>
        <p:spPr>
          <a:xfrm>
            <a:off x="7260336"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M15</a:t>
            </a:r>
            <a:endParaRPr lang="en-US" sz="750" dirty="0"/>
          </a:p>
        </p:txBody>
      </p:sp>
      <p:sp>
        <p:nvSpPr>
          <p:cNvPr id="103" name="Shape 101"/>
          <p:cNvSpPr/>
          <p:nvPr/>
        </p:nvSpPr>
        <p:spPr>
          <a:xfrm>
            <a:off x="7260336" y="4343400"/>
            <a:ext cx="932688" cy="155448"/>
          </a:xfrm>
          <a:prstGeom prst="roundRect">
            <a:avLst>
              <a:gd name="adj" fmla="val 17647"/>
            </a:avLst>
          </a:prstGeom>
          <a:solidFill>
            <a:srgbClr val="DCFCE7"/>
          </a:solidFill>
          <a:ln w="12700">
            <a:solidFill>
              <a:srgbClr val="15803D"/>
            </a:solidFill>
            <a:prstDash val="solid"/>
          </a:ln>
        </p:spPr>
      </p:sp>
      <p:sp>
        <p:nvSpPr>
          <p:cNvPr id="104" name="Text 102"/>
          <p:cNvSpPr/>
          <p:nvPr/>
        </p:nvSpPr>
        <p:spPr>
          <a:xfrm>
            <a:off x="7260336" y="4343400"/>
            <a:ext cx="932688" cy="155448"/>
          </a:xfrm>
          <a:prstGeom prst="rect">
            <a:avLst/>
          </a:prstGeom>
          <a:noFill/>
          <a:ln/>
        </p:spPr>
        <p:txBody>
          <a:bodyPr wrap="square" lIns="0" tIns="0" rIns="0" bIns="0" rtlCol="0" anchor="ctr"/>
          <a:lstStyle/>
          <a:p>
            <a:pPr algn="ctr" indent="0" marL="0">
              <a:buNone/>
            </a:pPr>
            <a:r>
              <a:rPr lang="en-US" sz="700" dirty="0">
                <a:solidFill>
                  <a:srgbClr val="14532D"/>
                </a:solidFill>
              </a:rPr>
              <a:t>Done</a:t>
            </a:r>
            <a:endParaRPr lang="en-US" sz="700" dirty="0"/>
          </a:p>
        </p:txBody>
      </p:sp>
      <p:sp>
        <p:nvSpPr>
          <p:cNvPr id="105" name="Shape 103"/>
          <p:cNvSpPr/>
          <p:nvPr/>
        </p:nvSpPr>
        <p:spPr>
          <a:xfrm>
            <a:off x="8275320" y="4133088"/>
            <a:ext cx="932688" cy="182880"/>
          </a:xfrm>
          <a:prstGeom prst="roundRect">
            <a:avLst>
              <a:gd name="adj" fmla="val 15000"/>
            </a:avLst>
          </a:prstGeom>
          <a:solidFill>
            <a:srgbClr val="FFFFFF"/>
          </a:solidFill>
          <a:ln w="9525">
            <a:solidFill>
              <a:srgbClr val="CBD5E1"/>
            </a:solidFill>
            <a:prstDash val="solid"/>
          </a:ln>
        </p:spPr>
      </p:sp>
      <p:sp>
        <p:nvSpPr>
          <p:cNvPr id="106" name="Text 104"/>
          <p:cNvSpPr/>
          <p:nvPr/>
        </p:nvSpPr>
        <p:spPr>
          <a:xfrm>
            <a:off x="8275320"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Highlights</a:t>
            </a:r>
            <a:endParaRPr lang="en-US" sz="750" dirty="0"/>
          </a:p>
        </p:txBody>
      </p:sp>
      <p:sp>
        <p:nvSpPr>
          <p:cNvPr id="107" name="Shape 105"/>
          <p:cNvSpPr/>
          <p:nvPr/>
        </p:nvSpPr>
        <p:spPr>
          <a:xfrm>
            <a:off x="8275320" y="4343400"/>
            <a:ext cx="932688" cy="155448"/>
          </a:xfrm>
          <a:prstGeom prst="roundRect">
            <a:avLst>
              <a:gd name="adj" fmla="val 17647"/>
            </a:avLst>
          </a:prstGeom>
          <a:solidFill>
            <a:srgbClr val="DCFCE7"/>
          </a:solidFill>
          <a:ln w="12700">
            <a:solidFill>
              <a:srgbClr val="15803D"/>
            </a:solidFill>
            <a:prstDash val="solid"/>
          </a:ln>
        </p:spPr>
      </p:sp>
      <p:sp>
        <p:nvSpPr>
          <p:cNvPr id="108" name="Text 106"/>
          <p:cNvSpPr/>
          <p:nvPr/>
        </p:nvSpPr>
        <p:spPr>
          <a:xfrm>
            <a:off x="8275320" y="4343400"/>
            <a:ext cx="932688" cy="155448"/>
          </a:xfrm>
          <a:prstGeom prst="rect">
            <a:avLst/>
          </a:prstGeom>
          <a:noFill/>
          <a:ln/>
        </p:spPr>
        <p:txBody>
          <a:bodyPr wrap="square" lIns="0" tIns="0" rIns="0" bIns="0" rtlCol="0" anchor="ctr"/>
          <a:lstStyle/>
          <a:p>
            <a:pPr algn="ctr" indent="0" marL="0">
              <a:buNone/>
            </a:pPr>
            <a:r>
              <a:rPr lang="en-US" sz="700" dirty="0">
                <a:solidFill>
                  <a:srgbClr val="14532D"/>
                </a:solidFill>
              </a:rPr>
              <a:t>Done</a:t>
            </a:r>
            <a:endParaRPr lang="en-US" sz="700" dirty="0"/>
          </a:p>
        </p:txBody>
      </p:sp>
      <p:sp>
        <p:nvSpPr>
          <p:cNvPr id="109" name="Shape 107"/>
          <p:cNvSpPr/>
          <p:nvPr/>
        </p:nvSpPr>
        <p:spPr>
          <a:xfrm>
            <a:off x="1170432" y="4590288"/>
            <a:ext cx="932688" cy="182880"/>
          </a:xfrm>
          <a:prstGeom prst="roundRect">
            <a:avLst>
              <a:gd name="adj" fmla="val 15000"/>
            </a:avLst>
          </a:prstGeom>
          <a:solidFill>
            <a:srgbClr val="FFFFFF"/>
          </a:solidFill>
          <a:ln w="9525">
            <a:solidFill>
              <a:srgbClr val="CBD5E1"/>
            </a:solidFill>
            <a:prstDash val="solid"/>
          </a:ln>
        </p:spPr>
      </p:sp>
      <p:sp>
        <p:nvSpPr>
          <p:cNvPr id="110" name="Text 108"/>
          <p:cNvSpPr/>
          <p:nvPr/>
        </p:nvSpPr>
        <p:spPr>
          <a:xfrm>
            <a:off x="1170432" y="45902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Linear</a:t>
            </a:r>
            <a:endParaRPr lang="en-US" sz="750" dirty="0"/>
          </a:p>
        </p:txBody>
      </p:sp>
      <p:sp>
        <p:nvSpPr>
          <p:cNvPr id="111" name="Shape 109"/>
          <p:cNvSpPr/>
          <p:nvPr/>
        </p:nvSpPr>
        <p:spPr>
          <a:xfrm>
            <a:off x="1170432" y="4800600"/>
            <a:ext cx="932688" cy="155448"/>
          </a:xfrm>
          <a:prstGeom prst="roundRect">
            <a:avLst>
              <a:gd name="adj" fmla="val 17647"/>
            </a:avLst>
          </a:prstGeom>
          <a:solidFill>
            <a:srgbClr val="1558A8"/>
          </a:solidFill>
          <a:ln w="12700">
            <a:solidFill>
              <a:srgbClr val="1558A8"/>
            </a:solidFill>
            <a:prstDash val="solid"/>
          </a:ln>
        </p:spPr>
      </p:sp>
      <p:sp>
        <p:nvSpPr>
          <p:cNvPr id="112" name="Text 110"/>
          <p:cNvSpPr/>
          <p:nvPr/>
        </p:nvSpPr>
        <p:spPr>
          <a:xfrm>
            <a:off x="1170432" y="48006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13" name="Shape 111"/>
          <p:cNvSpPr/>
          <p:nvPr/>
        </p:nvSpPr>
        <p:spPr>
          <a:xfrm>
            <a:off x="164592" y="5399532"/>
            <a:ext cx="9116568" cy="1476756"/>
          </a:xfrm>
          <a:prstGeom prst="rect">
            <a:avLst/>
          </a:prstGeom>
          <a:solidFill>
            <a:srgbClr val="FFFFFF"/>
          </a:solidFill>
          <a:ln w="6350">
            <a:solidFill>
              <a:srgbClr val="E5E7EB"/>
            </a:solidFill>
            <a:prstDash val="solid"/>
          </a:ln>
        </p:spPr>
      </p:sp>
      <p:sp>
        <p:nvSpPr>
          <p:cNvPr id="114" name="Shape 112"/>
          <p:cNvSpPr/>
          <p:nvPr/>
        </p:nvSpPr>
        <p:spPr>
          <a:xfrm>
            <a:off x="182880" y="5472684"/>
            <a:ext cx="859536" cy="1330452"/>
          </a:xfrm>
          <a:prstGeom prst="roundRect">
            <a:avLst>
              <a:gd name="adj" fmla="val 5319"/>
            </a:avLst>
          </a:prstGeom>
          <a:solidFill>
            <a:srgbClr val="9CA3AF"/>
          </a:solidFill>
          <a:ln w="12700">
            <a:solidFill>
              <a:srgbClr val="9CA3AF"/>
            </a:solidFill>
            <a:prstDash val="solid"/>
          </a:ln>
        </p:spPr>
      </p:sp>
      <p:sp>
        <p:nvSpPr>
          <p:cNvPr id="115" name="Text 113"/>
          <p:cNvSpPr/>
          <p:nvPr/>
        </p:nvSpPr>
        <p:spPr>
          <a:xfrm>
            <a:off x="182880" y="547268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Onboarding</a:t>
            </a:r>
            <a:endParaRPr lang="en-US" sz="800" dirty="0"/>
          </a:p>
        </p:txBody>
      </p:sp>
      <p:sp>
        <p:nvSpPr>
          <p:cNvPr id="116" name="Text 114"/>
          <p:cNvSpPr/>
          <p:nvPr/>
        </p:nvSpPr>
        <p:spPr>
          <a:xfrm>
            <a:off x="1170432" y="544525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4 / 6 In Progress · 1 Done</a:t>
            </a:r>
            <a:endParaRPr lang="en-US" sz="750" dirty="0"/>
          </a:p>
        </p:txBody>
      </p:sp>
      <p:sp>
        <p:nvSpPr>
          <p:cNvPr id="117" name="Shape 115"/>
          <p:cNvSpPr/>
          <p:nvPr/>
        </p:nvSpPr>
        <p:spPr>
          <a:xfrm>
            <a:off x="1170432" y="5664708"/>
            <a:ext cx="932688" cy="182880"/>
          </a:xfrm>
          <a:prstGeom prst="roundRect">
            <a:avLst>
              <a:gd name="adj" fmla="val 15000"/>
            </a:avLst>
          </a:prstGeom>
          <a:solidFill>
            <a:srgbClr val="FFFFFF"/>
          </a:solidFill>
          <a:ln w="9525">
            <a:solidFill>
              <a:srgbClr val="CBD5E1"/>
            </a:solidFill>
            <a:prstDash val="solid"/>
          </a:ln>
        </p:spPr>
      </p:sp>
      <p:sp>
        <p:nvSpPr>
          <p:cNvPr id="118" name="Text 116"/>
          <p:cNvSpPr/>
          <p:nvPr/>
        </p:nvSpPr>
        <p:spPr>
          <a:xfrm>
            <a:off x="1170432"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Unentitled</a:t>
            </a:r>
            <a:endParaRPr lang="en-US" sz="750" dirty="0"/>
          </a:p>
        </p:txBody>
      </p:sp>
      <p:sp>
        <p:nvSpPr>
          <p:cNvPr id="119" name="Shape 117"/>
          <p:cNvSpPr/>
          <p:nvPr/>
        </p:nvSpPr>
        <p:spPr>
          <a:xfrm>
            <a:off x="1170432" y="5875020"/>
            <a:ext cx="932688" cy="155448"/>
          </a:xfrm>
          <a:prstGeom prst="roundRect">
            <a:avLst>
              <a:gd name="adj" fmla="val 17647"/>
            </a:avLst>
          </a:prstGeom>
          <a:solidFill>
            <a:srgbClr val="1558A8"/>
          </a:solidFill>
          <a:ln w="12700">
            <a:solidFill>
              <a:srgbClr val="1558A8"/>
            </a:solidFill>
            <a:prstDash val="solid"/>
          </a:ln>
        </p:spPr>
      </p:sp>
      <p:sp>
        <p:nvSpPr>
          <p:cNvPr id="120" name="Text 118"/>
          <p:cNvSpPr/>
          <p:nvPr/>
        </p:nvSpPr>
        <p:spPr>
          <a:xfrm>
            <a:off x="1170432"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21" name="Shape 119"/>
          <p:cNvSpPr/>
          <p:nvPr/>
        </p:nvSpPr>
        <p:spPr>
          <a:xfrm>
            <a:off x="2185416" y="5664708"/>
            <a:ext cx="932688" cy="182880"/>
          </a:xfrm>
          <a:prstGeom prst="roundRect">
            <a:avLst>
              <a:gd name="adj" fmla="val 15000"/>
            </a:avLst>
          </a:prstGeom>
          <a:solidFill>
            <a:srgbClr val="FFFFFF"/>
          </a:solidFill>
          <a:ln w="9525">
            <a:solidFill>
              <a:srgbClr val="CBD5E1"/>
            </a:solidFill>
            <a:prstDash val="solid"/>
          </a:ln>
        </p:spPr>
      </p:sp>
      <p:sp>
        <p:nvSpPr>
          <p:cNvPr id="122" name="Text 120"/>
          <p:cNvSpPr/>
          <p:nvPr/>
        </p:nvSpPr>
        <p:spPr>
          <a:xfrm>
            <a:off x="2185416"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Sign-in</a:t>
            </a:r>
            <a:endParaRPr lang="en-US" sz="750" dirty="0"/>
          </a:p>
        </p:txBody>
      </p:sp>
      <p:sp>
        <p:nvSpPr>
          <p:cNvPr id="123" name="Shape 121"/>
          <p:cNvSpPr/>
          <p:nvPr/>
        </p:nvSpPr>
        <p:spPr>
          <a:xfrm>
            <a:off x="2185416" y="5875020"/>
            <a:ext cx="932688" cy="155448"/>
          </a:xfrm>
          <a:prstGeom prst="roundRect">
            <a:avLst>
              <a:gd name="adj" fmla="val 17647"/>
            </a:avLst>
          </a:prstGeom>
          <a:solidFill>
            <a:srgbClr val="1558A8"/>
          </a:solidFill>
          <a:ln w="12700">
            <a:solidFill>
              <a:srgbClr val="1558A8"/>
            </a:solidFill>
            <a:prstDash val="solid"/>
          </a:ln>
        </p:spPr>
      </p:sp>
      <p:sp>
        <p:nvSpPr>
          <p:cNvPr id="124" name="Text 122"/>
          <p:cNvSpPr/>
          <p:nvPr/>
        </p:nvSpPr>
        <p:spPr>
          <a:xfrm>
            <a:off x="2185416"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25" name="Shape 123"/>
          <p:cNvSpPr/>
          <p:nvPr/>
        </p:nvSpPr>
        <p:spPr>
          <a:xfrm>
            <a:off x="3200400" y="5664708"/>
            <a:ext cx="932688" cy="182880"/>
          </a:xfrm>
          <a:prstGeom prst="roundRect">
            <a:avLst>
              <a:gd name="adj" fmla="val 15000"/>
            </a:avLst>
          </a:prstGeom>
          <a:solidFill>
            <a:srgbClr val="FFFFFF"/>
          </a:solidFill>
          <a:ln w="9525">
            <a:solidFill>
              <a:srgbClr val="CBD5E1"/>
            </a:solidFill>
            <a:prstDash val="solid"/>
          </a:ln>
        </p:spPr>
      </p:sp>
      <p:sp>
        <p:nvSpPr>
          <p:cNvPr id="126" name="Text 124"/>
          <p:cNvSpPr/>
          <p:nvPr/>
        </p:nvSpPr>
        <p:spPr>
          <a:xfrm>
            <a:off x="3200400"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Subscription</a:t>
            </a:r>
            <a:endParaRPr lang="en-US" sz="750" dirty="0"/>
          </a:p>
        </p:txBody>
      </p:sp>
      <p:sp>
        <p:nvSpPr>
          <p:cNvPr id="127" name="Shape 125"/>
          <p:cNvSpPr/>
          <p:nvPr/>
        </p:nvSpPr>
        <p:spPr>
          <a:xfrm>
            <a:off x="3200400" y="5875020"/>
            <a:ext cx="932688" cy="155448"/>
          </a:xfrm>
          <a:prstGeom prst="roundRect">
            <a:avLst>
              <a:gd name="adj" fmla="val 17647"/>
            </a:avLst>
          </a:prstGeom>
          <a:solidFill>
            <a:srgbClr val="1558A8"/>
          </a:solidFill>
          <a:ln w="12700">
            <a:solidFill>
              <a:srgbClr val="1558A8"/>
            </a:solidFill>
            <a:prstDash val="solid"/>
          </a:ln>
        </p:spPr>
      </p:sp>
      <p:sp>
        <p:nvSpPr>
          <p:cNvPr id="128" name="Text 126"/>
          <p:cNvSpPr/>
          <p:nvPr/>
        </p:nvSpPr>
        <p:spPr>
          <a:xfrm>
            <a:off x="3200400"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29" name="Shape 127"/>
          <p:cNvSpPr/>
          <p:nvPr/>
        </p:nvSpPr>
        <p:spPr>
          <a:xfrm>
            <a:off x="4215384" y="5664708"/>
            <a:ext cx="932688" cy="182880"/>
          </a:xfrm>
          <a:prstGeom prst="roundRect">
            <a:avLst>
              <a:gd name="adj" fmla="val 15000"/>
            </a:avLst>
          </a:prstGeom>
          <a:solidFill>
            <a:srgbClr val="FFFFFF"/>
          </a:solidFill>
          <a:ln w="9525">
            <a:solidFill>
              <a:srgbClr val="CBD5E1"/>
            </a:solidFill>
            <a:prstDash val="solid"/>
          </a:ln>
        </p:spPr>
      </p:sp>
      <p:sp>
        <p:nvSpPr>
          <p:cNvPr id="130" name="Text 128"/>
          <p:cNvSpPr/>
          <p:nvPr/>
        </p:nvSpPr>
        <p:spPr>
          <a:xfrm>
            <a:off x="4215384"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MVPD</a:t>
            </a:r>
            <a:endParaRPr lang="en-US" sz="750" dirty="0"/>
          </a:p>
        </p:txBody>
      </p:sp>
      <p:sp>
        <p:nvSpPr>
          <p:cNvPr id="131" name="Shape 129"/>
          <p:cNvSpPr/>
          <p:nvPr/>
        </p:nvSpPr>
        <p:spPr>
          <a:xfrm>
            <a:off x="4215384" y="5875020"/>
            <a:ext cx="932688" cy="155448"/>
          </a:xfrm>
          <a:prstGeom prst="roundRect">
            <a:avLst>
              <a:gd name="adj" fmla="val 17647"/>
            </a:avLst>
          </a:prstGeom>
          <a:solidFill>
            <a:srgbClr val="DCFCE7"/>
          </a:solidFill>
          <a:ln w="12700">
            <a:solidFill>
              <a:srgbClr val="15803D"/>
            </a:solidFill>
            <a:prstDash val="solid"/>
          </a:ln>
        </p:spPr>
      </p:sp>
      <p:sp>
        <p:nvSpPr>
          <p:cNvPr id="132" name="Text 130"/>
          <p:cNvSpPr/>
          <p:nvPr/>
        </p:nvSpPr>
        <p:spPr>
          <a:xfrm>
            <a:off x="4215384" y="5875020"/>
            <a:ext cx="932688" cy="155448"/>
          </a:xfrm>
          <a:prstGeom prst="rect">
            <a:avLst/>
          </a:prstGeom>
          <a:noFill/>
          <a:ln/>
        </p:spPr>
        <p:txBody>
          <a:bodyPr wrap="square" lIns="0" tIns="0" rIns="0" bIns="0" rtlCol="0" anchor="ctr"/>
          <a:lstStyle/>
          <a:p>
            <a:pPr algn="ctr" indent="0" marL="0">
              <a:buNone/>
            </a:pPr>
            <a:r>
              <a:rPr lang="en-US" sz="700" dirty="0">
                <a:solidFill>
                  <a:srgbClr val="14532D"/>
                </a:solidFill>
              </a:rPr>
              <a:t>Done</a:t>
            </a:r>
            <a:endParaRPr lang="en-US" sz="700" dirty="0"/>
          </a:p>
        </p:txBody>
      </p:sp>
      <p:sp>
        <p:nvSpPr>
          <p:cNvPr id="133" name="Shape 131"/>
          <p:cNvSpPr/>
          <p:nvPr/>
        </p:nvSpPr>
        <p:spPr>
          <a:xfrm>
            <a:off x="5230368" y="5664708"/>
            <a:ext cx="932688" cy="182880"/>
          </a:xfrm>
          <a:prstGeom prst="roundRect">
            <a:avLst>
              <a:gd name="adj" fmla="val 15000"/>
            </a:avLst>
          </a:prstGeom>
          <a:solidFill>
            <a:srgbClr val="FFFFFF"/>
          </a:solidFill>
          <a:ln w="9525">
            <a:solidFill>
              <a:srgbClr val="CBD5E1"/>
            </a:solidFill>
            <a:prstDash val="solid"/>
          </a:ln>
        </p:spPr>
      </p:sp>
      <p:sp>
        <p:nvSpPr>
          <p:cNvPr id="134" name="Text 132"/>
          <p:cNvSpPr/>
          <p:nvPr/>
        </p:nvSpPr>
        <p:spPr>
          <a:xfrm>
            <a:off x="5230368"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Cleeng</a:t>
            </a:r>
            <a:endParaRPr lang="en-US" sz="750" dirty="0"/>
          </a:p>
        </p:txBody>
      </p:sp>
      <p:sp>
        <p:nvSpPr>
          <p:cNvPr id="135" name="Shape 133"/>
          <p:cNvSpPr/>
          <p:nvPr/>
        </p:nvSpPr>
        <p:spPr>
          <a:xfrm>
            <a:off x="5230368" y="5875020"/>
            <a:ext cx="932688" cy="155448"/>
          </a:xfrm>
          <a:prstGeom prst="roundRect">
            <a:avLst>
              <a:gd name="adj" fmla="val 17647"/>
            </a:avLst>
          </a:prstGeom>
          <a:solidFill>
            <a:srgbClr val="1558A8"/>
          </a:solidFill>
          <a:ln w="12700">
            <a:solidFill>
              <a:srgbClr val="1558A8"/>
            </a:solidFill>
            <a:prstDash val="solid"/>
          </a:ln>
        </p:spPr>
      </p:sp>
      <p:sp>
        <p:nvSpPr>
          <p:cNvPr id="136" name="Text 134"/>
          <p:cNvSpPr/>
          <p:nvPr/>
        </p:nvSpPr>
        <p:spPr>
          <a:xfrm>
            <a:off x="5230368"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37" name="Shape 135"/>
          <p:cNvSpPr/>
          <p:nvPr/>
        </p:nvSpPr>
        <p:spPr>
          <a:xfrm>
            <a:off x="6245352" y="5664708"/>
            <a:ext cx="932688" cy="182880"/>
          </a:xfrm>
          <a:prstGeom prst="roundRect">
            <a:avLst>
              <a:gd name="adj" fmla="val 15000"/>
            </a:avLst>
          </a:prstGeom>
          <a:solidFill>
            <a:srgbClr val="FFFFFF"/>
          </a:solidFill>
          <a:ln w="9525">
            <a:solidFill>
              <a:srgbClr val="CBD5E1"/>
            </a:solidFill>
            <a:prstDash val="solid"/>
          </a:ln>
        </p:spPr>
      </p:sp>
      <p:sp>
        <p:nvSpPr>
          <p:cNvPr id="138" name="Text 136"/>
          <p:cNvSpPr/>
          <p:nvPr/>
        </p:nvSpPr>
        <p:spPr>
          <a:xfrm>
            <a:off x="6245352"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Promos</a:t>
            </a:r>
            <a:endParaRPr lang="en-US" sz="750" dirty="0"/>
          </a:p>
        </p:txBody>
      </p:sp>
      <p:sp>
        <p:nvSpPr>
          <p:cNvPr id="139" name="Shape 137"/>
          <p:cNvSpPr/>
          <p:nvPr/>
        </p:nvSpPr>
        <p:spPr>
          <a:xfrm>
            <a:off x="6245352" y="5875020"/>
            <a:ext cx="932688" cy="155448"/>
          </a:xfrm>
          <a:prstGeom prst="roundRect">
            <a:avLst>
              <a:gd name="adj" fmla="val 17647"/>
            </a:avLst>
          </a:prstGeom>
          <a:solidFill>
            <a:srgbClr val="F3F4F6"/>
          </a:solidFill>
          <a:ln w="9525">
            <a:solidFill>
              <a:srgbClr val="D1D5DB"/>
            </a:solidFill>
            <a:prstDash val="solid"/>
          </a:ln>
        </p:spPr>
      </p:sp>
      <p:sp>
        <p:nvSpPr>
          <p:cNvPr id="140" name="Text 138"/>
          <p:cNvSpPr/>
          <p:nvPr/>
        </p:nvSpPr>
        <p:spPr>
          <a:xfrm>
            <a:off x="6245352" y="587502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41" name="Shape 139"/>
          <p:cNvSpPr/>
          <p:nvPr/>
        </p:nvSpPr>
        <p:spPr>
          <a:xfrm>
            <a:off x="9372600" y="804672"/>
            <a:ext cx="2834640" cy="6071616"/>
          </a:xfrm>
          <a:prstGeom prst="rect">
            <a:avLst/>
          </a:prstGeom>
          <a:solidFill>
            <a:srgbClr val="F8FAFB"/>
          </a:solidFill>
          <a:ln w="12700">
            <a:solidFill>
              <a:srgbClr val="DDE1E6"/>
            </a:solidFill>
            <a:prstDash val="solid"/>
          </a:ln>
        </p:spPr>
      </p:sp>
      <p:sp>
        <p:nvSpPr>
          <p:cNvPr id="142" name="Text 140"/>
          <p:cNvSpPr/>
          <p:nvPr/>
        </p:nvSpPr>
        <p:spPr>
          <a:xfrm>
            <a:off x="9500616" y="950976"/>
            <a:ext cx="2633472" cy="201168"/>
          </a:xfrm>
          <a:prstGeom prst="rect">
            <a:avLst/>
          </a:prstGeom>
          <a:noFill/>
          <a:ln/>
        </p:spPr>
        <p:txBody>
          <a:bodyPr wrap="square" lIns="0" tIns="0" rIns="0" bIns="0" rtlCol="0" anchor="ctr"/>
          <a:lstStyle/>
          <a:p>
            <a:pPr indent="0" marL="0">
              <a:buNone/>
            </a:pPr>
            <a:r>
              <a:rPr lang="en-US" sz="950" b="1" dirty="0">
                <a:solidFill>
                  <a:srgbClr val="111827"/>
                </a:solidFill>
              </a:rPr>
              <a:t>Milestones</a:t>
            </a:r>
            <a:endParaRPr lang="en-US" sz="950" dirty="0"/>
          </a:p>
        </p:txBody>
      </p:sp>
      <p:sp>
        <p:nvSpPr>
          <p:cNvPr id="143" name="Shape 141"/>
          <p:cNvSpPr/>
          <p:nvPr/>
        </p:nvSpPr>
        <p:spPr>
          <a:xfrm>
            <a:off x="9464040" y="1225296"/>
            <a:ext cx="2670048" cy="420624"/>
          </a:xfrm>
          <a:prstGeom prst="rect">
            <a:avLst/>
          </a:prstGeom>
          <a:solidFill>
            <a:srgbClr val="FFFFFF"/>
          </a:solidFill>
          <a:ln w="6350">
            <a:solidFill>
              <a:srgbClr val="E5E7EB"/>
            </a:solidFill>
            <a:prstDash val="solid"/>
          </a:ln>
        </p:spPr>
      </p:sp>
      <p:sp>
        <p:nvSpPr>
          <p:cNvPr id="144" name="Shape 142"/>
          <p:cNvSpPr/>
          <p:nvPr/>
        </p:nvSpPr>
        <p:spPr>
          <a:xfrm>
            <a:off x="9537192" y="1316736"/>
            <a:ext cx="109728" cy="109728"/>
          </a:xfrm>
          <a:prstGeom prst="ellipse">
            <a:avLst/>
          </a:prstGeom>
          <a:solidFill>
            <a:srgbClr val="16A34A"/>
          </a:solidFill>
          <a:ln w="12700">
            <a:solidFill>
              <a:srgbClr val="16A34A"/>
            </a:solidFill>
            <a:prstDash val="solid"/>
          </a:ln>
        </p:spPr>
      </p:sp>
      <p:sp>
        <p:nvSpPr>
          <p:cNvPr id="145" name="Text 143"/>
          <p:cNvSpPr/>
          <p:nvPr/>
        </p:nvSpPr>
        <p:spPr>
          <a:xfrm>
            <a:off x="9701784" y="1243584"/>
            <a:ext cx="2304288" cy="173736"/>
          </a:xfrm>
          <a:prstGeom prst="rect">
            <a:avLst/>
          </a:prstGeom>
          <a:noFill/>
          <a:ln/>
        </p:spPr>
        <p:txBody>
          <a:bodyPr wrap="square" lIns="0" tIns="0" rIns="0" bIns="0" rtlCol="0" anchor="ctr"/>
          <a:lstStyle/>
          <a:p>
            <a:pPr indent="0" marL="0">
              <a:buNone/>
            </a:pPr>
            <a:r>
              <a:rPr lang="en-US" sz="800" b="1" dirty="0">
                <a:solidFill>
                  <a:srgbClr val="15803D"/>
                </a:solidFill>
              </a:rPr>
              <a:t>Requirements</a:t>
            </a:r>
            <a:endParaRPr lang="en-US" sz="800" dirty="0"/>
          </a:p>
        </p:txBody>
      </p:sp>
      <p:sp>
        <p:nvSpPr>
          <p:cNvPr id="146" name="Text 144"/>
          <p:cNvSpPr/>
          <p:nvPr/>
        </p:nvSpPr>
        <p:spPr>
          <a:xfrm>
            <a:off x="9701784" y="1453896"/>
            <a:ext cx="1773936" cy="137160"/>
          </a:xfrm>
          <a:prstGeom prst="rect">
            <a:avLst/>
          </a:prstGeom>
          <a:noFill/>
          <a:ln/>
        </p:spPr>
        <p:txBody>
          <a:bodyPr wrap="square" lIns="0" tIns="0" rIns="0" bIns="0" rtlCol="0" anchor="ctr"/>
          <a:lstStyle/>
          <a:p>
            <a:pPr indent="0" marL="0">
              <a:buNone/>
            </a:pPr>
            <a:r>
              <a:rPr lang="en-US" sz="700" dirty="0">
                <a:solidFill>
                  <a:srgbClr val="6B7280"/>
                </a:solidFill>
              </a:rPr>
              <a:t>Jun 30, 2026</a:t>
            </a:r>
            <a:endParaRPr lang="en-US" sz="700" dirty="0"/>
          </a:p>
        </p:txBody>
      </p:sp>
      <p:sp>
        <p:nvSpPr>
          <p:cNvPr id="147" name="Shape 145"/>
          <p:cNvSpPr/>
          <p:nvPr/>
        </p:nvSpPr>
        <p:spPr>
          <a:xfrm>
            <a:off x="11494008" y="1453896"/>
            <a:ext cx="658368" cy="137160"/>
          </a:xfrm>
          <a:prstGeom prst="roundRect">
            <a:avLst>
              <a:gd name="adj" fmla="val 20000"/>
            </a:avLst>
          </a:prstGeom>
          <a:solidFill>
            <a:srgbClr val="DCFCE7"/>
          </a:solidFill>
          <a:ln w="12700">
            <a:solidFill>
              <a:srgbClr val="DCFCE7"/>
            </a:solidFill>
            <a:prstDash val="solid"/>
          </a:ln>
        </p:spPr>
      </p:sp>
      <p:sp>
        <p:nvSpPr>
          <p:cNvPr id="148" name="Text 146"/>
          <p:cNvSpPr/>
          <p:nvPr/>
        </p:nvSpPr>
        <p:spPr>
          <a:xfrm>
            <a:off x="11494008" y="1453896"/>
            <a:ext cx="658368" cy="137160"/>
          </a:xfrm>
          <a:prstGeom prst="rect">
            <a:avLst/>
          </a:prstGeom>
          <a:noFill/>
          <a:ln/>
        </p:spPr>
        <p:txBody>
          <a:bodyPr wrap="square" lIns="0" tIns="0" rIns="0" bIns="0" rtlCol="0" anchor="ctr"/>
          <a:lstStyle/>
          <a:p>
            <a:pPr algn="ctr" indent="0" marL="0">
              <a:buNone/>
            </a:pPr>
            <a:r>
              <a:rPr lang="en-US" sz="600" b="1" dirty="0">
                <a:solidFill>
                  <a:srgbClr val="166534"/>
                </a:solidFill>
              </a:rPr>
              <a:t>Complete</a:t>
            </a:r>
            <a:endParaRPr lang="en-US" sz="600" dirty="0"/>
          </a:p>
        </p:txBody>
      </p:sp>
      <p:sp>
        <p:nvSpPr>
          <p:cNvPr id="149" name="Shape 147"/>
          <p:cNvSpPr/>
          <p:nvPr/>
        </p:nvSpPr>
        <p:spPr>
          <a:xfrm>
            <a:off x="9464040" y="1700784"/>
            <a:ext cx="2670048" cy="420624"/>
          </a:xfrm>
          <a:prstGeom prst="rect">
            <a:avLst/>
          </a:prstGeom>
          <a:solidFill>
            <a:srgbClr val="FFFFFF"/>
          </a:solidFill>
          <a:ln w="6350">
            <a:solidFill>
              <a:srgbClr val="E5E7EB"/>
            </a:solidFill>
            <a:prstDash val="solid"/>
          </a:ln>
        </p:spPr>
      </p:sp>
      <p:sp>
        <p:nvSpPr>
          <p:cNvPr id="150" name="Shape 148"/>
          <p:cNvSpPr/>
          <p:nvPr/>
        </p:nvSpPr>
        <p:spPr>
          <a:xfrm>
            <a:off x="9537192" y="1792224"/>
            <a:ext cx="109728" cy="109728"/>
          </a:xfrm>
          <a:prstGeom prst="ellipse">
            <a:avLst/>
          </a:prstGeom>
          <a:solidFill>
            <a:srgbClr val="1558A8"/>
          </a:solidFill>
          <a:ln w="12700">
            <a:solidFill>
              <a:srgbClr val="1558A8"/>
            </a:solidFill>
            <a:prstDash val="solid"/>
          </a:ln>
        </p:spPr>
      </p:sp>
      <p:sp>
        <p:nvSpPr>
          <p:cNvPr id="151" name="Text 149"/>
          <p:cNvSpPr/>
          <p:nvPr/>
        </p:nvSpPr>
        <p:spPr>
          <a:xfrm>
            <a:off x="9701784" y="1719072"/>
            <a:ext cx="2304288" cy="173736"/>
          </a:xfrm>
          <a:prstGeom prst="rect">
            <a:avLst/>
          </a:prstGeom>
          <a:noFill/>
          <a:ln/>
        </p:spPr>
        <p:txBody>
          <a:bodyPr wrap="square" lIns="0" tIns="0" rIns="0" bIns="0" rtlCol="0" anchor="ctr"/>
          <a:lstStyle/>
          <a:p>
            <a:pPr indent="0" marL="0">
              <a:buNone/>
            </a:pPr>
            <a:r>
              <a:rPr lang="en-US" sz="800" b="1" dirty="0">
                <a:solidFill>
                  <a:srgbClr val="1D4ED8"/>
                </a:solidFill>
              </a:rPr>
              <a:t>Beta</a:t>
            </a:r>
            <a:endParaRPr lang="en-US" sz="800" dirty="0"/>
          </a:p>
        </p:txBody>
      </p:sp>
      <p:sp>
        <p:nvSpPr>
          <p:cNvPr id="152" name="Text 150"/>
          <p:cNvSpPr/>
          <p:nvPr/>
        </p:nvSpPr>
        <p:spPr>
          <a:xfrm>
            <a:off x="9701784" y="1929384"/>
            <a:ext cx="1773936" cy="137160"/>
          </a:xfrm>
          <a:prstGeom prst="rect">
            <a:avLst/>
          </a:prstGeom>
          <a:noFill/>
          <a:ln/>
        </p:spPr>
        <p:txBody>
          <a:bodyPr wrap="square" lIns="0" tIns="0" rIns="0" bIns="0" rtlCol="0" anchor="ctr"/>
          <a:lstStyle/>
          <a:p>
            <a:pPr indent="0" marL="0">
              <a:buNone/>
            </a:pPr>
            <a:r>
              <a:rPr lang="en-US" sz="700" dirty="0">
                <a:solidFill>
                  <a:srgbClr val="6B7280"/>
                </a:solidFill>
              </a:rPr>
              <a:t>Sep 30, 2026</a:t>
            </a:r>
            <a:endParaRPr lang="en-US" sz="700" dirty="0"/>
          </a:p>
        </p:txBody>
      </p:sp>
      <p:sp>
        <p:nvSpPr>
          <p:cNvPr id="153" name="Shape 151"/>
          <p:cNvSpPr/>
          <p:nvPr/>
        </p:nvSpPr>
        <p:spPr>
          <a:xfrm>
            <a:off x="11494008" y="1929384"/>
            <a:ext cx="658368" cy="137160"/>
          </a:xfrm>
          <a:prstGeom prst="roundRect">
            <a:avLst>
              <a:gd name="adj" fmla="val 20000"/>
            </a:avLst>
          </a:prstGeom>
          <a:solidFill>
            <a:srgbClr val="DBEAFE"/>
          </a:solidFill>
          <a:ln w="12700">
            <a:solidFill>
              <a:srgbClr val="DBEAFE"/>
            </a:solidFill>
            <a:prstDash val="solid"/>
          </a:ln>
        </p:spPr>
      </p:sp>
      <p:sp>
        <p:nvSpPr>
          <p:cNvPr id="154" name="Text 152"/>
          <p:cNvSpPr/>
          <p:nvPr/>
        </p:nvSpPr>
        <p:spPr>
          <a:xfrm>
            <a:off x="11494008" y="1929384"/>
            <a:ext cx="658368" cy="137160"/>
          </a:xfrm>
          <a:prstGeom prst="rect">
            <a:avLst/>
          </a:prstGeom>
          <a:noFill/>
          <a:ln/>
        </p:spPr>
        <p:txBody>
          <a:bodyPr wrap="square" lIns="0" tIns="0" rIns="0" bIns="0" rtlCol="0" anchor="ctr"/>
          <a:lstStyle/>
          <a:p>
            <a:pPr algn="ctr" indent="0" marL="0">
              <a:buNone/>
            </a:pPr>
            <a:r>
              <a:rPr lang="en-US" sz="600" b="1" dirty="0">
                <a:solidFill>
                  <a:srgbClr val="1E40AF"/>
                </a:solidFill>
              </a:rPr>
              <a:t>In Progress</a:t>
            </a:r>
            <a:endParaRPr lang="en-US" sz="600" dirty="0"/>
          </a:p>
        </p:txBody>
      </p:sp>
      <p:sp>
        <p:nvSpPr>
          <p:cNvPr id="155" name="Shape 153"/>
          <p:cNvSpPr/>
          <p:nvPr/>
        </p:nvSpPr>
        <p:spPr>
          <a:xfrm>
            <a:off x="9464040" y="2176272"/>
            <a:ext cx="2670048" cy="420624"/>
          </a:xfrm>
          <a:prstGeom prst="rect">
            <a:avLst/>
          </a:prstGeom>
          <a:solidFill>
            <a:srgbClr val="FFFFFF"/>
          </a:solidFill>
          <a:ln w="6350">
            <a:solidFill>
              <a:srgbClr val="E5E7EB"/>
            </a:solidFill>
            <a:prstDash val="solid"/>
          </a:ln>
        </p:spPr>
      </p:sp>
      <p:sp>
        <p:nvSpPr>
          <p:cNvPr id="156" name="Shape 154"/>
          <p:cNvSpPr/>
          <p:nvPr/>
        </p:nvSpPr>
        <p:spPr>
          <a:xfrm>
            <a:off x="9537192" y="2267712"/>
            <a:ext cx="109728" cy="109728"/>
          </a:xfrm>
          <a:prstGeom prst="ellipse">
            <a:avLst/>
          </a:prstGeom>
          <a:solidFill>
            <a:srgbClr val="9CA3AF"/>
          </a:solidFill>
          <a:ln w="12700">
            <a:solidFill>
              <a:srgbClr val="9CA3AF"/>
            </a:solidFill>
            <a:prstDash val="solid"/>
          </a:ln>
        </p:spPr>
      </p:sp>
      <p:sp>
        <p:nvSpPr>
          <p:cNvPr id="157" name="Text 155"/>
          <p:cNvSpPr/>
          <p:nvPr/>
        </p:nvSpPr>
        <p:spPr>
          <a:xfrm>
            <a:off x="9701784" y="2194560"/>
            <a:ext cx="2304288" cy="173736"/>
          </a:xfrm>
          <a:prstGeom prst="rect">
            <a:avLst/>
          </a:prstGeom>
          <a:noFill/>
          <a:ln/>
        </p:spPr>
        <p:txBody>
          <a:bodyPr wrap="square" lIns="0" tIns="0" rIns="0" bIns="0" rtlCol="0" anchor="ctr"/>
          <a:lstStyle/>
          <a:p>
            <a:pPr indent="0" marL="0">
              <a:buNone/>
            </a:pPr>
            <a:r>
              <a:rPr lang="en-US" sz="800" b="1" dirty="0">
                <a:solidFill>
                  <a:srgbClr val="1F2937"/>
                </a:solidFill>
              </a:rPr>
              <a:t>UAT / Testing</a:t>
            </a:r>
            <a:endParaRPr lang="en-US" sz="800" dirty="0"/>
          </a:p>
        </p:txBody>
      </p:sp>
      <p:sp>
        <p:nvSpPr>
          <p:cNvPr id="158" name="Text 156"/>
          <p:cNvSpPr/>
          <p:nvPr/>
        </p:nvSpPr>
        <p:spPr>
          <a:xfrm>
            <a:off x="9701784" y="2404872"/>
            <a:ext cx="1773936" cy="137160"/>
          </a:xfrm>
          <a:prstGeom prst="rect">
            <a:avLst/>
          </a:prstGeom>
          <a:noFill/>
          <a:ln/>
        </p:spPr>
        <p:txBody>
          <a:bodyPr wrap="square" lIns="0" tIns="0" rIns="0" bIns="0" rtlCol="0" anchor="ctr"/>
          <a:lstStyle/>
          <a:p>
            <a:pPr indent="0" marL="0">
              <a:buNone/>
            </a:pPr>
            <a:r>
              <a:rPr lang="en-US" sz="700" dirty="0">
                <a:solidFill>
                  <a:srgbClr val="6B7280"/>
                </a:solidFill>
              </a:rPr>
              <a:t>Nov 30, 2026</a:t>
            </a:r>
            <a:endParaRPr lang="en-US" sz="700" dirty="0"/>
          </a:p>
        </p:txBody>
      </p:sp>
      <p:sp>
        <p:nvSpPr>
          <p:cNvPr id="159" name="Shape 157"/>
          <p:cNvSpPr/>
          <p:nvPr/>
        </p:nvSpPr>
        <p:spPr>
          <a:xfrm>
            <a:off x="11494008" y="2404872"/>
            <a:ext cx="658368" cy="137160"/>
          </a:xfrm>
          <a:prstGeom prst="roundRect">
            <a:avLst>
              <a:gd name="adj" fmla="val 20000"/>
            </a:avLst>
          </a:prstGeom>
          <a:solidFill>
            <a:srgbClr val="F3F4F6"/>
          </a:solidFill>
          <a:ln w="12700">
            <a:solidFill>
              <a:srgbClr val="F3F4F6"/>
            </a:solidFill>
            <a:prstDash val="solid"/>
          </a:ln>
        </p:spPr>
      </p:sp>
      <p:sp>
        <p:nvSpPr>
          <p:cNvPr id="160" name="Text 158"/>
          <p:cNvSpPr/>
          <p:nvPr/>
        </p:nvSpPr>
        <p:spPr>
          <a:xfrm>
            <a:off x="11494008" y="2404872"/>
            <a:ext cx="658368" cy="137160"/>
          </a:xfrm>
          <a:prstGeom prst="rect">
            <a:avLst/>
          </a:prstGeom>
          <a:noFill/>
          <a:ln/>
        </p:spPr>
        <p:txBody>
          <a:bodyPr wrap="square" lIns="0" tIns="0" rIns="0" bIns="0" rtlCol="0" anchor="ctr"/>
          <a:lstStyle/>
          <a:p>
            <a:pPr algn="ctr" indent="0" marL="0">
              <a:buNone/>
            </a:pPr>
            <a:r>
              <a:rPr lang="en-US" sz="600" b="1" dirty="0">
                <a:solidFill>
                  <a:srgbClr val="6B7280"/>
                </a:solidFill>
              </a:rPr>
              <a:t>Upcoming</a:t>
            </a:r>
            <a:endParaRPr lang="en-US" sz="600" dirty="0"/>
          </a:p>
        </p:txBody>
      </p:sp>
      <p:sp>
        <p:nvSpPr>
          <p:cNvPr id="161" name="Shape 159"/>
          <p:cNvSpPr/>
          <p:nvPr/>
        </p:nvSpPr>
        <p:spPr>
          <a:xfrm>
            <a:off x="9464040" y="2651760"/>
            <a:ext cx="2670048" cy="420624"/>
          </a:xfrm>
          <a:prstGeom prst="rect">
            <a:avLst/>
          </a:prstGeom>
          <a:solidFill>
            <a:srgbClr val="FFFFFF"/>
          </a:solidFill>
          <a:ln w="6350">
            <a:solidFill>
              <a:srgbClr val="E5E7EB"/>
            </a:solidFill>
            <a:prstDash val="solid"/>
          </a:ln>
        </p:spPr>
      </p:sp>
      <p:sp>
        <p:nvSpPr>
          <p:cNvPr id="162" name="Shape 160"/>
          <p:cNvSpPr/>
          <p:nvPr/>
        </p:nvSpPr>
        <p:spPr>
          <a:xfrm>
            <a:off x="9537192" y="2743200"/>
            <a:ext cx="109728" cy="109728"/>
          </a:xfrm>
          <a:prstGeom prst="ellipse">
            <a:avLst/>
          </a:prstGeom>
          <a:solidFill>
            <a:srgbClr val="9CA3AF"/>
          </a:solidFill>
          <a:ln w="12700">
            <a:solidFill>
              <a:srgbClr val="9CA3AF"/>
            </a:solidFill>
            <a:prstDash val="solid"/>
          </a:ln>
        </p:spPr>
      </p:sp>
      <p:sp>
        <p:nvSpPr>
          <p:cNvPr id="163" name="Text 161"/>
          <p:cNvSpPr/>
          <p:nvPr/>
        </p:nvSpPr>
        <p:spPr>
          <a:xfrm>
            <a:off x="9701784" y="2670048"/>
            <a:ext cx="2304288" cy="173736"/>
          </a:xfrm>
          <a:prstGeom prst="rect">
            <a:avLst/>
          </a:prstGeom>
          <a:noFill/>
          <a:ln/>
        </p:spPr>
        <p:txBody>
          <a:bodyPr wrap="square" lIns="0" tIns="0" rIns="0" bIns="0" rtlCol="0" anchor="ctr"/>
          <a:lstStyle/>
          <a:p>
            <a:pPr indent="0" marL="0">
              <a:buNone/>
            </a:pPr>
            <a:r>
              <a:rPr lang="en-US" sz="800" b="1" dirty="0">
                <a:solidFill>
                  <a:srgbClr val="1F2937"/>
                </a:solidFill>
              </a:rPr>
              <a:t>Release</a:t>
            </a:r>
            <a:endParaRPr lang="en-US" sz="800" dirty="0"/>
          </a:p>
        </p:txBody>
      </p:sp>
      <p:sp>
        <p:nvSpPr>
          <p:cNvPr id="164" name="Text 162"/>
          <p:cNvSpPr/>
          <p:nvPr/>
        </p:nvSpPr>
        <p:spPr>
          <a:xfrm>
            <a:off x="9701784" y="2880360"/>
            <a:ext cx="1773936" cy="137160"/>
          </a:xfrm>
          <a:prstGeom prst="rect">
            <a:avLst/>
          </a:prstGeom>
          <a:noFill/>
          <a:ln/>
        </p:spPr>
        <p:txBody>
          <a:bodyPr wrap="square" lIns="0" tIns="0" rIns="0" bIns="0" rtlCol="0" anchor="ctr"/>
          <a:lstStyle/>
          <a:p>
            <a:pPr indent="0" marL="0">
              <a:buNone/>
            </a:pPr>
            <a:r>
              <a:rPr lang="en-US" sz="700" dirty="0">
                <a:solidFill>
                  <a:srgbClr val="6B7280"/>
                </a:solidFill>
              </a:rPr>
              <a:t>Dec 2026</a:t>
            </a:r>
            <a:endParaRPr lang="en-US" sz="700" dirty="0"/>
          </a:p>
        </p:txBody>
      </p:sp>
      <p:sp>
        <p:nvSpPr>
          <p:cNvPr id="165" name="Shape 163"/>
          <p:cNvSpPr/>
          <p:nvPr/>
        </p:nvSpPr>
        <p:spPr>
          <a:xfrm>
            <a:off x="11494008" y="2880360"/>
            <a:ext cx="658368" cy="137160"/>
          </a:xfrm>
          <a:prstGeom prst="roundRect">
            <a:avLst>
              <a:gd name="adj" fmla="val 20000"/>
            </a:avLst>
          </a:prstGeom>
          <a:solidFill>
            <a:srgbClr val="F3F4F6"/>
          </a:solidFill>
          <a:ln w="12700">
            <a:solidFill>
              <a:srgbClr val="F3F4F6"/>
            </a:solidFill>
            <a:prstDash val="solid"/>
          </a:ln>
        </p:spPr>
      </p:sp>
      <p:sp>
        <p:nvSpPr>
          <p:cNvPr id="166" name="Text 164"/>
          <p:cNvSpPr/>
          <p:nvPr/>
        </p:nvSpPr>
        <p:spPr>
          <a:xfrm>
            <a:off x="11494008" y="2880360"/>
            <a:ext cx="658368" cy="137160"/>
          </a:xfrm>
          <a:prstGeom prst="rect">
            <a:avLst/>
          </a:prstGeom>
          <a:noFill/>
          <a:ln/>
        </p:spPr>
        <p:txBody>
          <a:bodyPr wrap="square" lIns="0" tIns="0" rIns="0" bIns="0" rtlCol="0" anchor="ctr"/>
          <a:lstStyle/>
          <a:p>
            <a:pPr algn="ctr" indent="0" marL="0">
              <a:buNone/>
            </a:pPr>
            <a:r>
              <a:rPr lang="en-US" sz="600" b="1" dirty="0">
                <a:solidFill>
                  <a:srgbClr val="6B7280"/>
                </a:solidFill>
              </a:rPr>
              <a:t>Upcoming</a:t>
            </a:r>
            <a:endParaRPr lang="en-US" sz="600" dirty="0"/>
          </a:p>
        </p:txBody>
      </p:sp>
      <p:sp>
        <p:nvSpPr>
          <p:cNvPr id="167" name="Shape 165"/>
          <p:cNvSpPr/>
          <p:nvPr/>
        </p:nvSpPr>
        <p:spPr>
          <a:xfrm>
            <a:off x="9482328" y="3200400"/>
            <a:ext cx="2633472" cy="0"/>
          </a:xfrm>
          <a:prstGeom prst="line">
            <a:avLst/>
          </a:prstGeom>
          <a:noFill/>
          <a:ln w="9525">
            <a:solidFill>
              <a:srgbClr val="DDE1E6"/>
            </a:solidFill>
            <a:prstDash val="solid"/>
          </a:ln>
        </p:spPr>
      </p:sp>
      <p:sp>
        <p:nvSpPr>
          <p:cNvPr id="168" name="Text 166"/>
          <p:cNvSpPr/>
          <p:nvPr/>
        </p:nvSpPr>
        <p:spPr>
          <a:xfrm>
            <a:off x="9500616" y="3337560"/>
            <a:ext cx="2633472" cy="201168"/>
          </a:xfrm>
          <a:prstGeom prst="rect">
            <a:avLst/>
          </a:prstGeom>
          <a:noFill/>
          <a:ln/>
        </p:spPr>
        <p:txBody>
          <a:bodyPr wrap="square" lIns="0" tIns="0" rIns="0" bIns="0" rtlCol="0" anchor="ctr"/>
          <a:lstStyle/>
          <a:p>
            <a:pPr indent="0" marL="0">
              <a:buNone/>
            </a:pPr>
            <a:r>
              <a:rPr lang="en-US" sz="950" b="1" dirty="0">
                <a:solidFill>
                  <a:srgbClr val="111827"/>
                </a:solidFill>
              </a:rPr>
              <a:t>Status Key</a:t>
            </a:r>
            <a:endParaRPr lang="en-US" sz="950" dirty="0"/>
          </a:p>
        </p:txBody>
      </p:sp>
      <p:sp>
        <p:nvSpPr>
          <p:cNvPr id="169" name="Shape 167"/>
          <p:cNvSpPr/>
          <p:nvPr/>
        </p:nvSpPr>
        <p:spPr>
          <a:xfrm>
            <a:off x="9500616" y="3584448"/>
            <a:ext cx="822960" cy="173736"/>
          </a:xfrm>
          <a:prstGeom prst="roundRect">
            <a:avLst>
              <a:gd name="adj" fmla="val 15789"/>
            </a:avLst>
          </a:prstGeom>
          <a:solidFill>
            <a:srgbClr val="F3F4F6"/>
          </a:solidFill>
          <a:ln w="9525">
            <a:solidFill>
              <a:srgbClr val="D1D5DB"/>
            </a:solidFill>
            <a:prstDash val="solid"/>
          </a:ln>
        </p:spPr>
      </p:sp>
      <p:sp>
        <p:nvSpPr>
          <p:cNvPr id="170" name="Text 168"/>
          <p:cNvSpPr/>
          <p:nvPr/>
        </p:nvSpPr>
        <p:spPr>
          <a:xfrm>
            <a:off x="9500616" y="3584448"/>
            <a:ext cx="822960" cy="173736"/>
          </a:xfrm>
          <a:prstGeom prst="rect">
            <a:avLst/>
          </a:prstGeom>
          <a:noFill/>
          <a:ln/>
        </p:spPr>
        <p:txBody>
          <a:bodyPr wrap="square" lIns="0" tIns="0" rIns="0" bIns="0" rtlCol="0" anchor="ctr"/>
          <a:lstStyle/>
          <a:p>
            <a:pPr algn="ctr" indent="0" marL="0">
              <a:buNone/>
            </a:pPr>
            <a:r>
              <a:rPr lang="en-US" sz="700" b="1" dirty="0">
                <a:solidFill>
                  <a:srgbClr val="374151"/>
                </a:solidFill>
              </a:rPr>
              <a:t>Not Started</a:t>
            </a:r>
            <a:endParaRPr lang="en-US" sz="700" dirty="0"/>
          </a:p>
        </p:txBody>
      </p:sp>
      <p:sp>
        <p:nvSpPr>
          <p:cNvPr id="171" name="Shape 169"/>
          <p:cNvSpPr/>
          <p:nvPr/>
        </p:nvSpPr>
        <p:spPr>
          <a:xfrm>
            <a:off x="9500616" y="3813048"/>
            <a:ext cx="822960" cy="173736"/>
          </a:xfrm>
          <a:prstGeom prst="roundRect">
            <a:avLst>
              <a:gd name="adj" fmla="val 15789"/>
            </a:avLst>
          </a:prstGeom>
          <a:solidFill>
            <a:srgbClr val="1558A8"/>
          </a:solidFill>
          <a:ln w="12700">
            <a:solidFill>
              <a:srgbClr val="1558A8"/>
            </a:solidFill>
            <a:prstDash val="solid"/>
          </a:ln>
        </p:spPr>
      </p:sp>
      <p:sp>
        <p:nvSpPr>
          <p:cNvPr id="172" name="Text 170"/>
          <p:cNvSpPr/>
          <p:nvPr/>
        </p:nvSpPr>
        <p:spPr>
          <a:xfrm>
            <a:off x="9500616" y="3813048"/>
            <a:ext cx="822960" cy="173736"/>
          </a:xfrm>
          <a:prstGeom prst="rect">
            <a:avLst/>
          </a:prstGeom>
          <a:noFill/>
          <a:ln/>
        </p:spPr>
        <p:txBody>
          <a:bodyPr wrap="square" lIns="0" tIns="0" rIns="0" bIns="0" rtlCol="0" anchor="ctr"/>
          <a:lstStyle/>
          <a:p>
            <a:pPr algn="ctr" indent="0" marL="0">
              <a:buNone/>
            </a:pPr>
            <a:r>
              <a:rPr lang="en-US" sz="700" b="1" dirty="0">
                <a:solidFill>
                  <a:srgbClr val="FFFFFF"/>
                </a:solidFill>
              </a:rPr>
              <a:t>In Progress</a:t>
            </a:r>
            <a:endParaRPr lang="en-US" sz="700" dirty="0"/>
          </a:p>
        </p:txBody>
      </p:sp>
      <p:sp>
        <p:nvSpPr>
          <p:cNvPr id="173" name="Shape 171"/>
          <p:cNvSpPr/>
          <p:nvPr/>
        </p:nvSpPr>
        <p:spPr>
          <a:xfrm>
            <a:off x="9500616" y="4041648"/>
            <a:ext cx="822960" cy="173736"/>
          </a:xfrm>
          <a:prstGeom prst="roundRect">
            <a:avLst>
              <a:gd name="adj" fmla="val 15789"/>
            </a:avLst>
          </a:prstGeom>
          <a:solidFill>
            <a:srgbClr val="FEE2E2"/>
          </a:solidFill>
          <a:ln w="19050">
            <a:solidFill>
              <a:srgbClr val="DC2626"/>
            </a:solidFill>
            <a:prstDash val="solid"/>
          </a:ln>
        </p:spPr>
      </p:sp>
      <p:sp>
        <p:nvSpPr>
          <p:cNvPr id="174" name="Text 172"/>
          <p:cNvSpPr/>
          <p:nvPr/>
        </p:nvSpPr>
        <p:spPr>
          <a:xfrm>
            <a:off x="9500616" y="4041648"/>
            <a:ext cx="822960" cy="173736"/>
          </a:xfrm>
          <a:prstGeom prst="rect">
            <a:avLst/>
          </a:prstGeom>
          <a:noFill/>
          <a:ln/>
        </p:spPr>
        <p:txBody>
          <a:bodyPr wrap="square" lIns="0" tIns="0" rIns="0" bIns="0" rtlCol="0" anchor="ctr"/>
          <a:lstStyle/>
          <a:p>
            <a:pPr algn="ctr" indent="0" marL="0">
              <a:buNone/>
            </a:pPr>
            <a:r>
              <a:rPr lang="en-US" sz="700" b="1" dirty="0">
                <a:solidFill>
                  <a:srgbClr val="7F1D1D"/>
                </a:solidFill>
              </a:rPr>
              <a:t>Blocked</a:t>
            </a:r>
            <a:endParaRPr lang="en-US" sz="700" dirty="0"/>
          </a:p>
        </p:txBody>
      </p:sp>
      <p:sp>
        <p:nvSpPr>
          <p:cNvPr id="175" name="Shape 173"/>
          <p:cNvSpPr/>
          <p:nvPr/>
        </p:nvSpPr>
        <p:spPr>
          <a:xfrm>
            <a:off x="9500616" y="4270248"/>
            <a:ext cx="822960" cy="173736"/>
          </a:xfrm>
          <a:prstGeom prst="roundRect">
            <a:avLst>
              <a:gd name="adj" fmla="val 15789"/>
            </a:avLst>
          </a:prstGeom>
          <a:solidFill>
            <a:srgbClr val="DCFCE7"/>
          </a:solidFill>
          <a:ln w="12700">
            <a:solidFill>
              <a:srgbClr val="15803D"/>
            </a:solidFill>
            <a:prstDash val="solid"/>
          </a:ln>
        </p:spPr>
      </p:sp>
      <p:sp>
        <p:nvSpPr>
          <p:cNvPr id="176" name="Text 174"/>
          <p:cNvSpPr/>
          <p:nvPr/>
        </p:nvSpPr>
        <p:spPr>
          <a:xfrm>
            <a:off x="9500616" y="4270248"/>
            <a:ext cx="822960" cy="173736"/>
          </a:xfrm>
          <a:prstGeom prst="rect">
            <a:avLst/>
          </a:prstGeom>
          <a:noFill/>
          <a:ln/>
        </p:spPr>
        <p:txBody>
          <a:bodyPr wrap="square" lIns="0" tIns="0" rIns="0" bIns="0" rtlCol="0" anchor="ctr"/>
          <a:lstStyle/>
          <a:p>
            <a:pPr algn="ctr" indent="0" marL="0">
              <a:buNone/>
            </a:pPr>
            <a:r>
              <a:rPr lang="en-US" sz="700" b="1" dirty="0">
                <a:solidFill>
                  <a:srgbClr val="14532D"/>
                </a:solidFill>
              </a:rPr>
              <a:t>Done</a:t>
            </a:r>
            <a:endParaRPr lang="en-US" sz="7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SABR Component Status</dc:title>
  <dc:subject>PptxGenJS Presentation</dc:subject>
  <dc:creator>SABR Reporting</dc:creator>
  <cp:lastModifiedBy>SABR Reporting</cp:lastModifiedBy>
  <cp:revision>1</cp:revision>
  <dcterms:created xsi:type="dcterms:W3CDTF">2026-08-06T02:16:48Z</dcterms:created>
  <dcterms:modified xsi:type="dcterms:W3CDTF">2026-08-06T02:16:48Z</dcterms:modified>
</cp:coreProperties>
</file>