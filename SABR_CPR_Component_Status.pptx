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7/15/2026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74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1000" b="1" dirty="0">
                <a:solidFill>
                  <a:srgbClr val="1B5E20"/>
                </a:solidFill>
              </a:rPr>
              <a:t>ENGINEERING:</a:t>
            </a:r>
            <a:pPr algn="l" indent="0" marL="0">
              <a:buNone/>
            </a:pPr>
            <a:r>
              <a:rPr lang="en-US" sz="1000" dirty="0">
                <a:solidFill>
                  <a:srgbClr val="1F2937"/>
                </a:solidFill>
              </a:rPr>
              <a:t> Working prototypes of live streams across all platforms demonstrated after approximately one to two weeks of development. DRM configuration with EZDRM pending resolution of streaming playback issues. Offers/coupon codes backend integration in progress; awaiting configuration changes from external vendor. Video player and EPG layout enhancements underway on web platform.</a:t>
            </a:r>
            <a:endParaRPr lang="en-US" sz="1000" dirty="0"/>
          </a:p>
          <a:p>
            <a:pPr algn="l" indent="0" marL="0">
              <a:buNone/>
            </a:pPr>
            <a:endParaRPr lang="en-US" sz="1000" dirty="0"/>
          </a:p>
          <a:p>
            <a:pPr algn="l" indent="0" marL="0">
              <a:buNone/>
            </a:pPr>
            <a:r>
              <a:rPr lang="en-US" sz="1000" b="1" dirty="0">
                <a:solidFill>
                  <a:srgbClr val="1B5E20"/>
                </a:solidFill>
              </a:rPr>
              <a:t>MERCHANDISING:</a:t>
            </a:r>
            <a:pPr algn="l" indent="0" marL="0">
              <a:buNone/>
            </a:pPr>
            <a:r>
              <a:rPr lang="en-US" sz="1000" dirty="0">
                <a:solidFill>
                  <a:srgbClr val="1F2937"/>
                </a:solidFill>
              </a:rPr>
              <a:t> Rotator banner behavior under review for responsive design consistency across portrait and landscape mobile orientations. Hero and module functionality being explored as alternatives to current setup; decision pending on best approach for content placement and linking.</a:t>
            </a:r>
            <a:endParaRPr lang="en-US" sz="1000" dirty="0"/>
          </a:p>
          <a:p>
            <a:pPr algn="l" indent="0" marL="0">
              <a:buNone/>
            </a:pPr>
            <a:endParaRPr lang="en-US" sz="1000" dirty="0"/>
          </a:p>
          <a:p>
            <a:pPr algn="l" indent="0" marL="0">
              <a:buNone/>
            </a:pPr>
            <a:r>
              <a:rPr lang="en-US" sz="1000" b="1" dirty="0">
                <a:solidFill>
                  <a:srgbClr val="1B5E20"/>
                </a:solidFill>
              </a:rPr>
              <a:t>ROKU PARTNERSHIP:</a:t>
            </a:r>
            <a:pPr algn="l" indent="0" marL="0">
              <a:buNone/>
            </a:pPr>
            <a:r>
              <a:rPr lang="en-US" sz="1000" dirty="0">
                <a:solidFill>
                  <a:srgbClr val="1F2937"/>
                </a:solidFill>
              </a:rPr>
              <a:t> Content delivery strategy finalized: focus on live feeds, match replays, and 15-minute highlights going forward; back catalog backfill deferred post-launch. VOD metadata delivery will flow through Amagi to Roku using Movie Labs format to avoid custom integrations. Mid-August timeline requested for content readiness; internal confirmation on feasibility pending. Live event orchestration and control plane demo completed with Amagi showing provisioning workflow and operator UI for manual overrides.</a:t>
            </a:r>
            <a:endParaRPr lang="en-US" sz="1000" dirty="0"/>
          </a:p>
          <a:p>
            <a:pPr algn="l" indent="0" marL="0">
              <a:buNone/>
            </a:pPr>
            <a:endParaRPr lang="en-US" sz="1000" dirty="0"/>
          </a:p>
          <a:p>
            <a:pPr algn="l" indent="0" marL="0">
              <a:buNone/>
            </a:pPr>
            <a:r>
              <a:rPr lang="en-US" sz="1000" b="1" dirty="0">
                <a:solidFill>
                  <a:srgbClr val="1B5E20"/>
                </a:solidFill>
              </a:rPr>
              <a:t>MVPD AUTHENTICATION:</a:t>
            </a:r>
            <a:pPr algn="l" indent="0" marL="0">
              <a:buNone/>
            </a:pPr>
            <a:r>
              <a:rPr lang="en-US" sz="1000" dirty="0">
                <a:solidFill>
                  <a:srgbClr val="1F2937"/>
                </a:solidFill>
              </a:rPr>
              <a:t> Login and logout functionality tested across multiple cable providers (Cox, DirecTV, Spectrum). Custom error messaging implementation aligned with contractual requirements for Spectrum only. Session stability confirmation in progress; TTL configurations vary by provider and require formal documentation. User ID handling being finalized to support personalization while maintaining Adobe security standards.</a:t>
            </a:r>
            <a:endParaRPr lang="en-US" sz="1000" dirty="0"/>
          </a:p>
          <a:p>
            <a:pPr algn="l" indent="0" marL="0">
              <a:buNone/>
            </a:pPr>
            <a:endParaRPr lang="en-US" sz="1000" dirty="0"/>
          </a:p>
          <a:p>
            <a:pPr algn="l" indent="0" marL="0">
              <a:buNone/>
            </a:pPr>
            <a:r>
              <a:rPr lang="en-US" sz="1000" b="1" dirty="0">
                <a:solidFill>
                  <a:srgbClr val="1B5E20"/>
                </a:solidFill>
              </a:rPr>
              <a:t>AMAGI INTEGRATION:</a:t>
            </a:r>
            <a:pPr algn="l" indent="0" marL="0">
              <a:buNone/>
            </a:pPr>
            <a:r>
              <a:rPr lang="en-US" sz="1000" dirty="0">
                <a:solidFill>
                  <a:srgbClr val="1F2937"/>
                </a:solidFill>
              </a:rPr>
              <a:t> DRM playback issue under investigation with EZDRM vendor; reproducibility limited. Live event control plane ready with metadata-driven orchestration for provisioning, teardown, and manual gating. Event ingestion and processing flows being tested with production event data starting next week.</a:t>
            </a:r>
            <a:endParaRPr lang="en-US" sz="1000" dirty="0"/>
          </a:p>
          <a:p>
            <a:pPr algn="l" indent="0" marL="0">
              <a:buNone/>
            </a:pPr>
            <a:endParaRPr lang="en-US" sz="1000" dirty="0"/>
          </a:p>
          <a:p>
            <a:pPr algn="l" indent="0" marL="0">
              <a:buNone/>
            </a:pPr>
            <a:r>
              <a:rPr lang="en-US" sz="1000" b="1" dirty="0">
                <a:solidFill>
                  <a:srgbClr val="1B5E20"/>
                </a:solidFill>
              </a:rPr>
              <a:t>VOD INGESTION:</a:t>
            </a:r>
            <a:pPr algn="l" indent="0" marL="0">
              <a:buNone/>
            </a:pPr>
            <a:r>
              <a:rPr lang="en-US" sz="1000" dirty="0">
                <a:solidFill>
                  <a:srgbClr val="1F2937"/>
                </a:solidFill>
              </a:rPr>
              <a:t> Manual upload workflow via CMS planned as initial phase with metadata assignment. PDM workflow automation deferred post-launch pending broader process redesign. Sport Radar archive ingestion planned for October onward; scope to exclude duplicate match replays and highlights depending on final QA requirements.</a:t>
            </a:r>
            <a:endParaRPr lang="en-US" sz="1000" dirty="0"/>
          </a:p>
          <a:p>
            <a:pPr algn="l" indent="0" marL="0">
              <a:buNone/>
            </a:pPr>
            <a:endParaRPr lang="en-US" sz="1000" dirty="0"/>
          </a:p>
          <a:p>
            <a:pPr algn="l" indent="0" marL="0">
              <a:buNone/>
            </a:pPr>
            <a:r>
              <a:rPr lang="en-US" sz="1000" b="1" dirty="0">
                <a:solidFill>
                  <a:srgbClr val="1B5E20"/>
                </a:solidFill>
              </a:rPr>
              <a:t>KEY DECISIONS:</a:t>
            </a:r>
            <a:pPr algn="l" indent="0" marL="0">
              <a:buNone/>
            </a:pPr>
            <a:endParaRPr lang="en-US" sz="1000" dirty="0"/>
          </a:p>
          <a:p>
            <a:pPr algn="l" indent="0" marL="0">
              <a:buNone/>
            </a:pPr>
            <a:endParaRPr lang="en-US" sz="1000" dirty="0"/>
          </a:p>
          <a:p>
            <a:pPr algn="l" indent="0" marL="0">
              <a:buNone/>
            </a:pPr>
            <a:r>
              <a:rPr lang="en-US" sz="1000" dirty="0">
                <a:solidFill>
                  <a:srgbClr val="1F2937"/>
                </a:solidFill>
              </a:rPr>
              <a:t>• Live, match replays, and 15-minute highlights are priority for Roku launch; full back catalog backfill deferred to post-launch window.</a:t>
            </a:r>
            <a:endParaRPr lang="en-US" sz="1000" dirty="0"/>
          </a:p>
          <a:p>
            <a:pPr algn="l" indent="0" marL="0">
              <a:buNone/>
            </a:pPr>
            <a:endParaRPr lang="en-US" sz="1000" dirty="0"/>
          </a:p>
          <a:p>
            <a:pPr algn="l" indent="0" marL="0">
              <a:buNone/>
            </a:pPr>
            <a:r>
              <a:rPr lang="en-US" sz="1000" dirty="0">
                <a:solidFill>
                  <a:srgbClr val="1F2937"/>
                </a:solidFill>
              </a:rPr>
              <a:t>• VOD delivery for future partners (ESPN, Apple, etc.) will follow Amagi model with complete file and metadata handling to avoid custom implementations.</a:t>
            </a:r>
            <a:endParaRPr lang="en-US" sz="1000" dirty="0"/>
          </a:p>
          <a:p>
            <a:pPr algn="l" indent="0" marL="0">
              <a:buNone/>
            </a:pPr>
            <a:endParaRPr lang="en-US" sz="1000" dirty="0"/>
          </a:p>
          <a:p>
            <a:pPr algn="l" indent="0" marL="0">
              <a:buNone/>
            </a:pPr>
            <a:r>
              <a:rPr lang="en-US" sz="1000" dirty="0">
                <a:solidFill>
                  <a:srgbClr val="1F2937"/>
                </a:solidFill>
              </a:rPr>
              <a:t>• Coupon code and offer configuration will use Cling as source of truth with override capability for promotions; complex dual-system workflows deferred to post-launch evaluation.</a:t>
            </a:r>
            <a:endParaRPr lang="en-US" sz="1000" dirty="0"/>
          </a:p>
          <a:p>
            <a:pPr algn="l" indent="0" marL="0">
              <a:buNone/>
            </a:pPr>
            <a:endParaRPr lang="en-US" sz="1000" dirty="0"/>
          </a:p>
          <a:p>
            <a:pPr algn="l" indent="0" marL="0">
              <a:buNone/>
            </a:pPr>
            <a:r>
              <a:rPr lang="en-US" sz="1000" dirty="0">
                <a:solidFill>
                  <a:srgbClr val="1F2937"/>
                </a:solidFill>
              </a:rPr>
              <a:t>• Mobile authentication in TestFlight; uses Tennis Channel email domain for sign-up with clear rejection messaging; MVPD provider accounts supported in production.</a:t>
            </a:r>
            <a:endParaRPr lang="en-US" sz="1000" dirty="0"/>
          </a:p>
          <a:p>
            <a:pPr algn="l" indent="0" marL="0">
              <a:buNone/>
            </a:pPr>
            <a:endParaRPr lang="en-US" sz="1000" dirty="0"/>
          </a:p>
          <a:p>
            <a:pPr algn="l" indent="0" marL="0">
              <a:buNone/>
            </a:pPr>
            <a:r>
              <a:rPr lang="en-US" sz="1000" dirty="0">
                <a:solidFill>
                  <a:srgbClr val="1F2937"/>
                </a:solidFill>
              </a:rPr>
              <a:t>• Session GUID from Adobe media token approved as stable identifier for user personalization tracking due to cryptographic signing.</a:t>
            </a:r>
            <a:endParaRPr lang="en-US" sz="10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2026-07-17T23:32:18Z</dcterms:created>
  <dcterms:modified xsi:type="dcterms:W3CDTF">2026-07-17T23:32:18Z</dcterms:modified>
</cp:coreProperties>
</file>