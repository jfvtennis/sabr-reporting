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10"/>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7/6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15838"/>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4303"/>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r>
              <a:rPr lang="en-US" sz="1600" b="1" dirty="0">
                <a:solidFill>
                  <a:srgbClr val="1A1A1A"/>
                </a:solidFill>
                <a:latin typeface="Arial" panose="020B0604020202020204" pitchFamily="34" charset="0"/>
                <a:ea typeface="Arial" pitchFamily="34" charset="-122"/>
                <a:cs typeface="Arial" panose="020B0604020202020204" pitchFamily="34" charset="0"/>
              </a:rPr>
              <a:t>  ·  Critical Gates</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92583" y="648653"/>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Text 3"/>
          <p:cNvSpPr/>
          <p:nvPr/>
        </p:nvSpPr>
        <p:spPr>
          <a:xfrm>
            <a:off x="138874" y="648653"/>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Vendor / Contract</a:t>
            </a:r>
            <a:endParaRPr lang="en-US" sz="1013" dirty="0">
              <a:latin typeface="Arial" panose="020B0604020202020204" pitchFamily="34" charset="0"/>
              <a:cs typeface="Arial" panose="020B0604020202020204" pitchFamily="34" charset="0"/>
            </a:endParaRPr>
          </a:p>
        </p:txBody>
      </p:sp>
      <p:sp>
        <p:nvSpPr>
          <p:cNvPr id="6" name="Shape 4"/>
          <p:cNvSpPr/>
          <p:nvPr/>
        </p:nvSpPr>
        <p:spPr>
          <a:xfrm>
            <a:off x="92583" y="926401"/>
            <a:ext cx="5740146" cy="2740457"/>
          </a:xfrm>
          <a:prstGeom prst="rect">
            <a:avLst/>
          </a:prstGeom>
          <a:solidFill>
            <a:srgbClr val="F8FFFE"/>
          </a:solidFill>
          <a:ln w="9525">
            <a:solidFill>
              <a:srgbClr val="D1FAE5"/>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101842" y="926402"/>
            <a:ext cx="5721629" cy="54809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38874" y="926402"/>
            <a:ext cx="601790" cy="548092"/>
          </a:xfrm>
          <a:prstGeom prst="rect">
            <a:avLst/>
          </a:prstGeom>
          <a:noFill/>
          <a:ln/>
        </p:spPr>
        <p:txBody>
          <a:bodyPr wrap="square" lIns="0" tIns="0" rIns="0" bIns="0" rtlCol="0" anchor="ctr"/>
          <a:lstStyle/>
          <a:p>
            <a:r>
              <a:rPr lang="en-US" sz="861" dirty="0" err="1">
                <a:solidFill>
                  <a:srgbClr val="374151"/>
                </a:solidFill>
                <a:latin typeface="Arial" panose="020B0604020202020204" pitchFamily="34" charset="0"/>
                <a:ea typeface="Calibri" pitchFamily="34" charset="-122"/>
                <a:cs typeface="Arial" panose="020B0604020202020204" pitchFamily="34" charset="0"/>
              </a:rPr>
              <a:t>Bitmovin</a:t>
            </a:r>
            <a:endParaRPr lang="en-US" sz="861" dirty="0">
              <a:latin typeface="Arial" panose="020B0604020202020204" pitchFamily="34" charset="0"/>
              <a:cs typeface="Arial" panose="020B0604020202020204" pitchFamily="34" charset="0"/>
            </a:endParaRPr>
          </a:p>
        </p:txBody>
      </p:sp>
      <p:sp>
        <p:nvSpPr>
          <p:cNvPr id="9" name="Text 7"/>
          <p:cNvSpPr/>
          <p:nvPr/>
        </p:nvSpPr>
        <p:spPr>
          <a:xfrm>
            <a:off x="759180" y="926402"/>
            <a:ext cx="4462501" cy="548092"/>
          </a:xfrm>
          <a:prstGeom prst="rect">
            <a:avLst/>
          </a:prstGeom>
          <a:noFill/>
          <a:ln/>
        </p:spPr>
        <p:txBody>
          <a:bodyPr wrap="square" lIns="0" tIns="0" rIns="0" bIns="0" rtlCol="0" anchor="ctr"/>
          <a:lstStyle/>
          <a:p>
            <a:r>
              <a:rPr lang="en-US" sz="810" dirty="0">
                <a:latin typeface="Arial" panose="020B0604020202020204" pitchFamily="34" charset="0"/>
                <a:cs typeface="Arial" panose="020B0604020202020204" pitchFamily="34" charset="0"/>
              </a:rPr>
              <a:t>Redlined from TC legal, </a:t>
            </a:r>
            <a:r>
              <a:rPr lang="en-US" sz="810" dirty="0" err="1">
                <a:latin typeface="Arial" panose="020B0604020202020204" pitchFamily="34" charset="0"/>
                <a:cs typeface="Arial" panose="020B0604020202020204" pitchFamily="34" charset="0"/>
              </a:rPr>
              <a:t>Bitmovin</a:t>
            </a:r>
            <a:r>
              <a:rPr lang="en-US" sz="810" dirty="0">
                <a:latin typeface="Arial" panose="020B0604020202020204" pitchFamily="34" charset="0"/>
                <a:cs typeface="Arial" panose="020B0604020202020204" pitchFamily="34" charset="0"/>
              </a:rPr>
              <a:t> reviewing </a:t>
            </a:r>
          </a:p>
        </p:txBody>
      </p:sp>
      <p:sp>
        <p:nvSpPr>
          <p:cNvPr id="10" name="Shape 8"/>
          <p:cNvSpPr/>
          <p:nvPr/>
        </p:nvSpPr>
        <p:spPr>
          <a:xfrm>
            <a:off x="5258714" y="1098605"/>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 name="Text 9"/>
          <p:cNvSpPr/>
          <p:nvPr/>
        </p:nvSpPr>
        <p:spPr>
          <a:xfrm>
            <a:off x="5258714" y="1098605"/>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12" name="Text 10"/>
          <p:cNvSpPr/>
          <p:nvPr/>
        </p:nvSpPr>
        <p:spPr>
          <a:xfrm>
            <a:off x="138874" y="1474493"/>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Adobe</a:t>
            </a:r>
            <a:endParaRPr lang="en-US" sz="861" dirty="0">
              <a:latin typeface="Arial" panose="020B0604020202020204" pitchFamily="34" charset="0"/>
              <a:cs typeface="Arial" panose="020B0604020202020204" pitchFamily="34" charset="0"/>
            </a:endParaRPr>
          </a:p>
        </p:txBody>
      </p:sp>
      <p:sp>
        <p:nvSpPr>
          <p:cNvPr id="13" name="Text 11"/>
          <p:cNvSpPr/>
          <p:nvPr/>
        </p:nvSpPr>
        <p:spPr>
          <a:xfrm>
            <a:off x="759180" y="1474493"/>
            <a:ext cx="4462501"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We are good. Just need to find out who owns the original contract and review renewal dates. Keff owns.</a:t>
            </a:r>
            <a:endParaRPr lang="en-US" sz="861" dirty="0">
              <a:latin typeface="Arial" panose="020B0604020202020204" pitchFamily="34" charset="0"/>
              <a:cs typeface="Arial" panose="020B0604020202020204" pitchFamily="34" charset="0"/>
            </a:endParaRPr>
          </a:p>
        </p:txBody>
      </p:sp>
      <p:sp>
        <p:nvSpPr>
          <p:cNvPr id="16" name="Shape 14"/>
          <p:cNvSpPr/>
          <p:nvPr/>
        </p:nvSpPr>
        <p:spPr>
          <a:xfrm>
            <a:off x="101842" y="2022585"/>
            <a:ext cx="5721629" cy="548092"/>
          </a:xfrm>
          <a:prstGeom prst="rect">
            <a:avLst/>
          </a:prstGeom>
          <a:solidFill>
            <a:srgbClr val="FFFFFF"/>
          </a:solidFill>
          <a:ln w="12700">
            <a:solidFill>
              <a:srgbClr val="FFFFFF"/>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17" name="Text 15"/>
          <p:cNvSpPr/>
          <p:nvPr/>
        </p:nvSpPr>
        <p:spPr>
          <a:xfrm>
            <a:off x="138874" y="2022585"/>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Amagi </a:t>
            </a:r>
          </a:p>
          <a:p>
            <a:r>
              <a:rPr lang="en-US" sz="861" dirty="0">
                <a:solidFill>
                  <a:srgbClr val="374151"/>
                </a:solidFill>
                <a:latin typeface="Arial" panose="020B0604020202020204" pitchFamily="34" charset="0"/>
                <a:cs typeface="Arial" panose="020B0604020202020204" pitchFamily="34" charset="0"/>
              </a:rPr>
              <a:t>SOW</a:t>
            </a:r>
            <a:endParaRPr lang="en-US" sz="861" dirty="0">
              <a:latin typeface="Arial" panose="020B0604020202020204" pitchFamily="34" charset="0"/>
              <a:cs typeface="Arial" panose="020B0604020202020204" pitchFamily="34" charset="0"/>
            </a:endParaRPr>
          </a:p>
        </p:txBody>
      </p:sp>
      <p:sp>
        <p:nvSpPr>
          <p:cNvPr id="18" name="Text 16"/>
          <p:cNvSpPr/>
          <p:nvPr/>
        </p:nvSpPr>
        <p:spPr>
          <a:xfrm>
            <a:off x="759180" y="2022585"/>
            <a:ext cx="4462501" cy="548092"/>
          </a:xfrm>
          <a:prstGeom prst="rect">
            <a:avLst/>
          </a:prstGeom>
          <a:noFill/>
          <a:ln/>
        </p:spPr>
        <p:txBody>
          <a:bodyPr wrap="square" lIns="0" tIns="0" rIns="0" bIns="0" rtlCol="0" anchor="ctr"/>
          <a:lstStyle/>
          <a:p>
            <a:r>
              <a:rPr lang="en-US" sz="810" dirty="0">
                <a:latin typeface="Arial" panose="020B0604020202020204" pitchFamily="34" charset="0"/>
                <a:cs typeface="Arial" panose="020B0604020202020204" pitchFamily="34" charset="0"/>
              </a:rPr>
              <a:t>Amagi Contract Cost Review: Provide Sinclair with details on cost savings for Amagi by following up with Mike Kralik and Kevin </a:t>
            </a:r>
            <a:r>
              <a:rPr lang="en-US" sz="810" dirty="0" err="1">
                <a:latin typeface="Arial" panose="020B0604020202020204" pitchFamily="34" charset="0"/>
                <a:cs typeface="Arial" panose="020B0604020202020204" pitchFamily="34" charset="0"/>
              </a:rPr>
              <a:t>Kotlove</a:t>
            </a:r>
            <a:r>
              <a:rPr lang="en-US" sz="810" dirty="0">
                <a:latin typeface="Arial" panose="020B0604020202020204" pitchFamily="34" charset="0"/>
                <a:cs typeface="Arial" panose="020B0604020202020204" pitchFamily="34" charset="0"/>
              </a:rPr>
              <a:t>. (Ari)</a:t>
            </a:r>
          </a:p>
        </p:txBody>
      </p:sp>
      <p:sp>
        <p:nvSpPr>
          <p:cNvPr id="19" name="Shape 17"/>
          <p:cNvSpPr/>
          <p:nvPr/>
        </p:nvSpPr>
        <p:spPr>
          <a:xfrm>
            <a:off x="5258714" y="2194788"/>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0" name="Text 18"/>
          <p:cNvSpPr/>
          <p:nvPr/>
        </p:nvSpPr>
        <p:spPr>
          <a:xfrm>
            <a:off x="5258714" y="2194788"/>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21" name="Text 19"/>
          <p:cNvSpPr/>
          <p:nvPr/>
        </p:nvSpPr>
        <p:spPr>
          <a:xfrm>
            <a:off x="138874" y="2570675"/>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FOXXUM</a:t>
            </a:r>
            <a:endParaRPr lang="en-US" sz="861" dirty="0">
              <a:latin typeface="Arial" panose="020B0604020202020204" pitchFamily="34" charset="0"/>
              <a:cs typeface="Arial" panose="020B0604020202020204" pitchFamily="34" charset="0"/>
            </a:endParaRPr>
          </a:p>
        </p:txBody>
      </p:sp>
      <p:sp>
        <p:nvSpPr>
          <p:cNvPr id="22" name="Text 20"/>
          <p:cNvSpPr/>
          <p:nvPr/>
        </p:nvSpPr>
        <p:spPr>
          <a:xfrm>
            <a:off x="759180" y="2570675"/>
            <a:ext cx="4462501"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Redlined, contract sent out to FOXXUM for review on 7/2.</a:t>
            </a:r>
            <a:endParaRPr lang="en-US" sz="861" dirty="0">
              <a:latin typeface="Arial" panose="020B0604020202020204" pitchFamily="34" charset="0"/>
              <a:cs typeface="Arial" panose="020B0604020202020204" pitchFamily="34" charset="0"/>
            </a:endParaRPr>
          </a:p>
        </p:txBody>
      </p:sp>
      <p:sp>
        <p:nvSpPr>
          <p:cNvPr id="23" name="Shape 21"/>
          <p:cNvSpPr/>
          <p:nvPr/>
        </p:nvSpPr>
        <p:spPr>
          <a:xfrm>
            <a:off x="5258714" y="2742880"/>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4" name="Text 22"/>
          <p:cNvSpPr/>
          <p:nvPr/>
        </p:nvSpPr>
        <p:spPr>
          <a:xfrm>
            <a:off x="5258714" y="2742880"/>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25" name="Shape 23"/>
          <p:cNvSpPr/>
          <p:nvPr/>
        </p:nvSpPr>
        <p:spPr>
          <a:xfrm>
            <a:off x="101842" y="3118767"/>
            <a:ext cx="5721629" cy="54809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6" name="Text 24"/>
          <p:cNvSpPr/>
          <p:nvPr/>
        </p:nvSpPr>
        <p:spPr>
          <a:xfrm>
            <a:off x="138874" y="3118767"/>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SR Data</a:t>
            </a:r>
            <a:endParaRPr lang="en-US" sz="861" dirty="0">
              <a:latin typeface="Arial" panose="020B0604020202020204" pitchFamily="34" charset="0"/>
              <a:cs typeface="Arial" panose="020B0604020202020204" pitchFamily="34" charset="0"/>
            </a:endParaRPr>
          </a:p>
        </p:txBody>
      </p:sp>
      <p:sp>
        <p:nvSpPr>
          <p:cNvPr id="27" name="Text 25"/>
          <p:cNvSpPr/>
          <p:nvPr/>
        </p:nvSpPr>
        <p:spPr>
          <a:xfrm>
            <a:off x="759180" y="3118767"/>
            <a:ext cx="4462501" cy="54809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Discussions will begin end of week or first week of July. Due by end of July.</a:t>
            </a:r>
          </a:p>
          <a:p>
            <a:endParaRPr lang="en-US" sz="911" dirty="0">
              <a:latin typeface="Arial" panose="020B0604020202020204" pitchFamily="34" charset="0"/>
              <a:cs typeface="Arial" panose="020B0604020202020204" pitchFamily="34" charset="0"/>
            </a:endParaRPr>
          </a:p>
        </p:txBody>
      </p:sp>
      <p:sp>
        <p:nvSpPr>
          <p:cNvPr id="28" name="Shape 26"/>
          <p:cNvSpPr/>
          <p:nvPr/>
        </p:nvSpPr>
        <p:spPr>
          <a:xfrm>
            <a:off x="5258714" y="3290972"/>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9" name="Text 27"/>
          <p:cNvSpPr>
            <a:spLocks/>
          </p:cNvSpPr>
          <p:nvPr/>
        </p:nvSpPr>
        <p:spPr>
          <a:xfrm>
            <a:off x="5258714" y="3290972"/>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30" name="Shape 28"/>
          <p:cNvSpPr/>
          <p:nvPr/>
        </p:nvSpPr>
        <p:spPr>
          <a:xfrm>
            <a:off x="5943829" y="648653"/>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1" name="Text 29"/>
          <p:cNvSpPr/>
          <p:nvPr/>
        </p:nvSpPr>
        <p:spPr>
          <a:xfrm>
            <a:off x="5999378" y="648653"/>
            <a:ext cx="5693855" cy="277749"/>
          </a:xfrm>
          <a:prstGeom prst="rect">
            <a:avLst/>
          </a:prstGeom>
          <a:noFill/>
          <a:ln/>
        </p:spPr>
        <p:txBody>
          <a:bodyPr wrap="square" lIns="0" tIns="0" rIns="0" bIns="0" rtlCol="0" anchor="ctr"/>
          <a:lstStyle/>
          <a:p>
            <a:r>
              <a:rPr lang="en-US" sz="1013" dirty="0">
                <a:latin typeface="Arial" panose="020B0604020202020204" pitchFamily="34" charset="0"/>
                <a:cs typeface="Arial" panose="020B0604020202020204" pitchFamily="34" charset="0"/>
              </a:rPr>
              <a:t>Shared Infrastructure &amp; Dev Tooling</a:t>
            </a:r>
          </a:p>
        </p:txBody>
      </p:sp>
      <p:sp>
        <p:nvSpPr>
          <p:cNvPr id="32" name="Shape 30"/>
          <p:cNvSpPr/>
          <p:nvPr/>
        </p:nvSpPr>
        <p:spPr>
          <a:xfrm>
            <a:off x="5953087" y="926401"/>
            <a:ext cx="5740146" cy="2740457"/>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33" name="Shape 31"/>
          <p:cNvSpPr/>
          <p:nvPr/>
        </p:nvSpPr>
        <p:spPr>
          <a:xfrm>
            <a:off x="5962345" y="926402"/>
            <a:ext cx="5721629" cy="685114"/>
          </a:xfrm>
          <a:prstGeom prst="rect">
            <a:avLst/>
          </a:prstGeom>
          <a:solidFill>
            <a:srgbClr val="FFFFFF"/>
          </a:solidFill>
          <a:ln w="12700">
            <a:solidFill>
              <a:srgbClr val="FFFFFF"/>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34" name="Text 32"/>
          <p:cNvSpPr/>
          <p:nvPr/>
        </p:nvSpPr>
        <p:spPr>
          <a:xfrm>
            <a:off x="5999378" y="926402"/>
            <a:ext cx="601790"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Monitoring &amp; Error Tracking</a:t>
            </a:r>
          </a:p>
        </p:txBody>
      </p:sp>
      <p:sp>
        <p:nvSpPr>
          <p:cNvPr id="35" name="Text 33"/>
          <p:cNvSpPr/>
          <p:nvPr/>
        </p:nvSpPr>
        <p:spPr>
          <a:xfrm>
            <a:off x="6619684" y="926402"/>
            <a:ext cx="4462501"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Added automatic tracking of what users do in the app (screens viewed, buttons tapped) and instant alerts when something breaks, so issues get caught and fixed faster instead of relying on user reports.</a:t>
            </a:r>
            <a:endParaRPr lang="en-US" sz="861" dirty="0">
              <a:latin typeface="Arial" panose="020B0604020202020204" pitchFamily="34" charset="0"/>
              <a:cs typeface="Arial" panose="020B0604020202020204" pitchFamily="34" charset="0"/>
            </a:endParaRPr>
          </a:p>
        </p:txBody>
      </p:sp>
      <p:sp>
        <p:nvSpPr>
          <p:cNvPr id="38" name="Text 36"/>
          <p:cNvSpPr/>
          <p:nvPr/>
        </p:nvSpPr>
        <p:spPr>
          <a:xfrm>
            <a:off x="5999378" y="1611516"/>
            <a:ext cx="601790" cy="685114"/>
          </a:xfrm>
          <a:prstGeom prst="rect">
            <a:avLst/>
          </a:prstGeom>
          <a:noFill/>
          <a:ln/>
        </p:spPr>
        <p:txBody>
          <a:bodyPr wrap="square" lIns="0" tIns="0" rIns="0" bIns="0" rtlCol="0" anchor="ctr"/>
          <a:lstStyle/>
          <a:p>
            <a:endParaRPr lang="en-US" sz="861" dirty="0">
              <a:latin typeface="Arial" panose="020B0604020202020204" pitchFamily="34" charset="0"/>
              <a:cs typeface="Arial" panose="020B0604020202020204" pitchFamily="34" charset="0"/>
            </a:endParaRPr>
          </a:p>
        </p:txBody>
      </p:sp>
      <p:sp>
        <p:nvSpPr>
          <p:cNvPr id="39" name="Text 37"/>
          <p:cNvSpPr/>
          <p:nvPr/>
        </p:nvSpPr>
        <p:spPr>
          <a:xfrm>
            <a:off x="6619684" y="1611516"/>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Migrated the app off mock data onto the live backend, so Home, Live, Schedule, and Tournaments now show real content and real playback. </a:t>
            </a:r>
          </a:p>
          <a:p>
            <a:pPr marL="173593" indent="-173593">
              <a:buFont typeface="Arial" panose="020B0604020202020204" pitchFamily="34" charset="0"/>
              <a:buChar char="•"/>
            </a:pPr>
            <a:r>
              <a:rPr lang="en-US" sz="911" dirty="0"/>
              <a:t>Shipped supporting shared tools (event tracking, design polish, dev tooling) alongside about 35 merged updates this period.</a:t>
            </a:r>
            <a:endParaRPr lang="en-US" sz="861" dirty="0">
              <a:latin typeface="Arial" panose="020B0604020202020204" pitchFamily="34" charset="0"/>
              <a:cs typeface="Arial" panose="020B0604020202020204" pitchFamily="34" charset="0"/>
            </a:endParaRPr>
          </a:p>
        </p:txBody>
      </p:sp>
      <p:sp>
        <p:nvSpPr>
          <p:cNvPr id="42" name="Shape 40"/>
          <p:cNvSpPr/>
          <p:nvPr/>
        </p:nvSpPr>
        <p:spPr>
          <a:xfrm>
            <a:off x="5962345" y="2296630"/>
            <a:ext cx="5721629" cy="685114"/>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43" name="Text 41"/>
          <p:cNvSpPr/>
          <p:nvPr/>
        </p:nvSpPr>
        <p:spPr>
          <a:xfrm>
            <a:off x="5999378" y="2296630"/>
            <a:ext cx="601790" cy="685114"/>
          </a:xfrm>
          <a:prstGeom prst="rect">
            <a:avLst/>
          </a:prstGeom>
          <a:noFill/>
          <a:ln/>
        </p:spPr>
        <p:txBody>
          <a:bodyPr wrap="square" lIns="0" tIns="0" rIns="0" bIns="0" rtlCol="0" anchor="ctr"/>
          <a:lstStyle/>
          <a:p>
            <a:r>
              <a:rPr lang="en-US" sz="911" dirty="0"/>
              <a:t>New Website</a:t>
            </a:r>
            <a:endParaRPr lang="en-US" sz="861" dirty="0">
              <a:latin typeface="Arial" panose="020B0604020202020204" pitchFamily="34" charset="0"/>
              <a:cs typeface="Arial" panose="020B0604020202020204" pitchFamily="34" charset="0"/>
            </a:endParaRPr>
          </a:p>
        </p:txBody>
      </p:sp>
      <p:sp>
        <p:nvSpPr>
          <p:cNvPr id="44" name="Text 42"/>
          <p:cNvSpPr/>
          <p:nvPr/>
        </p:nvSpPr>
        <p:spPr>
          <a:xfrm>
            <a:off x="6619684" y="2296630"/>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Prototyping Auth0/</a:t>
            </a:r>
            <a:r>
              <a:rPr lang="en-US" sz="911" dirty="0" err="1"/>
              <a:t>Cleeng</a:t>
            </a:r>
            <a:r>
              <a:rPr lang="en-US" sz="911" dirty="0"/>
              <a:t> login, building out CMS widget support, and standing up Adobe Pass provider management, alongside a shipped front-end foundation (design system, navigation, footer, page shell). </a:t>
            </a:r>
          </a:p>
          <a:p>
            <a:pPr marL="173593" indent="-173593">
              <a:buFont typeface="Arial" panose="020B0604020202020204" pitchFamily="34" charset="0"/>
              <a:buChar char="•"/>
            </a:pPr>
            <a:r>
              <a:rPr lang="en-US" sz="911" dirty="0"/>
              <a:t>Carousel page engine and its backend refresh API delivered, plus an early proof-of-concept test of the </a:t>
            </a:r>
            <a:r>
              <a:rPr lang="en-US" sz="911" dirty="0" err="1"/>
              <a:t>Bitmovin</a:t>
            </a:r>
            <a:r>
              <a:rPr lang="en-US" sz="911" dirty="0"/>
              <a:t> video player.</a:t>
            </a:r>
            <a:endParaRPr lang="en-US" sz="861" dirty="0">
              <a:latin typeface="Arial" panose="020B0604020202020204" pitchFamily="34" charset="0"/>
              <a:cs typeface="Arial" panose="020B0604020202020204" pitchFamily="34" charset="0"/>
            </a:endParaRPr>
          </a:p>
        </p:txBody>
      </p:sp>
      <p:sp>
        <p:nvSpPr>
          <p:cNvPr id="47" name="Text 45"/>
          <p:cNvSpPr/>
          <p:nvPr/>
        </p:nvSpPr>
        <p:spPr>
          <a:xfrm>
            <a:off x="5999378" y="2981744"/>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Hosting</a:t>
            </a:r>
            <a:endParaRPr lang="en-US" sz="861" dirty="0">
              <a:latin typeface="Arial" panose="020B0604020202020204" pitchFamily="34" charset="0"/>
              <a:cs typeface="Arial" panose="020B0604020202020204" pitchFamily="34" charset="0"/>
            </a:endParaRPr>
          </a:p>
        </p:txBody>
      </p:sp>
      <p:sp>
        <p:nvSpPr>
          <p:cNvPr id="48" name="Text 46"/>
          <p:cNvSpPr/>
          <p:nvPr/>
        </p:nvSpPr>
        <p:spPr>
          <a:xfrm>
            <a:off x="6619684" y="2981744"/>
            <a:ext cx="4462501"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Moving control of Tennis Channel's website hosting setup in-house, the same approach already used successfully for </a:t>
            </a:r>
            <a:r>
              <a:rPr lang="en-US" sz="911" dirty="0" err="1">
                <a:latin typeface="Arial" panose="020B0604020202020204" pitchFamily="34" charset="0"/>
                <a:cs typeface="Arial" panose="020B0604020202020204" pitchFamily="34" charset="0"/>
              </a:rPr>
              <a:t>Tennis.com</a:t>
            </a:r>
            <a:r>
              <a:rPr lang="en-US" sz="911" dirty="0">
                <a:latin typeface="Arial" panose="020B0604020202020204" pitchFamily="34" charset="0"/>
                <a:cs typeface="Arial" panose="020B0604020202020204" pitchFamily="34" charset="0"/>
              </a:rPr>
              <a:t>, giving us more control ahead of launch.</a:t>
            </a:r>
            <a:endParaRPr lang="en-US" sz="861" dirty="0">
              <a:latin typeface="Arial" panose="020B0604020202020204" pitchFamily="34" charset="0"/>
              <a:cs typeface="Arial" panose="020B0604020202020204" pitchFamily="34" charset="0"/>
            </a:endParaRPr>
          </a:p>
        </p:txBody>
      </p:sp>
      <p:sp>
        <p:nvSpPr>
          <p:cNvPr id="50" name="Text 48"/>
          <p:cNvSpPr/>
          <p:nvPr/>
        </p:nvSpPr>
        <p:spPr>
          <a:xfrm>
            <a:off x="11119218" y="3222460"/>
            <a:ext cx="546240" cy="203683"/>
          </a:xfrm>
          <a:prstGeom prst="rect">
            <a:avLst/>
          </a:prstGeom>
          <a:noFill/>
          <a:ln/>
        </p:spPr>
        <p:txBody>
          <a:bodyPr wrap="square" lIns="0" tIns="0" rIns="0" bIns="0" rtlCol="0" anchor="ctr"/>
          <a:lstStyle/>
          <a:p>
            <a:pPr algn="ctr"/>
            <a:endParaRPr lang="en-US" sz="709" dirty="0">
              <a:latin typeface="Arial" panose="020B0604020202020204" pitchFamily="34" charset="0"/>
              <a:cs typeface="Arial" panose="020B0604020202020204" pitchFamily="34" charset="0"/>
            </a:endParaRPr>
          </a:p>
        </p:txBody>
      </p:sp>
      <p:sp>
        <p:nvSpPr>
          <p:cNvPr id="51" name="Shape 49"/>
          <p:cNvSpPr/>
          <p:nvPr/>
        </p:nvSpPr>
        <p:spPr>
          <a:xfrm>
            <a:off x="92583" y="3740925"/>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2" name="Text 50"/>
          <p:cNvSpPr/>
          <p:nvPr/>
        </p:nvSpPr>
        <p:spPr>
          <a:xfrm>
            <a:off x="138874" y="3740925"/>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Partner / Platform Integrations</a:t>
            </a:r>
            <a:endParaRPr lang="en-US" sz="1013" dirty="0">
              <a:latin typeface="Arial" panose="020B0604020202020204" pitchFamily="34" charset="0"/>
              <a:cs typeface="Arial" panose="020B0604020202020204" pitchFamily="34" charset="0"/>
            </a:endParaRPr>
          </a:p>
        </p:txBody>
      </p:sp>
      <p:sp>
        <p:nvSpPr>
          <p:cNvPr id="53" name="Shape 51"/>
          <p:cNvSpPr/>
          <p:nvPr/>
        </p:nvSpPr>
        <p:spPr>
          <a:xfrm>
            <a:off x="92583" y="4018674"/>
            <a:ext cx="5740146" cy="2740457"/>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54" name="Shape 52"/>
          <p:cNvSpPr/>
          <p:nvPr/>
        </p:nvSpPr>
        <p:spPr>
          <a:xfrm>
            <a:off x="101842" y="4018674"/>
            <a:ext cx="5721629" cy="913486"/>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5" name="Text 53"/>
          <p:cNvSpPr/>
          <p:nvPr/>
        </p:nvSpPr>
        <p:spPr>
          <a:xfrm>
            <a:off x="138874" y="4018674"/>
            <a:ext cx="601790" cy="913486"/>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MVPD</a:t>
            </a:r>
            <a:endParaRPr lang="en-US" sz="861" dirty="0">
              <a:latin typeface="Arial" panose="020B0604020202020204" pitchFamily="34" charset="0"/>
              <a:cs typeface="Arial" panose="020B0604020202020204" pitchFamily="34" charset="0"/>
            </a:endParaRPr>
          </a:p>
        </p:txBody>
      </p:sp>
      <p:sp>
        <p:nvSpPr>
          <p:cNvPr id="56" name="Text 54"/>
          <p:cNvSpPr/>
          <p:nvPr/>
        </p:nvSpPr>
        <p:spPr>
          <a:xfrm>
            <a:off x="759180" y="4018674"/>
            <a:ext cx="4462501" cy="913486"/>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Adobe Pass integration underway for MVPD access; CMS-based provider management is being brought into the web app, with basic prototypes built and currently hardcoded to DirecTV for testing.</a:t>
            </a:r>
          </a:p>
        </p:txBody>
      </p:sp>
      <p:sp>
        <p:nvSpPr>
          <p:cNvPr id="57" name="Shape 55"/>
          <p:cNvSpPr/>
          <p:nvPr/>
        </p:nvSpPr>
        <p:spPr>
          <a:xfrm>
            <a:off x="5258714" y="4373575"/>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8" name="Text 56"/>
          <p:cNvSpPr/>
          <p:nvPr/>
        </p:nvSpPr>
        <p:spPr>
          <a:xfrm>
            <a:off x="5258714" y="4373575"/>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59" name="Text 57"/>
          <p:cNvSpPr/>
          <p:nvPr/>
        </p:nvSpPr>
        <p:spPr>
          <a:xfrm>
            <a:off x="138874" y="4932159"/>
            <a:ext cx="601790" cy="913486"/>
          </a:xfrm>
          <a:prstGeom prst="rect">
            <a:avLst/>
          </a:prstGeom>
          <a:noFill/>
          <a:ln/>
        </p:spPr>
        <p:txBody>
          <a:bodyPr wrap="square" lIns="0" tIns="0" rIns="0" bIns="0" rtlCol="0" anchor="ctr"/>
          <a:lstStyle/>
          <a:p>
            <a:endParaRPr lang="en-US" sz="861" dirty="0">
              <a:latin typeface="Arial" panose="020B0604020202020204" pitchFamily="34" charset="0"/>
              <a:cs typeface="Arial" panose="020B0604020202020204" pitchFamily="34" charset="0"/>
            </a:endParaRPr>
          </a:p>
        </p:txBody>
      </p:sp>
      <p:sp>
        <p:nvSpPr>
          <p:cNvPr id="60" name="Text 58"/>
          <p:cNvSpPr/>
          <p:nvPr/>
        </p:nvSpPr>
        <p:spPr>
          <a:xfrm>
            <a:off x="759180" y="4932159"/>
            <a:ext cx="4462501" cy="913486"/>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Dedicated DRM auth service  launched, with license flows stubbed for </a:t>
            </a:r>
            <a:r>
              <a:rPr lang="en-US" sz="911" dirty="0" err="1">
                <a:latin typeface="Arial" panose="020B0604020202020204" pitchFamily="34" charset="0"/>
                <a:cs typeface="Arial" panose="020B0604020202020204" pitchFamily="34" charset="0"/>
              </a:rPr>
              <a:t>FairPlay</a:t>
            </a:r>
            <a:r>
              <a:rPr lang="en-US" sz="911" dirty="0">
                <a:latin typeface="Arial" panose="020B0604020202020204" pitchFamily="34" charset="0"/>
                <a:cs typeface="Arial" panose="020B0604020202020204" pitchFamily="34" charset="0"/>
              </a:rPr>
              <a:t>, </a:t>
            </a:r>
            <a:r>
              <a:rPr lang="en-US" sz="911" dirty="0" err="1">
                <a:latin typeface="Arial" panose="020B0604020202020204" pitchFamily="34" charset="0"/>
                <a:cs typeface="Arial" panose="020B0604020202020204" pitchFamily="34" charset="0"/>
              </a:rPr>
              <a:t>Widevine</a:t>
            </a:r>
            <a:r>
              <a:rPr lang="en-US" sz="911" dirty="0">
                <a:latin typeface="Arial" panose="020B0604020202020204" pitchFamily="34" charset="0"/>
                <a:cs typeface="Arial" panose="020B0604020202020204" pitchFamily="34" charset="0"/>
              </a:rPr>
              <a:t>, and PlayReady, and handed off to Amagi for EZDRM integration testing.</a:t>
            </a:r>
          </a:p>
        </p:txBody>
      </p:sp>
      <p:sp>
        <p:nvSpPr>
          <p:cNvPr id="61" name="Shape 59"/>
          <p:cNvSpPr/>
          <p:nvPr/>
        </p:nvSpPr>
        <p:spPr>
          <a:xfrm>
            <a:off x="5258714" y="5287061"/>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2" name="Text 60"/>
          <p:cNvSpPr/>
          <p:nvPr/>
        </p:nvSpPr>
        <p:spPr>
          <a:xfrm>
            <a:off x="5258714" y="5287061"/>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63" name="Shape 61"/>
          <p:cNvSpPr/>
          <p:nvPr/>
        </p:nvSpPr>
        <p:spPr>
          <a:xfrm>
            <a:off x="101842" y="5845645"/>
            <a:ext cx="5721629" cy="913486"/>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4" name="Text 62"/>
          <p:cNvSpPr/>
          <p:nvPr/>
        </p:nvSpPr>
        <p:spPr>
          <a:xfrm>
            <a:off x="138874" y="5845645"/>
            <a:ext cx="601790" cy="913486"/>
          </a:xfrm>
          <a:prstGeom prst="rect">
            <a:avLst/>
          </a:prstGeom>
          <a:noFill/>
          <a:ln/>
        </p:spPr>
        <p:txBody>
          <a:bodyPr wrap="square" lIns="0" tIns="0" rIns="0" bIns="0" rtlCol="0" anchor="ctr"/>
          <a:lstStyle/>
          <a:p>
            <a:r>
              <a:rPr lang="en-US" sz="861" dirty="0">
                <a:latin typeface="Arial" panose="020B0604020202020204" pitchFamily="34" charset="0"/>
                <a:cs typeface="Arial" panose="020B0604020202020204" pitchFamily="34" charset="0"/>
              </a:rPr>
              <a:t>FOXXUM</a:t>
            </a:r>
          </a:p>
        </p:txBody>
      </p:sp>
      <p:sp>
        <p:nvSpPr>
          <p:cNvPr id="65" name="Text 63"/>
          <p:cNvSpPr/>
          <p:nvPr/>
        </p:nvSpPr>
        <p:spPr>
          <a:xfrm>
            <a:off x="759180" y="5845645"/>
            <a:ext cx="4462501" cy="913486"/>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Integration packet produced and workshop collaboration ongoing with </a:t>
            </a:r>
            <a:r>
              <a:rPr lang="en-US" sz="911" dirty="0" err="1">
                <a:latin typeface="Arial" panose="020B0604020202020204" pitchFamily="34" charset="0"/>
                <a:cs typeface="Arial" panose="020B0604020202020204" pitchFamily="34" charset="0"/>
              </a:rPr>
              <a:t>Foxxum</a:t>
            </a:r>
            <a:r>
              <a:rPr lang="en-US" sz="911" dirty="0">
                <a:latin typeface="Arial" panose="020B0604020202020204" pitchFamily="34" charset="0"/>
                <a:cs typeface="Arial" panose="020B0604020202020204" pitchFamily="34" charset="0"/>
              </a:rPr>
              <a:t>; no schema-stability specifics were called out in this update.</a:t>
            </a:r>
            <a:endParaRPr lang="en-US" sz="861" dirty="0">
              <a:latin typeface="Arial" panose="020B0604020202020204" pitchFamily="34" charset="0"/>
              <a:cs typeface="Arial" panose="020B0604020202020204" pitchFamily="34" charset="0"/>
            </a:endParaRPr>
          </a:p>
        </p:txBody>
      </p:sp>
      <p:sp>
        <p:nvSpPr>
          <p:cNvPr id="68" name="Shape 66"/>
          <p:cNvSpPr/>
          <p:nvPr/>
        </p:nvSpPr>
        <p:spPr>
          <a:xfrm>
            <a:off x="5953087" y="3740925"/>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9" name="Text 67"/>
          <p:cNvSpPr/>
          <p:nvPr/>
        </p:nvSpPr>
        <p:spPr>
          <a:xfrm>
            <a:off x="5999378" y="3740925"/>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Platform Capabilities</a:t>
            </a:r>
            <a:endParaRPr lang="en-US" sz="1013" dirty="0">
              <a:latin typeface="Arial" panose="020B0604020202020204" pitchFamily="34" charset="0"/>
              <a:cs typeface="Arial" panose="020B0604020202020204" pitchFamily="34" charset="0"/>
            </a:endParaRPr>
          </a:p>
        </p:txBody>
      </p:sp>
      <p:sp>
        <p:nvSpPr>
          <p:cNvPr id="70" name="Shape 68"/>
          <p:cNvSpPr/>
          <p:nvPr/>
        </p:nvSpPr>
        <p:spPr>
          <a:xfrm>
            <a:off x="5953087" y="4018674"/>
            <a:ext cx="5740146" cy="2740457"/>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71" name="Shape 69"/>
          <p:cNvSpPr/>
          <p:nvPr/>
        </p:nvSpPr>
        <p:spPr>
          <a:xfrm>
            <a:off x="5927906" y="4031018"/>
            <a:ext cx="5721629" cy="685114"/>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2" name="Text 70"/>
          <p:cNvSpPr/>
          <p:nvPr/>
        </p:nvSpPr>
        <p:spPr>
          <a:xfrm>
            <a:off x="5999378" y="4018674"/>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Platform POC</a:t>
            </a:r>
            <a:endParaRPr lang="en-US" sz="861" dirty="0">
              <a:latin typeface="Arial" panose="020B0604020202020204" pitchFamily="34" charset="0"/>
              <a:cs typeface="Arial" panose="020B0604020202020204" pitchFamily="34" charset="0"/>
            </a:endParaRPr>
          </a:p>
        </p:txBody>
      </p:sp>
      <p:sp>
        <p:nvSpPr>
          <p:cNvPr id="73" name="Text 71"/>
          <p:cNvSpPr/>
          <p:nvPr/>
        </p:nvSpPr>
        <p:spPr>
          <a:xfrm>
            <a:off x="6619684" y="4018674"/>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Mobile login gate placeholder: the first login gate for anonymous viewers, built with placeholder UI ahead of the real Auth0 flow. </a:t>
            </a:r>
          </a:p>
          <a:p>
            <a:pPr marL="173593" indent="-173593">
              <a:buFont typeface="Arial" panose="020B0604020202020204" pitchFamily="34" charset="0"/>
              <a:buChar char="•"/>
            </a:pPr>
            <a:r>
              <a:rPr lang="en-US" sz="911" dirty="0"/>
              <a:t>Entitlement simulator: the mobile tool simulating any account state to test flows before the real backend exists, more a testing harness than a shipped feature.</a:t>
            </a:r>
            <a:endParaRPr lang="en-US" sz="861" dirty="0">
              <a:latin typeface="Arial" panose="020B0604020202020204" pitchFamily="34" charset="0"/>
              <a:cs typeface="Arial" panose="020B0604020202020204" pitchFamily="34" charset="0"/>
            </a:endParaRPr>
          </a:p>
        </p:txBody>
      </p:sp>
      <p:sp>
        <p:nvSpPr>
          <p:cNvPr id="76" name="Text 74"/>
          <p:cNvSpPr/>
          <p:nvPr/>
        </p:nvSpPr>
        <p:spPr>
          <a:xfrm>
            <a:off x="5999378" y="4703788"/>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UI/UX</a:t>
            </a:r>
            <a:endParaRPr lang="en-US" sz="861" dirty="0">
              <a:latin typeface="Arial" panose="020B0604020202020204" pitchFamily="34" charset="0"/>
              <a:cs typeface="Arial" panose="020B0604020202020204" pitchFamily="34" charset="0"/>
            </a:endParaRPr>
          </a:p>
        </p:txBody>
      </p:sp>
      <p:sp>
        <p:nvSpPr>
          <p:cNvPr id="77" name="Text 75"/>
          <p:cNvSpPr/>
          <p:nvPr/>
        </p:nvSpPr>
        <p:spPr>
          <a:xfrm>
            <a:off x="6619684" y="4753834"/>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861" dirty="0">
                <a:solidFill>
                  <a:srgbClr val="374151"/>
                </a:solidFill>
                <a:latin typeface="Arial" panose="020B0604020202020204" pitchFamily="34" charset="0"/>
                <a:ea typeface="Calibri" pitchFamily="34" charset="-122"/>
                <a:cs typeface="Arial" panose="020B0604020202020204" pitchFamily="34" charset="0"/>
              </a:rPr>
              <a:t>Built the front-end foundation (design system, left sidebar navigation, footer, and page shell)</a:t>
            </a:r>
          </a:p>
          <a:p>
            <a:pPr marL="173593" indent="-173593">
              <a:buFont typeface="Arial" panose="020B0604020202020204" pitchFamily="34" charset="0"/>
              <a:buChar char="•"/>
            </a:pPr>
            <a:r>
              <a:rPr lang="en-US" sz="861" dirty="0">
                <a:solidFill>
                  <a:srgbClr val="374151"/>
                </a:solidFill>
                <a:latin typeface="Arial" panose="020B0604020202020204" pitchFamily="34" charset="0"/>
                <a:ea typeface="Calibri" pitchFamily="34" charset="-122"/>
                <a:cs typeface="Arial" panose="020B0604020202020204" pitchFamily="34" charset="0"/>
              </a:rPr>
              <a:t>Built the page engine and styled the merchandising carousels (other engineers wired the carousels to data; my part was the full-bleed styling)</a:t>
            </a:r>
          </a:p>
          <a:p>
            <a:endParaRPr lang="en-US" sz="861" dirty="0">
              <a:solidFill>
                <a:srgbClr val="374151"/>
              </a:solidFill>
              <a:latin typeface="Arial" panose="020B0604020202020204" pitchFamily="34" charset="0"/>
              <a:ea typeface="Calibri" pitchFamily="34" charset="-122"/>
              <a:cs typeface="Arial" panose="020B0604020202020204" pitchFamily="34" charset="0"/>
            </a:endParaRPr>
          </a:p>
        </p:txBody>
      </p:sp>
      <p:sp>
        <p:nvSpPr>
          <p:cNvPr id="80" name="Shape 78"/>
          <p:cNvSpPr/>
          <p:nvPr/>
        </p:nvSpPr>
        <p:spPr>
          <a:xfrm>
            <a:off x="5962345" y="5388902"/>
            <a:ext cx="5721629" cy="685114"/>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1" name="Text 79"/>
          <p:cNvSpPr/>
          <p:nvPr/>
        </p:nvSpPr>
        <p:spPr>
          <a:xfrm>
            <a:off x="5999378" y="5388902"/>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Video player</a:t>
            </a:r>
            <a:endParaRPr lang="en-US" sz="861" dirty="0">
              <a:latin typeface="Arial" panose="020B0604020202020204" pitchFamily="34" charset="0"/>
              <a:cs typeface="Arial" panose="020B0604020202020204" pitchFamily="34" charset="0"/>
            </a:endParaRPr>
          </a:p>
        </p:txBody>
      </p:sp>
      <p:sp>
        <p:nvSpPr>
          <p:cNvPr id="82" name="Text 80"/>
          <p:cNvSpPr/>
          <p:nvPr/>
        </p:nvSpPr>
        <p:spPr>
          <a:xfrm>
            <a:off x="6619684" y="5388902"/>
            <a:ext cx="4462501"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Prototyped the video experience (exploratory test of the </a:t>
            </a:r>
            <a:r>
              <a:rPr lang="en-US" sz="861" dirty="0" err="1">
                <a:solidFill>
                  <a:srgbClr val="374151"/>
                </a:solidFill>
                <a:latin typeface="Arial" panose="020B0604020202020204" pitchFamily="34" charset="0"/>
                <a:ea typeface="Calibri" pitchFamily="34" charset="-122"/>
                <a:cs typeface="Arial" panose="020B0604020202020204" pitchFamily="34" charset="0"/>
              </a:rPr>
              <a:t>BitMovin</a:t>
            </a:r>
            <a:r>
              <a:rPr lang="en-US" sz="861" dirty="0">
                <a:solidFill>
                  <a:srgbClr val="374151"/>
                </a:solidFill>
                <a:latin typeface="Arial" panose="020B0604020202020204" pitchFamily="34" charset="0"/>
                <a:ea typeface="Calibri" pitchFamily="34" charset="-122"/>
                <a:cs typeface="Arial" panose="020B0604020202020204" pitchFamily="34" charset="0"/>
              </a:rPr>
              <a:t> player APIs; a proof-of-concept, not the final player)</a:t>
            </a:r>
            <a:endParaRPr lang="en-US" sz="861" dirty="0">
              <a:latin typeface="Arial" panose="020B0604020202020204" pitchFamily="34" charset="0"/>
              <a:cs typeface="Arial" panose="020B0604020202020204" pitchFamily="34" charset="0"/>
            </a:endParaRPr>
          </a:p>
        </p:txBody>
      </p:sp>
      <p:sp>
        <p:nvSpPr>
          <p:cNvPr id="85" name="Text 83"/>
          <p:cNvSpPr/>
          <p:nvPr/>
        </p:nvSpPr>
        <p:spPr>
          <a:xfrm>
            <a:off x="5999378" y="6074016"/>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Testing</a:t>
            </a:r>
            <a:endParaRPr lang="en-US" sz="861" dirty="0">
              <a:latin typeface="Arial" panose="020B0604020202020204" pitchFamily="34" charset="0"/>
              <a:cs typeface="Arial" panose="020B0604020202020204" pitchFamily="34" charset="0"/>
            </a:endParaRPr>
          </a:p>
        </p:txBody>
      </p:sp>
      <p:sp>
        <p:nvSpPr>
          <p:cNvPr id="86" name="Text 84"/>
          <p:cNvSpPr/>
          <p:nvPr/>
        </p:nvSpPr>
        <p:spPr>
          <a:xfrm>
            <a:off x="6619684" y="6074016"/>
            <a:ext cx="4462501"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Testing E2E experience; Merchandising, sign in flow, MVPD, </a:t>
            </a:r>
            <a:r>
              <a:rPr lang="en-US" sz="861" dirty="0" err="1">
                <a:solidFill>
                  <a:srgbClr val="374151"/>
                </a:solidFill>
                <a:latin typeface="Arial" panose="020B0604020202020204" pitchFamily="34" charset="0"/>
                <a:ea typeface="Calibri" pitchFamily="34" charset="-122"/>
                <a:cs typeface="Arial" panose="020B0604020202020204" pitchFamily="34" charset="0"/>
              </a:rPr>
              <a:t>Cleeng</a:t>
            </a:r>
            <a:r>
              <a:rPr lang="en-US" sz="861" dirty="0">
                <a:solidFill>
                  <a:srgbClr val="374151"/>
                </a:solidFill>
                <a:latin typeface="Arial" panose="020B0604020202020204" pitchFamily="34" charset="0"/>
                <a:ea typeface="Calibri" pitchFamily="34" charset="-122"/>
                <a:cs typeface="Arial" panose="020B0604020202020204" pitchFamily="34" charset="0"/>
              </a:rPr>
              <a:t>, replays. </a:t>
            </a:r>
            <a:endParaRPr lang="en-US" sz="861" dirty="0">
              <a:latin typeface="Arial" panose="020B0604020202020204" pitchFamily="34" charset="0"/>
              <a:cs typeface="Arial" panose="020B0604020202020204" pitchFamily="34" charset="0"/>
            </a:endParaRPr>
          </a:p>
        </p:txBody>
      </p:sp>
      <p:sp>
        <p:nvSpPr>
          <p:cNvPr id="90" name="Text 53">
            <a:extLst>
              <a:ext uri="{FF2B5EF4-FFF2-40B4-BE49-F238E27FC236}">
                <a16:creationId xmlns:a16="http://schemas.microsoft.com/office/drawing/2014/main" id="{790CEA9C-CC79-9491-0B6C-884834BD2739}"/>
              </a:ext>
            </a:extLst>
          </p:cNvPr>
          <p:cNvSpPr/>
          <p:nvPr/>
        </p:nvSpPr>
        <p:spPr>
          <a:xfrm>
            <a:off x="116493" y="4830318"/>
            <a:ext cx="601790" cy="913486"/>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DRM</a:t>
            </a:r>
            <a:endParaRPr lang="en-US" sz="861" dirty="0">
              <a:latin typeface="Arial" panose="020B0604020202020204" pitchFamily="34" charset="0"/>
              <a:cs typeface="Arial" panose="020B0604020202020204" pitchFamily="34" charset="0"/>
            </a:endParaRPr>
          </a:p>
        </p:txBody>
      </p:sp>
      <p:grpSp>
        <p:nvGrpSpPr>
          <p:cNvPr id="103" name="Group 102">
            <a:extLst>
              <a:ext uri="{FF2B5EF4-FFF2-40B4-BE49-F238E27FC236}">
                <a16:creationId xmlns:a16="http://schemas.microsoft.com/office/drawing/2014/main" id="{2415E7D3-0580-835D-6028-C1F6742970F7}"/>
              </a:ext>
            </a:extLst>
          </p:cNvPr>
          <p:cNvGrpSpPr/>
          <p:nvPr/>
        </p:nvGrpSpPr>
        <p:grpSpPr>
          <a:xfrm>
            <a:off x="10991739" y="3129877"/>
            <a:ext cx="801198" cy="203683"/>
            <a:chOff x="10856038" y="2322576"/>
            <a:chExt cx="791307" cy="201168"/>
          </a:xfrm>
        </p:grpSpPr>
        <p:sp>
          <p:nvSpPr>
            <p:cNvPr id="104" name="Shape 43">
              <a:extLst>
                <a:ext uri="{FF2B5EF4-FFF2-40B4-BE49-F238E27FC236}">
                  <a16:creationId xmlns:a16="http://schemas.microsoft.com/office/drawing/2014/main" id="{24A10409-FE5B-B5A8-C61F-BF55086DD3BF}"/>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05" name="TextBox 104">
              <a:extLst>
                <a:ext uri="{FF2B5EF4-FFF2-40B4-BE49-F238E27FC236}">
                  <a16:creationId xmlns:a16="http://schemas.microsoft.com/office/drawing/2014/main" id="{7AD4F438-C9F8-C1D4-D14F-C4D357F173D6}"/>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06" name="Group 105">
            <a:extLst>
              <a:ext uri="{FF2B5EF4-FFF2-40B4-BE49-F238E27FC236}">
                <a16:creationId xmlns:a16="http://schemas.microsoft.com/office/drawing/2014/main" id="{36009C5C-8271-24AC-8B52-287CA50FACA5}"/>
              </a:ext>
            </a:extLst>
          </p:cNvPr>
          <p:cNvGrpSpPr/>
          <p:nvPr/>
        </p:nvGrpSpPr>
        <p:grpSpPr>
          <a:xfrm>
            <a:off x="10997183" y="2525001"/>
            <a:ext cx="801198" cy="203683"/>
            <a:chOff x="10856038" y="2322576"/>
            <a:chExt cx="791307" cy="201168"/>
          </a:xfrm>
        </p:grpSpPr>
        <p:sp>
          <p:nvSpPr>
            <p:cNvPr id="107" name="Shape 43">
              <a:extLst>
                <a:ext uri="{FF2B5EF4-FFF2-40B4-BE49-F238E27FC236}">
                  <a16:creationId xmlns:a16="http://schemas.microsoft.com/office/drawing/2014/main" id="{67E66F2B-A5DA-8169-369C-4F1A236B1E59}"/>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08" name="TextBox 107">
              <a:extLst>
                <a:ext uri="{FF2B5EF4-FFF2-40B4-BE49-F238E27FC236}">
                  <a16:creationId xmlns:a16="http://schemas.microsoft.com/office/drawing/2014/main" id="{F6E5DA9D-E0D9-A4B8-BED0-3E023A8680CD}"/>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09" name="Group 108">
            <a:extLst>
              <a:ext uri="{FF2B5EF4-FFF2-40B4-BE49-F238E27FC236}">
                <a16:creationId xmlns:a16="http://schemas.microsoft.com/office/drawing/2014/main" id="{D74ED233-04E7-261A-61A3-871D17D81F5C}"/>
              </a:ext>
            </a:extLst>
          </p:cNvPr>
          <p:cNvGrpSpPr/>
          <p:nvPr/>
        </p:nvGrpSpPr>
        <p:grpSpPr>
          <a:xfrm>
            <a:off x="5121978" y="6240157"/>
            <a:ext cx="801198" cy="203683"/>
            <a:chOff x="10856038" y="2322576"/>
            <a:chExt cx="791307" cy="201168"/>
          </a:xfrm>
        </p:grpSpPr>
        <p:sp>
          <p:nvSpPr>
            <p:cNvPr id="110" name="Shape 43">
              <a:extLst>
                <a:ext uri="{FF2B5EF4-FFF2-40B4-BE49-F238E27FC236}">
                  <a16:creationId xmlns:a16="http://schemas.microsoft.com/office/drawing/2014/main" id="{0999F11F-435B-0279-627B-E591C22F22D5}"/>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1" name="TextBox 110">
              <a:extLst>
                <a:ext uri="{FF2B5EF4-FFF2-40B4-BE49-F238E27FC236}">
                  <a16:creationId xmlns:a16="http://schemas.microsoft.com/office/drawing/2014/main" id="{6C0B2977-A2F4-4D7C-25F0-D06DA87C4CF1}"/>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2" name="Group 111">
            <a:extLst>
              <a:ext uri="{FF2B5EF4-FFF2-40B4-BE49-F238E27FC236}">
                <a16:creationId xmlns:a16="http://schemas.microsoft.com/office/drawing/2014/main" id="{4D8D8501-B0D2-1527-AF68-B176BFE6C528}"/>
              </a:ext>
            </a:extLst>
          </p:cNvPr>
          <p:cNvGrpSpPr/>
          <p:nvPr/>
        </p:nvGrpSpPr>
        <p:grpSpPr>
          <a:xfrm>
            <a:off x="10991739" y="4228528"/>
            <a:ext cx="801198" cy="203683"/>
            <a:chOff x="10856038" y="2322576"/>
            <a:chExt cx="791307" cy="201168"/>
          </a:xfrm>
        </p:grpSpPr>
        <p:sp>
          <p:nvSpPr>
            <p:cNvPr id="113" name="Shape 43">
              <a:extLst>
                <a:ext uri="{FF2B5EF4-FFF2-40B4-BE49-F238E27FC236}">
                  <a16:creationId xmlns:a16="http://schemas.microsoft.com/office/drawing/2014/main" id="{624E48F5-FF69-2B3E-BEEC-FF36EA483DFA}"/>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4" name="TextBox 113">
              <a:extLst>
                <a:ext uri="{FF2B5EF4-FFF2-40B4-BE49-F238E27FC236}">
                  <a16:creationId xmlns:a16="http://schemas.microsoft.com/office/drawing/2014/main" id="{D0567EE0-57FA-72C2-4C71-71403553B2BB}"/>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5" name="Group 114">
            <a:extLst>
              <a:ext uri="{FF2B5EF4-FFF2-40B4-BE49-F238E27FC236}">
                <a16:creationId xmlns:a16="http://schemas.microsoft.com/office/drawing/2014/main" id="{AC725CFB-E2BB-1987-98C5-AA17217EBC60}"/>
              </a:ext>
            </a:extLst>
          </p:cNvPr>
          <p:cNvGrpSpPr/>
          <p:nvPr/>
        </p:nvGrpSpPr>
        <p:grpSpPr>
          <a:xfrm>
            <a:off x="10982482" y="4929819"/>
            <a:ext cx="801198" cy="203683"/>
            <a:chOff x="10856038" y="2322576"/>
            <a:chExt cx="791307" cy="201168"/>
          </a:xfrm>
        </p:grpSpPr>
        <p:sp>
          <p:nvSpPr>
            <p:cNvPr id="116" name="Shape 43">
              <a:extLst>
                <a:ext uri="{FF2B5EF4-FFF2-40B4-BE49-F238E27FC236}">
                  <a16:creationId xmlns:a16="http://schemas.microsoft.com/office/drawing/2014/main" id="{A27F82EA-0C5F-BD0B-BBC9-D8FA56463754}"/>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7" name="TextBox 116">
              <a:extLst>
                <a:ext uri="{FF2B5EF4-FFF2-40B4-BE49-F238E27FC236}">
                  <a16:creationId xmlns:a16="http://schemas.microsoft.com/office/drawing/2014/main" id="{E7FEE61F-775B-4599-FB15-E01019918FC6}"/>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8" name="Group 117">
            <a:extLst>
              <a:ext uri="{FF2B5EF4-FFF2-40B4-BE49-F238E27FC236}">
                <a16:creationId xmlns:a16="http://schemas.microsoft.com/office/drawing/2014/main" id="{A0092163-86E7-960A-C9A0-8778F154B24D}"/>
              </a:ext>
            </a:extLst>
          </p:cNvPr>
          <p:cNvGrpSpPr/>
          <p:nvPr/>
        </p:nvGrpSpPr>
        <p:grpSpPr>
          <a:xfrm>
            <a:off x="10982482" y="5608422"/>
            <a:ext cx="801198" cy="203683"/>
            <a:chOff x="10856038" y="2322576"/>
            <a:chExt cx="791307" cy="201168"/>
          </a:xfrm>
        </p:grpSpPr>
        <p:sp>
          <p:nvSpPr>
            <p:cNvPr id="119" name="Shape 43">
              <a:extLst>
                <a:ext uri="{FF2B5EF4-FFF2-40B4-BE49-F238E27FC236}">
                  <a16:creationId xmlns:a16="http://schemas.microsoft.com/office/drawing/2014/main" id="{3E931F12-F74C-56A4-D2C5-EB39C66423EE}"/>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20" name="TextBox 119">
              <a:extLst>
                <a:ext uri="{FF2B5EF4-FFF2-40B4-BE49-F238E27FC236}">
                  <a16:creationId xmlns:a16="http://schemas.microsoft.com/office/drawing/2014/main" id="{A9B8DA65-C185-45B6-8927-7535FF712057}"/>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sp>
        <p:nvSpPr>
          <p:cNvPr id="125" name="Shape 43">
            <a:extLst>
              <a:ext uri="{FF2B5EF4-FFF2-40B4-BE49-F238E27FC236}">
                <a16:creationId xmlns:a16="http://schemas.microsoft.com/office/drawing/2014/main" id="{70B9B545-80CC-0E6D-F585-2F36A41678ED}"/>
              </a:ext>
            </a:extLst>
          </p:cNvPr>
          <p:cNvSpPr>
            <a:spLocks/>
          </p:cNvSpPr>
          <p:nvPr/>
        </p:nvSpPr>
        <p:spPr>
          <a:xfrm>
            <a:off x="11019514" y="6234493"/>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26" name="TextBox 125">
            <a:extLst>
              <a:ext uri="{FF2B5EF4-FFF2-40B4-BE49-F238E27FC236}">
                <a16:creationId xmlns:a16="http://schemas.microsoft.com/office/drawing/2014/main" id="{208AB665-5043-8C17-8A24-D0F9AA78D960}"/>
              </a:ext>
            </a:extLst>
          </p:cNvPr>
          <p:cNvSpPr txBox="1">
            <a:spLocks/>
          </p:cNvSpPr>
          <p:nvPr/>
        </p:nvSpPr>
        <p:spPr>
          <a:xfrm>
            <a:off x="11019515" y="6235621"/>
            <a:ext cx="673719" cy="202556"/>
          </a:xfrm>
          <a:prstGeom prst="rect">
            <a:avLst/>
          </a:prstGeom>
          <a:solidFill>
            <a:schemeClr val="bg2"/>
          </a:solidFill>
        </p:spPr>
        <p:txBody>
          <a:bodyPr wrap="square">
            <a:spAutoFit/>
          </a:bodyPr>
          <a:lstStyle/>
          <a:p>
            <a:pPr algn="ctr"/>
            <a:r>
              <a:rPr lang="en-US" sz="709" dirty="0">
                <a:latin typeface="Arial" panose="020B0604020202020204" pitchFamily="34" charset="0"/>
                <a:ea typeface="Calibri" pitchFamily="34" charset="-122"/>
                <a:cs typeface="Arial" panose="020B0604020202020204" pitchFamily="34" charset="0"/>
              </a:rPr>
              <a:t>Not Started</a:t>
            </a:r>
            <a:endParaRPr lang="en-US" sz="709" dirty="0">
              <a:latin typeface="Arial" panose="020B0604020202020204" pitchFamily="34" charset="0"/>
              <a:cs typeface="Arial" panose="020B0604020202020204" pitchFamily="34" charset="0"/>
            </a:endParaRPr>
          </a:p>
        </p:txBody>
      </p:sp>
      <p:sp>
        <p:nvSpPr>
          <p:cNvPr id="127" name="Text 32">
            <a:extLst>
              <a:ext uri="{FF2B5EF4-FFF2-40B4-BE49-F238E27FC236}">
                <a16:creationId xmlns:a16="http://schemas.microsoft.com/office/drawing/2014/main" id="{D21BB0C2-6D45-5F5A-614E-271EE8B66909}"/>
              </a:ext>
            </a:extLst>
          </p:cNvPr>
          <p:cNvSpPr/>
          <p:nvPr/>
        </p:nvSpPr>
        <p:spPr>
          <a:xfrm>
            <a:off x="5996875" y="1559052"/>
            <a:ext cx="601790"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New Mobile </a:t>
            </a:r>
          </a:p>
          <a:p>
            <a:r>
              <a:rPr lang="en-US" sz="911" dirty="0">
                <a:latin typeface="Arial" panose="020B0604020202020204" pitchFamily="34" charset="0"/>
                <a:cs typeface="Arial" panose="020B0604020202020204" pitchFamily="34" charset="0"/>
              </a:rPr>
              <a:t>App</a:t>
            </a:r>
          </a:p>
        </p:txBody>
      </p:sp>
      <p:sp>
        <p:nvSpPr>
          <p:cNvPr id="129" name="Shape 50">
            <a:extLst>
              <a:ext uri="{FF2B5EF4-FFF2-40B4-BE49-F238E27FC236}">
                <a16:creationId xmlns:a16="http://schemas.microsoft.com/office/drawing/2014/main" id="{5C9D865E-DD60-768F-2585-A56B029EF495}"/>
              </a:ext>
            </a:extLst>
          </p:cNvPr>
          <p:cNvSpPr/>
          <p:nvPr/>
        </p:nvSpPr>
        <p:spPr>
          <a:xfrm>
            <a:off x="5117088" y="1685782"/>
            <a:ext cx="687866" cy="262736"/>
          </a:xfrm>
          <a:prstGeom prst="roundRect">
            <a:avLst>
              <a:gd name="adj" fmla="val 18182"/>
            </a:avLst>
          </a:prstGeom>
          <a:solidFill>
            <a:srgbClr val="D1FAE5"/>
          </a:solidFill>
          <a:ln w="12700">
            <a:solidFill>
              <a:srgbClr val="D1FAE5"/>
            </a:solidFill>
            <a:prstDash val="solid"/>
          </a:ln>
        </p:spPr>
        <p:txBody>
          <a:bodyPr/>
          <a:lstStyle/>
          <a:p>
            <a:r>
              <a:rPr lang="en-US" sz="700" dirty="0"/>
              <a:t>Contracted</a:t>
            </a:r>
          </a:p>
        </p:txBody>
      </p:sp>
      <p:grpSp>
        <p:nvGrpSpPr>
          <p:cNvPr id="130" name="Group 129">
            <a:extLst>
              <a:ext uri="{FF2B5EF4-FFF2-40B4-BE49-F238E27FC236}">
                <a16:creationId xmlns:a16="http://schemas.microsoft.com/office/drawing/2014/main" id="{4132CF53-7D6D-7E08-1092-56FA9E76348C}"/>
              </a:ext>
            </a:extLst>
          </p:cNvPr>
          <p:cNvGrpSpPr/>
          <p:nvPr/>
        </p:nvGrpSpPr>
        <p:grpSpPr>
          <a:xfrm>
            <a:off x="11019515" y="1806107"/>
            <a:ext cx="801198" cy="203683"/>
            <a:chOff x="10856038" y="2322576"/>
            <a:chExt cx="791307" cy="201168"/>
          </a:xfrm>
        </p:grpSpPr>
        <p:sp>
          <p:nvSpPr>
            <p:cNvPr id="131" name="Shape 43">
              <a:extLst>
                <a:ext uri="{FF2B5EF4-FFF2-40B4-BE49-F238E27FC236}">
                  <a16:creationId xmlns:a16="http://schemas.microsoft.com/office/drawing/2014/main" id="{0E44B3C3-60B3-80E9-04F9-A275A1BFE415}"/>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32" name="TextBox 131">
              <a:extLst>
                <a:ext uri="{FF2B5EF4-FFF2-40B4-BE49-F238E27FC236}">
                  <a16:creationId xmlns:a16="http://schemas.microsoft.com/office/drawing/2014/main" id="{80E17D4F-E6D0-4B16-F927-AAF566C2F60F}"/>
                </a:ext>
              </a:extLst>
            </p:cNvPr>
            <p:cNvSpPr txBox="1">
              <a:spLocks/>
            </p:cNvSpPr>
            <p:nvPr/>
          </p:nvSpPr>
          <p:spPr>
            <a:xfrm>
              <a:off x="10856038" y="2323689"/>
              <a:ext cx="791307" cy="200055"/>
            </a:xfrm>
            <a:prstGeom prst="rect">
              <a:avLst/>
            </a:prstGeom>
            <a:noFill/>
          </p:spPr>
          <p:txBody>
            <a:bodyPr wrap="square">
              <a:spAutoFit/>
            </a:bodyPr>
            <a:lstStyle/>
            <a:p>
              <a:pPr algn="ctr"/>
              <a:r>
                <a:rPr lang="en-US" sz="709" b="1"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33" name="Group 132">
            <a:extLst>
              <a:ext uri="{FF2B5EF4-FFF2-40B4-BE49-F238E27FC236}">
                <a16:creationId xmlns:a16="http://schemas.microsoft.com/office/drawing/2014/main" id="{042E70DA-F2F8-0889-73F8-F772A6AD5209}"/>
              </a:ext>
            </a:extLst>
          </p:cNvPr>
          <p:cNvGrpSpPr/>
          <p:nvPr/>
        </p:nvGrpSpPr>
        <p:grpSpPr>
          <a:xfrm>
            <a:off x="11012393" y="1197193"/>
            <a:ext cx="801198" cy="203683"/>
            <a:chOff x="10856038" y="2322576"/>
            <a:chExt cx="791307" cy="201168"/>
          </a:xfrm>
        </p:grpSpPr>
        <p:sp>
          <p:nvSpPr>
            <p:cNvPr id="134" name="Shape 43">
              <a:extLst>
                <a:ext uri="{FF2B5EF4-FFF2-40B4-BE49-F238E27FC236}">
                  <a16:creationId xmlns:a16="http://schemas.microsoft.com/office/drawing/2014/main" id="{A84D8951-A161-C449-5C26-88BA18CAA4B2}"/>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35" name="TextBox 134">
              <a:extLst>
                <a:ext uri="{FF2B5EF4-FFF2-40B4-BE49-F238E27FC236}">
                  <a16:creationId xmlns:a16="http://schemas.microsoft.com/office/drawing/2014/main" id="{2EB2C3A4-C4A6-95F5-034A-C315AD177485}"/>
                </a:ext>
              </a:extLst>
            </p:cNvPr>
            <p:cNvSpPr txBox="1">
              <a:spLocks/>
            </p:cNvSpPr>
            <p:nvPr/>
          </p:nvSpPr>
          <p:spPr>
            <a:xfrm>
              <a:off x="10856038" y="2323689"/>
              <a:ext cx="791307" cy="200055"/>
            </a:xfrm>
            <a:prstGeom prst="rect">
              <a:avLst/>
            </a:prstGeom>
            <a:noFill/>
          </p:spPr>
          <p:txBody>
            <a:bodyPr wrap="square">
              <a:spAutoFit/>
            </a:bodyPr>
            <a:lstStyle/>
            <a:p>
              <a:pPr algn="ctr"/>
              <a:r>
                <a:rPr lang="en-US" sz="709" b="1"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F6E56"/>
          </a:solidFill>
          <a:ln w="12700">
            <a:solidFill>
              <a:srgbClr val="0F6E56"/>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FFFFFF"/>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A7D7C5"/>
                </a:solidFill>
              </a:rPr>
              <a:t>CPR  ·  Jul 6, 2026</a:t>
            </a:r>
            <a:endParaRPr lang="en-US" sz="1100" dirty="0"/>
          </a:p>
        </p:txBody>
      </p:sp>
      <p:sp>
        <p:nvSpPr>
          <p:cNvPr id="5" name="Shape 3"/>
          <p:cNvSpPr/>
          <p:nvPr/>
        </p:nvSpPr>
        <p:spPr>
          <a:xfrm>
            <a:off x="0" y="457200"/>
            <a:ext cx="12188952"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13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20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Dec 1, 2026  ·  147 days to launch</a:t>
            </a:r>
            <a:endParaRPr lang="en-US" sz="900" dirty="0"/>
          </a:p>
        </p:txBody>
      </p:sp>
      <p:sp>
        <p:nvSpPr>
          <p:cNvPr id="16" name="Shape 14"/>
          <p:cNvSpPr/>
          <p:nvPr/>
        </p:nvSpPr>
        <p:spPr>
          <a:xfrm>
            <a:off x="0" y="6419088"/>
            <a:ext cx="12188952" cy="438912"/>
          </a:xfrm>
          <a:prstGeom prst="rect">
            <a:avLst/>
          </a:prstGeom>
          <a:solidFill>
            <a:srgbClr val="F4F6F8"/>
          </a:solidFill>
          <a:ln w="12700">
            <a:solidFill>
              <a:srgbClr val="D1D5DB"/>
            </a:solidFill>
            <a:prstDash val="solid"/>
          </a:ln>
        </p:spPr>
      </p:sp>
      <p:sp>
        <p:nvSpPr>
          <p:cNvPr id="17" name="Text 15"/>
          <p:cNvSpPr/>
          <p:nvPr/>
        </p:nvSpPr>
        <p:spPr>
          <a:xfrm>
            <a:off x="201168" y="64190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4190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Launch: Dec 1, 2026  ·  147 days remaining</a:t>
            </a:r>
            <a:endParaRPr lang="en-US" sz="800" dirty="0"/>
          </a:p>
        </p:txBody>
      </p:sp>
      <p:sp>
        <p:nvSpPr>
          <p:cNvPr id="19" name="Text 17"/>
          <p:cNvSpPr/>
          <p:nvPr/>
        </p:nvSpPr>
        <p:spPr>
          <a:xfrm>
            <a:off x="10515600" y="6419088"/>
            <a:ext cx="1508760" cy="438912"/>
          </a:xfrm>
          <a:prstGeom prst="rect">
            <a:avLst/>
          </a:prstGeom>
          <a:noFill/>
          <a:ln/>
        </p:spPr>
        <p:txBody>
          <a:bodyPr wrap="square" lIns="0" tIns="0" rIns="0" bIns="0" rtlCol="0" anchor="ctr"/>
          <a:lstStyle/>
          <a:p>
            <a:pPr algn="r" indent="0" marL="0">
              <a:buNone/>
            </a:pPr>
            <a:r>
              <a:rPr lang="en-US" sz="1100" b="1" dirty="0">
                <a:solidFill>
                  <a:srgbClr val="0F6E56"/>
                </a:solidFill>
              </a:rPr>
              <a:t>0% Ready</a:t>
            </a:r>
            <a:endParaRPr lang="en-US" sz="1100" dirty="0"/>
          </a:p>
        </p:txBody>
      </p:sp>
      <p:sp>
        <p:nvSpPr>
          <p:cNvPr id="20" name="Shape 18"/>
          <p:cNvSpPr/>
          <p:nvPr/>
        </p:nvSpPr>
        <p:spPr>
          <a:xfrm>
            <a:off x="164592" y="804672"/>
            <a:ext cx="9116568" cy="1078992"/>
          </a:xfrm>
          <a:prstGeom prst="rect">
            <a:avLst/>
          </a:prstGeom>
          <a:solidFill>
            <a:srgbClr val="FAFBFC"/>
          </a:solidFill>
          <a:ln w="6350">
            <a:solidFill>
              <a:srgbClr val="E5E7EB"/>
            </a:solidFill>
            <a:prstDash val="solid"/>
          </a:ln>
        </p:spPr>
      </p:sp>
      <p:sp>
        <p:nvSpPr>
          <p:cNvPr id="21" name="Shape 19"/>
          <p:cNvSpPr/>
          <p:nvPr/>
        </p:nvSpPr>
        <p:spPr>
          <a:xfrm>
            <a:off x="182880" y="877824"/>
            <a:ext cx="859536" cy="93268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932688"/>
          </a:xfrm>
          <a:prstGeom prst="rect">
            <a:avLst/>
          </a:prstGeom>
          <a:noFill/>
          <a:ln/>
        </p:spPr>
        <p:txBody>
          <a:bodyPr wrap="square" lIns="0" tIns="0" rIns="0" bIns="0" rtlCol="0" anchor="ctr"/>
          <a:lstStyle/>
          <a:p>
            <a:pPr algn="ctr" indent="0" marL="0">
              <a:buNone/>
            </a:pPr>
            <a:r>
              <a:rPr lang="en-US" sz="950" b="1" dirty="0">
                <a:solidFill>
                  <a:srgbClr val="FFFFFF"/>
                </a:solidFill>
              </a:rPr>
              <a:t>Platforms</a:t>
            </a:r>
            <a:endParaRPr lang="en-US" sz="95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938528"/>
            <a:ext cx="9116568" cy="1078992"/>
          </a:xfrm>
          <a:prstGeom prst="rect">
            <a:avLst/>
          </a:prstGeom>
          <a:solidFill>
            <a:srgbClr val="FFFFFF"/>
          </a:solidFill>
          <a:ln w="6350">
            <a:solidFill>
              <a:srgbClr val="E5E7EB"/>
            </a:solidFill>
            <a:prstDash val="solid"/>
          </a:ln>
        </p:spPr>
      </p:sp>
      <p:sp>
        <p:nvSpPr>
          <p:cNvPr id="53" name="Shape 51"/>
          <p:cNvSpPr/>
          <p:nvPr/>
        </p:nvSpPr>
        <p:spPr>
          <a:xfrm>
            <a:off x="182880" y="2011680"/>
            <a:ext cx="859536" cy="93268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011680"/>
            <a:ext cx="859536" cy="932688"/>
          </a:xfrm>
          <a:prstGeom prst="rect">
            <a:avLst/>
          </a:prstGeom>
          <a:noFill/>
          <a:ln/>
        </p:spPr>
        <p:txBody>
          <a:bodyPr wrap="square" lIns="0" tIns="0" rIns="0" bIns="0" rtlCol="0" anchor="ctr"/>
          <a:lstStyle/>
          <a:p>
            <a:pPr algn="ctr" indent="0" marL="0">
              <a:buNone/>
            </a:pPr>
            <a:r>
              <a:rPr lang="en-US" sz="950" b="1" dirty="0">
                <a:solidFill>
                  <a:srgbClr val="FFFFFF"/>
                </a:solidFill>
              </a:rPr>
              <a:t>Video</a:t>
            </a:r>
            <a:endParaRPr lang="en-US" sz="950" dirty="0"/>
          </a:p>
          <a:p>
            <a:pPr algn="ctr" indent="0" marL="0">
              <a:buNone/>
            </a:pPr>
            <a:r>
              <a:rPr lang="en-US" sz="950" b="1" dirty="0">
                <a:solidFill>
                  <a:srgbClr val="FFFFFF"/>
                </a:solidFill>
              </a:rPr>
              <a:t>Delivery</a:t>
            </a:r>
            <a:endParaRPr lang="en-US" sz="950" dirty="0"/>
          </a:p>
        </p:txBody>
      </p:sp>
      <p:sp>
        <p:nvSpPr>
          <p:cNvPr id="55" name="Text 53"/>
          <p:cNvSpPr/>
          <p:nvPr/>
        </p:nvSpPr>
        <p:spPr>
          <a:xfrm>
            <a:off x="1170432" y="198424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56" name="Shape 54"/>
          <p:cNvSpPr/>
          <p:nvPr/>
        </p:nvSpPr>
        <p:spPr>
          <a:xfrm>
            <a:off x="1170432" y="220370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037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41401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4140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0370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037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41401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4140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0370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037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41401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4140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0370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037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41401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4140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0370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037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Streams</a:t>
            </a:r>
            <a:endParaRPr lang="en-US" sz="750" dirty="0"/>
          </a:p>
        </p:txBody>
      </p:sp>
      <p:sp>
        <p:nvSpPr>
          <p:cNvPr id="74" name="Shape 72"/>
          <p:cNvSpPr/>
          <p:nvPr/>
        </p:nvSpPr>
        <p:spPr>
          <a:xfrm>
            <a:off x="5230368" y="2414016"/>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24140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220370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037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8" name="Shape 76"/>
          <p:cNvSpPr/>
          <p:nvPr/>
        </p:nvSpPr>
        <p:spPr>
          <a:xfrm>
            <a:off x="6245352" y="241401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4140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2203704"/>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22037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2" name="Shape 80"/>
          <p:cNvSpPr/>
          <p:nvPr/>
        </p:nvSpPr>
        <p:spPr>
          <a:xfrm>
            <a:off x="7260336" y="2414016"/>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7260336" y="24140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164592" y="3072384"/>
            <a:ext cx="9116568" cy="1078992"/>
          </a:xfrm>
          <a:prstGeom prst="rect">
            <a:avLst/>
          </a:prstGeom>
          <a:solidFill>
            <a:srgbClr val="FAFBFC"/>
          </a:solidFill>
          <a:ln w="6350">
            <a:solidFill>
              <a:srgbClr val="E5E7EB"/>
            </a:solidFill>
            <a:prstDash val="solid"/>
          </a:ln>
        </p:spPr>
      </p:sp>
      <p:sp>
        <p:nvSpPr>
          <p:cNvPr id="85" name="Shape 83"/>
          <p:cNvSpPr/>
          <p:nvPr/>
        </p:nvSpPr>
        <p:spPr>
          <a:xfrm>
            <a:off x="182880" y="3145536"/>
            <a:ext cx="859536" cy="932688"/>
          </a:xfrm>
          <a:prstGeom prst="roundRect">
            <a:avLst>
              <a:gd name="adj" fmla="val 5319"/>
            </a:avLst>
          </a:prstGeom>
          <a:solidFill>
            <a:srgbClr val="9CA3AF"/>
          </a:solidFill>
          <a:ln w="12700">
            <a:solidFill>
              <a:srgbClr val="9CA3AF"/>
            </a:solidFill>
            <a:prstDash val="solid"/>
          </a:ln>
        </p:spPr>
      </p:sp>
      <p:sp>
        <p:nvSpPr>
          <p:cNvPr id="86" name="Text 84"/>
          <p:cNvSpPr/>
          <p:nvPr/>
        </p:nvSpPr>
        <p:spPr>
          <a:xfrm>
            <a:off x="182880" y="3145536"/>
            <a:ext cx="859536" cy="932688"/>
          </a:xfrm>
          <a:prstGeom prst="rect">
            <a:avLst/>
          </a:prstGeom>
          <a:noFill/>
          <a:ln/>
        </p:spPr>
        <p:txBody>
          <a:bodyPr wrap="square" lIns="0" tIns="0" rIns="0" bIns="0" rtlCol="0" anchor="ctr"/>
          <a:lstStyle/>
          <a:p>
            <a:pPr algn="ctr" indent="0" marL="0">
              <a:buNone/>
            </a:pPr>
            <a:r>
              <a:rPr lang="en-US" sz="950" b="1" dirty="0">
                <a:solidFill>
                  <a:srgbClr val="FFFFFF"/>
                </a:solidFill>
              </a:rPr>
              <a:t>Player</a:t>
            </a:r>
            <a:endParaRPr lang="en-US" sz="950" dirty="0"/>
          </a:p>
        </p:txBody>
      </p:sp>
      <p:sp>
        <p:nvSpPr>
          <p:cNvPr id="87" name="Text 85"/>
          <p:cNvSpPr/>
          <p:nvPr/>
        </p:nvSpPr>
        <p:spPr>
          <a:xfrm>
            <a:off x="1170432" y="311810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5 In Progress</a:t>
            </a:r>
            <a:endParaRPr lang="en-US" sz="750" dirty="0"/>
          </a:p>
        </p:txBody>
      </p:sp>
      <p:sp>
        <p:nvSpPr>
          <p:cNvPr id="88" name="Shape 86"/>
          <p:cNvSpPr/>
          <p:nvPr/>
        </p:nvSpPr>
        <p:spPr>
          <a:xfrm>
            <a:off x="1170432" y="333756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333756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90" name="Shape 88"/>
          <p:cNvSpPr/>
          <p:nvPr/>
        </p:nvSpPr>
        <p:spPr>
          <a:xfrm>
            <a:off x="1170432" y="354787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354787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2185416" y="333756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2185416" y="333756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4" name="Shape 92"/>
          <p:cNvSpPr/>
          <p:nvPr/>
        </p:nvSpPr>
        <p:spPr>
          <a:xfrm>
            <a:off x="2185416" y="3547872"/>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2185416" y="354787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3200400" y="333756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3200400" y="333756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8" name="Shape 96"/>
          <p:cNvSpPr/>
          <p:nvPr/>
        </p:nvSpPr>
        <p:spPr>
          <a:xfrm>
            <a:off x="3200400" y="3547872"/>
            <a:ext cx="932688" cy="155448"/>
          </a:xfrm>
          <a:prstGeom prst="roundRect">
            <a:avLst>
              <a:gd name="adj" fmla="val 17647"/>
            </a:avLst>
          </a:prstGeom>
          <a:solidFill>
            <a:srgbClr val="F3F4F6"/>
          </a:solidFill>
          <a:ln w="9525">
            <a:solidFill>
              <a:srgbClr val="D1D5DB"/>
            </a:solidFill>
            <a:prstDash val="solid"/>
          </a:ln>
        </p:spPr>
      </p:sp>
      <p:sp>
        <p:nvSpPr>
          <p:cNvPr id="99" name="Text 97"/>
          <p:cNvSpPr/>
          <p:nvPr/>
        </p:nvSpPr>
        <p:spPr>
          <a:xfrm>
            <a:off x="3200400" y="354787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0" name="Shape 98"/>
          <p:cNvSpPr/>
          <p:nvPr/>
        </p:nvSpPr>
        <p:spPr>
          <a:xfrm>
            <a:off x="4215384" y="333756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4215384" y="333756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102" name="Shape 100"/>
          <p:cNvSpPr/>
          <p:nvPr/>
        </p:nvSpPr>
        <p:spPr>
          <a:xfrm>
            <a:off x="4215384" y="354787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4215384" y="354787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5230368" y="3337560"/>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5230368" y="333756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6" name="Shape 104"/>
          <p:cNvSpPr/>
          <p:nvPr/>
        </p:nvSpPr>
        <p:spPr>
          <a:xfrm>
            <a:off x="5230368" y="3547872"/>
            <a:ext cx="932688" cy="155448"/>
          </a:xfrm>
          <a:prstGeom prst="roundRect">
            <a:avLst>
              <a:gd name="adj" fmla="val 17647"/>
            </a:avLst>
          </a:prstGeom>
          <a:solidFill>
            <a:srgbClr val="F3F4F6"/>
          </a:solidFill>
          <a:ln w="9525">
            <a:solidFill>
              <a:srgbClr val="D1D5DB"/>
            </a:solidFill>
            <a:prstDash val="solid"/>
          </a:ln>
        </p:spPr>
      </p:sp>
      <p:sp>
        <p:nvSpPr>
          <p:cNvPr id="107" name="Text 105"/>
          <p:cNvSpPr/>
          <p:nvPr/>
        </p:nvSpPr>
        <p:spPr>
          <a:xfrm>
            <a:off x="5230368" y="354787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8" name="Shape 106"/>
          <p:cNvSpPr/>
          <p:nvPr/>
        </p:nvSpPr>
        <p:spPr>
          <a:xfrm>
            <a:off x="164592" y="4206240"/>
            <a:ext cx="9116568" cy="1078992"/>
          </a:xfrm>
          <a:prstGeom prst="rect">
            <a:avLst/>
          </a:prstGeom>
          <a:solidFill>
            <a:srgbClr val="FFFFFF"/>
          </a:solidFill>
          <a:ln w="6350">
            <a:solidFill>
              <a:srgbClr val="E5E7EB"/>
            </a:solidFill>
            <a:prstDash val="solid"/>
          </a:ln>
        </p:spPr>
      </p:sp>
      <p:sp>
        <p:nvSpPr>
          <p:cNvPr id="109" name="Shape 107"/>
          <p:cNvSpPr/>
          <p:nvPr/>
        </p:nvSpPr>
        <p:spPr>
          <a:xfrm>
            <a:off x="182880" y="4279392"/>
            <a:ext cx="859536" cy="932688"/>
          </a:xfrm>
          <a:prstGeom prst="roundRect">
            <a:avLst>
              <a:gd name="adj" fmla="val 5319"/>
            </a:avLst>
          </a:prstGeom>
          <a:solidFill>
            <a:srgbClr val="9CA3AF"/>
          </a:solidFill>
          <a:ln w="12700">
            <a:solidFill>
              <a:srgbClr val="9CA3AF"/>
            </a:solidFill>
            <a:prstDash val="solid"/>
          </a:ln>
        </p:spPr>
      </p:sp>
      <p:sp>
        <p:nvSpPr>
          <p:cNvPr id="110" name="Text 108"/>
          <p:cNvSpPr/>
          <p:nvPr/>
        </p:nvSpPr>
        <p:spPr>
          <a:xfrm>
            <a:off x="182880" y="4279392"/>
            <a:ext cx="859536" cy="932688"/>
          </a:xfrm>
          <a:prstGeom prst="rect">
            <a:avLst/>
          </a:prstGeom>
          <a:noFill/>
          <a:ln/>
        </p:spPr>
        <p:txBody>
          <a:bodyPr wrap="square" lIns="0" tIns="0" rIns="0" bIns="0" rtlCol="0" anchor="ctr"/>
          <a:lstStyle/>
          <a:p>
            <a:pPr algn="ctr" indent="0" marL="0">
              <a:buNone/>
            </a:pPr>
            <a:r>
              <a:rPr lang="en-US" sz="950" b="1" dirty="0">
                <a:solidFill>
                  <a:srgbClr val="FFFFFF"/>
                </a:solidFill>
              </a:rPr>
              <a:t>Merchandising</a:t>
            </a:r>
            <a:endParaRPr lang="en-US" sz="950" dirty="0"/>
          </a:p>
        </p:txBody>
      </p:sp>
      <p:sp>
        <p:nvSpPr>
          <p:cNvPr id="111" name="Text 109"/>
          <p:cNvSpPr/>
          <p:nvPr/>
        </p:nvSpPr>
        <p:spPr>
          <a:xfrm>
            <a:off x="1170432" y="425196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9 In Progress</a:t>
            </a:r>
            <a:endParaRPr lang="en-US" sz="750" dirty="0"/>
          </a:p>
        </p:txBody>
      </p:sp>
      <p:sp>
        <p:nvSpPr>
          <p:cNvPr id="112" name="Shape 110"/>
          <p:cNvSpPr/>
          <p:nvPr/>
        </p:nvSpPr>
        <p:spPr>
          <a:xfrm>
            <a:off x="1170432" y="447141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1170432" y="447141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4" name="Shape 112"/>
          <p:cNvSpPr/>
          <p:nvPr/>
        </p:nvSpPr>
        <p:spPr>
          <a:xfrm>
            <a:off x="1170432" y="468172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1170432" y="468172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2185416" y="447141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2185416" y="447141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8" name="Shape 116"/>
          <p:cNvSpPr/>
          <p:nvPr/>
        </p:nvSpPr>
        <p:spPr>
          <a:xfrm>
            <a:off x="2185416" y="4681728"/>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2185416" y="468172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3200400" y="447141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3200400" y="447141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22" name="Shape 120"/>
          <p:cNvSpPr/>
          <p:nvPr/>
        </p:nvSpPr>
        <p:spPr>
          <a:xfrm>
            <a:off x="3200400" y="4681728"/>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3200400" y="468172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4215384" y="447141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4215384" y="447141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6" name="Shape 124"/>
          <p:cNvSpPr/>
          <p:nvPr/>
        </p:nvSpPr>
        <p:spPr>
          <a:xfrm>
            <a:off x="4215384" y="4681728"/>
            <a:ext cx="932688" cy="155448"/>
          </a:xfrm>
          <a:prstGeom prst="roundRect">
            <a:avLst>
              <a:gd name="adj" fmla="val 17647"/>
            </a:avLst>
          </a:prstGeom>
          <a:solidFill>
            <a:srgbClr val="1558A8"/>
          </a:solidFill>
          <a:ln w="12700">
            <a:solidFill>
              <a:srgbClr val="1558A8"/>
            </a:solidFill>
            <a:prstDash val="solid"/>
          </a:ln>
        </p:spPr>
      </p:sp>
      <p:sp>
        <p:nvSpPr>
          <p:cNvPr id="127" name="Text 125"/>
          <p:cNvSpPr/>
          <p:nvPr/>
        </p:nvSpPr>
        <p:spPr>
          <a:xfrm>
            <a:off x="4215384" y="468172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8" name="Shape 126"/>
          <p:cNvSpPr/>
          <p:nvPr/>
        </p:nvSpPr>
        <p:spPr>
          <a:xfrm>
            <a:off x="5230368" y="447141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5230368" y="447141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30" name="Shape 128"/>
          <p:cNvSpPr/>
          <p:nvPr/>
        </p:nvSpPr>
        <p:spPr>
          <a:xfrm>
            <a:off x="5230368" y="468172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5230368" y="468172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6245352" y="447141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6245352" y="447141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4" name="Shape 132"/>
          <p:cNvSpPr/>
          <p:nvPr/>
        </p:nvSpPr>
        <p:spPr>
          <a:xfrm>
            <a:off x="6245352" y="468172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6245352" y="468172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7260336" y="447141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7260336" y="447141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8" name="Shape 136"/>
          <p:cNvSpPr/>
          <p:nvPr/>
        </p:nvSpPr>
        <p:spPr>
          <a:xfrm>
            <a:off x="7260336" y="468172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7260336" y="468172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8275320" y="447141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8275320" y="447141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42" name="Shape 140"/>
          <p:cNvSpPr/>
          <p:nvPr/>
        </p:nvSpPr>
        <p:spPr>
          <a:xfrm>
            <a:off x="8275320" y="4681728"/>
            <a:ext cx="932688" cy="155448"/>
          </a:xfrm>
          <a:prstGeom prst="roundRect">
            <a:avLst>
              <a:gd name="adj" fmla="val 17647"/>
            </a:avLst>
          </a:prstGeom>
          <a:solidFill>
            <a:srgbClr val="F3F4F6"/>
          </a:solidFill>
          <a:ln w="9525">
            <a:solidFill>
              <a:srgbClr val="D1D5DB"/>
            </a:solidFill>
            <a:prstDash val="solid"/>
          </a:ln>
        </p:spPr>
      </p:sp>
      <p:sp>
        <p:nvSpPr>
          <p:cNvPr id="143" name="Text 141"/>
          <p:cNvSpPr/>
          <p:nvPr/>
        </p:nvSpPr>
        <p:spPr>
          <a:xfrm>
            <a:off x="8275320" y="468172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4" name="Shape 142"/>
          <p:cNvSpPr/>
          <p:nvPr/>
        </p:nvSpPr>
        <p:spPr>
          <a:xfrm>
            <a:off x="1170432" y="4928616"/>
            <a:ext cx="932688" cy="182880"/>
          </a:xfrm>
          <a:prstGeom prst="roundRect">
            <a:avLst>
              <a:gd name="adj" fmla="val 15000"/>
            </a:avLst>
          </a:prstGeom>
          <a:solidFill>
            <a:srgbClr val="FFFFFF"/>
          </a:solidFill>
          <a:ln w="9525">
            <a:solidFill>
              <a:srgbClr val="CBD5E1"/>
            </a:solidFill>
            <a:prstDash val="solid"/>
          </a:ln>
        </p:spPr>
      </p:sp>
      <p:sp>
        <p:nvSpPr>
          <p:cNvPr id="145" name="Text 143"/>
          <p:cNvSpPr/>
          <p:nvPr/>
        </p:nvSpPr>
        <p:spPr>
          <a:xfrm>
            <a:off x="1170432" y="492861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6" name="Shape 144"/>
          <p:cNvSpPr/>
          <p:nvPr/>
        </p:nvSpPr>
        <p:spPr>
          <a:xfrm>
            <a:off x="1170432" y="5138928"/>
            <a:ext cx="932688" cy="155448"/>
          </a:xfrm>
          <a:prstGeom prst="roundRect">
            <a:avLst>
              <a:gd name="adj" fmla="val 17647"/>
            </a:avLst>
          </a:prstGeom>
          <a:solidFill>
            <a:srgbClr val="F3F4F6"/>
          </a:solidFill>
          <a:ln w="9525">
            <a:solidFill>
              <a:srgbClr val="D1D5DB"/>
            </a:solidFill>
            <a:prstDash val="solid"/>
          </a:ln>
        </p:spPr>
      </p:sp>
      <p:sp>
        <p:nvSpPr>
          <p:cNvPr id="147" name="Text 145"/>
          <p:cNvSpPr/>
          <p:nvPr/>
        </p:nvSpPr>
        <p:spPr>
          <a:xfrm>
            <a:off x="1170432" y="513892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8" name="Shape 146"/>
          <p:cNvSpPr/>
          <p:nvPr/>
        </p:nvSpPr>
        <p:spPr>
          <a:xfrm>
            <a:off x="164592" y="5340096"/>
            <a:ext cx="9116568" cy="1078992"/>
          </a:xfrm>
          <a:prstGeom prst="rect">
            <a:avLst/>
          </a:prstGeom>
          <a:solidFill>
            <a:srgbClr val="FAFBFC"/>
          </a:solidFill>
          <a:ln w="6350">
            <a:solidFill>
              <a:srgbClr val="E5E7EB"/>
            </a:solidFill>
            <a:prstDash val="solid"/>
          </a:ln>
        </p:spPr>
      </p:sp>
      <p:sp>
        <p:nvSpPr>
          <p:cNvPr id="149" name="Shape 147"/>
          <p:cNvSpPr/>
          <p:nvPr/>
        </p:nvSpPr>
        <p:spPr>
          <a:xfrm>
            <a:off x="182880" y="5413248"/>
            <a:ext cx="859536" cy="932688"/>
          </a:xfrm>
          <a:prstGeom prst="roundRect">
            <a:avLst>
              <a:gd name="adj" fmla="val 5319"/>
            </a:avLst>
          </a:prstGeom>
          <a:solidFill>
            <a:srgbClr val="9CA3AF"/>
          </a:solidFill>
          <a:ln w="12700">
            <a:solidFill>
              <a:srgbClr val="9CA3AF"/>
            </a:solidFill>
            <a:prstDash val="solid"/>
          </a:ln>
        </p:spPr>
      </p:sp>
      <p:sp>
        <p:nvSpPr>
          <p:cNvPr id="150" name="Text 148"/>
          <p:cNvSpPr/>
          <p:nvPr/>
        </p:nvSpPr>
        <p:spPr>
          <a:xfrm>
            <a:off x="182880" y="5413248"/>
            <a:ext cx="859536" cy="932688"/>
          </a:xfrm>
          <a:prstGeom prst="rect">
            <a:avLst/>
          </a:prstGeom>
          <a:noFill/>
          <a:ln/>
        </p:spPr>
        <p:txBody>
          <a:bodyPr wrap="square" lIns="0" tIns="0" rIns="0" bIns="0" rtlCol="0" anchor="ctr"/>
          <a:lstStyle/>
          <a:p>
            <a:pPr algn="ctr" indent="0" marL="0">
              <a:buNone/>
            </a:pPr>
            <a:r>
              <a:rPr lang="en-US" sz="950" b="1" dirty="0">
                <a:solidFill>
                  <a:srgbClr val="FFFFFF"/>
                </a:solidFill>
              </a:rPr>
              <a:t>Onboarding</a:t>
            </a:r>
            <a:endParaRPr lang="en-US" sz="950" dirty="0"/>
          </a:p>
        </p:txBody>
      </p:sp>
      <p:sp>
        <p:nvSpPr>
          <p:cNvPr id="151" name="Text 149"/>
          <p:cNvSpPr/>
          <p:nvPr/>
        </p:nvSpPr>
        <p:spPr>
          <a:xfrm>
            <a:off x="1170432" y="538581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5 In Progress</a:t>
            </a:r>
            <a:endParaRPr lang="en-US" sz="750" dirty="0"/>
          </a:p>
        </p:txBody>
      </p:sp>
      <p:sp>
        <p:nvSpPr>
          <p:cNvPr id="152" name="Shape 150"/>
          <p:cNvSpPr/>
          <p:nvPr/>
        </p:nvSpPr>
        <p:spPr>
          <a:xfrm>
            <a:off x="1170432" y="560527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1170432" y="560527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4" name="Shape 152"/>
          <p:cNvSpPr/>
          <p:nvPr/>
        </p:nvSpPr>
        <p:spPr>
          <a:xfrm>
            <a:off x="1170432" y="581558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1170432" y="581558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2185416" y="560527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2185416" y="560527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8" name="Shape 156"/>
          <p:cNvSpPr/>
          <p:nvPr/>
        </p:nvSpPr>
        <p:spPr>
          <a:xfrm>
            <a:off x="2185416" y="581558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2185416" y="581558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3200400" y="560527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3200400" y="560527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62" name="Shape 160"/>
          <p:cNvSpPr/>
          <p:nvPr/>
        </p:nvSpPr>
        <p:spPr>
          <a:xfrm>
            <a:off x="3200400" y="5815584"/>
            <a:ext cx="932688" cy="155448"/>
          </a:xfrm>
          <a:prstGeom prst="roundRect">
            <a:avLst>
              <a:gd name="adj" fmla="val 17647"/>
            </a:avLst>
          </a:prstGeom>
          <a:solidFill>
            <a:srgbClr val="F3F4F6"/>
          </a:solidFill>
          <a:ln w="9525">
            <a:solidFill>
              <a:srgbClr val="D1D5DB"/>
            </a:solidFill>
            <a:prstDash val="solid"/>
          </a:ln>
        </p:spPr>
      </p:sp>
      <p:sp>
        <p:nvSpPr>
          <p:cNvPr id="163" name="Text 161"/>
          <p:cNvSpPr/>
          <p:nvPr/>
        </p:nvSpPr>
        <p:spPr>
          <a:xfrm>
            <a:off x="3200400" y="581558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4" name="Shape 162"/>
          <p:cNvSpPr/>
          <p:nvPr/>
        </p:nvSpPr>
        <p:spPr>
          <a:xfrm>
            <a:off x="4215384" y="560527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4215384" y="560527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6" name="Shape 164"/>
          <p:cNvSpPr/>
          <p:nvPr/>
        </p:nvSpPr>
        <p:spPr>
          <a:xfrm>
            <a:off x="4215384" y="5815584"/>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4215384" y="581558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5230368" y="5605272"/>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5230368" y="560527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5230368" y="5815584"/>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5230368" y="581558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9372600" y="804672"/>
            <a:ext cx="2679192" cy="5614416"/>
          </a:xfrm>
          <a:prstGeom prst="rect">
            <a:avLst/>
          </a:prstGeom>
          <a:solidFill>
            <a:srgbClr val="F8FAFB"/>
          </a:solidFill>
          <a:ln w="12700">
            <a:solidFill>
              <a:srgbClr val="DDE1E6"/>
            </a:solidFill>
            <a:prstDash val="solid"/>
          </a:ln>
        </p:spPr>
      </p:sp>
      <p:sp>
        <p:nvSpPr>
          <p:cNvPr id="173" name="Text 171"/>
          <p:cNvSpPr/>
          <p:nvPr/>
        </p:nvSpPr>
        <p:spPr>
          <a:xfrm>
            <a:off x="9500616" y="950976"/>
            <a:ext cx="2478024" cy="201168"/>
          </a:xfrm>
          <a:prstGeom prst="rect">
            <a:avLst/>
          </a:prstGeom>
          <a:noFill/>
          <a:ln/>
        </p:spPr>
        <p:txBody>
          <a:bodyPr wrap="square" lIns="0" tIns="0" rIns="0" bIns="0" rtlCol="0" anchor="ctr"/>
          <a:lstStyle/>
          <a:p>
            <a:pPr indent="0" marL="0">
              <a:buNone/>
            </a:pPr>
            <a:r>
              <a:rPr lang="en-US" sz="950" b="1" dirty="0">
                <a:solidFill>
                  <a:srgbClr val="111827"/>
                </a:solidFill>
              </a:rPr>
              <a:t>Progress by Category</a:t>
            </a:r>
            <a:endParaRPr lang="en-US" sz="950" dirty="0"/>
          </a:p>
        </p:txBody>
      </p:sp>
      <p:sp>
        <p:nvSpPr>
          <p:cNvPr id="174" name="Text 172"/>
          <p:cNvSpPr/>
          <p:nvPr/>
        </p:nvSpPr>
        <p:spPr>
          <a:xfrm>
            <a:off x="9500616" y="1216152"/>
            <a:ext cx="1692006" cy="164592"/>
          </a:xfrm>
          <a:prstGeom prst="rect">
            <a:avLst/>
          </a:prstGeom>
          <a:noFill/>
          <a:ln/>
        </p:spPr>
        <p:txBody>
          <a:bodyPr wrap="square" lIns="0" tIns="0" rIns="0" bIns="0" rtlCol="0" anchor="ctr"/>
          <a:lstStyle/>
          <a:p>
            <a:pPr indent="0" marL="0">
              <a:buNone/>
            </a:pPr>
            <a:r>
              <a:rPr lang="en-US" sz="800" dirty="0">
                <a:solidFill>
                  <a:srgbClr val="374151"/>
                </a:solidFill>
              </a:rPr>
              <a:t>Platforms</a:t>
            </a:r>
            <a:endParaRPr lang="en-US" sz="800" dirty="0"/>
          </a:p>
        </p:txBody>
      </p:sp>
      <p:sp>
        <p:nvSpPr>
          <p:cNvPr id="175" name="Text 173"/>
          <p:cNvSpPr/>
          <p:nvPr/>
        </p:nvSpPr>
        <p:spPr>
          <a:xfrm>
            <a:off x="11558016" y="1216152"/>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76" name="Shape 174"/>
          <p:cNvSpPr/>
          <p:nvPr/>
        </p:nvSpPr>
        <p:spPr>
          <a:xfrm>
            <a:off x="9500616" y="1399032"/>
            <a:ext cx="2350008" cy="82296"/>
          </a:xfrm>
          <a:prstGeom prst="roundRect">
            <a:avLst>
              <a:gd name="adj" fmla="val 50000"/>
            </a:avLst>
          </a:prstGeom>
          <a:solidFill>
            <a:srgbClr val="E5E7EB"/>
          </a:solidFill>
          <a:ln w="12700">
            <a:solidFill>
              <a:srgbClr val="E5E7EB"/>
            </a:solidFill>
            <a:prstDash val="solid"/>
          </a:ln>
        </p:spPr>
      </p:sp>
      <p:sp>
        <p:nvSpPr>
          <p:cNvPr id="177" name="Text 175"/>
          <p:cNvSpPr/>
          <p:nvPr/>
        </p:nvSpPr>
        <p:spPr>
          <a:xfrm>
            <a:off x="9500616" y="1572768"/>
            <a:ext cx="1692006" cy="164592"/>
          </a:xfrm>
          <a:prstGeom prst="rect">
            <a:avLst/>
          </a:prstGeom>
          <a:noFill/>
          <a:ln/>
        </p:spPr>
        <p:txBody>
          <a:bodyPr wrap="square" lIns="0" tIns="0" rIns="0" bIns="0" rtlCol="0" anchor="ctr"/>
          <a:lstStyle/>
          <a:p>
            <a:pPr indent="0" marL="0">
              <a:buNone/>
            </a:pPr>
            <a:r>
              <a:rPr lang="en-US" sz="800" dirty="0">
                <a:solidFill>
                  <a:srgbClr val="374151"/>
                </a:solidFill>
              </a:rPr>
              <a:t>Video Delivery</a:t>
            </a:r>
            <a:endParaRPr lang="en-US" sz="800" dirty="0"/>
          </a:p>
        </p:txBody>
      </p:sp>
      <p:sp>
        <p:nvSpPr>
          <p:cNvPr id="178" name="Text 176"/>
          <p:cNvSpPr/>
          <p:nvPr/>
        </p:nvSpPr>
        <p:spPr>
          <a:xfrm>
            <a:off x="11558016" y="1572768"/>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79" name="Shape 177"/>
          <p:cNvSpPr/>
          <p:nvPr/>
        </p:nvSpPr>
        <p:spPr>
          <a:xfrm>
            <a:off x="9500616" y="1755648"/>
            <a:ext cx="2350008" cy="82296"/>
          </a:xfrm>
          <a:prstGeom prst="roundRect">
            <a:avLst>
              <a:gd name="adj" fmla="val 50000"/>
            </a:avLst>
          </a:prstGeom>
          <a:solidFill>
            <a:srgbClr val="E5E7EB"/>
          </a:solidFill>
          <a:ln w="12700">
            <a:solidFill>
              <a:srgbClr val="E5E7EB"/>
            </a:solidFill>
            <a:prstDash val="solid"/>
          </a:ln>
        </p:spPr>
      </p:sp>
      <p:sp>
        <p:nvSpPr>
          <p:cNvPr id="180" name="Text 178"/>
          <p:cNvSpPr/>
          <p:nvPr/>
        </p:nvSpPr>
        <p:spPr>
          <a:xfrm>
            <a:off x="9500616" y="1929384"/>
            <a:ext cx="1692006" cy="164592"/>
          </a:xfrm>
          <a:prstGeom prst="rect">
            <a:avLst/>
          </a:prstGeom>
          <a:noFill/>
          <a:ln/>
        </p:spPr>
        <p:txBody>
          <a:bodyPr wrap="square" lIns="0" tIns="0" rIns="0" bIns="0" rtlCol="0" anchor="ctr"/>
          <a:lstStyle/>
          <a:p>
            <a:pPr indent="0" marL="0">
              <a:buNone/>
            </a:pPr>
            <a:r>
              <a:rPr lang="en-US" sz="800" dirty="0">
                <a:solidFill>
                  <a:srgbClr val="374151"/>
                </a:solidFill>
              </a:rPr>
              <a:t>Player</a:t>
            </a:r>
            <a:endParaRPr lang="en-US" sz="800" dirty="0"/>
          </a:p>
        </p:txBody>
      </p:sp>
      <p:sp>
        <p:nvSpPr>
          <p:cNvPr id="181" name="Text 179"/>
          <p:cNvSpPr/>
          <p:nvPr/>
        </p:nvSpPr>
        <p:spPr>
          <a:xfrm>
            <a:off x="11558016" y="1929384"/>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2" name="Shape 180"/>
          <p:cNvSpPr/>
          <p:nvPr/>
        </p:nvSpPr>
        <p:spPr>
          <a:xfrm>
            <a:off x="9500616" y="2112264"/>
            <a:ext cx="2350008" cy="82296"/>
          </a:xfrm>
          <a:prstGeom prst="roundRect">
            <a:avLst>
              <a:gd name="adj" fmla="val 50000"/>
            </a:avLst>
          </a:prstGeom>
          <a:solidFill>
            <a:srgbClr val="E5E7EB"/>
          </a:solidFill>
          <a:ln w="12700">
            <a:solidFill>
              <a:srgbClr val="E5E7EB"/>
            </a:solidFill>
            <a:prstDash val="solid"/>
          </a:ln>
        </p:spPr>
      </p:sp>
      <p:sp>
        <p:nvSpPr>
          <p:cNvPr id="183" name="Text 181"/>
          <p:cNvSpPr/>
          <p:nvPr/>
        </p:nvSpPr>
        <p:spPr>
          <a:xfrm>
            <a:off x="9500616" y="2286000"/>
            <a:ext cx="1692006" cy="164592"/>
          </a:xfrm>
          <a:prstGeom prst="rect">
            <a:avLst/>
          </a:prstGeom>
          <a:noFill/>
          <a:ln/>
        </p:spPr>
        <p:txBody>
          <a:bodyPr wrap="square" lIns="0" tIns="0" rIns="0" bIns="0" rtlCol="0" anchor="ctr"/>
          <a:lstStyle/>
          <a:p>
            <a:pPr indent="0" marL="0">
              <a:buNone/>
            </a:pPr>
            <a:r>
              <a:rPr lang="en-US" sz="800" dirty="0">
                <a:solidFill>
                  <a:srgbClr val="374151"/>
                </a:solidFill>
              </a:rPr>
              <a:t>Merchandising</a:t>
            </a:r>
            <a:endParaRPr lang="en-US" sz="800" dirty="0"/>
          </a:p>
        </p:txBody>
      </p:sp>
      <p:sp>
        <p:nvSpPr>
          <p:cNvPr id="184" name="Text 182"/>
          <p:cNvSpPr/>
          <p:nvPr/>
        </p:nvSpPr>
        <p:spPr>
          <a:xfrm>
            <a:off x="11558016" y="2286000"/>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5" name="Shape 183"/>
          <p:cNvSpPr/>
          <p:nvPr/>
        </p:nvSpPr>
        <p:spPr>
          <a:xfrm>
            <a:off x="9500616" y="2468880"/>
            <a:ext cx="2350008" cy="82296"/>
          </a:xfrm>
          <a:prstGeom prst="roundRect">
            <a:avLst>
              <a:gd name="adj" fmla="val 50000"/>
            </a:avLst>
          </a:prstGeom>
          <a:solidFill>
            <a:srgbClr val="E5E7EB"/>
          </a:solidFill>
          <a:ln w="12700">
            <a:solidFill>
              <a:srgbClr val="E5E7EB"/>
            </a:solidFill>
            <a:prstDash val="solid"/>
          </a:ln>
        </p:spPr>
      </p:sp>
      <p:sp>
        <p:nvSpPr>
          <p:cNvPr id="186" name="Text 184"/>
          <p:cNvSpPr/>
          <p:nvPr/>
        </p:nvSpPr>
        <p:spPr>
          <a:xfrm>
            <a:off x="9500616" y="2642616"/>
            <a:ext cx="1692006" cy="164592"/>
          </a:xfrm>
          <a:prstGeom prst="rect">
            <a:avLst/>
          </a:prstGeom>
          <a:noFill/>
          <a:ln/>
        </p:spPr>
        <p:txBody>
          <a:bodyPr wrap="square" lIns="0" tIns="0" rIns="0" bIns="0" rtlCol="0" anchor="ctr"/>
          <a:lstStyle/>
          <a:p>
            <a:pPr indent="0" marL="0">
              <a:buNone/>
            </a:pPr>
            <a:r>
              <a:rPr lang="en-US" sz="800" dirty="0">
                <a:solidFill>
                  <a:srgbClr val="374151"/>
                </a:solidFill>
              </a:rPr>
              <a:t>Onboarding</a:t>
            </a:r>
            <a:endParaRPr lang="en-US" sz="800" dirty="0"/>
          </a:p>
        </p:txBody>
      </p:sp>
      <p:sp>
        <p:nvSpPr>
          <p:cNvPr id="187" name="Text 185"/>
          <p:cNvSpPr/>
          <p:nvPr/>
        </p:nvSpPr>
        <p:spPr>
          <a:xfrm>
            <a:off x="11558016" y="2642616"/>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8" name="Shape 186"/>
          <p:cNvSpPr/>
          <p:nvPr/>
        </p:nvSpPr>
        <p:spPr>
          <a:xfrm>
            <a:off x="9500616" y="2825496"/>
            <a:ext cx="2350008" cy="82296"/>
          </a:xfrm>
          <a:prstGeom prst="roundRect">
            <a:avLst>
              <a:gd name="adj" fmla="val 50000"/>
            </a:avLst>
          </a:prstGeom>
          <a:solidFill>
            <a:srgbClr val="E5E7EB"/>
          </a:solidFill>
          <a:ln w="12700">
            <a:solidFill>
              <a:srgbClr val="E5E7EB"/>
            </a:solidFill>
            <a:prstDash val="solid"/>
          </a:ln>
        </p:spPr>
      </p:sp>
      <p:sp>
        <p:nvSpPr>
          <p:cNvPr id="189" name="Shape 187"/>
          <p:cNvSpPr/>
          <p:nvPr/>
        </p:nvSpPr>
        <p:spPr>
          <a:xfrm>
            <a:off x="9482328" y="3127248"/>
            <a:ext cx="2478024" cy="0"/>
          </a:xfrm>
          <a:prstGeom prst="line">
            <a:avLst/>
          </a:prstGeom>
          <a:noFill/>
          <a:ln w="9525">
            <a:solidFill>
              <a:srgbClr val="DDE1E6"/>
            </a:solidFill>
            <a:prstDash val="solid"/>
          </a:ln>
        </p:spPr>
      </p:sp>
      <p:sp>
        <p:nvSpPr>
          <p:cNvPr id="190" name="Text 188"/>
          <p:cNvSpPr/>
          <p:nvPr/>
        </p:nvSpPr>
        <p:spPr>
          <a:xfrm>
            <a:off x="9500616" y="3264408"/>
            <a:ext cx="2478024"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91" name="Shape 189"/>
          <p:cNvSpPr/>
          <p:nvPr/>
        </p:nvSpPr>
        <p:spPr>
          <a:xfrm>
            <a:off x="9500616" y="3511296"/>
            <a:ext cx="749808" cy="173736"/>
          </a:xfrm>
          <a:prstGeom prst="roundRect">
            <a:avLst>
              <a:gd name="adj" fmla="val 15789"/>
            </a:avLst>
          </a:prstGeom>
          <a:solidFill>
            <a:srgbClr val="F3F4F6"/>
          </a:solidFill>
          <a:ln w="9525">
            <a:solidFill>
              <a:srgbClr val="D1D5DB"/>
            </a:solidFill>
            <a:prstDash val="solid"/>
          </a:ln>
        </p:spPr>
      </p:sp>
      <p:sp>
        <p:nvSpPr>
          <p:cNvPr id="192" name="Text 190"/>
          <p:cNvSpPr/>
          <p:nvPr/>
        </p:nvSpPr>
        <p:spPr>
          <a:xfrm>
            <a:off x="9500616" y="3511296"/>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93" name="Text 191"/>
          <p:cNvSpPr/>
          <p:nvPr/>
        </p:nvSpPr>
        <p:spPr>
          <a:xfrm>
            <a:off x="10305288" y="3511296"/>
            <a:ext cx="1636776"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194" name="Shape 192"/>
          <p:cNvSpPr/>
          <p:nvPr/>
        </p:nvSpPr>
        <p:spPr>
          <a:xfrm>
            <a:off x="9500616" y="3739896"/>
            <a:ext cx="749808" cy="173736"/>
          </a:xfrm>
          <a:prstGeom prst="roundRect">
            <a:avLst>
              <a:gd name="adj" fmla="val 15789"/>
            </a:avLst>
          </a:prstGeom>
          <a:solidFill>
            <a:srgbClr val="1558A8"/>
          </a:solidFill>
          <a:ln w="12700">
            <a:solidFill>
              <a:srgbClr val="1558A8"/>
            </a:solidFill>
            <a:prstDash val="solid"/>
          </a:ln>
        </p:spPr>
      </p:sp>
      <p:sp>
        <p:nvSpPr>
          <p:cNvPr id="195" name="Text 193"/>
          <p:cNvSpPr/>
          <p:nvPr/>
        </p:nvSpPr>
        <p:spPr>
          <a:xfrm>
            <a:off x="9500616" y="3739896"/>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96" name="Text 194"/>
          <p:cNvSpPr/>
          <p:nvPr/>
        </p:nvSpPr>
        <p:spPr>
          <a:xfrm>
            <a:off x="10305288" y="3739896"/>
            <a:ext cx="1636776"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197" name="Shape 195"/>
          <p:cNvSpPr/>
          <p:nvPr/>
        </p:nvSpPr>
        <p:spPr>
          <a:xfrm>
            <a:off x="9500616" y="3968496"/>
            <a:ext cx="749808" cy="173736"/>
          </a:xfrm>
          <a:prstGeom prst="roundRect">
            <a:avLst>
              <a:gd name="adj" fmla="val 15789"/>
            </a:avLst>
          </a:prstGeom>
          <a:solidFill>
            <a:srgbClr val="FEE2E2"/>
          </a:solidFill>
          <a:ln w="19050">
            <a:solidFill>
              <a:srgbClr val="DC2626"/>
            </a:solidFill>
            <a:prstDash val="solid"/>
          </a:ln>
        </p:spPr>
      </p:sp>
      <p:sp>
        <p:nvSpPr>
          <p:cNvPr id="198" name="Text 196"/>
          <p:cNvSpPr/>
          <p:nvPr/>
        </p:nvSpPr>
        <p:spPr>
          <a:xfrm>
            <a:off x="9500616" y="3968496"/>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99" name="Text 197"/>
          <p:cNvSpPr/>
          <p:nvPr/>
        </p:nvSpPr>
        <p:spPr>
          <a:xfrm>
            <a:off x="10305288" y="3968496"/>
            <a:ext cx="1636776"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0" name="Shape 198"/>
          <p:cNvSpPr/>
          <p:nvPr/>
        </p:nvSpPr>
        <p:spPr>
          <a:xfrm>
            <a:off x="9500616" y="4197096"/>
            <a:ext cx="749808" cy="173736"/>
          </a:xfrm>
          <a:prstGeom prst="roundRect">
            <a:avLst>
              <a:gd name="adj" fmla="val 15789"/>
            </a:avLst>
          </a:prstGeom>
          <a:solidFill>
            <a:srgbClr val="DCFCE7"/>
          </a:solidFill>
          <a:ln w="12700">
            <a:solidFill>
              <a:srgbClr val="15803D"/>
            </a:solidFill>
            <a:prstDash val="solid"/>
          </a:ln>
        </p:spPr>
      </p:sp>
      <p:sp>
        <p:nvSpPr>
          <p:cNvPr id="201" name="Text 199"/>
          <p:cNvSpPr/>
          <p:nvPr/>
        </p:nvSpPr>
        <p:spPr>
          <a:xfrm>
            <a:off x="9500616" y="4197096"/>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02" name="Text 200"/>
          <p:cNvSpPr/>
          <p:nvPr/>
        </p:nvSpPr>
        <p:spPr>
          <a:xfrm>
            <a:off x="10305288" y="4197096"/>
            <a:ext cx="1636776"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03" name="Shape 201"/>
          <p:cNvSpPr/>
          <p:nvPr/>
        </p:nvSpPr>
        <p:spPr>
          <a:xfrm>
            <a:off x="9500616" y="4425696"/>
            <a:ext cx="749808" cy="173736"/>
          </a:xfrm>
          <a:prstGeom prst="roundRect">
            <a:avLst>
              <a:gd name="adj" fmla="val 15789"/>
            </a:avLst>
          </a:prstGeom>
          <a:solidFill>
            <a:srgbClr val="FEF3C7"/>
          </a:solidFill>
          <a:ln w="19050">
            <a:solidFill>
              <a:srgbClr val="D97706"/>
            </a:solidFill>
            <a:prstDash val="solid"/>
          </a:ln>
        </p:spPr>
      </p:sp>
      <p:sp>
        <p:nvSpPr>
          <p:cNvPr id="204" name="Text 202"/>
          <p:cNvSpPr/>
          <p:nvPr/>
        </p:nvSpPr>
        <p:spPr>
          <a:xfrm>
            <a:off x="9500616" y="4425696"/>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05" name="Text 203"/>
          <p:cNvSpPr/>
          <p:nvPr/>
        </p:nvSpPr>
        <p:spPr>
          <a:xfrm>
            <a:off x="10305288" y="4425696"/>
            <a:ext cx="1636776"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