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5,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dirty="0">
                <a:solidFill>
                  <a:srgbClr val="1F2937"/>
                </a:solidFill>
              </a:rPr>
              <a:t>PROJECT SABR WEEKLY PROGRAM REVIEW</a:t>
            </a:r>
            <a:endParaRPr lang="en-US" sz="800" dirty="0"/>
          </a:p>
          <a:p>
            <a:pPr algn="l" indent="0" marL="0">
              <a:buNone/>
            </a:pPr>
            <a:r>
              <a:rPr lang="en-US" sz="800" dirty="0">
                <a:solidFill>
                  <a:srgbClr val="1F2937"/>
                </a:solidFill>
              </a:rPr>
              <a:t>This Week Update</a:t>
            </a:r>
            <a:endParaRPr lang="en-US" sz="800" dirty="0"/>
          </a:p>
          <a:p>
            <a:pPr algn="l" indent="0" marL="0">
              <a:buNone/>
            </a:pPr>
            <a:r>
              <a:rPr lang="en-US" sz="800" dirty="0">
                <a:solidFill>
                  <a:srgbClr val="1F2937"/>
                </a:solidFill>
              </a:rPr>
              <a:t>Week of August 5, 2026</a:t>
            </a:r>
            <a:endParaRPr lang="en-US" sz="800" dirty="0"/>
          </a:p>
          <a:p>
            <a:pPr algn="l" indent="0" marL="0">
              <a:buNone/>
            </a:pPr>
            <a:endParaRPr lang="en-US" sz="800" dirty="0"/>
          </a:p>
          <a:p>
            <a:pPr algn="l" indent="0" marL="0">
              <a:buNone/>
            </a:pPr>
            <a:r>
              <a:rPr lang="en-US" sz="800" dirty="0">
                <a:solidFill>
                  <a:srgbClr val="1F2937"/>
                </a:solidFill>
              </a:rPr>
              <a:t>Project SABR achieved steady momentum across platform integration and content infrastructure this week, with notable progress on Roku partnership alignment, VOD streaming architecture redesign, and merchandising configuration. The team is managing scope carefully to balance feature velocity with quality, while establishing clearer feedback mechanisms between Santa Monica and distributed engineering teams.</a:t>
            </a:r>
            <a:endParaRPr lang="en-US" sz="800" dirty="0"/>
          </a:p>
          <a:p>
            <a:pPr algn="l" indent="0" marL="0">
              <a:buNone/>
            </a:pPr>
            <a:endParaRPr lang="en-US" sz="800" dirty="0"/>
          </a:p>
          <a:p>
            <a:pPr algn="l" indent="0" marL="0">
              <a:buNone/>
            </a:pPr>
            <a:r>
              <a:rPr lang="en-US" sz="800" b="1" dirty="0">
                <a:solidFill>
                  <a:srgbClr val="1B5E20"/>
                </a:solidFill>
              </a:rPr>
              <a:t>ROKU PARTNERSHIP:</a:t>
            </a:r>
            <a:pPr algn="l" indent="0" marL="0">
              <a:buNone/>
            </a:pPr>
            <a:endParaRPr lang="en-US" sz="800" dirty="0"/>
          </a:p>
          <a:p>
            <a:pPr algn="l" indent="0" marL="0">
              <a:buNone/>
            </a:pPr>
            <a:r>
              <a:rPr lang="en-US" sz="800" dirty="0">
                <a:solidFill>
                  <a:srgbClr val="1F2937"/>
                </a:solidFill>
              </a:rPr>
              <a:t>Roku has confirmed healthy production events with working round-trip delivery on Tennis 1. The team resolved a metadata conflict between premium subscriptions and SportRadar data by removing the SportRadar feed from the OTT app, defaulting to premium subscriptions data instead. Tournament spreadsheet coordination was refined: Roku will access match details through Amagi's read-only UI launching mid-August rather than requesting upfront availability lists. Ad testing framework is ready pending network configuration; Ads Ops will send test FAX to Roku to begin their validation cycle.</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endParaRPr lang="en-US" sz="800" dirty="0"/>
          </a:p>
          <a:p>
            <a:pPr algn="l" indent="0" marL="0">
              <a:buNone/>
            </a:pPr>
            <a:r>
              <a:rPr lang="en-US" sz="800" dirty="0">
                <a:solidFill>
                  <a:srgbClr val="1F2937"/>
                </a:solidFill>
              </a:rPr>
              <a:t>Amagi presented a significant architectural redesign for DVR and VOD handling: moving from a single manually-reset stream to unique, predictable manifest URLs per match with automatic live-to-VOD transition. This approach eliminates manual start and end time adjustments on the frontend and simplifies replay generation. The team raised questions on URL naming, token security, and DRM handling; Amagi will publish detailed architecture documentation by week's end with a target proof-of-concept for mid-August. Production VOD replays are being delivered and tested in dev. The Tennis Channel EPG feed is currently a T2 copy; Amagi will create the standalone feed by week's end. Roku trick-play thumbnail support (640x480 every six seconds) was flagged as a certification requirement; Amagi will confirm transcoder readiness and timing by week's end.</a:t>
            </a:r>
            <a:endParaRPr lang="en-US" sz="800" dirty="0"/>
          </a:p>
          <a:p>
            <a:pPr algn="l" indent="0" marL="0">
              <a:buNone/>
            </a:pPr>
            <a:endParaRPr lang="en-US" sz="800" dirty="0"/>
          </a:p>
          <a:p>
            <a:pPr algn="l" indent="0" marL="0">
              <a:buNone/>
            </a:pPr>
            <a:r>
              <a:rPr lang="en-US" sz="800" b="1" dirty="0">
                <a:solidFill>
                  <a:srgbClr val="1B5E20"/>
                </a:solidFill>
              </a:rPr>
              <a:t>FOXXUM/BACKEND:</a:t>
            </a:r>
            <a:pPr algn="l" indent="0" marL="0">
              <a:buNone/>
            </a:pPr>
            <a:endParaRPr lang="en-US" sz="800" dirty="0"/>
          </a:p>
          <a:p>
            <a:pPr algn="l" indent="0" marL="0">
              <a:buNone/>
            </a:pPr>
            <a:r>
              <a:rPr lang="en-US" sz="800" dirty="0">
                <a:solidFill>
                  <a:srgbClr val="1F2937"/>
                </a:solidFill>
              </a:rPr>
              <a:t>Content page implementation is live in dev with layout, carousel, vertical and horizontal pagination, and skeleton loading. Image format was standardized to PNG instead of WebP due to TV rendering compatibility. Current sprint focus includes endpoint removal and entitlement checks. Upcoming sprints will cover playback flow migration (DRM, closed captioning, DVR, spoiler prevention), geo-blocking, end card and autoplay behavior, and concurrency management. The team is documenting current concurrency/session requirements to design a comprehensive solution. Error code translation lists and JSON translation structure were requested to accelerate implementation.</a:t>
            </a:r>
            <a:endParaRPr lang="en-US" sz="800" dirty="0"/>
          </a:p>
          <a:p>
            <a:pPr algn="l" indent="0" marL="0">
              <a:buNone/>
            </a:pPr>
            <a:endParaRPr lang="en-US" sz="800" dirty="0"/>
          </a:p>
          <a:p>
            <a:pPr algn="l" indent="0" marL="0">
              <a:buNone/>
            </a:pPr>
            <a:r>
              <a:rPr lang="en-US" sz="800" b="1" dirty="0">
                <a:solidFill>
                  <a:srgbClr val="1B5E20"/>
                </a:solidFill>
              </a:rPr>
              <a:t>MERCHANDISING:</a:t>
            </a:r>
            <a:pPr algn="l" indent="0" marL="0">
              <a:buNone/>
            </a:pPr>
            <a:endParaRPr lang="en-US" sz="800" dirty="0"/>
          </a:p>
          <a:p>
            <a:pPr algn="l" indent="0" marL="0">
              <a:buNone/>
            </a:pPr>
            <a:r>
              <a:rPr lang="en-US" sz="800" dirty="0">
                <a:solidFill>
                  <a:srgbClr val="1F2937"/>
                </a:solidFill>
              </a:rPr>
              <a:t>Carousel show-more configuration was finalized with three behavior options: default show-more enabled (triggered at configurable limit, default 20 items), override to force show-more on regardless of content count, and override to disable show-more entirely. Show-more link placement will default to inline with carousel title on web, with device-specific variations on TV and mobile. The team discussed whether show-more should be a tile at the end of the carousel versus a heading link; decision deferred pending device-capability assessment. Default limit of 20 items was set with no upper bound cap, allowing Foxxum to set device-specific caps based on performance.</a:t>
            </a:r>
            <a:endParaRPr lang="en-US" sz="800" dirty="0"/>
          </a:p>
          <a:p>
            <a:pPr algn="l" indent="0" marL="0">
              <a:buNone/>
            </a:pPr>
            <a:endParaRPr lang="en-US" sz="800" dirty="0"/>
          </a:p>
          <a:p>
            <a:pPr algn="l" indent="0" marL="0">
              <a:buNone/>
            </a:pPr>
            <a:r>
              <a:rPr lang="en-US" sz="800" b="1" dirty="0">
                <a:solidFill>
                  <a:srgbClr val="1B5E20"/>
                </a:solidFill>
              </a:rPr>
              <a:t>ENGINEERING PROCESS AND UX FEEDBACK:</a:t>
            </a:r>
            <a:pPr algn="l" indent="0" marL="0">
              <a:buNone/>
            </a:pPr>
            <a:endParaRPr lang="en-US" sz="800" dirty="0"/>
          </a:p>
          <a:p>
            <a:pPr algn="l" indent="0" marL="0">
              <a:buNone/>
            </a:pPr>
            <a:r>
              <a:rPr lang="en-US" sz="800" dirty="0">
                <a:solidFill>
                  <a:srgbClr val="1F2937"/>
                </a:solidFill>
              </a:rPr>
              <a:t>Leadership flagged concerns about scope creep and uncoordinated feature development on the frontend. Engineers are building substantial UX changes (live page redesign, tournament page restructuring) without prior alignment on priorities or business requirements, then presenting completed work as a fait accompli. The team is establishing twice-weekly design jam sessions (Tuesdays and Thursdays) to discuss prototypes before implementation, with plans to maintain a shared change log documenting UX decisions across versions. The goal is to balance rapid iteration with intentional prioritization of required features and preserve nuance around tournament rights, business obligations, and user workflows that inform design choices.</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endParaRPr lang="en-US" sz="800" dirty="0"/>
          </a:p>
          <a:p>
            <a:pPr algn="l" indent="0" marL="0">
              <a:buNone/>
            </a:pPr>
            <a:r>
              <a:rPr lang="en-US" sz="800" dirty="0">
                <a:solidFill>
                  <a:srgbClr val="1F2937"/>
                </a:solidFill>
              </a:rPr>
              <a:t>• Remove SportRadar feed from OTT and default to premium subscriptions data to resolve metadata conflict</a:t>
            </a:r>
            <a:endParaRPr lang="en-US" sz="800" dirty="0"/>
          </a:p>
          <a:p>
            <a:pPr algn="l" indent="0" marL="0">
              <a:buNone/>
            </a:pPr>
            <a:endParaRPr lang="en-US" sz="800" dirty="0"/>
          </a:p>
          <a:p>
            <a:pPr algn="l" indent="0" marL="0">
              <a:buNone/>
            </a:pPr>
            <a:r>
              <a:rPr lang="en-US" sz="800" dirty="0">
                <a:solidFill>
                  <a:srgbClr val="1F2937"/>
                </a:solidFill>
              </a:rPr>
              <a:t>• Use separate, predictable manifest URLs per match in new DVR/VOD architecture rather than continuously resetting single URL</a:t>
            </a:r>
            <a:endParaRPr lang="en-US" sz="800" dirty="0"/>
          </a:p>
          <a:p>
            <a:pPr algn="l" indent="0" marL="0">
              <a:buNone/>
            </a:pPr>
            <a:endParaRPr lang="en-US" sz="800" dirty="0"/>
          </a:p>
          <a:p>
            <a:pPr algn="l" indent="0" marL="0">
              <a:buNone/>
            </a:pPr>
            <a:r>
              <a:rPr lang="en-US" sz="800" dirty="0">
                <a:solidFill>
                  <a:srgbClr val="1F2937"/>
                </a:solidFill>
              </a:rPr>
              <a:t>• Implement device-specific show-more behavior for carousels with default limit of 20 items and no backend upper cap</a:t>
            </a:r>
            <a:endParaRPr lang="en-US" sz="800" dirty="0"/>
          </a:p>
          <a:p>
            <a:pPr algn="l" indent="0" marL="0">
              <a:buNone/>
            </a:pPr>
            <a:endParaRPr lang="en-US" sz="800" dirty="0"/>
          </a:p>
          <a:p>
            <a:pPr algn="l" indent="0" marL="0">
              <a:buNone/>
            </a:pPr>
            <a:r>
              <a:rPr lang="en-US" sz="800" dirty="0">
                <a:solidFill>
                  <a:srgbClr val="1F2937"/>
                </a:solidFill>
              </a:rPr>
              <a:t>• Establish twice-weekly design feedback sessions (Tuesdays and Thursdays) and shared UX change log to coordinate frontend development with business priorities</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378823"/>
          </a:xfrm>
          <a:prstGeom prst="rect">
            <a:avLst/>
          </a:prstGeom>
          <a:solidFill>
            <a:srgbClr val="FFFFFF"/>
          </a:solidFill>
          <a:ln w="3175">
            <a:solidFill>
              <a:srgbClr val="E5E7EB"/>
            </a:solidFill>
            <a:prstDash val="solid"/>
          </a:ln>
        </p:spPr>
      </p:sp>
      <p:sp>
        <p:nvSpPr>
          <p:cNvPr id="9" name="Text 7"/>
          <p:cNvSpPr/>
          <p:nvPr/>
        </p:nvSpPr>
        <p:spPr>
          <a:xfrm>
            <a:off x="164592" y="795528"/>
            <a:ext cx="777240" cy="342247"/>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323959"/>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879783"/>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879783"/>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156063"/>
            <a:ext cx="6016752" cy="0"/>
          </a:xfrm>
          <a:prstGeom prst="line">
            <a:avLst/>
          </a:prstGeom>
          <a:noFill/>
          <a:ln w="6350">
            <a:solidFill>
              <a:srgbClr val="E5E7EB"/>
            </a:solidFill>
            <a:prstDash val="solid"/>
          </a:ln>
        </p:spPr>
      </p:sp>
      <p:sp>
        <p:nvSpPr>
          <p:cNvPr id="14" name="Text 12"/>
          <p:cNvSpPr/>
          <p:nvPr/>
        </p:nvSpPr>
        <p:spPr>
          <a:xfrm>
            <a:off x="164592" y="1174351"/>
            <a:ext cx="777240" cy="342247"/>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183495"/>
            <a:ext cx="4178808" cy="323959"/>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258606"/>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258606"/>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534886"/>
            <a:ext cx="6016752" cy="378823"/>
          </a:xfrm>
          <a:prstGeom prst="rect">
            <a:avLst/>
          </a:prstGeom>
          <a:solidFill>
            <a:srgbClr val="FFFFFF"/>
          </a:solidFill>
          <a:ln w="3175">
            <a:solidFill>
              <a:srgbClr val="E5E7EB"/>
            </a:solidFill>
            <a:prstDash val="solid"/>
          </a:ln>
        </p:spPr>
      </p:sp>
      <p:sp>
        <p:nvSpPr>
          <p:cNvPr id="19" name="Shape 17"/>
          <p:cNvSpPr/>
          <p:nvPr/>
        </p:nvSpPr>
        <p:spPr>
          <a:xfrm>
            <a:off x="91440" y="1534886"/>
            <a:ext cx="6016752" cy="0"/>
          </a:xfrm>
          <a:prstGeom prst="line">
            <a:avLst/>
          </a:prstGeom>
          <a:noFill/>
          <a:ln w="6350">
            <a:solidFill>
              <a:srgbClr val="E5E7EB"/>
            </a:solidFill>
            <a:prstDash val="solid"/>
          </a:ln>
        </p:spPr>
      </p:sp>
      <p:sp>
        <p:nvSpPr>
          <p:cNvPr id="20" name="Text 18"/>
          <p:cNvSpPr/>
          <p:nvPr/>
        </p:nvSpPr>
        <p:spPr>
          <a:xfrm>
            <a:off x="164592" y="1553174"/>
            <a:ext cx="777240" cy="342247"/>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562318"/>
            <a:ext cx="4178808" cy="323959"/>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1637429"/>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1637429"/>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1913709"/>
            <a:ext cx="6016752" cy="0"/>
          </a:xfrm>
          <a:prstGeom prst="line">
            <a:avLst/>
          </a:prstGeom>
          <a:noFill/>
          <a:ln w="6350">
            <a:solidFill>
              <a:srgbClr val="E5E7EB"/>
            </a:solidFill>
            <a:prstDash val="solid"/>
          </a:ln>
        </p:spPr>
      </p:sp>
      <p:sp>
        <p:nvSpPr>
          <p:cNvPr id="25" name="Text 23"/>
          <p:cNvSpPr/>
          <p:nvPr/>
        </p:nvSpPr>
        <p:spPr>
          <a:xfrm>
            <a:off x="164592" y="1931997"/>
            <a:ext cx="777240" cy="342247"/>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1941141"/>
            <a:ext cx="4178808" cy="323959"/>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292531"/>
            <a:ext cx="6016752" cy="378823"/>
          </a:xfrm>
          <a:prstGeom prst="rect">
            <a:avLst/>
          </a:prstGeom>
          <a:solidFill>
            <a:srgbClr val="FFFFFF"/>
          </a:solidFill>
          <a:ln w="3175">
            <a:solidFill>
              <a:srgbClr val="E5E7EB"/>
            </a:solidFill>
            <a:prstDash val="solid"/>
          </a:ln>
        </p:spPr>
      </p:sp>
      <p:sp>
        <p:nvSpPr>
          <p:cNvPr id="30" name="Shape 28"/>
          <p:cNvSpPr/>
          <p:nvPr/>
        </p:nvSpPr>
        <p:spPr>
          <a:xfrm>
            <a:off x="91440" y="2292531"/>
            <a:ext cx="6016752" cy="0"/>
          </a:xfrm>
          <a:prstGeom prst="line">
            <a:avLst/>
          </a:prstGeom>
          <a:noFill/>
          <a:ln w="6350">
            <a:solidFill>
              <a:srgbClr val="E5E7EB"/>
            </a:solidFill>
            <a:prstDash val="solid"/>
          </a:ln>
        </p:spPr>
      </p:sp>
      <p:sp>
        <p:nvSpPr>
          <p:cNvPr id="31" name="Text 29"/>
          <p:cNvSpPr/>
          <p:nvPr/>
        </p:nvSpPr>
        <p:spPr>
          <a:xfrm>
            <a:off x="164592" y="2310819"/>
            <a:ext cx="777240" cy="342247"/>
          </a:xfrm>
          <a:prstGeom prst="rect">
            <a:avLst/>
          </a:prstGeom>
          <a:noFill/>
          <a:ln/>
        </p:spPr>
        <p:txBody>
          <a:bodyPr wrap="square" lIns="0" tIns="0" rIns="0" bIns="0" rtlCol="0" anchor="ctr"/>
          <a:lstStyle/>
          <a:p>
            <a:pPr indent="0" marL="0">
              <a:buNone/>
            </a:pPr>
            <a:r>
              <a:rPr lang="en-US" sz="750" b="1" dirty="0">
                <a:solidFill>
                  <a:srgbClr val="1F2937"/>
                </a:solidFill>
              </a:rPr>
              <a:t>Amplitude</a:t>
            </a:r>
            <a:endParaRPr lang="en-US" sz="750" dirty="0"/>
          </a:p>
        </p:txBody>
      </p:sp>
      <p:sp>
        <p:nvSpPr>
          <p:cNvPr id="32" name="Text 30"/>
          <p:cNvSpPr/>
          <p:nvPr/>
        </p:nvSpPr>
        <p:spPr>
          <a:xfrm>
            <a:off x="960120" y="2319963"/>
            <a:ext cx="4178808" cy="323959"/>
          </a:xfrm>
          <a:prstGeom prst="rect">
            <a:avLst/>
          </a:prstGeom>
          <a:noFill/>
          <a:ln/>
        </p:spPr>
        <p:txBody>
          <a:bodyPr wrap="square" lIns="0" tIns="0" rIns="0" bIns="0" rtlCol="0" anchor="t"/>
          <a:lstStyle/>
          <a:p>
            <a:pPr indent="0" marL="0">
              <a:buNone/>
            </a:pPr>
            <a:endParaRPr lang="en-US" sz="650" dirty="0"/>
          </a:p>
        </p:txBody>
      </p:sp>
      <p:sp>
        <p:nvSpPr>
          <p:cNvPr id="33" name="Shape 31"/>
          <p:cNvSpPr/>
          <p:nvPr/>
        </p:nvSpPr>
        <p:spPr>
          <a:xfrm>
            <a:off x="5230368" y="2395075"/>
            <a:ext cx="822960" cy="173736"/>
          </a:xfrm>
          <a:prstGeom prst="roundRect">
            <a:avLst>
              <a:gd name="adj" fmla="val 15789"/>
            </a:avLst>
          </a:prstGeom>
          <a:solidFill>
            <a:srgbClr val="F3F4F6"/>
          </a:solidFill>
          <a:ln w="9525">
            <a:solidFill>
              <a:srgbClr val="D1D5DB"/>
            </a:solidFill>
            <a:prstDash val="solid"/>
          </a:ln>
        </p:spPr>
      </p:sp>
      <p:sp>
        <p:nvSpPr>
          <p:cNvPr id="34" name="Text 32"/>
          <p:cNvSpPr/>
          <p:nvPr/>
        </p:nvSpPr>
        <p:spPr>
          <a:xfrm>
            <a:off x="5230368" y="2395075"/>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35" name="Shape 33"/>
          <p:cNvSpPr/>
          <p:nvPr/>
        </p:nvSpPr>
        <p:spPr>
          <a:xfrm>
            <a:off x="91440" y="2671354"/>
            <a:ext cx="6016752" cy="0"/>
          </a:xfrm>
          <a:prstGeom prst="line">
            <a:avLst/>
          </a:prstGeom>
          <a:noFill/>
          <a:ln w="6350">
            <a:solidFill>
              <a:srgbClr val="E5E7EB"/>
            </a:solidFill>
            <a:prstDash val="solid"/>
          </a:ln>
        </p:spPr>
      </p:sp>
      <p:sp>
        <p:nvSpPr>
          <p:cNvPr id="36" name="Text 34"/>
          <p:cNvSpPr/>
          <p:nvPr/>
        </p:nvSpPr>
        <p:spPr>
          <a:xfrm>
            <a:off x="164592" y="2689642"/>
            <a:ext cx="777240" cy="342247"/>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7" name="Text 35"/>
          <p:cNvSpPr/>
          <p:nvPr/>
        </p:nvSpPr>
        <p:spPr>
          <a:xfrm>
            <a:off x="960120" y="2698786"/>
            <a:ext cx="4178808" cy="323959"/>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8" name="Shape 36"/>
          <p:cNvSpPr/>
          <p:nvPr/>
        </p:nvSpPr>
        <p:spPr>
          <a:xfrm>
            <a:off x="5230368" y="2773898"/>
            <a:ext cx="822960" cy="173736"/>
          </a:xfrm>
          <a:prstGeom prst="roundRect">
            <a:avLst>
              <a:gd name="adj" fmla="val 15789"/>
            </a:avLst>
          </a:prstGeom>
          <a:solidFill>
            <a:srgbClr val="1558A8"/>
          </a:solidFill>
          <a:ln w="12700">
            <a:solidFill>
              <a:srgbClr val="1558A8"/>
            </a:solidFill>
            <a:prstDash val="solid"/>
          </a:ln>
        </p:spPr>
      </p:sp>
      <p:sp>
        <p:nvSpPr>
          <p:cNvPr id="39" name="Text 37"/>
          <p:cNvSpPr/>
          <p:nvPr/>
        </p:nvSpPr>
        <p:spPr>
          <a:xfrm>
            <a:off x="5230368" y="277389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0" name="Shape 38"/>
          <p:cNvSpPr/>
          <p:nvPr/>
        </p:nvSpPr>
        <p:spPr>
          <a:xfrm>
            <a:off x="91440" y="3050177"/>
            <a:ext cx="6016752" cy="378823"/>
          </a:xfrm>
          <a:prstGeom prst="rect">
            <a:avLst/>
          </a:prstGeom>
          <a:solidFill>
            <a:srgbClr val="FFFFFF"/>
          </a:solidFill>
          <a:ln w="3175">
            <a:solidFill>
              <a:srgbClr val="E5E7EB"/>
            </a:solidFill>
            <a:prstDash val="solid"/>
          </a:ln>
        </p:spPr>
      </p:sp>
      <p:sp>
        <p:nvSpPr>
          <p:cNvPr id="41" name="Shape 39"/>
          <p:cNvSpPr/>
          <p:nvPr/>
        </p:nvSpPr>
        <p:spPr>
          <a:xfrm>
            <a:off x="91440" y="3050177"/>
            <a:ext cx="6016752" cy="0"/>
          </a:xfrm>
          <a:prstGeom prst="line">
            <a:avLst/>
          </a:prstGeom>
          <a:noFill/>
          <a:ln w="6350">
            <a:solidFill>
              <a:srgbClr val="E5E7EB"/>
            </a:solidFill>
            <a:prstDash val="solid"/>
          </a:ln>
        </p:spPr>
      </p:sp>
      <p:sp>
        <p:nvSpPr>
          <p:cNvPr id="42" name="Text 40"/>
          <p:cNvSpPr/>
          <p:nvPr/>
        </p:nvSpPr>
        <p:spPr>
          <a:xfrm>
            <a:off x="164592" y="3068465"/>
            <a:ext cx="777240" cy="342247"/>
          </a:xfrm>
          <a:prstGeom prst="rect">
            <a:avLst/>
          </a:prstGeom>
          <a:noFill/>
          <a:ln/>
        </p:spPr>
        <p:txBody>
          <a:bodyPr wrap="square" lIns="0" tIns="0" rIns="0" bIns="0" rtlCol="0" anchor="ctr"/>
          <a:lstStyle/>
          <a:p>
            <a:pPr indent="0" marL="0">
              <a:buNone/>
            </a:pPr>
            <a:r>
              <a:rPr lang="en-US" sz="750" b="1" dirty="0">
                <a:solidFill>
                  <a:srgbClr val="1F2937"/>
                </a:solidFill>
              </a:rPr>
              <a:t>Recurly</a:t>
            </a:r>
            <a:endParaRPr lang="en-US" sz="750" dirty="0"/>
          </a:p>
        </p:txBody>
      </p:sp>
      <p:sp>
        <p:nvSpPr>
          <p:cNvPr id="43" name="Text 41"/>
          <p:cNvSpPr/>
          <p:nvPr/>
        </p:nvSpPr>
        <p:spPr>
          <a:xfrm>
            <a:off x="960120" y="3077609"/>
            <a:ext cx="4178808" cy="323959"/>
          </a:xfrm>
          <a:prstGeom prst="rect">
            <a:avLst/>
          </a:prstGeom>
          <a:noFill/>
          <a:ln/>
        </p:spPr>
        <p:txBody>
          <a:bodyPr wrap="square" lIns="0" tIns="0" rIns="0" bIns="0" rtlCol="0" anchor="t"/>
          <a:lstStyle/>
          <a:p>
            <a:pPr indent="0" marL="0">
              <a:buNone/>
            </a:pPr>
            <a:endParaRPr lang="en-US" sz="650" dirty="0"/>
          </a:p>
        </p:txBody>
      </p:sp>
      <p:sp>
        <p:nvSpPr>
          <p:cNvPr id="44" name="Shape 42"/>
          <p:cNvSpPr/>
          <p:nvPr/>
        </p:nvSpPr>
        <p:spPr>
          <a:xfrm>
            <a:off x="5230368" y="3152721"/>
            <a:ext cx="822960" cy="173736"/>
          </a:xfrm>
          <a:prstGeom prst="roundRect">
            <a:avLst>
              <a:gd name="adj" fmla="val 15789"/>
            </a:avLst>
          </a:prstGeom>
          <a:solidFill>
            <a:srgbClr val="F3F4F6"/>
          </a:solidFill>
          <a:ln w="9525">
            <a:solidFill>
              <a:srgbClr val="D1D5DB"/>
            </a:solidFill>
            <a:prstDash val="solid"/>
          </a:ln>
        </p:spPr>
      </p:sp>
      <p:sp>
        <p:nvSpPr>
          <p:cNvPr id="45" name="Text 43"/>
          <p:cNvSpPr/>
          <p:nvPr/>
        </p:nvSpPr>
        <p:spPr>
          <a:xfrm>
            <a:off x="5230368" y="3152721"/>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46" name="Shape 44"/>
          <p:cNvSpPr/>
          <p:nvPr/>
        </p:nvSpPr>
        <p:spPr>
          <a:xfrm>
            <a:off x="6236208" y="502920"/>
            <a:ext cx="6016752" cy="2926080"/>
          </a:xfrm>
          <a:prstGeom prst="rect">
            <a:avLst/>
          </a:prstGeom>
          <a:solidFill>
            <a:srgbClr val="FAFBFC"/>
          </a:solidFill>
          <a:ln w="9525">
            <a:solidFill>
              <a:srgbClr val="D1D5DB"/>
            </a:solidFill>
            <a:prstDash val="solid"/>
          </a:ln>
        </p:spPr>
      </p:sp>
      <p:sp>
        <p:nvSpPr>
          <p:cNvPr id="47" name="Shape 45"/>
          <p:cNvSpPr/>
          <p:nvPr/>
        </p:nvSpPr>
        <p:spPr>
          <a:xfrm>
            <a:off x="6236208" y="502920"/>
            <a:ext cx="6016752" cy="274320"/>
          </a:xfrm>
          <a:prstGeom prst="rect">
            <a:avLst/>
          </a:prstGeom>
          <a:solidFill>
            <a:srgbClr val="8ED973"/>
          </a:solidFill>
          <a:ln w="12700">
            <a:solidFill>
              <a:srgbClr val="8ED973"/>
            </a:solidFill>
            <a:prstDash val="solid"/>
          </a:ln>
        </p:spPr>
      </p:sp>
      <p:sp>
        <p:nvSpPr>
          <p:cNvPr id="48" name="Text 46"/>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49" name="Shape 47"/>
          <p:cNvSpPr/>
          <p:nvPr/>
        </p:nvSpPr>
        <p:spPr>
          <a:xfrm>
            <a:off x="6236208" y="777240"/>
            <a:ext cx="6016752" cy="530352"/>
          </a:xfrm>
          <a:prstGeom prst="rect">
            <a:avLst/>
          </a:prstGeom>
          <a:solidFill>
            <a:srgbClr val="FFFFFF"/>
          </a:solidFill>
          <a:ln w="3175">
            <a:solidFill>
              <a:srgbClr val="E5E7EB"/>
            </a:solidFill>
            <a:prstDash val="solid"/>
          </a:ln>
        </p:spPr>
      </p:sp>
      <p:sp>
        <p:nvSpPr>
          <p:cNvPr id="50" name="Text 48"/>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51" name="Text 49"/>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52" name="Shape 50"/>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1307592"/>
            <a:ext cx="6016752" cy="0"/>
          </a:xfrm>
          <a:prstGeom prst="line">
            <a:avLst/>
          </a:prstGeom>
          <a:noFill/>
          <a:ln w="6350">
            <a:solidFill>
              <a:srgbClr val="E5E7EB"/>
            </a:solidFill>
            <a:prstDash val="solid"/>
          </a:ln>
        </p:spPr>
      </p:sp>
      <p:sp>
        <p:nvSpPr>
          <p:cNvPr id="55" name="Text 53"/>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56" name="Text 54"/>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57" name="Shape 55"/>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1837944"/>
            <a:ext cx="6016752" cy="530352"/>
          </a:xfrm>
          <a:prstGeom prst="rect">
            <a:avLst/>
          </a:prstGeom>
          <a:solidFill>
            <a:srgbClr val="FFFFFF"/>
          </a:solidFill>
          <a:ln w="3175">
            <a:solidFill>
              <a:srgbClr val="E5E7EB"/>
            </a:solidFill>
            <a:prstDash val="solid"/>
          </a:ln>
        </p:spPr>
      </p:sp>
      <p:sp>
        <p:nvSpPr>
          <p:cNvPr id="60" name="Shape 58"/>
          <p:cNvSpPr/>
          <p:nvPr/>
        </p:nvSpPr>
        <p:spPr>
          <a:xfrm>
            <a:off x="6236208" y="1837944"/>
            <a:ext cx="6016752" cy="0"/>
          </a:xfrm>
          <a:prstGeom prst="line">
            <a:avLst/>
          </a:prstGeom>
          <a:noFill/>
          <a:ln w="6350">
            <a:solidFill>
              <a:srgbClr val="E5E7EB"/>
            </a:solidFill>
            <a:prstDash val="solid"/>
          </a:ln>
        </p:spPr>
      </p:sp>
      <p:sp>
        <p:nvSpPr>
          <p:cNvPr id="61" name="Text 59"/>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62" name="Text 60"/>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63" name="Shape 61"/>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6236208" y="2368296"/>
            <a:ext cx="6016752" cy="0"/>
          </a:xfrm>
          <a:prstGeom prst="line">
            <a:avLst/>
          </a:prstGeom>
          <a:noFill/>
          <a:ln w="6350">
            <a:solidFill>
              <a:srgbClr val="E5E7EB"/>
            </a:solidFill>
            <a:prstDash val="solid"/>
          </a:ln>
        </p:spPr>
      </p:sp>
      <p:sp>
        <p:nvSpPr>
          <p:cNvPr id="66" name="Text 64"/>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67" name="Text 65"/>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68" name="Shape 66"/>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69" name="Text 67"/>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70" name="Shape 68"/>
          <p:cNvSpPr/>
          <p:nvPr/>
        </p:nvSpPr>
        <p:spPr>
          <a:xfrm>
            <a:off x="6236208" y="2898648"/>
            <a:ext cx="6016752" cy="530352"/>
          </a:xfrm>
          <a:prstGeom prst="rect">
            <a:avLst/>
          </a:prstGeom>
          <a:solidFill>
            <a:srgbClr val="FFFFFF"/>
          </a:solidFill>
          <a:ln w="3175">
            <a:solidFill>
              <a:srgbClr val="E5E7EB"/>
            </a:solidFill>
            <a:prstDash val="solid"/>
          </a:ln>
        </p:spPr>
      </p:sp>
      <p:sp>
        <p:nvSpPr>
          <p:cNvPr id="71" name="Shape 69"/>
          <p:cNvSpPr/>
          <p:nvPr/>
        </p:nvSpPr>
        <p:spPr>
          <a:xfrm>
            <a:off x="6236208" y="2898648"/>
            <a:ext cx="6016752" cy="0"/>
          </a:xfrm>
          <a:prstGeom prst="line">
            <a:avLst/>
          </a:prstGeom>
          <a:noFill/>
          <a:ln w="6350">
            <a:solidFill>
              <a:srgbClr val="E5E7EB"/>
            </a:solidFill>
            <a:prstDash val="solid"/>
          </a:ln>
        </p:spPr>
      </p:sp>
      <p:sp>
        <p:nvSpPr>
          <p:cNvPr id="72" name="Text 70"/>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73" name="Text 71"/>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74" name="Shape 72"/>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75" name="Text 73"/>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6" name="Shape 74"/>
          <p:cNvSpPr/>
          <p:nvPr/>
        </p:nvSpPr>
        <p:spPr>
          <a:xfrm>
            <a:off x="91440" y="3502152"/>
            <a:ext cx="6016752" cy="3749040"/>
          </a:xfrm>
          <a:prstGeom prst="rect">
            <a:avLst/>
          </a:prstGeom>
          <a:solidFill>
            <a:srgbClr val="FAFBFC"/>
          </a:solidFill>
          <a:ln w="9525">
            <a:solidFill>
              <a:srgbClr val="D1D5DB"/>
            </a:solidFill>
            <a:prstDash val="solid"/>
          </a:ln>
        </p:spPr>
      </p:sp>
      <p:sp>
        <p:nvSpPr>
          <p:cNvPr id="77" name="Shape 75"/>
          <p:cNvSpPr/>
          <p:nvPr/>
        </p:nvSpPr>
        <p:spPr>
          <a:xfrm>
            <a:off x="91440" y="3502152"/>
            <a:ext cx="6016752" cy="274320"/>
          </a:xfrm>
          <a:prstGeom prst="rect">
            <a:avLst/>
          </a:prstGeom>
          <a:solidFill>
            <a:srgbClr val="8ED973"/>
          </a:solidFill>
          <a:ln w="12700">
            <a:solidFill>
              <a:srgbClr val="8ED973"/>
            </a:solidFill>
            <a:prstDash val="solid"/>
          </a:ln>
        </p:spPr>
      </p:sp>
      <p:sp>
        <p:nvSpPr>
          <p:cNvPr id="78" name="Text 76"/>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79" name="Shape 77"/>
          <p:cNvSpPr/>
          <p:nvPr/>
        </p:nvSpPr>
        <p:spPr>
          <a:xfrm>
            <a:off x="91440" y="3776472"/>
            <a:ext cx="6016752" cy="1158240"/>
          </a:xfrm>
          <a:prstGeom prst="rect">
            <a:avLst/>
          </a:prstGeom>
          <a:solidFill>
            <a:srgbClr val="FFFFFF"/>
          </a:solidFill>
          <a:ln w="3175">
            <a:solidFill>
              <a:srgbClr val="E5E7EB"/>
            </a:solidFill>
            <a:prstDash val="solid"/>
          </a:ln>
        </p:spPr>
      </p:sp>
      <p:sp>
        <p:nvSpPr>
          <p:cNvPr id="80" name="Text 78"/>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81" name="Text 79"/>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82" name="Shape 80"/>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83" name="Text 81"/>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84" name="Shape 82"/>
          <p:cNvSpPr/>
          <p:nvPr/>
        </p:nvSpPr>
        <p:spPr>
          <a:xfrm>
            <a:off x="91440" y="4934712"/>
            <a:ext cx="6016752" cy="0"/>
          </a:xfrm>
          <a:prstGeom prst="line">
            <a:avLst/>
          </a:prstGeom>
          <a:noFill/>
          <a:ln w="6350">
            <a:solidFill>
              <a:srgbClr val="E5E7EB"/>
            </a:solidFill>
            <a:prstDash val="solid"/>
          </a:ln>
        </p:spPr>
      </p:sp>
      <p:sp>
        <p:nvSpPr>
          <p:cNvPr id="85" name="Text 83"/>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86" name="Text 84"/>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87" name="Shape 85"/>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88" name="Text 86"/>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9" name="Shape 87"/>
          <p:cNvSpPr/>
          <p:nvPr/>
        </p:nvSpPr>
        <p:spPr>
          <a:xfrm>
            <a:off x="91440" y="6092952"/>
            <a:ext cx="6016752" cy="1158240"/>
          </a:xfrm>
          <a:prstGeom prst="rect">
            <a:avLst/>
          </a:prstGeom>
          <a:solidFill>
            <a:srgbClr val="FFFFFF"/>
          </a:solidFill>
          <a:ln w="3175">
            <a:solidFill>
              <a:srgbClr val="E5E7EB"/>
            </a:solidFill>
            <a:prstDash val="solid"/>
          </a:ln>
        </p:spPr>
      </p:sp>
      <p:sp>
        <p:nvSpPr>
          <p:cNvPr id="90" name="Shape 88"/>
          <p:cNvSpPr/>
          <p:nvPr/>
        </p:nvSpPr>
        <p:spPr>
          <a:xfrm>
            <a:off x="91440" y="6092952"/>
            <a:ext cx="6016752" cy="0"/>
          </a:xfrm>
          <a:prstGeom prst="line">
            <a:avLst/>
          </a:prstGeom>
          <a:noFill/>
          <a:ln w="6350">
            <a:solidFill>
              <a:srgbClr val="E5E7EB"/>
            </a:solidFill>
            <a:prstDash val="solid"/>
          </a:ln>
        </p:spPr>
      </p:sp>
      <p:sp>
        <p:nvSpPr>
          <p:cNvPr id="91" name="Text 89"/>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92" name="Text 90"/>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93" name="Shape 91"/>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94" name="Text 92"/>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5" name="Shape 93"/>
          <p:cNvSpPr/>
          <p:nvPr/>
        </p:nvSpPr>
        <p:spPr>
          <a:xfrm>
            <a:off x="6236208" y="3502152"/>
            <a:ext cx="6016752" cy="3749040"/>
          </a:xfrm>
          <a:prstGeom prst="rect">
            <a:avLst/>
          </a:prstGeom>
          <a:solidFill>
            <a:srgbClr val="FAFBFC"/>
          </a:solidFill>
          <a:ln w="9525">
            <a:solidFill>
              <a:srgbClr val="D1D5DB"/>
            </a:solidFill>
            <a:prstDash val="solid"/>
          </a:ln>
        </p:spPr>
      </p:sp>
      <p:sp>
        <p:nvSpPr>
          <p:cNvPr id="96" name="Shape 94"/>
          <p:cNvSpPr/>
          <p:nvPr/>
        </p:nvSpPr>
        <p:spPr>
          <a:xfrm>
            <a:off x="6236208" y="3502152"/>
            <a:ext cx="6016752" cy="274320"/>
          </a:xfrm>
          <a:prstGeom prst="rect">
            <a:avLst/>
          </a:prstGeom>
          <a:solidFill>
            <a:srgbClr val="8ED973"/>
          </a:solidFill>
          <a:ln w="12700">
            <a:solidFill>
              <a:srgbClr val="8ED973"/>
            </a:solidFill>
            <a:prstDash val="solid"/>
          </a:ln>
        </p:spPr>
      </p:sp>
      <p:sp>
        <p:nvSpPr>
          <p:cNvPr id="97" name="Text 95"/>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98" name="Shape 96"/>
          <p:cNvSpPr/>
          <p:nvPr/>
        </p:nvSpPr>
        <p:spPr>
          <a:xfrm>
            <a:off x="6236208" y="3776472"/>
            <a:ext cx="6016752" cy="868680"/>
          </a:xfrm>
          <a:prstGeom prst="rect">
            <a:avLst/>
          </a:prstGeom>
          <a:solidFill>
            <a:srgbClr val="FFFFFF"/>
          </a:solidFill>
          <a:ln w="3175">
            <a:solidFill>
              <a:srgbClr val="E5E7EB"/>
            </a:solidFill>
            <a:prstDash val="solid"/>
          </a:ln>
        </p:spPr>
      </p:sp>
      <p:sp>
        <p:nvSpPr>
          <p:cNvPr id="99" name="Text 97"/>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100" name="Text 98"/>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101" name="Shape 99"/>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102" name="Text 100"/>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103" name="Shape 101"/>
          <p:cNvSpPr/>
          <p:nvPr/>
        </p:nvSpPr>
        <p:spPr>
          <a:xfrm>
            <a:off x="6236208" y="4645152"/>
            <a:ext cx="6016752" cy="0"/>
          </a:xfrm>
          <a:prstGeom prst="line">
            <a:avLst/>
          </a:prstGeom>
          <a:noFill/>
          <a:ln w="6350">
            <a:solidFill>
              <a:srgbClr val="E5E7EB"/>
            </a:solidFill>
            <a:prstDash val="solid"/>
          </a:ln>
        </p:spPr>
      </p:sp>
      <p:sp>
        <p:nvSpPr>
          <p:cNvPr id="104" name="Text 102"/>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105" name="Text 103"/>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106" name="Shape 104"/>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8" name="Shape 106"/>
          <p:cNvSpPr/>
          <p:nvPr/>
        </p:nvSpPr>
        <p:spPr>
          <a:xfrm>
            <a:off x="6236208" y="5513832"/>
            <a:ext cx="6016752" cy="868680"/>
          </a:xfrm>
          <a:prstGeom prst="rect">
            <a:avLst/>
          </a:prstGeom>
          <a:solidFill>
            <a:srgbClr val="FFFFFF"/>
          </a:solidFill>
          <a:ln w="3175">
            <a:solidFill>
              <a:srgbClr val="E5E7EB"/>
            </a:solidFill>
            <a:prstDash val="solid"/>
          </a:ln>
        </p:spPr>
      </p:sp>
      <p:sp>
        <p:nvSpPr>
          <p:cNvPr id="109" name="Shape 107"/>
          <p:cNvSpPr/>
          <p:nvPr/>
        </p:nvSpPr>
        <p:spPr>
          <a:xfrm>
            <a:off x="6236208" y="5513832"/>
            <a:ext cx="6016752" cy="0"/>
          </a:xfrm>
          <a:prstGeom prst="line">
            <a:avLst/>
          </a:prstGeom>
          <a:noFill/>
          <a:ln w="6350">
            <a:solidFill>
              <a:srgbClr val="E5E7EB"/>
            </a:solidFill>
            <a:prstDash val="solid"/>
          </a:ln>
        </p:spPr>
      </p:sp>
      <p:sp>
        <p:nvSpPr>
          <p:cNvPr id="110" name="Text 108"/>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11" name="Text 109"/>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12" name="Shape 110"/>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13" name="Text 111"/>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14" name="Shape 112"/>
          <p:cNvSpPr/>
          <p:nvPr/>
        </p:nvSpPr>
        <p:spPr>
          <a:xfrm>
            <a:off x="6236208" y="6382512"/>
            <a:ext cx="6016752" cy="0"/>
          </a:xfrm>
          <a:prstGeom prst="line">
            <a:avLst/>
          </a:prstGeom>
          <a:noFill/>
          <a:ln w="6350">
            <a:solidFill>
              <a:srgbClr val="E5E7EB"/>
            </a:solidFill>
            <a:prstDash val="solid"/>
          </a:ln>
        </p:spPr>
      </p:sp>
      <p:sp>
        <p:nvSpPr>
          <p:cNvPr id="115" name="Text 113"/>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16" name="Text 114"/>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17" name="Shape 115"/>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18" name="Text 116"/>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2026-08-06T03:30:18Z</dcterms:created>
  <dcterms:modified xsi:type="dcterms:W3CDTF">2026-08-06T03:30:18Z</dcterms:modified>
</cp:coreProperties>
</file>