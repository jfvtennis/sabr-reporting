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2.xml" ContentType="application/vnd.openxmlformats-officedocument.presentationml.slide+xml"/>
  <Override PartName="/ppt/slides/slide3.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10"/>
    <p:sldId id="258" r:id="rId11"/>
  </p:sldIdLst>
  <p:sldSz cx="12344400" cy="73152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41"/>
    <p:restoredTop sz="94630"/>
  </p:normalViewPr>
  <p:slideViewPr>
    <p:cSldViewPr snapToGrid="0">
      <p:cViewPr varScale="1">
        <p:scale>
          <a:sx n="130" d="100"/>
          <a:sy n="130" d="100"/>
        </p:scale>
        <p:origin x="96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2.xml"/><Relationship Id="rId11"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F6586C-20BB-0145-BBB0-5205A2D85F37}" type="datetimeFigureOut">
              <a:rPr lang="en-US" smtClean="0"/>
              <a:t>7/6/26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273F65-57BB-3342-98F4-D52BB15090D3}" type="slidenum">
              <a:rPr lang="en-US" smtClean="0"/>
              <a:t>‹#›</a:t>
            </a:fld>
            <a:endParaRPr lang="en-US"/>
          </a:p>
        </p:txBody>
      </p:sp>
    </p:spTree>
    <p:extLst>
      <p:ext uri="{BB962C8B-B14F-4D97-AF65-F5344CB8AC3E}">
        <p14:creationId xmlns:p14="http://schemas.microsoft.com/office/powerpoint/2010/main" val="818598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542AB-4E5D-E3E5-DA43-46F3AD282BA3}"/>
              </a:ext>
            </a:extLst>
          </p:cNvPr>
          <p:cNvSpPr>
            <a:spLocks noGrp="1"/>
          </p:cNvSpPr>
          <p:nvPr>
            <p:ph type="ctrTitle"/>
          </p:nvPr>
        </p:nvSpPr>
        <p:spPr>
          <a:xfrm>
            <a:off x="1543050" y="1197187"/>
            <a:ext cx="9258300" cy="2546773"/>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6ADC5D1-2E43-2D4F-10CF-6B9C4932443F}"/>
              </a:ext>
            </a:extLst>
          </p:cNvPr>
          <p:cNvSpPr>
            <a:spLocks noGrp="1"/>
          </p:cNvSpPr>
          <p:nvPr>
            <p:ph type="subTitle" idx="1"/>
          </p:nvPr>
        </p:nvSpPr>
        <p:spPr>
          <a:xfrm>
            <a:off x="1543050" y="3842174"/>
            <a:ext cx="9258300" cy="176614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291BCE-1E26-2FF6-8CD5-66BFE639D14A}"/>
              </a:ext>
            </a:extLst>
          </p:cNvPr>
          <p:cNvSpPr>
            <a:spLocks noGrp="1"/>
          </p:cNvSpPr>
          <p:nvPr>
            <p:ph type="dt" sz="half" idx="10"/>
          </p:nvPr>
        </p:nvSpPr>
        <p:spPr/>
        <p:txBody>
          <a:bodyPr/>
          <a:lstStyle/>
          <a:p>
            <a:fld id="{4AF3E59C-6757-304D-81DC-AFC89DC42387}" type="datetime1">
              <a:rPr lang="en-US" smtClean="0"/>
              <a:t>7/6/26</a:t>
            </a:fld>
            <a:endParaRPr lang="en-US"/>
          </a:p>
        </p:txBody>
      </p:sp>
      <p:sp>
        <p:nvSpPr>
          <p:cNvPr id="5" name="Footer Placeholder 4">
            <a:extLst>
              <a:ext uri="{FF2B5EF4-FFF2-40B4-BE49-F238E27FC236}">
                <a16:creationId xmlns:a16="http://schemas.microsoft.com/office/drawing/2014/main" id="{342DBBA0-D6C7-FC07-5C56-7191AB2C846F}"/>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A6C5ABB2-FC67-66A2-B676-98C8F4708307}"/>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8646702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8AB43-7245-25CD-9429-3739721B0D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5EB2ECB-D6B4-1B28-8A6F-4A72D3E7E29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65FF69-2AD4-71DC-BCAE-6BCC61AA0542}"/>
              </a:ext>
            </a:extLst>
          </p:cNvPr>
          <p:cNvSpPr>
            <a:spLocks noGrp="1"/>
          </p:cNvSpPr>
          <p:nvPr>
            <p:ph type="dt" sz="half" idx="10"/>
          </p:nvPr>
        </p:nvSpPr>
        <p:spPr/>
        <p:txBody>
          <a:bodyPr/>
          <a:lstStyle/>
          <a:p>
            <a:fld id="{F5717DB9-6A5E-D34E-8F49-668C4E023DB8}" type="datetime1">
              <a:rPr lang="en-US" smtClean="0"/>
              <a:t>7/6/26</a:t>
            </a:fld>
            <a:endParaRPr lang="en-US"/>
          </a:p>
        </p:txBody>
      </p:sp>
      <p:sp>
        <p:nvSpPr>
          <p:cNvPr id="5" name="Footer Placeholder 4">
            <a:extLst>
              <a:ext uri="{FF2B5EF4-FFF2-40B4-BE49-F238E27FC236}">
                <a16:creationId xmlns:a16="http://schemas.microsoft.com/office/drawing/2014/main" id="{0A44906B-2BF5-D735-8C03-383888D485AC}"/>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538854DA-D980-9804-D429-EE5849AB2C7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581239677"/>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38A7F-439E-24E3-D0F9-D2B05E7C8108}"/>
              </a:ext>
            </a:extLst>
          </p:cNvPr>
          <p:cNvSpPr>
            <a:spLocks noGrp="1"/>
          </p:cNvSpPr>
          <p:nvPr>
            <p:ph type="title"/>
          </p:nvPr>
        </p:nvSpPr>
        <p:spPr>
          <a:xfrm>
            <a:off x="842248" y="1823721"/>
            <a:ext cx="10647045" cy="3042919"/>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443069C-437B-5A7C-D4D2-2F5EA044BEBC}"/>
              </a:ext>
            </a:extLst>
          </p:cNvPr>
          <p:cNvSpPr>
            <a:spLocks noGrp="1"/>
          </p:cNvSpPr>
          <p:nvPr>
            <p:ph type="body" idx="1"/>
          </p:nvPr>
        </p:nvSpPr>
        <p:spPr>
          <a:xfrm>
            <a:off x="842248" y="4895428"/>
            <a:ext cx="10647045" cy="1600199"/>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1F402-A6B4-06C9-471A-ADA7A5B20421}"/>
              </a:ext>
            </a:extLst>
          </p:cNvPr>
          <p:cNvSpPr>
            <a:spLocks noGrp="1"/>
          </p:cNvSpPr>
          <p:nvPr>
            <p:ph type="dt" sz="half" idx="10"/>
          </p:nvPr>
        </p:nvSpPr>
        <p:spPr/>
        <p:txBody>
          <a:bodyPr/>
          <a:lstStyle/>
          <a:p>
            <a:fld id="{9D8F7AC0-3832-FD45-8B44-A4D6390FE77E}" type="datetime1">
              <a:rPr lang="en-US" smtClean="0"/>
              <a:t>7/6/26</a:t>
            </a:fld>
            <a:endParaRPr lang="en-US"/>
          </a:p>
        </p:txBody>
      </p:sp>
      <p:sp>
        <p:nvSpPr>
          <p:cNvPr id="5" name="Footer Placeholder 4">
            <a:extLst>
              <a:ext uri="{FF2B5EF4-FFF2-40B4-BE49-F238E27FC236}">
                <a16:creationId xmlns:a16="http://schemas.microsoft.com/office/drawing/2014/main" id="{93CF1C27-1515-AE48-2681-B9E0DCA4CFC2}"/>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7591AB8D-4166-DA76-F40F-CB996B4F4D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12274396"/>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33359-1342-9126-C00F-43885A33B2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8346A5D-AA75-B6A7-2A97-8175D78EB429}"/>
              </a:ext>
            </a:extLst>
          </p:cNvPr>
          <p:cNvSpPr>
            <a:spLocks noGrp="1"/>
          </p:cNvSpPr>
          <p:nvPr>
            <p:ph sz="half" idx="1"/>
          </p:nvPr>
        </p:nvSpPr>
        <p:spPr>
          <a:xfrm>
            <a:off x="848678"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05D2B62-3F5B-CA87-894D-E35F3A7A73FA}"/>
              </a:ext>
            </a:extLst>
          </p:cNvPr>
          <p:cNvSpPr>
            <a:spLocks noGrp="1"/>
          </p:cNvSpPr>
          <p:nvPr>
            <p:ph sz="half" idx="2"/>
          </p:nvPr>
        </p:nvSpPr>
        <p:spPr>
          <a:xfrm>
            <a:off x="6249353"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EAB9ACC-74B2-0D1E-9729-94C5BDE608E7}"/>
              </a:ext>
            </a:extLst>
          </p:cNvPr>
          <p:cNvSpPr>
            <a:spLocks noGrp="1"/>
          </p:cNvSpPr>
          <p:nvPr>
            <p:ph type="dt" sz="half" idx="10"/>
          </p:nvPr>
        </p:nvSpPr>
        <p:spPr/>
        <p:txBody>
          <a:bodyPr/>
          <a:lstStyle/>
          <a:p>
            <a:fld id="{07846480-99BB-4344-B97D-DCA362A5FDF8}" type="datetime1">
              <a:rPr lang="en-US" smtClean="0"/>
              <a:t>7/6/26</a:t>
            </a:fld>
            <a:endParaRPr lang="en-US"/>
          </a:p>
        </p:txBody>
      </p:sp>
      <p:sp>
        <p:nvSpPr>
          <p:cNvPr id="6" name="Footer Placeholder 5">
            <a:extLst>
              <a:ext uri="{FF2B5EF4-FFF2-40B4-BE49-F238E27FC236}">
                <a16:creationId xmlns:a16="http://schemas.microsoft.com/office/drawing/2014/main" id="{0EB8D0D1-614A-F39F-2359-171D4F29F76E}"/>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41124FE4-5372-56CC-9C0A-792C0649DD9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11728568"/>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741B6-C81C-44D7-8314-B9E48D54DCC6}"/>
              </a:ext>
            </a:extLst>
          </p:cNvPr>
          <p:cNvSpPr>
            <a:spLocks noGrp="1"/>
          </p:cNvSpPr>
          <p:nvPr>
            <p:ph type="title"/>
          </p:nvPr>
        </p:nvSpPr>
        <p:spPr>
          <a:xfrm>
            <a:off x="850285" y="389467"/>
            <a:ext cx="10647045" cy="1413934"/>
          </a:xfrm>
        </p:spPr>
        <p:txBody>
          <a:bodyPr/>
          <a:lstStyle/>
          <a:p>
            <a:r>
              <a:rPr lang="en-US"/>
              <a:t>Click to edit Master title style</a:t>
            </a:r>
          </a:p>
        </p:txBody>
      </p:sp>
      <p:sp>
        <p:nvSpPr>
          <p:cNvPr id="3" name="Text Placeholder 2">
            <a:extLst>
              <a:ext uri="{FF2B5EF4-FFF2-40B4-BE49-F238E27FC236}">
                <a16:creationId xmlns:a16="http://schemas.microsoft.com/office/drawing/2014/main" id="{6A5B6461-6F52-D709-1AA9-7693FA24E633}"/>
              </a:ext>
            </a:extLst>
          </p:cNvPr>
          <p:cNvSpPr>
            <a:spLocks noGrp="1"/>
          </p:cNvSpPr>
          <p:nvPr>
            <p:ph type="body" idx="1"/>
          </p:nvPr>
        </p:nvSpPr>
        <p:spPr>
          <a:xfrm>
            <a:off x="850286" y="1793241"/>
            <a:ext cx="5222259"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705DFE-74DC-8B97-1F5D-76C626F585D2}"/>
              </a:ext>
            </a:extLst>
          </p:cNvPr>
          <p:cNvSpPr>
            <a:spLocks noGrp="1"/>
          </p:cNvSpPr>
          <p:nvPr>
            <p:ph sz="half" idx="2"/>
          </p:nvPr>
        </p:nvSpPr>
        <p:spPr>
          <a:xfrm>
            <a:off x="850286" y="2672080"/>
            <a:ext cx="5222259"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9030914-B7F9-314F-3471-1EB0342CE915}"/>
              </a:ext>
            </a:extLst>
          </p:cNvPr>
          <p:cNvSpPr>
            <a:spLocks noGrp="1"/>
          </p:cNvSpPr>
          <p:nvPr>
            <p:ph type="body" sz="quarter" idx="3"/>
          </p:nvPr>
        </p:nvSpPr>
        <p:spPr>
          <a:xfrm>
            <a:off x="6249352" y="1793241"/>
            <a:ext cx="5247978"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342F94-E36A-FBCB-AD5A-A7A2F73400BD}"/>
              </a:ext>
            </a:extLst>
          </p:cNvPr>
          <p:cNvSpPr>
            <a:spLocks noGrp="1"/>
          </p:cNvSpPr>
          <p:nvPr>
            <p:ph sz="quarter" idx="4"/>
          </p:nvPr>
        </p:nvSpPr>
        <p:spPr>
          <a:xfrm>
            <a:off x="6249352" y="2672080"/>
            <a:ext cx="5247978"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BDDA9A0-9B83-1061-522A-D57667671334}"/>
              </a:ext>
            </a:extLst>
          </p:cNvPr>
          <p:cNvSpPr>
            <a:spLocks noGrp="1"/>
          </p:cNvSpPr>
          <p:nvPr>
            <p:ph type="dt" sz="half" idx="10"/>
          </p:nvPr>
        </p:nvSpPr>
        <p:spPr/>
        <p:txBody>
          <a:bodyPr/>
          <a:lstStyle/>
          <a:p>
            <a:fld id="{31F8A984-FDA0-474C-92E2-0FCD6F165F9D}" type="datetime1">
              <a:rPr lang="en-US" smtClean="0"/>
              <a:t>7/6/26</a:t>
            </a:fld>
            <a:endParaRPr lang="en-US"/>
          </a:p>
        </p:txBody>
      </p:sp>
      <p:sp>
        <p:nvSpPr>
          <p:cNvPr id="8" name="Footer Placeholder 7">
            <a:extLst>
              <a:ext uri="{FF2B5EF4-FFF2-40B4-BE49-F238E27FC236}">
                <a16:creationId xmlns:a16="http://schemas.microsoft.com/office/drawing/2014/main" id="{66A1BFC6-DD30-8582-9BB5-A4C2FCA69217}"/>
              </a:ext>
            </a:extLst>
          </p:cNvPr>
          <p:cNvSpPr>
            <a:spLocks noGrp="1"/>
          </p:cNvSpPr>
          <p:nvPr>
            <p:ph type="ftr" sz="quarter" idx="11"/>
          </p:nvPr>
        </p:nvSpPr>
        <p:spPr/>
        <p:txBody>
          <a:bodyPr/>
          <a:lstStyle/>
          <a:p>
            <a:r>
              <a:rPr lang="en-US"/>
              <a:t>Tennis Channel 2025 - CONFIDENTIAL</a:t>
            </a:r>
          </a:p>
        </p:txBody>
      </p:sp>
      <p:sp>
        <p:nvSpPr>
          <p:cNvPr id="9" name="Slide Number Placeholder 8">
            <a:extLst>
              <a:ext uri="{FF2B5EF4-FFF2-40B4-BE49-F238E27FC236}">
                <a16:creationId xmlns:a16="http://schemas.microsoft.com/office/drawing/2014/main" id="{50B897CB-2FF9-D746-CA12-5F53E4C9EF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960872535"/>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689EC-C4E0-F720-B4BB-9C306330584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3242ECA-686B-F2FE-244F-519EADC8FBC1}"/>
              </a:ext>
            </a:extLst>
          </p:cNvPr>
          <p:cNvSpPr>
            <a:spLocks noGrp="1"/>
          </p:cNvSpPr>
          <p:nvPr>
            <p:ph type="dt" sz="half" idx="10"/>
          </p:nvPr>
        </p:nvSpPr>
        <p:spPr/>
        <p:txBody>
          <a:bodyPr/>
          <a:lstStyle/>
          <a:p>
            <a:fld id="{DF7D6774-7599-9340-9771-ADFFFF50DA4A}" type="datetime1">
              <a:rPr lang="en-US" smtClean="0"/>
              <a:t>7/6/26</a:t>
            </a:fld>
            <a:endParaRPr lang="en-US"/>
          </a:p>
        </p:txBody>
      </p:sp>
      <p:sp>
        <p:nvSpPr>
          <p:cNvPr id="4" name="Footer Placeholder 3">
            <a:extLst>
              <a:ext uri="{FF2B5EF4-FFF2-40B4-BE49-F238E27FC236}">
                <a16:creationId xmlns:a16="http://schemas.microsoft.com/office/drawing/2014/main" id="{994311D5-E61B-E713-F072-7FC70EFC6106}"/>
              </a:ext>
            </a:extLst>
          </p:cNvPr>
          <p:cNvSpPr>
            <a:spLocks noGrp="1"/>
          </p:cNvSpPr>
          <p:nvPr>
            <p:ph type="ftr" sz="quarter" idx="11"/>
          </p:nvPr>
        </p:nvSpPr>
        <p:spPr/>
        <p:txBody>
          <a:bodyPr/>
          <a:lstStyle/>
          <a:p>
            <a:r>
              <a:rPr lang="en-US"/>
              <a:t>Tennis Channel 2025 - CONFIDENTIAL</a:t>
            </a:r>
          </a:p>
        </p:txBody>
      </p:sp>
      <p:sp>
        <p:nvSpPr>
          <p:cNvPr id="5" name="Slide Number Placeholder 4">
            <a:extLst>
              <a:ext uri="{FF2B5EF4-FFF2-40B4-BE49-F238E27FC236}">
                <a16:creationId xmlns:a16="http://schemas.microsoft.com/office/drawing/2014/main" id="{D8B1AD28-E6B8-41E5-013F-EA3705C5052B}"/>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461587223"/>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9044EE4-4846-6C32-288C-E05F40C3111D}"/>
              </a:ext>
            </a:extLst>
          </p:cNvPr>
          <p:cNvSpPr>
            <a:spLocks noGrp="1"/>
          </p:cNvSpPr>
          <p:nvPr>
            <p:ph type="dt" sz="half" idx="10"/>
          </p:nvPr>
        </p:nvSpPr>
        <p:spPr/>
        <p:txBody>
          <a:bodyPr/>
          <a:lstStyle/>
          <a:p>
            <a:fld id="{9CBD47B3-23AB-F54B-9A7B-8C00C8081A30}" type="datetime1">
              <a:rPr lang="en-US" smtClean="0"/>
              <a:t>7/6/26</a:t>
            </a:fld>
            <a:endParaRPr lang="en-US"/>
          </a:p>
        </p:txBody>
      </p:sp>
      <p:sp>
        <p:nvSpPr>
          <p:cNvPr id="3" name="Footer Placeholder 2">
            <a:extLst>
              <a:ext uri="{FF2B5EF4-FFF2-40B4-BE49-F238E27FC236}">
                <a16:creationId xmlns:a16="http://schemas.microsoft.com/office/drawing/2014/main" id="{6261C964-1C2C-8775-5756-EB8BCF7C5D8E}"/>
              </a:ext>
            </a:extLst>
          </p:cNvPr>
          <p:cNvSpPr>
            <a:spLocks noGrp="1"/>
          </p:cNvSpPr>
          <p:nvPr>
            <p:ph type="ftr" sz="quarter" idx="11"/>
          </p:nvPr>
        </p:nvSpPr>
        <p:spPr/>
        <p:txBody>
          <a:bodyPr/>
          <a:lstStyle/>
          <a:p>
            <a:r>
              <a:rPr lang="en-US"/>
              <a:t>Tennis Channel 2025 - CONFIDENTIAL</a:t>
            </a:r>
          </a:p>
        </p:txBody>
      </p:sp>
      <p:sp>
        <p:nvSpPr>
          <p:cNvPr id="4" name="Slide Number Placeholder 3">
            <a:extLst>
              <a:ext uri="{FF2B5EF4-FFF2-40B4-BE49-F238E27FC236}">
                <a16:creationId xmlns:a16="http://schemas.microsoft.com/office/drawing/2014/main" id="{FACE2306-71B3-FBB9-6236-9950E5EAF3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78362405"/>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843BF-2A0F-47ED-D433-DF8E9551A7AC}"/>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73D69E-2B52-800B-E2F9-FE835D84C945}"/>
              </a:ext>
            </a:extLst>
          </p:cNvPr>
          <p:cNvSpPr>
            <a:spLocks noGrp="1"/>
          </p:cNvSpPr>
          <p:nvPr>
            <p:ph idx="1"/>
          </p:nvPr>
        </p:nvSpPr>
        <p:spPr>
          <a:xfrm>
            <a:off x="5247978" y="1053254"/>
            <a:ext cx="6249353" cy="519853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998016-679C-7679-BDA6-B776B0D0B0C9}"/>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C8CC95-EAA5-1963-009D-F7BA26301BCD}"/>
              </a:ext>
            </a:extLst>
          </p:cNvPr>
          <p:cNvSpPr>
            <a:spLocks noGrp="1"/>
          </p:cNvSpPr>
          <p:nvPr>
            <p:ph type="dt" sz="half" idx="10"/>
          </p:nvPr>
        </p:nvSpPr>
        <p:spPr/>
        <p:txBody>
          <a:bodyPr/>
          <a:lstStyle/>
          <a:p>
            <a:fld id="{14F30ED9-FCB1-5447-9794-AFD5F779FA3B}" type="datetime1">
              <a:rPr lang="en-US" smtClean="0"/>
              <a:t>7/6/26</a:t>
            </a:fld>
            <a:endParaRPr lang="en-US"/>
          </a:p>
        </p:txBody>
      </p:sp>
      <p:sp>
        <p:nvSpPr>
          <p:cNvPr id="6" name="Footer Placeholder 5">
            <a:extLst>
              <a:ext uri="{FF2B5EF4-FFF2-40B4-BE49-F238E27FC236}">
                <a16:creationId xmlns:a16="http://schemas.microsoft.com/office/drawing/2014/main" id="{D2646692-B664-9A1B-69AE-7EAA55E6C808}"/>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BEAE579E-2EBD-DCFD-488E-7D4D8A6274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646652161"/>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89F60-72BE-0112-F6AB-FDF9D5265274}"/>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087395E-5F3E-85C5-01AF-8B5A395FF006}"/>
              </a:ext>
            </a:extLst>
          </p:cNvPr>
          <p:cNvSpPr>
            <a:spLocks noGrp="1"/>
          </p:cNvSpPr>
          <p:nvPr>
            <p:ph type="pic" idx="1"/>
          </p:nvPr>
        </p:nvSpPr>
        <p:spPr>
          <a:xfrm>
            <a:off x="5247978" y="1053254"/>
            <a:ext cx="6249353" cy="519853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7617A5B-9716-D4C8-864D-84AB8F3DF7AA}"/>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BA2244-8C79-D9DA-DEDF-531C692C6327}"/>
              </a:ext>
            </a:extLst>
          </p:cNvPr>
          <p:cNvSpPr>
            <a:spLocks noGrp="1"/>
          </p:cNvSpPr>
          <p:nvPr>
            <p:ph type="dt" sz="half" idx="10"/>
          </p:nvPr>
        </p:nvSpPr>
        <p:spPr/>
        <p:txBody>
          <a:bodyPr/>
          <a:lstStyle/>
          <a:p>
            <a:fld id="{DA073474-B78A-B243-B4FD-D7121F5357F7}" type="datetime1">
              <a:rPr lang="en-US" smtClean="0"/>
              <a:t>7/6/26</a:t>
            </a:fld>
            <a:endParaRPr lang="en-US"/>
          </a:p>
        </p:txBody>
      </p:sp>
      <p:sp>
        <p:nvSpPr>
          <p:cNvPr id="6" name="Footer Placeholder 5">
            <a:extLst>
              <a:ext uri="{FF2B5EF4-FFF2-40B4-BE49-F238E27FC236}">
                <a16:creationId xmlns:a16="http://schemas.microsoft.com/office/drawing/2014/main" id="{F48925A5-5811-EC41-095C-E6482D873996}"/>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9823A3D9-596F-C217-ADA1-150F7A06495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6003655"/>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1DCD6-4900-D307-8B3E-845F0B83D14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DDC619-0D5E-261F-3E8E-3F35DAACDE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CCCD90-30E8-04DC-218F-7B7549CB26CB}"/>
              </a:ext>
            </a:extLst>
          </p:cNvPr>
          <p:cNvSpPr>
            <a:spLocks noGrp="1"/>
          </p:cNvSpPr>
          <p:nvPr>
            <p:ph type="dt" sz="half" idx="10"/>
          </p:nvPr>
        </p:nvSpPr>
        <p:spPr/>
        <p:txBody>
          <a:bodyPr/>
          <a:lstStyle/>
          <a:p>
            <a:fld id="{5DD0E256-82DC-B742-83EE-95D668E2CF2A}" type="datetime1">
              <a:rPr lang="en-US" smtClean="0"/>
              <a:t>7/6/26</a:t>
            </a:fld>
            <a:endParaRPr lang="en-US"/>
          </a:p>
        </p:txBody>
      </p:sp>
      <p:sp>
        <p:nvSpPr>
          <p:cNvPr id="5" name="Footer Placeholder 4">
            <a:extLst>
              <a:ext uri="{FF2B5EF4-FFF2-40B4-BE49-F238E27FC236}">
                <a16:creationId xmlns:a16="http://schemas.microsoft.com/office/drawing/2014/main" id="{1D3EFA0D-D055-1B13-E297-61A43DE8F2B3}"/>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95AF7691-A6DA-9434-C090-1F588D69FC12}"/>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073727667"/>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87BDF5-EF24-0029-DCE1-7AC24EC7CFEF}"/>
              </a:ext>
            </a:extLst>
          </p:cNvPr>
          <p:cNvSpPr>
            <a:spLocks noGrp="1"/>
          </p:cNvSpPr>
          <p:nvPr>
            <p:ph type="title" orient="vert"/>
          </p:nvPr>
        </p:nvSpPr>
        <p:spPr>
          <a:xfrm>
            <a:off x="8833961" y="389467"/>
            <a:ext cx="2661761" cy="6199294"/>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3943A6-7D60-FE02-0DAD-FE1401B4EE15}"/>
              </a:ext>
            </a:extLst>
          </p:cNvPr>
          <p:cNvSpPr>
            <a:spLocks noGrp="1"/>
          </p:cNvSpPr>
          <p:nvPr>
            <p:ph type="body" orient="vert" idx="1"/>
          </p:nvPr>
        </p:nvSpPr>
        <p:spPr>
          <a:xfrm>
            <a:off x="848677" y="389467"/>
            <a:ext cx="7830979" cy="619929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F4A4EF-C246-3BC0-F8A4-2D40BC9CAA57}"/>
              </a:ext>
            </a:extLst>
          </p:cNvPr>
          <p:cNvSpPr>
            <a:spLocks noGrp="1"/>
          </p:cNvSpPr>
          <p:nvPr>
            <p:ph type="dt" sz="half" idx="10"/>
          </p:nvPr>
        </p:nvSpPr>
        <p:spPr/>
        <p:txBody>
          <a:bodyPr/>
          <a:lstStyle/>
          <a:p>
            <a:fld id="{6E08F2DA-B790-C342-8CF1-3B2B97F389FB}" type="datetime1">
              <a:rPr lang="en-US" smtClean="0"/>
              <a:t>7/6/26</a:t>
            </a:fld>
            <a:endParaRPr lang="en-US"/>
          </a:p>
        </p:txBody>
      </p:sp>
      <p:sp>
        <p:nvSpPr>
          <p:cNvPr id="5" name="Footer Placeholder 4">
            <a:extLst>
              <a:ext uri="{FF2B5EF4-FFF2-40B4-BE49-F238E27FC236}">
                <a16:creationId xmlns:a16="http://schemas.microsoft.com/office/drawing/2014/main" id="{21A78659-C8AF-161E-4E7D-5D3EEF219ED6}"/>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C46C2202-F3E0-D5DC-F7E2-566FC445139A}"/>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35359364"/>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075072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0832AE-95EA-F660-E35B-9F761BA36B82}"/>
              </a:ext>
            </a:extLst>
          </p:cNvPr>
          <p:cNvSpPr>
            <a:spLocks noGrp="1"/>
          </p:cNvSpPr>
          <p:nvPr>
            <p:ph type="title"/>
          </p:nvPr>
        </p:nvSpPr>
        <p:spPr>
          <a:xfrm>
            <a:off x="848678" y="389467"/>
            <a:ext cx="10647045" cy="141393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A31F6F-E4B0-5C59-F323-FC6476B0321D}"/>
              </a:ext>
            </a:extLst>
          </p:cNvPr>
          <p:cNvSpPr>
            <a:spLocks noGrp="1"/>
          </p:cNvSpPr>
          <p:nvPr>
            <p:ph type="body" idx="1"/>
          </p:nvPr>
        </p:nvSpPr>
        <p:spPr>
          <a:xfrm>
            <a:off x="848678" y="1947333"/>
            <a:ext cx="10647045" cy="464142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A68926-F5FE-4122-DF92-7B0B254C8718}"/>
              </a:ext>
            </a:extLst>
          </p:cNvPr>
          <p:cNvSpPr>
            <a:spLocks noGrp="1"/>
          </p:cNvSpPr>
          <p:nvPr>
            <p:ph type="dt" sz="half" idx="2"/>
          </p:nvPr>
        </p:nvSpPr>
        <p:spPr>
          <a:xfrm>
            <a:off x="848678" y="6780107"/>
            <a:ext cx="2777490" cy="389467"/>
          </a:xfrm>
          <a:prstGeom prst="rect">
            <a:avLst/>
          </a:prstGeom>
        </p:spPr>
        <p:txBody>
          <a:bodyPr vert="horz" lIns="91440" tIns="45720" rIns="91440" bIns="45720" rtlCol="0" anchor="ctr"/>
          <a:lstStyle>
            <a:lvl1pPr algn="l">
              <a:defRPr sz="1200">
                <a:solidFill>
                  <a:schemeClr val="tx1">
                    <a:tint val="82000"/>
                  </a:schemeClr>
                </a:solidFill>
              </a:defRPr>
            </a:lvl1pPr>
          </a:lstStyle>
          <a:p>
            <a:fld id="{905F453D-07D2-4A45-8FB4-9BC139C4CB3A}" type="datetime1">
              <a:rPr lang="en-US" smtClean="0"/>
              <a:t>7/6/26</a:t>
            </a:fld>
            <a:endParaRPr lang="en-US"/>
          </a:p>
        </p:txBody>
      </p:sp>
      <p:sp>
        <p:nvSpPr>
          <p:cNvPr id="5" name="Footer Placeholder 4">
            <a:extLst>
              <a:ext uri="{FF2B5EF4-FFF2-40B4-BE49-F238E27FC236}">
                <a16:creationId xmlns:a16="http://schemas.microsoft.com/office/drawing/2014/main" id="{6485CEA4-3B6B-7E59-4DDA-7365730F344D}"/>
              </a:ext>
            </a:extLst>
          </p:cNvPr>
          <p:cNvSpPr>
            <a:spLocks noGrp="1"/>
          </p:cNvSpPr>
          <p:nvPr>
            <p:ph type="ftr" sz="quarter" idx="3"/>
          </p:nvPr>
        </p:nvSpPr>
        <p:spPr>
          <a:xfrm>
            <a:off x="4089083" y="6780107"/>
            <a:ext cx="4166235" cy="389467"/>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Tennis Channel 2025 - CONFIDENTIAL</a:t>
            </a:r>
          </a:p>
        </p:txBody>
      </p:sp>
      <p:sp>
        <p:nvSpPr>
          <p:cNvPr id="6" name="Slide Number Placeholder 5">
            <a:extLst>
              <a:ext uri="{FF2B5EF4-FFF2-40B4-BE49-F238E27FC236}">
                <a16:creationId xmlns:a16="http://schemas.microsoft.com/office/drawing/2014/main" id="{3162949E-0088-40B8-643A-0F725CFA305F}"/>
              </a:ext>
            </a:extLst>
          </p:cNvPr>
          <p:cNvSpPr>
            <a:spLocks noGrp="1"/>
          </p:cNvSpPr>
          <p:nvPr>
            <p:ph type="sldNum" sz="quarter" idx="4"/>
          </p:nvPr>
        </p:nvSpPr>
        <p:spPr>
          <a:xfrm>
            <a:off x="8718233" y="6780107"/>
            <a:ext cx="2777490" cy="389467"/>
          </a:xfrm>
          <a:prstGeom prst="rect">
            <a:avLst/>
          </a:prstGeom>
        </p:spPr>
        <p:txBody>
          <a:bodyPr vert="horz" lIns="91440" tIns="45720" rIns="91440" bIns="45720" rtlCol="0" anchor="ctr"/>
          <a:lstStyle>
            <a:lvl1pPr algn="r">
              <a:defRPr sz="1200">
                <a:solidFill>
                  <a:schemeClr val="tx1">
                    <a:tint val="82000"/>
                  </a:schemeClr>
                </a:solidFill>
              </a:defRPr>
            </a:lvl1pPr>
          </a:lstStyle>
          <a:p>
            <a:fld id="{F6DAA944-EC5F-9D44-9E3D-812366C7D5CA}" type="slidenum">
              <a:rPr lang="en-US" smtClean="0"/>
              <a:t>‹#›</a:t>
            </a:fld>
            <a:endParaRPr lang="en-US"/>
          </a:p>
        </p:txBody>
      </p:sp>
    </p:spTree>
    <p:extLst>
      <p:ext uri="{BB962C8B-B14F-4D97-AF65-F5344CB8AC3E}">
        <p14:creationId xmlns:p14="http://schemas.microsoft.com/office/powerpoint/2010/main" val="41250136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 y="27691"/>
            <a:ext cx="12344091" cy="388849"/>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 name="Text 1"/>
          <p:cNvSpPr/>
          <p:nvPr/>
        </p:nvSpPr>
        <p:spPr>
          <a:xfrm>
            <a:off x="1" y="38980"/>
            <a:ext cx="12344091" cy="388849"/>
          </a:xfrm>
          <a:prstGeom prst="rect">
            <a:avLst/>
          </a:prstGeom>
          <a:noFill/>
          <a:ln/>
        </p:spPr>
        <p:txBody>
          <a:bodyPr wrap="square" lIns="0" tIns="0" rIns="0" bIns="0" rtlCol="0" anchor="ctr"/>
          <a:lstStyle/>
          <a:p>
            <a:pPr algn="ctr"/>
            <a:r>
              <a:rPr lang="en-US" sz="1600" b="1" dirty="0">
                <a:solidFill>
                  <a:srgbClr val="000000"/>
                </a:solidFill>
                <a:latin typeface="Arial" panose="020B0604020202020204" pitchFamily="34" charset="0"/>
                <a:ea typeface="Arial" pitchFamily="34" charset="-122"/>
                <a:cs typeface="Arial" panose="020B0604020202020204" pitchFamily="34" charset="0"/>
              </a:rPr>
              <a:t>Tennis Channel Project SABR</a:t>
            </a:r>
            <a:endParaRPr lang="en-US" sz="1600" b="1" dirty="0">
              <a:latin typeface="Arial" panose="020B0604020202020204" pitchFamily="34" charset="0"/>
              <a:cs typeface="Arial" panose="020B0604020202020204" pitchFamily="34" charset="0"/>
            </a:endParaRPr>
          </a:p>
        </p:txBody>
      </p:sp>
      <p:sp>
        <p:nvSpPr>
          <p:cNvPr id="4" name="Shape 2"/>
          <p:cNvSpPr/>
          <p:nvPr/>
        </p:nvSpPr>
        <p:spPr>
          <a:xfrm>
            <a:off x="0" y="427829"/>
            <a:ext cx="12251509" cy="1017037"/>
          </a:xfrm>
          <a:prstGeom prst="rect">
            <a:avLst/>
          </a:prstGeom>
          <a:solidFill>
            <a:schemeClr val="bg1"/>
          </a:solidFill>
          <a:ln w="9525">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 name="Shape 3"/>
          <p:cNvSpPr/>
          <p:nvPr/>
        </p:nvSpPr>
        <p:spPr>
          <a:xfrm>
            <a:off x="92584" y="861593"/>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 name="Shape 4"/>
          <p:cNvSpPr/>
          <p:nvPr/>
        </p:nvSpPr>
        <p:spPr>
          <a:xfrm>
            <a:off x="92584" y="1213409"/>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 name="Shape 5"/>
          <p:cNvSpPr/>
          <p:nvPr/>
        </p:nvSpPr>
        <p:spPr>
          <a:xfrm>
            <a:off x="925830" y="611619"/>
            <a:ext cx="0" cy="833247"/>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 name="Text 6"/>
          <p:cNvSpPr/>
          <p:nvPr/>
        </p:nvSpPr>
        <p:spPr>
          <a:xfrm>
            <a:off x="148133" y="611619"/>
            <a:ext cx="759181" cy="249974"/>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OWNERS</a:t>
            </a:r>
            <a:endParaRPr lang="en-US" sz="810" dirty="0">
              <a:latin typeface="Arial" panose="020B0604020202020204" pitchFamily="34" charset="0"/>
              <a:cs typeface="Arial" panose="020B0604020202020204" pitchFamily="34" charset="0"/>
            </a:endParaRPr>
          </a:p>
        </p:txBody>
      </p:sp>
      <p:sp>
        <p:nvSpPr>
          <p:cNvPr id="9" name="Text 7"/>
          <p:cNvSpPr/>
          <p:nvPr/>
        </p:nvSpPr>
        <p:spPr>
          <a:xfrm>
            <a:off x="981380"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Keff Ratcliffe</a:t>
            </a:r>
            <a:endParaRPr lang="en-US" sz="911" dirty="0">
              <a:latin typeface="Arial" panose="020B0604020202020204" pitchFamily="34" charset="0"/>
              <a:cs typeface="Arial" panose="020B0604020202020204" pitchFamily="34" charset="0"/>
            </a:endParaRPr>
          </a:p>
        </p:txBody>
      </p:sp>
      <p:sp>
        <p:nvSpPr>
          <p:cNvPr id="10" name="Text 8"/>
          <p:cNvSpPr/>
          <p:nvPr/>
        </p:nvSpPr>
        <p:spPr>
          <a:xfrm>
            <a:off x="3246516"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Aditya Pande</a:t>
            </a:r>
            <a:endParaRPr lang="en-US" sz="911" dirty="0">
              <a:latin typeface="Arial" panose="020B0604020202020204" pitchFamily="34" charset="0"/>
              <a:cs typeface="Arial" panose="020B0604020202020204" pitchFamily="34" charset="0"/>
            </a:endParaRPr>
          </a:p>
        </p:txBody>
      </p:sp>
      <p:sp>
        <p:nvSpPr>
          <p:cNvPr id="11" name="Text 9"/>
          <p:cNvSpPr/>
          <p:nvPr/>
        </p:nvSpPr>
        <p:spPr>
          <a:xfrm>
            <a:off x="5511652"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Cristina Thompson</a:t>
            </a:r>
            <a:endParaRPr lang="en-US" sz="911" dirty="0">
              <a:latin typeface="Arial" panose="020B0604020202020204" pitchFamily="34" charset="0"/>
              <a:cs typeface="Arial" panose="020B0604020202020204" pitchFamily="34" charset="0"/>
            </a:endParaRPr>
          </a:p>
        </p:txBody>
      </p:sp>
      <p:sp>
        <p:nvSpPr>
          <p:cNvPr id="12" name="Text 10"/>
          <p:cNvSpPr/>
          <p:nvPr/>
        </p:nvSpPr>
        <p:spPr>
          <a:xfrm>
            <a:off x="7776787"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Juan Valdes</a:t>
            </a:r>
            <a:endParaRPr lang="en-US" sz="911" dirty="0">
              <a:latin typeface="Arial" panose="020B0604020202020204" pitchFamily="34" charset="0"/>
              <a:cs typeface="Arial" panose="020B0604020202020204" pitchFamily="34" charset="0"/>
            </a:endParaRPr>
          </a:p>
        </p:txBody>
      </p:sp>
      <p:sp>
        <p:nvSpPr>
          <p:cNvPr id="13" name="Text 11"/>
          <p:cNvSpPr/>
          <p:nvPr/>
        </p:nvSpPr>
        <p:spPr>
          <a:xfrm>
            <a:off x="10041923"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Chris Krueger</a:t>
            </a:r>
            <a:endParaRPr lang="en-US" sz="911" dirty="0">
              <a:latin typeface="Arial" panose="020B0604020202020204" pitchFamily="34" charset="0"/>
              <a:cs typeface="Arial" panose="020B0604020202020204" pitchFamily="34" charset="0"/>
            </a:endParaRPr>
          </a:p>
        </p:txBody>
      </p:sp>
      <p:sp>
        <p:nvSpPr>
          <p:cNvPr id="14" name="Text 12"/>
          <p:cNvSpPr/>
          <p:nvPr/>
        </p:nvSpPr>
        <p:spPr>
          <a:xfrm>
            <a:off x="148133" y="861594"/>
            <a:ext cx="759181" cy="351815"/>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GOAL</a:t>
            </a:r>
            <a:endParaRPr lang="en-US" sz="810" dirty="0">
              <a:latin typeface="Arial" panose="020B0604020202020204" pitchFamily="34" charset="0"/>
              <a:cs typeface="Arial" panose="020B0604020202020204" pitchFamily="34" charset="0"/>
            </a:endParaRPr>
          </a:p>
        </p:txBody>
      </p:sp>
      <p:sp>
        <p:nvSpPr>
          <p:cNvPr id="15" name="Text 13"/>
          <p:cNvSpPr/>
          <p:nvPr/>
        </p:nvSpPr>
        <p:spPr>
          <a:xfrm>
            <a:off x="981380" y="861594"/>
            <a:ext cx="11233095" cy="351815"/>
          </a:xfrm>
          <a:prstGeom prst="rect">
            <a:avLst/>
          </a:prstGeom>
          <a:noFill/>
          <a:ln/>
        </p:spPr>
        <p:txBody>
          <a:bodyPr wrap="square" lIns="0" tIns="0" rIns="0" bIns="0" rtlCol="0" anchor="ctr"/>
          <a:lstStyle/>
          <a:p>
            <a:r>
              <a:rPr lang="en-US" sz="861" dirty="0">
                <a:solidFill>
                  <a:srgbClr val="1A1A1A"/>
                </a:solidFill>
                <a:latin typeface="Arial" panose="020B0604020202020204" pitchFamily="34" charset="0"/>
                <a:ea typeface="Calibri" pitchFamily="34" charset="-122"/>
                <a:cs typeface="Arial" panose="020B0604020202020204" pitchFamily="34" charset="0"/>
              </a:rPr>
              <a:t>Rebuilding Tennis Channel OTT (web, iOS, Android, CTV) on its own platform, powered by Match Central replacing Sport Radar stack.</a:t>
            </a:r>
            <a:endParaRPr lang="en-US" sz="861" dirty="0">
              <a:latin typeface="Arial" panose="020B0604020202020204" pitchFamily="34" charset="0"/>
              <a:cs typeface="Arial" panose="020B0604020202020204" pitchFamily="34" charset="0"/>
            </a:endParaRPr>
          </a:p>
        </p:txBody>
      </p:sp>
      <p:sp>
        <p:nvSpPr>
          <p:cNvPr id="16" name="Text 14"/>
          <p:cNvSpPr/>
          <p:nvPr/>
        </p:nvSpPr>
        <p:spPr>
          <a:xfrm>
            <a:off x="148133" y="1213409"/>
            <a:ext cx="759181" cy="231458"/>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LAUNCH</a:t>
            </a:r>
            <a:endParaRPr lang="en-US" sz="810" dirty="0">
              <a:latin typeface="Arial" panose="020B0604020202020204" pitchFamily="34" charset="0"/>
              <a:cs typeface="Arial" panose="020B0604020202020204" pitchFamily="34" charset="0"/>
            </a:endParaRPr>
          </a:p>
        </p:txBody>
      </p:sp>
      <p:sp>
        <p:nvSpPr>
          <p:cNvPr id="17" name="Text 15"/>
          <p:cNvSpPr/>
          <p:nvPr/>
        </p:nvSpPr>
        <p:spPr>
          <a:xfrm>
            <a:off x="981380" y="1213409"/>
            <a:ext cx="11233095" cy="231458"/>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December 1, 2026</a:t>
            </a:r>
            <a:endParaRPr lang="en-US" sz="911" dirty="0">
              <a:latin typeface="Arial" panose="020B0604020202020204" pitchFamily="34" charset="0"/>
              <a:cs typeface="Arial" panose="020B0604020202020204" pitchFamily="34" charset="0"/>
            </a:endParaRPr>
          </a:p>
        </p:txBody>
      </p:sp>
      <p:sp>
        <p:nvSpPr>
          <p:cNvPr id="18" name="Shape 16"/>
          <p:cNvSpPr/>
          <p:nvPr/>
        </p:nvSpPr>
        <p:spPr>
          <a:xfrm>
            <a:off x="0" y="1463382"/>
            <a:ext cx="12251509" cy="312747"/>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9" name="Text 17"/>
          <p:cNvSpPr/>
          <p:nvPr/>
        </p:nvSpPr>
        <p:spPr>
          <a:xfrm>
            <a:off x="92584" y="1463383"/>
            <a:ext cx="12158925" cy="249974"/>
          </a:xfrm>
          <a:prstGeom prst="rect">
            <a:avLst/>
          </a:prstGeom>
          <a:noFill/>
          <a:ln/>
        </p:spPr>
        <p:txBody>
          <a:bodyPr wrap="square" lIns="0" tIns="102870" rIns="0" bIns="0" rtlCol="0" anchor="ctr"/>
          <a:lstStyle/>
          <a:p>
            <a:r>
              <a:rPr lang="en-US" sz="1114" b="1" dirty="0">
                <a:solidFill>
                  <a:srgbClr val="000000"/>
                </a:solidFill>
                <a:latin typeface="Arial" panose="020B0604020202020204" pitchFamily="34" charset="0"/>
                <a:ea typeface="Calibri" pitchFamily="34" charset="-122"/>
                <a:cs typeface="Arial" panose="020B0604020202020204" pitchFamily="34" charset="0"/>
              </a:rPr>
              <a:t>This Week</a:t>
            </a:r>
            <a:endParaRPr lang="en-US" sz="1114" b="1" dirty="0">
              <a:latin typeface="Arial" panose="020B0604020202020204" pitchFamily="34" charset="0"/>
              <a:cs typeface="Arial" panose="020B0604020202020204" pitchFamily="34" charset="0"/>
            </a:endParaRPr>
          </a:p>
        </p:txBody>
      </p:sp>
      <p:sp>
        <p:nvSpPr>
          <p:cNvPr id="20" name="Shape 18"/>
          <p:cNvSpPr/>
          <p:nvPr/>
        </p:nvSpPr>
        <p:spPr>
          <a:xfrm>
            <a:off x="0" y="1787423"/>
            <a:ext cx="12344400" cy="5488784"/>
          </a:xfrm>
          <a:prstGeom prst="rect">
            <a:avLst/>
          </a:prstGeom>
          <a:solidFill>
            <a:schemeClr val="bg1"/>
          </a:solidFill>
          <a:ln w="9525">
            <a:solidFill>
              <a:srgbClr val="D1D5DB"/>
            </a:solidFill>
            <a:prstDash val="solid"/>
          </a:ln>
        </p:spPr>
        <p:txBody>
          <a:bodyPr/>
          <a:lstStyle/>
          <a:p>
            <a:pPr lvl="0">
              <a:buClr>
                <a:srgbClr val="000000"/>
              </a:buClr>
              <a:defRPr/>
            </a:pPr>
            <a:r>
              <a:rPr lang="en-US" sz="1200" b="1" dirty="0">
                <a:solidFill>
                  <a:srgbClr val="0A0A0A"/>
                </a:solidFill>
                <a:highlight>
                  <a:srgbClr val="FFFFFF"/>
                </a:highlight>
                <a:latin typeface="Arial" panose="020B0604020202020204" pitchFamily="34" charset="0"/>
                <a:cs typeface="Arial" panose="020B0604020202020204" pitchFamily="34" charset="0"/>
              </a:rPr>
              <a:t>7/8 Update</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Amagi (Streaming Orchestration) - Several long-standing design questions were resolved this week: the Prime/Ward acknowledgment schema, day-boundary event grouping, and the manual start/stop orchestration model. The remaining open question is how to cut off viewers of a finished match on a shared stream without disrupting others; Amagi is researching a CDN-edge/token approach and owes an estimate by the July 8 call. DRM credentials are due Friday, message-level testing with dummy data starts the week of July 6, and Amagi's full orchestration readiness is targeted for July 15.</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Adobe Pass / MVPD - The Adobe Pass integration is transitioning from setup into implementation. The registered application and API documentation are in hand, and Tennis Channel is reviewing the implementation package while configuring domain whitelisting and platform settings. On the app side, a basic prototype of the provider authentication flow is built and currently hardcoded to DirecTV for testing. Recurring working sessions are being scheduled, with a possible dedicated Slack channel to speed up onboarding.</a:t>
            </a:r>
          </a:p>
          <a:p>
            <a:endParaRPr lang="en-US" sz="1215" dirty="0">
              <a:latin typeface="Arial" panose="020B0604020202020204" pitchFamily="34" charset="0"/>
              <a:cs typeface="Arial" panose="020B0604020202020204" pitchFamily="34" charset="0"/>
            </a:endParaRPr>
          </a:p>
          <a:p>
            <a:r>
              <a:rPr lang="en-US" sz="1215" dirty="0" err="1">
                <a:latin typeface="Arial" panose="020B0604020202020204" pitchFamily="34" charset="0"/>
                <a:cs typeface="Arial" panose="020B0604020202020204" pitchFamily="34" charset="0"/>
              </a:rPr>
              <a:t>Foxxum</a:t>
            </a:r>
            <a:r>
              <a:rPr lang="en-US" sz="1215" dirty="0">
                <a:latin typeface="Arial" panose="020B0604020202020204" pitchFamily="34" charset="0"/>
                <a:cs typeface="Arial" panose="020B0604020202020204" pitchFamily="34" charset="0"/>
              </a:rPr>
              <a:t> - Technical discovery is progressing well, with both teams aligned on the target architecture for authentication, subscription, playback, and platform integration. Focus is now shifting from architecture to execution: documentation, provisioning </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finalizing API definitions, and validating implementation across platforms. No major blockers were identified, though documentation and third-party environment delays remain a watch item.</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Platform Engineering (Website &amp; Mobile) On the new website, the front-end foundation shipped and CMS, carousel,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and Adobe Pass work are all progressing, alongside an early proof-of-concept test of the video player. On mobile, the app moved off mock data onto the live backend across Home, Live, Schedule, and Tournaments, entitlement and login groundwork is in place ahead of the real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backend, and DRM stubs were handed to Amagi for integration testing.</a:t>
            </a:r>
          </a:p>
        </p:txBody>
      </p:sp>
      <p:sp>
        <p:nvSpPr>
          <p:cNvPr id="21" name="Text 19"/>
          <p:cNvSpPr/>
          <p:nvPr/>
        </p:nvSpPr>
        <p:spPr>
          <a:xfrm>
            <a:off x="231458" y="1787423"/>
            <a:ext cx="12020051" cy="4832833"/>
          </a:xfrm>
          <a:prstGeom prst="rect">
            <a:avLst/>
          </a:prstGeom>
          <a:noFill/>
          <a:ln/>
        </p:spPr>
        <p:txBody>
          <a:bodyPr wrap="square" rtlCol="0" anchor="t"/>
          <a:lstStyle/>
          <a:p>
            <a:pPr>
              <a:spcAft>
                <a:spcPts val="608"/>
              </a:spcAft>
            </a:pPr>
            <a:endParaRPr lang="en-US" sz="1164" dirty="0">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Jul 8,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sp>
      <p:sp>
        <p:nvSpPr>
          <p:cNvPr id="9" name="Text 7"/>
          <p:cNvSpPr/>
          <p:nvPr/>
        </p:nvSpPr>
        <p:spPr>
          <a:xfrm>
            <a:off x="164592"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Redlined from TC legal, Bitmovin reviewing.</a:t>
            </a:r>
            <a:endParaRPr lang="en-US" sz="650" dirty="0"/>
          </a:p>
        </p:txBody>
      </p:sp>
      <p:sp>
        <p:nvSpPr>
          <p:cNvPr id="11" name="Shape 9"/>
          <p:cNvSpPr/>
          <p:nvPr/>
        </p:nvSpPr>
        <p:spPr>
          <a:xfrm>
            <a:off x="5230368" y="955548"/>
            <a:ext cx="822960" cy="173736"/>
          </a:xfrm>
          <a:prstGeom prst="roundRect">
            <a:avLst>
              <a:gd name="adj" fmla="val 15789"/>
            </a:avLst>
          </a:prstGeom>
          <a:solidFill>
            <a:srgbClr val="1558A8"/>
          </a:solidFill>
          <a:ln w="12700">
            <a:solidFill>
              <a:srgbClr val="1558A8"/>
            </a:solidFill>
            <a:prstDash val="solid"/>
          </a:ln>
        </p:spPr>
      </p:sp>
      <p:sp>
        <p:nvSpPr>
          <p:cNvPr id="12" name="Text 10"/>
          <p:cNvSpPr/>
          <p:nvPr/>
        </p:nvSpPr>
        <p:spPr>
          <a:xfrm>
            <a:off x="5230368"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sp>
      <p:sp>
        <p:nvSpPr>
          <p:cNvPr id="14" name="Text 12"/>
          <p:cNvSpPr/>
          <p:nvPr/>
        </p:nvSpPr>
        <p:spPr>
          <a:xfrm>
            <a:off x="164592"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485900"/>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sp>
      <p:sp>
        <p:nvSpPr>
          <p:cNvPr id="19" name="Shape 17"/>
          <p:cNvSpPr/>
          <p:nvPr/>
        </p:nvSpPr>
        <p:spPr>
          <a:xfrm>
            <a:off x="91440" y="1837944"/>
            <a:ext cx="6016752" cy="0"/>
          </a:xfrm>
          <a:prstGeom prst="line">
            <a:avLst/>
          </a:prstGeom>
          <a:noFill/>
          <a:ln w="6350">
            <a:solidFill>
              <a:srgbClr val="E5E7EB"/>
            </a:solidFill>
            <a:prstDash val="solid"/>
          </a:ln>
        </p:spPr>
      </p:sp>
      <p:sp>
        <p:nvSpPr>
          <p:cNvPr id="20" name="Text 18"/>
          <p:cNvSpPr/>
          <p:nvPr/>
        </p:nvSpPr>
        <p:spPr>
          <a:xfrm>
            <a:off x="164592"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Amagi Contract Cost Review: Provide Sinclair with details on cost savings for Amagi by following up with Mike Kralik and Kevin Kotlove. (Ari)</a:t>
            </a:r>
            <a:endParaRPr lang="en-US" sz="650" dirty="0"/>
          </a:p>
        </p:txBody>
      </p:sp>
      <p:sp>
        <p:nvSpPr>
          <p:cNvPr id="22" name="Shape 20"/>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sp>
      <p:sp>
        <p:nvSpPr>
          <p:cNvPr id="23" name="Text 21"/>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sp>
      <p:sp>
        <p:nvSpPr>
          <p:cNvPr id="25" name="Text 23"/>
          <p:cNvSpPr/>
          <p:nvPr/>
        </p:nvSpPr>
        <p:spPr>
          <a:xfrm>
            <a:off x="164592"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Redlined, contract sent out to FOXXUM for review on 7/2.</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sp>
      <p:sp>
        <p:nvSpPr>
          <p:cNvPr id="30" name="Shape 28"/>
          <p:cNvSpPr/>
          <p:nvPr/>
        </p:nvSpPr>
        <p:spPr>
          <a:xfrm>
            <a:off x="91440" y="2898648"/>
            <a:ext cx="6016752" cy="0"/>
          </a:xfrm>
          <a:prstGeom prst="line">
            <a:avLst/>
          </a:prstGeom>
          <a:noFill/>
          <a:ln w="6350">
            <a:solidFill>
              <a:srgbClr val="E5E7EB"/>
            </a:solidFill>
            <a:prstDash val="solid"/>
          </a:ln>
        </p:spPr>
      </p:sp>
      <p:sp>
        <p:nvSpPr>
          <p:cNvPr id="31" name="Text 29"/>
          <p:cNvSpPr/>
          <p:nvPr/>
        </p:nvSpPr>
        <p:spPr>
          <a:xfrm>
            <a:off x="164592"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Discussions will begin end of week or first week of July. Due by end of July.</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sp>
      <p:sp>
        <p:nvSpPr>
          <p:cNvPr id="37" name="Text 35"/>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530352"/>
          </a:xfrm>
          <a:prstGeom prst="rect">
            <a:avLst/>
          </a:prstGeom>
          <a:solidFill>
            <a:srgbClr val="FFFFFF"/>
          </a:solidFill>
          <a:ln w="3175">
            <a:solidFill>
              <a:srgbClr val="E5E7EB"/>
            </a:solidFill>
            <a:prstDash val="solid"/>
          </a:ln>
        </p:spPr>
      </p:sp>
      <p:sp>
        <p:nvSpPr>
          <p:cNvPr id="39" name="Text 37"/>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2" name="Text 40"/>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3" name="Shape 41"/>
          <p:cNvSpPr/>
          <p:nvPr/>
        </p:nvSpPr>
        <p:spPr>
          <a:xfrm>
            <a:off x="6236208" y="1307592"/>
            <a:ext cx="6016752" cy="0"/>
          </a:xfrm>
          <a:prstGeom prst="line">
            <a:avLst/>
          </a:prstGeom>
          <a:noFill/>
          <a:ln w="6350">
            <a:solidFill>
              <a:srgbClr val="E5E7EB"/>
            </a:solidFill>
            <a:prstDash val="solid"/>
          </a:ln>
        </p:spPr>
      </p:sp>
      <p:sp>
        <p:nvSpPr>
          <p:cNvPr id="44" name="Text 42"/>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45" name="Text 43"/>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Migrated the app off mock data onto the live backend (Home, Live, Schedule, Tournaments now show real content and real playback). Shipped ~35 merged updates.</a:t>
            </a:r>
            <a:endParaRPr lang="en-US" sz="650" dirty="0"/>
          </a:p>
        </p:txBody>
      </p:sp>
      <p:sp>
        <p:nvSpPr>
          <p:cNvPr id="46" name="Shape 44"/>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837944"/>
            <a:ext cx="6016752" cy="530352"/>
          </a:xfrm>
          <a:prstGeom prst="rect">
            <a:avLst/>
          </a:prstGeom>
          <a:solidFill>
            <a:srgbClr val="FFFFFF"/>
          </a:solidFill>
          <a:ln w="3175">
            <a:solidFill>
              <a:srgbClr val="E5E7EB"/>
            </a:solidFill>
            <a:prstDash val="solid"/>
          </a:ln>
        </p:spPr>
      </p:sp>
      <p:sp>
        <p:nvSpPr>
          <p:cNvPr id="49" name="Shape 47"/>
          <p:cNvSpPr/>
          <p:nvPr/>
        </p:nvSpPr>
        <p:spPr>
          <a:xfrm>
            <a:off x="6236208" y="1837944"/>
            <a:ext cx="6016752" cy="0"/>
          </a:xfrm>
          <a:prstGeom prst="line">
            <a:avLst/>
          </a:prstGeom>
          <a:noFill/>
          <a:ln w="6350">
            <a:solidFill>
              <a:srgbClr val="E5E7EB"/>
            </a:solidFill>
            <a:prstDash val="solid"/>
          </a:ln>
        </p:spPr>
      </p:sp>
      <p:sp>
        <p:nvSpPr>
          <p:cNvPr id="50" name="Text 48"/>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1" name="Text 49"/>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Prototyping Auth0/Cleeng login, building out CMS widget support, and standing up Adobe Pass provider management. Carousel page engine and backend refresh API delivered.</a:t>
            </a:r>
            <a:endParaRPr lang="en-US" sz="650" dirty="0"/>
          </a:p>
        </p:txBody>
      </p:sp>
      <p:sp>
        <p:nvSpPr>
          <p:cNvPr id="52" name="Shape 50"/>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2368296"/>
            <a:ext cx="6016752" cy="0"/>
          </a:xfrm>
          <a:prstGeom prst="line">
            <a:avLst/>
          </a:prstGeom>
          <a:noFill/>
          <a:ln w="6350">
            <a:solidFill>
              <a:srgbClr val="E5E7EB"/>
            </a:solidFill>
            <a:prstDash val="solid"/>
          </a:ln>
        </p:spPr>
      </p:sp>
      <p:sp>
        <p:nvSpPr>
          <p:cNvPr id="55" name="Text 53"/>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56" name="Text 54"/>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Moving control of Tennis Channel's website hosting setup in-house — same approach already used successfully for Tennis.com — giving us more control ahead of launch.</a:t>
            </a:r>
            <a:endParaRPr lang="en-US" sz="650" dirty="0"/>
          </a:p>
        </p:txBody>
      </p:sp>
      <p:sp>
        <p:nvSpPr>
          <p:cNvPr id="57" name="Shape 55"/>
          <p:cNvSpPr/>
          <p:nvPr/>
        </p:nvSpPr>
        <p:spPr>
          <a:xfrm>
            <a:off x="11375136" y="2546604"/>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2898648"/>
            <a:ext cx="6016752" cy="530352"/>
          </a:xfrm>
          <a:prstGeom prst="rect">
            <a:avLst/>
          </a:prstGeom>
          <a:solidFill>
            <a:srgbClr val="FFFFFF"/>
          </a:solidFill>
          <a:ln w="3175">
            <a:solidFill>
              <a:srgbClr val="E5E7EB"/>
            </a:solidFill>
            <a:prstDash val="solid"/>
          </a:ln>
        </p:spPr>
      </p:sp>
      <p:sp>
        <p:nvSpPr>
          <p:cNvPr id="60" name="Shape 58"/>
          <p:cNvSpPr/>
          <p:nvPr/>
        </p:nvSpPr>
        <p:spPr>
          <a:xfrm>
            <a:off x="6236208" y="2898648"/>
            <a:ext cx="6016752" cy="0"/>
          </a:xfrm>
          <a:prstGeom prst="line">
            <a:avLst/>
          </a:prstGeom>
          <a:noFill/>
          <a:ln w="6350">
            <a:solidFill>
              <a:srgbClr val="E5E7EB"/>
            </a:solidFill>
            <a:prstDash val="solid"/>
          </a:ln>
        </p:spPr>
      </p:sp>
      <p:sp>
        <p:nvSpPr>
          <p:cNvPr id="61" name="Text 59"/>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2" name="Text 60"/>
          <p:cNvSpPr/>
          <p:nvPr/>
        </p:nvSpPr>
        <p:spPr>
          <a:xfrm>
            <a:off x="7104888" y="2926080"/>
            <a:ext cx="4178808" cy="475488"/>
          </a:xfrm>
          <a:prstGeom prst="rect">
            <a:avLst/>
          </a:prstGeom>
          <a:noFill/>
          <a:ln/>
        </p:spPr>
        <p:txBody>
          <a:bodyPr wrap="square" lIns="0" tIns="0" rIns="0" bIns="0" rtlCol="0" anchor="t"/>
          <a:lstStyle/>
          <a:p>
            <a:pPr indent="0" marL="0">
              <a:buNone/>
            </a:pPr>
            <a:endParaRPr lang="en-US" sz="650" dirty="0"/>
          </a:p>
        </p:txBody>
      </p:sp>
      <p:sp>
        <p:nvSpPr>
          <p:cNvPr id="63" name="Shape 61"/>
          <p:cNvSpPr/>
          <p:nvPr/>
        </p:nvSpPr>
        <p:spPr>
          <a:xfrm>
            <a:off x="11375136" y="3076956"/>
            <a:ext cx="822960" cy="173736"/>
          </a:xfrm>
          <a:prstGeom prst="roundRect">
            <a:avLst>
              <a:gd name="adj" fmla="val 15789"/>
            </a:avLst>
          </a:prstGeom>
          <a:solidFill>
            <a:srgbClr val="F3F4F6"/>
          </a:solidFill>
          <a:ln w="9525">
            <a:solidFill>
              <a:srgbClr val="D1D5DB"/>
            </a:solidFill>
            <a:prstDash val="solid"/>
          </a:ln>
        </p:spPr>
      </p:sp>
      <p:sp>
        <p:nvSpPr>
          <p:cNvPr id="64" name="Text 62"/>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Not Started</a:t>
            </a:r>
            <a:endParaRPr lang="en-US" sz="650" dirty="0"/>
          </a:p>
        </p:txBody>
      </p:sp>
      <p:sp>
        <p:nvSpPr>
          <p:cNvPr id="65" name="Shape 63"/>
          <p:cNvSpPr/>
          <p:nvPr/>
        </p:nvSpPr>
        <p:spPr>
          <a:xfrm>
            <a:off x="91440" y="3502152"/>
            <a:ext cx="6016752" cy="3749040"/>
          </a:xfrm>
          <a:prstGeom prst="rect">
            <a:avLst/>
          </a:prstGeom>
          <a:solidFill>
            <a:srgbClr val="FAFBFC"/>
          </a:solidFill>
          <a:ln w="9525">
            <a:solidFill>
              <a:srgbClr val="D1D5DB"/>
            </a:solidFill>
            <a:prstDash val="solid"/>
          </a:ln>
        </p:spPr>
      </p:sp>
      <p:sp>
        <p:nvSpPr>
          <p:cNvPr id="66" name="Shape 64"/>
          <p:cNvSpPr/>
          <p:nvPr/>
        </p:nvSpPr>
        <p:spPr>
          <a:xfrm>
            <a:off x="91440" y="3502152"/>
            <a:ext cx="6016752" cy="274320"/>
          </a:xfrm>
          <a:prstGeom prst="rect">
            <a:avLst/>
          </a:prstGeom>
          <a:solidFill>
            <a:srgbClr val="8ED973"/>
          </a:solidFill>
          <a:ln w="12700">
            <a:solidFill>
              <a:srgbClr val="8ED973"/>
            </a:solidFill>
            <a:prstDash val="solid"/>
          </a:ln>
        </p:spPr>
      </p:sp>
      <p:sp>
        <p:nvSpPr>
          <p:cNvPr id="67" name="Text 65"/>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68" name="Shape 66"/>
          <p:cNvSpPr/>
          <p:nvPr/>
        </p:nvSpPr>
        <p:spPr>
          <a:xfrm>
            <a:off x="91440" y="3776472"/>
            <a:ext cx="6016752" cy="1158240"/>
          </a:xfrm>
          <a:prstGeom prst="rect">
            <a:avLst/>
          </a:prstGeom>
          <a:solidFill>
            <a:srgbClr val="FFFFFF"/>
          </a:solidFill>
          <a:ln w="3175">
            <a:solidFill>
              <a:srgbClr val="E5E7EB"/>
            </a:solidFill>
            <a:prstDash val="solid"/>
          </a:ln>
        </p:spPr>
      </p:sp>
      <p:sp>
        <p:nvSpPr>
          <p:cNvPr id="69" name="Text 67"/>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0" name="Text 68"/>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Adobe Pass integration underway for MVPD access; CMS-based provider management being brought into the web app, with basic prototypes built and currently hardcoded to DirecTV for testing.</a:t>
            </a:r>
            <a:endParaRPr lang="en-US" sz="650" dirty="0"/>
          </a:p>
        </p:txBody>
      </p:sp>
      <p:sp>
        <p:nvSpPr>
          <p:cNvPr id="71" name="Shape 69"/>
          <p:cNvSpPr/>
          <p:nvPr/>
        </p:nvSpPr>
        <p:spPr>
          <a:xfrm>
            <a:off x="5230368" y="4268724"/>
            <a:ext cx="822960" cy="173736"/>
          </a:xfrm>
          <a:prstGeom prst="roundRect">
            <a:avLst>
              <a:gd name="adj" fmla="val 15789"/>
            </a:avLst>
          </a:prstGeom>
          <a:solidFill>
            <a:srgbClr val="1558A8"/>
          </a:solidFill>
          <a:ln w="12700">
            <a:solidFill>
              <a:srgbClr val="1558A8"/>
            </a:solidFill>
            <a:prstDash val="solid"/>
          </a:ln>
        </p:spPr>
      </p:sp>
      <p:sp>
        <p:nvSpPr>
          <p:cNvPr id="72" name="Text 70"/>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3" name="Shape 71"/>
          <p:cNvSpPr/>
          <p:nvPr/>
        </p:nvSpPr>
        <p:spPr>
          <a:xfrm>
            <a:off x="91440" y="4934712"/>
            <a:ext cx="6016752" cy="0"/>
          </a:xfrm>
          <a:prstGeom prst="line">
            <a:avLst/>
          </a:prstGeom>
          <a:noFill/>
          <a:ln w="6350">
            <a:solidFill>
              <a:srgbClr val="E5E7EB"/>
            </a:solidFill>
            <a:prstDash val="solid"/>
          </a:ln>
        </p:spPr>
      </p:sp>
      <p:sp>
        <p:nvSpPr>
          <p:cNvPr id="74" name="Text 72"/>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75" name="Text 73"/>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6" name="Shape 74"/>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77" name="Text 75"/>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8" name="Shape 76"/>
          <p:cNvSpPr/>
          <p:nvPr/>
        </p:nvSpPr>
        <p:spPr>
          <a:xfrm>
            <a:off x="91440" y="6092952"/>
            <a:ext cx="6016752" cy="1158240"/>
          </a:xfrm>
          <a:prstGeom prst="rect">
            <a:avLst/>
          </a:prstGeom>
          <a:solidFill>
            <a:srgbClr val="FFFFFF"/>
          </a:solidFill>
          <a:ln w="3175">
            <a:solidFill>
              <a:srgbClr val="E5E7EB"/>
            </a:solidFill>
            <a:prstDash val="solid"/>
          </a:ln>
        </p:spPr>
      </p:sp>
      <p:sp>
        <p:nvSpPr>
          <p:cNvPr id="79" name="Shape 77"/>
          <p:cNvSpPr/>
          <p:nvPr/>
        </p:nvSpPr>
        <p:spPr>
          <a:xfrm>
            <a:off x="91440" y="6092952"/>
            <a:ext cx="6016752" cy="0"/>
          </a:xfrm>
          <a:prstGeom prst="line">
            <a:avLst/>
          </a:prstGeom>
          <a:noFill/>
          <a:ln w="6350">
            <a:solidFill>
              <a:srgbClr val="E5E7EB"/>
            </a:solidFill>
            <a:prstDash val="solid"/>
          </a:ln>
        </p:spPr>
      </p:sp>
      <p:sp>
        <p:nvSpPr>
          <p:cNvPr id="80" name="Text 78"/>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1" name="Text 79"/>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82" name="Shape 80"/>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3" name="Text 81"/>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4" name="Shape 82"/>
          <p:cNvSpPr/>
          <p:nvPr/>
        </p:nvSpPr>
        <p:spPr>
          <a:xfrm>
            <a:off x="6236208" y="3502152"/>
            <a:ext cx="6016752" cy="3749040"/>
          </a:xfrm>
          <a:prstGeom prst="rect">
            <a:avLst/>
          </a:prstGeom>
          <a:solidFill>
            <a:srgbClr val="FAFBFC"/>
          </a:solidFill>
          <a:ln w="9525">
            <a:solidFill>
              <a:srgbClr val="D1D5DB"/>
            </a:solidFill>
            <a:prstDash val="solid"/>
          </a:ln>
        </p:spPr>
      </p:sp>
      <p:sp>
        <p:nvSpPr>
          <p:cNvPr id="85" name="Shape 83"/>
          <p:cNvSpPr/>
          <p:nvPr/>
        </p:nvSpPr>
        <p:spPr>
          <a:xfrm>
            <a:off x="6236208" y="3502152"/>
            <a:ext cx="6016752" cy="274320"/>
          </a:xfrm>
          <a:prstGeom prst="rect">
            <a:avLst/>
          </a:prstGeom>
          <a:solidFill>
            <a:srgbClr val="8ED973"/>
          </a:solidFill>
          <a:ln w="12700">
            <a:solidFill>
              <a:srgbClr val="8ED973"/>
            </a:solidFill>
            <a:prstDash val="solid"/>
          </a:ln>
        </p:spPr>
      </p:sp>
      <p:sp>
        <p:nvSpPr>
          <p:cNvPr id="86" name="Text 84"/>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87" name="Shape 85"/>
          <p:cNvSpPr/>
          <p:nvPr/>
        </p:nvSpPr>
        <p:spPr>
          <a:xfrm>
            <a:off x="6236208" y="3776472"/>
            <a:ext cx="6016752" cy="868680"/>
          </a:xfrm>
          <a:prstGeom prst="rect">
            <a:avLst/>
          </a:prstGeom>
          <a:solidFill>
            <a:srgbClr val="FFFFFF"/>
          </a:solidFill>
          <a:ln w="3175">
            <a:solidFill>
              <a:srgbClr val="E5E7EB"/>
            </a:solidFill>
            <a:prstDash val="solid"/>
          </a:ln>
        </p:spPr>
      </p:sp>
      <p:sp>
        <p:nvSpPr>
          <p:cNvPr id="88" name="Text 86"/>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89" name="Text 87"/>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90" name="Shape 88"/>
          <p:cNvSpPr/>
          <p:nvPr/>
        </p:nvSpPr>
        <p:spPr>
          <a:xfrm>
            <a:off x="11375136" y="4123944"/>
            <a:ext cx="822960" cy="173736"/>
          </a:xfrm>
          <a:prstGeom prst="roundRect">
            <a:avLst>
              <a:gd name="adj" fmla="val 15789"/>
            </a:avLst>
          </a:prstGeom>
          <a:solidFill>
            <a:srgbClr val="1558A8"/>
          </a:solidFill>
          <a:ln w="12700">
            <a:solidFill>
              <a:srgbClr val="1558A8"/>
            </a:solidFill>
            <a:prstDash val="solid"/>
          </a:ln>
        </p:spPr>
      </p:sp>
      <p:sp>
        <p:nvSpPr>
          <p:cNvPr id="91" name="Text 89"/>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2" name="Shape 90"/>
          <p:cNvSpPr/>
          <p:nvPr/>
        </p:nvSpPr>
        <p:spPr>
          <a:xfrm>
            <a:off x="6236208" y="4645152"/>
            <a:ext cx="6016752" cy="0"/>
          </a:xfrm>
          <a:prstGeom prst="line">
            <a:avLst/>
          </a:prstGeom>
          <a:noFill/>
          <a:ln w="6350">
            <a:solidFill>
              <a:srgbClr val="E5E7EB"/>
            </a:solidFill>
            <a:prstDash val="solid"/>
          </a:ln>
        </p:spPr>
      </p:sp>
      <p:sp>
        <p:nvSpPr>
          <p:cNvPr id="93" name="Text 91"/>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4" name="Text 92"/>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95" name="Shape 93"/>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96" name="Text 94"/>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7" name="Shape 95"/>
          <p:cNvSpPr/>
          <p:nvPr/>
        </p:nvSpPr>
        <p:spPr>
          <a:xfrm>
            <a:off x="6236208" y="5513832"/>
            <a:ext cx="6016752" cy="868680"/>
          </a:xfrm>
          <a:prstGeom prst="rect">
            <a:avLst/>
          </a:prstGeom>
          <a:solidFill>
            <a:srgbClr val="FFFFFF"/>
          </a:solidFill>
          <a:ln w="3175">
            <a:solidFill>
              <a:srgbClr val="E5E7EB"/>
            </a:solidFill>
            <a:prstDash val="solid"/>
          </a:ln>
        </p:spPr>
      </p:sp>
      <p:sp>
        <p:nvSpPr>
          <p:cNvPr id="98" name="Shape 96"/>
          <p:cNvSpPr/>
          <p:nvPr/>
        </p:nvSpPr>
        <p:spPr>
          <a:xfrm>
            <a:off x="6236208" y="5513832"/>
            <a:ext cx="6016752" cy="0"/>
          </a:xfrm>
          <a:prstGeom prst="line">
            <a:avLst/>
          </a:prstGeom>
          <a:noFill/>
          <a:ln w="6350">
            <a:solidFill>
              <a:srgbClr val="E5E7EB"/>
            </a:solidFill>
            <a:prstDash val="solid"/>
          </a:ln>
        </p:spPr>
      </p:sp>
      <p:sp>
        <p:nvSpPr>
          <p:cNvPr id="99" name="Text 97"/>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0" name="Text 98"/>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Prototyped the video experience: exploratory test of the BitMovin player APIs — a proof-of-concept, not the final player.</a:t>
            </a:r>
            <a:endParaRPr lang="en-US" sz="650" dirty="0"/>
          </a:p>
        </p:txBody>
      </p:sp>
      <p:sp>
        <p:nvSpPr>
          <p:cNvPr id="101" name="Shape 99"/>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2" name="Text 100"/>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3" name="Shape 101"/>
          <p:cNvSpPr/>
          <p:nvPr/>
        </p:nvSpPr>
        <p:spPr>
          <a:xfrm>
            <a:off x="6236208" y="6382512"/>
            <a:ext cx="6016752" cy="0"/>
          </a:xfrm>
          <a:prstGeom prst="line">
            <a:avLst/>
          </a:prstGeom>
          <a:noFill/>
          <a:ln w="6350">
            <a:solidFill>
              <a:srgbClr val="E5E7EB"/>
            </a:solidFill>
            <a:prstDash val="solid"/>
          </a:ln>
        </p:spPr>
      </p:sp>
      <p:sp>
        <p:nvSpPr>
          <p:cNvPr id="104" name="Text 102"/>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05" name="Text 103"/>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Testing E2E experience: Merchandising, sign-in flow, MVPD, Cleeng, replays.</a:t>
            </a:r>
            <a:endParaRPr lang="en-US" sz="650" dirty="0"/>
          </a:p>
        </p:txBody>
      </p:sp>
      <p:sp>
        <p:nvSpPr>
          <p:cNvPr id="106" name="Shape 104"/>
          <p:cNvSpPr/>
          <p:nvPr/>
        </p:nvSpPr>
        <p:spPr>
          <a:xfrm>
            <a:off x="11375136" y="6729984"/>
            <a:ext cx="822960" cy="173736"/>
          </a:xfrm>
          <a:prstGeom prst="roundRect">
            <a:avLst>
              <a:gd name="adj" fmla="val 15789"/>
            </a:avLst>
          </a:prstGeom>
          <a:solidFill>
            <a:srgbClr val="F3F4F6"/>
          </a:solidFill>
          <a:ln w="9525">
            <a:solidFill>
              <a:srgbClr val="D1D5DB"/>
            </a:solidFill>
            <a:prstDash val="solid"/>
          </a:ln>
        </p:spPr>
      </p:sp>
      <p:sp>
        <p:nvSpPr>
          <p:cNvPr id="107" name="Text 105"/>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Not Started</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8,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0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18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15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83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0% Ready</a:t>
            </a:r>
            <a:endParaRPr lang="en-US" sz="1100" dirty="0"/>
          </a:p>
        </p:txBody>
      </p:sp>
      <p:sp>
        <p:nvSpPr>
          <p:cNvPr id="20" name="Shape 18"/>
          <p:cNvSpPr/>
          <p:nvPr/>
        </p:nvSpPr>
        <p:spPr>
          <a:xfrm>
            <a:off x="164592" y="804672"/>
            <a:ext cx="9116568" cy="1170432"/>
          </a:xfrm>
          <a:prstGeom prst="rect">
            <a:avLst/>
          </a:prstGeom>
          <a:solidFill>
            <a:srgbClr val="FAFBFC"/>
          </a:solidFill>
          <a:ln w="6350">
            <a:solidFill>
              <a:srgbClr val="E5E7EB"/>
            </a:solidFill>
            <a:prstDash val="solid"/>
          </a:ln>
        </p:spPr>
      </p:sp>
      <p:sp>
        <p:nvSpPr>
          <p:cNvPr id="21" name="Shape 19"/>
          <p:cNvSpPr/>
          <p:nvPr/>
        </p:nvSpPr>
        <p:spPr>
          <a:xfrm>
            <a:off x="182880" y="877824"/>
            <a:ext cx="859536" cy="1024128"/>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Platforms</a:t>
            </a:r>
            <a:endParaRPr lang="en-US" sz="95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F3F4F6"/>
          </a:solidFill>
          <a:ln w="9525">
            <a:solidFill>
              <a:srgbClr val="D1D5DB"/>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F3F4F6"/>
          </a:solidFill>
          <a:ln w="9525">
            <a:solidFill>
              <a:srgbClr val="D1D5DB"/>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2029968"/>
            <a:ext cx="9116568" cy="1170432"/>
          </a:xfrm>
          <a:prstGeom prst="rect">
            <a:avLst/>
          </a:prstGeom>
          <a:solidFill>
            <a:srgbClr val="FFFFFF"/>
          </a:solidFill>
          <a:ln w="6350">
            <a:solidFill>
              <a:srgbClr val="E5E7EB"/>
            </a:solidFill>
            <a:prstDash val="solid"/>
          </a:ln>
        </p:spPr>
      </p:sp>
      <p:sp>
        <p:nvSpPr>
          <p:cNvPr id="53" name="Shape 51"/>
          <p:cNvSpPr/>
          <p:nvPr/>
        </p:nvSpPr>
        <p:spPr>
          <a:xfrm>
            <a:off x="182880" y="2103120"/>
            <a:ext cx="859536" cy="1024128"/>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2103120"/>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Video</a:t>
            </a:r>
            <a:endParaRPr lang="en-US" sz="950" dirty="0"/>
          </a:p>
          <a:p>
            <a:pPr algn="ctr" indent="0" marL="0">
              <a:buNone/>
            </a:pPr>
            <a:r>
              <a:rPr lang="en-US" sz="950" b="1" dirty="0">
                <a:solidFill>
                  <a:srgbClr val="FFFFFF"/>
                </a:solidFill>
              </a:rPr>
              <a:t>Delivery</a:t>
            </a:r>
            <a:endParaRPr lang="en-US" sz="950" dirty="0"/>
          </a:p>
        </p:txBody>
      </p:sp>
      <p:sp>
        <p:nvSpPr>
          <p:cNvPr id="55" name="Text 53"/>
          <p:cNvSpPr/>
          <p:nvPr/>
        </p:nvSpPr>
        <p:spPr>
          <a:xfrm>
            <a:off x="1170432" y="2075688"/>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295144"/>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505456"/>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295144"/>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505456"/>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295144"/>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505456"/>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295144"/>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505456"/>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295144"/>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505456"/>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295144"/>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505456"/>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3255264"/>
            <a:ext cx="9116568" cy="1170432"/>
          </a:xfrm>
          <a:prstGeom prst="rect">
            <a:avLst/>
          </a:prstGeom>
          <a:solidFill>
            <a:srgbClr val="FAFBFC"/>
          </a:solidFill>
          <a:ln w="6350">
            <a:solidFill>
              <a:srgbClr val="E5E7EB"/>
            </a:solidFill>
            <a:prstDash val="solid"/>
          </a:ln>
        </p:spPr>
      </p:sp>
      <p:sp>
        <p:nvSpPr>
          <p:cNvPr id="81" name="Shape 79"/>
          <p:cNvSpPr/>
          <p:nvPr/>
        </p:nvSpPr>
        <p:spPr>
          <a:xfrm>
            <a:off x="182880" y="3328416"/>
            <a:ext cx="859536" cy="1024128"/>
          </a:xfrm>
          <a:prstGeom prst="roundRect">
            <a:avLst>
              <a:gd name="adj" fmla="val 5319"/>
            </a:avLst>
          </a:prstGeom>
          <a:solidFill>
            <a:srgbClr val="9CA3AF"/>
          </a:solidFill>
          <a:ln w="12700">
            <a:solidFill>
              <a:srgbClr val="9CA3AF"/>
            </a:solidFill>
            <a:prstDash val="solid"/>
          </a:ln>
        </p:spPr>
      </p:sp>
      <p:sp>
        <p:nvSpPr>
          <p:cNvPr id="82" name="Text 80"/>
          <p:cNvSpPr/>
          <p:nvPr/>
        </p:nvSpPr>
        <p:spPr>
          <a:xfrm>
            <a:off x="182880" y="3328416"/>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Player</a:t>
            </a:r>
            <a:endParaRPr lang="en-US" sz="950" dirty="0"/>
          </a:p>
        </p:txBody>
      </p:sp>
      <p:sp>
        <p:nvSpPr>
          <p:cNvPr id="83" name="Text 81"/>
          <p:cNvSpPr/>
          <p:nvPr/>
        </p:nvSpPr>
        <p:spPr>
          <a:xfrm>
            <a:off x="1170432" y="3300984"/>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5 In Progress</a:t>
            </a:r>
            <a:endParaRPr lang="en-US" sz="750" dirty="0"/>
          </a:p>
        </p:txBody>
      </p:sp>
      <p:sp>
        <p:nvSpPr>
          <p:cNvPr id="84" name="Shape 82"/>
          <p:cNvSpPr/>
          <p:nvPr/>
        </p:nvSpPr>
        <p:spPr>
          <a:xfrm>
            <a:off x="1170432" y="3520440"/>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730752"/>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520440"/>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730752"/>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520440"/>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730752"/>
            <a:ext cx="932688" cy="155448"/>
          </a:xfrm>
          <a:prstGeom prst="roundRect">
            <a:avLst>
              <a:gd name="adj" fmla="val 17647"/>
            </a:avLst>
          </a:prstGeom>
          <a:solidFill>
            <a:srgbClr val="F3F4F6"/>
          </a:solidFill>
          <a:ln w="9525">
            <a:solidFill>
              <a:srgbClr val="D1D5DB"/>
            </a:solidFill>
            <a:prstDash val="solid"/>
          </a:ln>
        </p:spPr>
      </p:sp>
      <p:sp>
        <p:nvSpPr>
          <p:cNvPr id="95" name="Text 93"/>
          <p:cNvSpPr/>
          <p:nvPr/>
        </p:nvSpPr>
        <p:spPr>
          <a:xfrm>
            <a:off x="3200400" y="373075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6" name="Shape 94"/>
          <p:cNvSpPr/>
          <p:nvPr/>
        </p:nvSpPr>
        <p:spPr>
          <a:xfrm>
            <a:off x="4215384" y="3520440"/>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730752"/>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520440"/>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a:p>
            <a:pPr algn="ctr" indent="0" marL="0">
              <a:buNone/>
            </a:pPr>
            <a:r>
              <a:rPr lang="en-US" sz="750" b="1" dirty="0">
                <a:solidFill>
                  <a:srgbClr val="1E293B"/>
                </a:solidFill>
              </a:rPr>
              <a:t>NPAW/BitMov</a:t>
            </a:r>
            <a:endParaRPr lang="en-US" sz="750" dirty="0"/>
          </a:p>
        </p:txBody>
      </p:sp>
      <p:sp>
        <p:nvSpPr>
          <p:cNvPr id="102" name="Shape 100"/>
          <p:cNvSpPr/>
          <p:nvPr/>
        </p:nvSpPr>
        <p:spPr>
          <a:xfrm>
            <a:off x="5230368" y="3730752"/>
            <a:ext cx="932688" cy="155448"/>
          </a:xfrm>
          <a:prstGeom prst="roundRect">
            <a:avLst>
              <a:gd name="adj" fmla="val 17647"/>
            </a:avLst>
          </a:prstGeom>
          <a:solidFill>
            <a:srgbClr val="F3F4F6"/>
          </a:solidFill>
          <a:ln w="9525">
            <a:solidFill>
              <a:srgbClr val="D1D5DB"/>
            </a:solidFill>
            <a:prstDash val="solid"/>
          </a:ln>
        </p:spPr>
      </p:sp>
      <p:sp>
        <p:nvSpPr>
          <p:cNvPr id="103" name="Text 101"/>
          <p:cNvSpPr/>
          <p:nvPr/>
        </p:nvSpPr>
        <p:spPr>
          <a:xfrm>
            <a:off x="5230368" y="373075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4" name="Shape 102"/>
          <p:cNvSpPr/>
          <p:nvPr/>
        </p:nvSpPr>
        <p:spPr>
          <a:xfrm>
            <a:off x="164592" y="4480560"/>
            <a:ext cx="9116568" cy="1170432"/>
          </a:xfrm>
          <a:prstGeom prst="rect">
            <a:avLst/>
          </a:prstGeom>
          <a:solidFill>
            <a:srgbClr val="FFFFFF"/>
          </a:solidFill>
          <a:ln w="6350">
            <a:solidFill>
              <a:srgbClr val="E5E7EB"/>
            </a:solidFill>
            <a:prstDash val="solid"/>
          </a:ln>
        </p:spPr>
      </p:sp>
      <p:sp>
        <p:nvSpPr>
          <p:cNvPr id="105" name="Shape 103"/>
          <p:cNvSpPr/>
          <p:nvPr/>
        </p:nvSpPr>
        <p:spPr>
          <a:xfrm>
            <a:off x="182880" y="4553712"/>
            <a:ext cx="859536" cy="1024128"/>
          </a:xfrm>
          <a:prstGeom prst="roundRect">
            <a:avLst>
              <a:gd name="adj" fmla="val 5319"/>
            </a:avLst>
          </a:prstGeom>
          <a:solidFill>
            <a:srgbClr val="9CA3AF"/>
          </a:solidFill>
          <a:ln w="12700">
            <a:solidFill>
              <a:srgbClr val="9CA3AF"/>
            </a:solidFill>
            <a:prstDash val="solid"/>
          </a:ln>
        </p:spPr>
      </p:sp>
      <p:sp>
        <p:nvSpPr>
          <p:cNvPr id="106" name="Text 104"/>
          <p:cNvSpPr/>
          <p:nvPr/>
        </p:nvSpPr>
        <p:spPr>
          <a:xfrm>
            <a:off x="182880" y="4553712"/>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Merchandising</a:t>
            </a:r>
            <a:endParaRPr lang="en-US" sz="950" dirty="0"/>
          </a:p>
        </p:txBody>
      </p:sp>
      <p:sp>
        <p:nvSpPr>
          <p:cNvPr id="107" name="Text 105"/>
          <p:cNvSpPr/>
          <p:nvPr/>
        </p:nvSpPr>
        <p:spPr>
          <a:xfrm>
            <a:off x="1170432" y="4526280"/>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a:t>
            </a:r>
            <a:endParaRPr lang="en-US" sz="750" dirty="0"/>
          </a:p>
        </p:txBody>
      </p:sp>
      <p:sp>
        <p:nvSpPr>
          <p:cNvPr id="108" name="Shape 106"/>
          <p:cNvSpPr/>
          <p:nvPr/>
        </p:nvSpPr>
        <p:spPr>
          <a:xfrm>
            <a:off x="1170432" y="4745736"/>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956048"/>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745736"/>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956048"/>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745736"/>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956048"/>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745736"/>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956048"/>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745736"/>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956048"/>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745736"/>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956048"/>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6245352"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7260336" y="4745736"/>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956048"/>
            <a:ext cx="932688" cy="155448"/>
          </a:xfrm>
          <a:prstGeom prst="roundRect">
            <a:avLst>
              <a:gd name="adj" fmla="val 17647"/>
            </a:avLst>
          </a:prstGeom>
          <a:solidFill>
            <a:srgbClr val="F3F4F6"/>
          </a:solidFill>
          <a:ln w="9525">
            <a:solidFill>
              <a:srgbClr val="D1D5DB"/>
            </a:solidFill>
            <a:prstDash val="solid"/>
          </a:ln>
        </p:spPr>
      </p:sp>
      <p:sp>
        <p:nvSpPr>
          <p:cNvPr id="135" name="Text 133"/>
          <p:cNvSpPr/>
          <p:nvPr/>
        </p:nvSpPr>
        <p:spPr>
          <a:xfrm>
            <a:off x="7260336"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6" name="Shape 134"/>
          <p:cNvSpPr/>
          <p:nvPr/>
        </p:nvSpPr>
        <p:spPr>
          <a:xfrm>
            <a:off x="8275320" y="4745736"/>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956048"/>
            <a:ext cx="932688" cy="155448"/>
          </a:xfrm>
          <a:prstGeom prst="roundRect">
            <a:avLst>
              <a:gd name="adj" fmla="val 17647"/>
            </a:avLst>
          </a:prstGeom>
          <a:solidFill>
            <a:srgbClr val="F3F4F6"/>
          </a:solidFill>
          <a:ln w="9525">
            <a:solidFill>
              <a:srgbClr val="D1D5DB"/>
            </a:solidFill>
            <a:prstDash val="solid"/>
          </a:ln>
        </p:spPr>
      </p:sp>
      <p:sp>
        <p:nvSpPr>
          <p:cNvPr id="139" name="Text 137"/>
          <p:cNvSpPr/>
          <p:nvPr/>
        </p:nvSpPr>
        <p:spPr>
          <a:xfrm>
            <a:off x="8275320"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0" name="Shape 138"/>
          <p:cNvSpPr/>
          <p:nvPr/>
        </p:nvSpPr>
        <p:spPr>
          <a:xfrm>
            <a:off x="1170432" y="5202936"/>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52029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5413248"/>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54132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5705856"/>
            <a:ext cx="9116568" cy="1170432"/>
          </a:xfrm>
          <a:prstGeom prst="rect">
            <a:avLst/>
          </a:prstGeom>
          <a:solidFill>
            <a:srgbClr val="FAFBFC"/>
          </a:solidFill>
          <a:ln w="6350">
            <a:solidFill>
              <a:srgbClr val="E5E7EB"/>
            </a:solidFill>
            <a:prstDash val="solid"/>
          </a:ln>
        </p:spPr>
      </p:sp>
      <p:sp>
        <p:nvSpPr>
          <p:cNvPr id="145" name="Shape 143"/>
          <p:cNvSpPr/>
          <p:nvPr/>
        </p:nvSpPr>
        <p:spPr>
          <a:xfrm>
            <a:off x="182880" y="5779008"/>
            <a:ext cx="859536" cy="1024128"/>
          </a:xfrm>
          <a:prstGeom prst="roundRect">
            <a:avLst>
              <a:gd name="adj" fmla="val 5319"/>
            </a:avLst>
          </a:prstGeom>
          <a:solidFill>
            <a:srgbClr val="9CA3AF"/>
          </a:solidFill>
          <a:ln w="12700">
            <a:solidFill>
              <a:srgbClr val="9CA3AF"/>
            </a:solidFill>
            <a:prstDash val="solid"/>
          </a:ln>
        </p:spPr>
      </p:sp>
      <p:sp>
        <p:nvSpPr>
          <p:cNvPr id="146" name="Text 144"/>
          <p:cNvSpPr/>
          <p:nvPr/>
        </p:nvSpPr>
        <p:spPr>
          <a:xfrm>
            <a:off x="182880" y="5779008"/>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Onboarding</a:t>
            </a:r>
            <a:endParaRPr lang="en-US" sz="950" dirty="0"/>
          </a:p>
        </p:txBody>
      </p:sp>
      <p:sp>
        <p:nvSpPr>
          <p:cNvPr id="147" name="Text 145"/>
          <p:cNvSpPr/>
          <p:nvPr/>
        </p:nvSpPr>
        <p:spPr>
          <a:xfrm>
            <a:off x="1170432" y="5751576"/>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6 In Progress</a:t>
            </a:r>
            <a:endParaRPr lang="en-US" sz="750" dirty="0"/>
          </a:p>
        </p:txBody>
      </p:sp>
      <p:sp>
        <p:nvSpPr>
          <p:cNvPr id="148" name="Shape 146"/>
          <p:cNvSpPr/>
          <p:nvPr/>
        </p:nvSpPr>
        <p:spPr>
          <a:xfrm>
            <a:off x="1170432" y="5971032"/>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6181344"/>
            <a:ext cx="932688" cy="155448"/>
          </a:xfrm>
          <a:prstGeom prst="roundRect">
            <a:avLst>
              <a:gd name="adj" fmla="val 17647"/>
            </a:avLst>
          </a:prstGeom>
          <a:solidFill>
            <a:srgbClr val="F3F4F6"/>
          </a:solidFill>
          <a:ln w="9525">
            <a:solidFill>
              <a:srgbClr val="D1D5DB"/>
            </a:solidFill>
            <a:prstDash val="solid"/>
          </a:ln>
        </p:spPr>
      </p:sp>
      <p:sp>
        <p:nvSpPr>
          <p:cNvPr id="151" name="Text 149"/>
          <p:cNvSpPr/>
          <p:nvPr/>
        </p:nvSpPr>
        <p:spPr>
          <a:xfrm>
            <a:off x="1170432"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52" name="Shape 150"/>
          <p:cNvSpPr/>
          <p:nvPr/>
        </p:nvSpPr>
        <p:spPr>
          <a:xfrm>
            <a:off x="2185416" y="5971032"/>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6181344"/>
            <a:ext cx="932688" cy="155448"/>
          </a:xfrm>
          <a:prstGeom prst="roundRect">
            <a:avLst>
              <a:gd name="adj" fmla="val 17647"/>
            </a:avLst>
          </a:prstGeom>
          <a:solidFill>
            <a:srgbClr val="F3F4F6"/>
          </a:solidFill>
          <a:ln w="9525">
            <a:solidFill>
              <a:srgbClr val="D1D5DB"/>
            </a:solidFill>
            <a:prstDash val="solid"/>
          </a:ln>
        </p:spPr>
      </p:sp>
      <p:sp>
        <p:nvSpPr>
          <p:cNvPr id="155" name="Text 153"/>
          <p:cNvSpPr/>
          <p:nvPr/>
        </p:nvSpPr>
        <p:spPr>
          <a:xfrm>
            <a:off x="2185416"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56" name="Shape 154"/>
          <p:cNvSpPr/>
          <p:nvPr/>
        </p:nvSpPr>
        <p:spPr>
          <a:xfrm>
            <a:off x="3200400" y="5971032"/>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6181344"/>
            <a:ext cx="932688" cy="155448"/>
          </a:xfrm>
          <a:prstGeom prst="roundRect">
            <a:avLst>
              <a:gd name="adj" fmla="val 17647"/>
            </a:avLst>
          </a:prstGeom>
          <a:solidFill>
            <a:srgbClr val="F3F4F6"/>
          </a:solidFill>
          <a:ln w="9525">
            <a:solidFill>
              <a:srgbClr val="D1D5DB"/>
            </a:solidFill>
            <a:prstDash val="solid"/>
          </a:ln>
        </p:spPr>
      </p:sp>
      <p:sp>
        <p:nvSpPr>
          <p:cNvPr id="159" name="Text 157"/>
          <p:cNvSpPr/>
          <p:nvPr/>
        </p:nvSpPr>
        <p:spPr>
          <a:xfrm>
            <a:off x="3200400"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60" name="Shape 158"/>
          <p:cNvSpPr/>
          <p:nvPr/>
        </p:nvSpPr>
        <p:spPr>
          <a:xfrm>
            <a:off x="4215384" y="5971032"/>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6181344"/>
            <a:ext cx="932688" cy="155448"/>
          </a:xfrm>
          <a:prstGeom prst="roundRect">
            <a:avLst>
              <a:gd name="adj" fmla="val 17647"/>
            </a:avLst>
          </a:prstGeom>
          <a:solidFill>
            <a:srgbClr val="1558A8"/>
          </a:solidFill>
          <a:ln w="12700">
            <a:solidFill>
              <a:srgbClr val="1558A8"/>
            </a:solidFill>
            <a:prstDash val="solid"/>
          </a:ln>
        </p:spPr>
      </p:sp>
      <p:sp>
        <p:nvSpPr>
          <p:cNvPr id="163" name="Text 161"/>
          <p:cNvSpPr/>
          <p:nvPr/>
        </p:nvSpPr>
        <p:spPr>
          <a:xfrm>
            <a:off x="4215384" y="618134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4" name="Shape 162"/>
          <p:cNvSpPr/>
          <p:nvPr/>
        </p:nvSpPr>
        <p:spPr>
          <a:xfrm>
            <a:off x="5230368" y="5971032"/>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66" name="Shape 164"/>
          <p:cNvSpPr/>
          <p:nvPr/>
        </p:nvSpPr>
        <p:spPr>
          <a:xfrm>
            <a:off x="5230368" y="6181344"/>
            <a:ext cx="932688" cy="155448"/>
          </a:xfrm>
          <a:prstGeom prst="roundRect">
            <a:avLst>
              <a:gd name="adj" fmla="val 17647"/>
            </a:avLst>
          </a:prstGeom>
          <a:solidFill>
            <a:srgbClr val="F3F4F6"/>
          </a:solidFill>
          <a:ln w="9525">
            <a:solidFill>
              <a:srgbClr val="D1D5DB"/>
            </a:solidFill>
            <a:prstDash val="solid"/>
          </a:ln>
        </p:spPr>
      </p:sp>
      <p:sp>
        <p:nvSpPr>
          <p:cNvPr id="167" name="Text 165"/>
          <p:cNvSpPr/>
          <p:nvPr/>
        </p:nvSpPr>
        <p:spPr>
          <a:xfrm>
            <a:off x="5230368"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68" name="Shape 166"/>
          <p:cNvSpPr/>
          <p:nvPr/>
        </p:nvSpPr>
        <p:spPr>
          <a:xfrm>
            <a:off x="6245352" y="5971032"/>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70" name="Shape 168"/>
          <p:cNvSpPr/>
          <p:nvPr/>
        </p:nvSpPr>
        <p:spPr>
          <a:xfrm>
            <a:off x="6245352" y="6181344"/>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9372600" y="804672"/>
            <a:ext cx="2834640" cy="6071616"/>
          </a:xfrm>
          <a:prstGeom prst="rect">
            <a:avLst/>
          </a:prstGeom>
          <a:solidFill>
            <a:srgbClr val="F8FAFB"/>
          </a:solidFill>
          <a:ln w="12700">
            <a:solidFill>
              <a:srgbClr val="DDE1E6"/>
            </a:solidFill>
            <a:prstDash val="solid"/>
          </a:ln>
        </p:spPr>
      </p:sp>
      <p:sp>
        <p:nvSpPr>
          <p:cNvPr id="173" name="Text 171"/>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74" name="Shape 172"/>
          <p:cNvSpPr/>
          <p:nvPr/>
        </p:nvSpPr>
        <p:spPr>
          <a:xfrm>
            <a:off x="9464040" y="1225296"/>
            <a:ext cx="2670048" cy="420624"/>
          </a:xfrm>
          <a:prstGeom prst="rect">
            <a:avLst/>
          </a:prstGeom>
          <a:solidFill>
            <a:srgbClr val="FFFFFF"/>
          </a:solidFill>
          <a:ln w="6350">
            <a:solidFill>
              <a:srgbClr val="E5E7EB"/>
            </a:solidFill>
            <a:prstDash val="solid"/>
          </a:ln>
        </p:spPr>
      </p:sp>
      <p:sp>
        <p:nvSpPr>
          <p:cNvPr id="175" name="Shape 173"/>
          <p:cNvSpPr/>
          <p:nvPr/>
        </p:nvSpPr>
        <p:spPr>
          <a:xfrm>
            <a:off x="9537192" y="1316736"/>
            <a:ext cx="109728" cy="109728"/>
          </a:xfrm>
          <a:prstGeom prst="ellipse">
            <a:avLst/>
          </a:prstGeom>
          <a:solidFill>
            <a:srgbClr val="16A34A"/>
          </a:solidFill>
          <a:ln w="12700">
            <a:solidFill>
              <a:srgbClr val="16A34A"/>
            </a:solidFill>
            <a:prstDash val="solid"/>
          </a:ln>
        </p:spPr>
      </p:sp>
      <p:sp>
        <p:nvSpPr>
          <p:cNvPr id="176" name="Text 174"/>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77" name="Text 175"/>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78" name="Shape 176"/>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79" name="Text 177"/>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80" name="Shape 178"/>
          <p:cNvSpPr/>
          <p:nvPr/>
        </p:nvSpPr>
        <p:spPr>
          <a:xfrm>
            <a:off x="9464040" y="1700784"/>
            <a:ext cx="2670048" cy="420624"/>
          </a:xfrm>
          <a:prstGeom prst="rect">
            <a:avLst/>
          </a:prstGeom>
          <a:solidFill>
            <a:srgbClr val="FFFFFF"/>
          </a:solidFill>
          <a:ln w="6350">
            <a:solidFill>
              <a:srgbClr val="E5E7EB"/>
            </a:solidFill>
            <a:prstDash val="solid"/>
          </a:ln>
        </p:spPr>
      </p:sp>
      <p:sp>
        <p:nvSpPr>
          <p:cNvPr id="181" name="Shape 179"/>
          <p:cNvSpPr/>
          <p:nvPr/>
        </p:nvSpPr>
        <p:spPr>
          <a:xfrm>
            <a:off x="9537192" y="1792224"/>
            <a:ext cx="109728" cy="109728"/>
          </a:xfrm>
          <a:prstGeom prst="ellipse">
            <a:avLst/>
          </a:prstGeom>
          <a:solidFill>
            <a:srgbClr val="1558A8"/>
          </a:solidFill>
          <a:ln w="12700">
            <a:solidFill>
              <a:srgbClr val="1558A8"/>
            </a:solidFill>
            <a:prstDash val="solid"/>
          </a:ln>
        </p:spPr>
      </p:sp>
      <p:sp>
        <p:nvSpPr>
          <p:cNvPr id="182" name="Text 180"/>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83" name="Text 181"/>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84" name="Shape 182"/>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85" name="Text 183"/>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86" name="Shape 184"/>
          <p:cNvSpPr/>
          <p:nvPr/>
        </p:nvSpPr>
        <p:spPr>
          <a:xfrm>
            <a:off x="9464040" y="2176272"/>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2267712"/>
            <a:ext cx="109728" cy="109728"/>
          </a:xfrm>
          <a:prstGeom prst="ellipse">
            <a:avLst/>
          </a:prstGeom>
          <a:solidFill>
            <a:srgbClr val="9CA3AF"/>
          </a:solidFill>
          <a:ln w="12700">
            <a:solidFill>
              <a:srgbClr val="9CA3AF"/>
            </a:solidFill>
            <a:prstDash val="solid"/>
          </a:ln>
        </p:spPr>
      </p:sp>
      <p:sp>
        <p:nvSpPr>
          <p:cNvPr id="188" name="Text 186"/>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89" name="Text 187"/>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90" name="Shape 188"/>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91" name="Text 189"/>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92" name="Shape 190"/>
          <p:cNvSpPr/>
          <p:nvPr/>
        </p:nvSpPr>
        <p:spPr>
          <a:xfrm>
            <a:off x="9464040" y="2651760"/>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2743200"/>
            <a:ext cx="109728" cy="109728"/>
          </a:xfrm>
          <a:prstGeom prst="ellipse">
            <a:avLst/>
          </a:prstGeom>
          <a:solidFill>
            <a:srgbClr val="9CA3AF"/>
          </a:solidFill>
          <a:ln w="12700">
            <a:solidFill>
              <a:srgbClr val="9CA3AF"/>
            </a:solidFill>
            <a:prstDash val="solid"/>
          </a:ln>
        </p:spPr>
      </p:sp>
      <p:sp>
        <p:nvSpPr>
          <p:cNvPr id="194" name="Text 192"/>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95" name="Text 193"/>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96" name="Shape 194"/>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97" name="Text 195"/>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98" name="Shape 196"/>
          <p:cNvSpPr/>
          <p:nvPr/>
        </p:nvSpPr>
        <p:spPr>
          <a:xfrm>
            <a:off x="9482328" y="3200400"/>
            <a:ext cx="2633472" cy="0"/>
          </a:xfrm>
          <a:prstGeom prst="line">
            <a:avLst/>
          </a:prstGeom>
          <a:noFill/>
          <a:ln w="9525">
            <a:solidFill>
              <a:srgbClr val="DDE1E6"/>
            </a:solidFill>
            <a:prstDash val="solid"/>
          </a:ln>
        </p:spPr>
      </p:sp>
      <p:sp>
        <p:nvSpPr>
          <p:cNvPr id="199" name="Text 197"/>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00" name="Shape 198"/>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01" name="Text 199"/>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02" name="Text 200"/>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03" name="Shape 201"/>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04" name="Text 202"/>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05" name="Text 203"/>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06" name="Shape 204"/>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07" name="Text 205"/>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08" name="Text 206"/>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09" name="Shape 207"/>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10" name="Text 208"/>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11" name="Text 209"/>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12" name="Shape 210"/>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13" name="Text 211"/>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14" name="Text 212"/>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1190</Words>
  <Application>Microsoft Macintosh PowerPoint</Application>
  <PresentationFormat>Custom</PresentationFormat>
  <Paragraphs>191</Paragraphs>
  <Slides>3</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Aptos</vt:lpstr>
      <vt:lpstr>Aptos Display</vt:lpstr>
      <vt:lpstr>Arial</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Valdes</dc:creator>
  <cp:lastModifiedBy>Juan Valdes</cp:lastModifiedBy>
  <cp:revision>63</cp:revision>
  <cp:lastPrinted>2026-04-23T15:50:00Z</cp:lastPrinted>
  <dcterms:created xsi:type="dcterms:W3CDTF">2025-09-04T21:24:03Z</dcterms:created>
  <dcterms:modified xsi:type="dcterms:W3CDTF">2026-07-06T19:43:22Z</dcterms:modified>
</cp:coreProperties>
</file>