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6,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b="1" dirty="0">
                <a:solidFill>
                  <a:srgbClr val="1B5E20"/>
                </a:solidFill>
              </a:rPr>
              <a:t>HIGHLIGHTS:</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MVPD:</a:t>
            </a:r>
            <a:pPr algn="l" indent="0" marL="0">
              <a:buNone/>
            </a:pPr>
            <a:r>
              <a:rPr lang="en-US" sz="800" dirty="0">
                <a:solidFill>
                  <a:srgbClr val="1F2937"/>
                </a:solidFill>
              </a:rPr>
              <a:t> Mobile now has a working build with DRM and picture-in-picture confirmed on-device. MVPD provider login ("sign in with your TV provider") is currently the only way into the app, since it's required before any video will play.</a:t>
            </a:r>
            <a:endParaRPr lang="en-US" sz="800" dirty="0"/>
          </a:p>
          <a:p>
            <a:pPr algn="l" indent="0" marL="0">
              <a:buNone/>
            </a:pPr>
            <a:endParaRPr lang="en-US" sz="800" dirty="0"/>
          </a:p>
          <a:p>
            <a:pPr algn="l" indent="0" marL="0">
              <a:buNone/>
            </a:pPr>
            <a:r>
              <a:rPr lang="en-US" sz="800" b="1" dirty="0">
                <a:solidFill>
                  <a:srgbClr val="1B5E20"/>
                </a:solidFill>
              </a:rPr>
              <a:t>VOD:</a:t>
            </a:r>
            <a:pPr algn="l" indent="0" marL="0">
              <a:buNone/>
            </a:pPr>
            <a:r>
              <a:rPr lang="en-US" sz="800" dirty="0">
                <a:solidFill>
                  <a:srgbClr val="1F2937"/>
                </a:solidFill>
              </a:rPr>
              <a:t> The replay processing pipeline is now running against real production matches and data, with output already viewable in the dev environment. The team is coordinating with Amagi on getting replays flowing to Roku as well.</a:t>
            </a:r>
            <a:endParaRPr lang="en-US" sz="800" dirty="0"/>
          </a:p>
          <a:p>
            <a:pPr algn="l" indent="0" marL="0">
              <a:buNone/>
            </a:pPr>
            <a:endParaRPr lang="en-US" sz="800" dirty="0"/>
          </a:p>
          <a:p>
            <a:pPr algn="l" indent="0" marL="0">
              <a:buNone/>
            </a:pPr>
            <a:r>
              <a:rPr lang="en-US" sz="800" b="1" dirty="0">
                <a:solidFill>
                  <a:srgbClr val="1B5E20"/>
                </a:solidFill>
              </a:rPr>
              <a:t>STATUS UPDATE:</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ROKU INTEGRATION:</a:t>
            </a:r>
            <a:pPr algn="l" indent="0" marL="0">
              <a:buNone/>
            </a:pPr>
            <a:r>
              <a:rPr lang="en-US" sz="800" dirty="0">
                <a:solidFill>
                  <a:srgbClr val="1F2937"/>
                </a:solidFill>
              </a:rPr>
              <a:t> Resolved a metadata conflict between Premium Subscriptions and Roku by removing the conflicting sports event feed from OTT, simplifying the implementation path. Amagi's monitoring UI for match visibility is on track for mid-August delivery, giving Roku read-only access to what's live without Tennis Channel maintaining manual availability sheets by hand. Linear stream reconnection is complete, and ad testing is underway pending final connection confirmation.</a:t>
            </a:r>
            <a:endParaRPr lang="en-US" sz="800" dirty="0"/>
          </a:p>
          <a:p>
            <a:pPr algn="l" indent="0" marL="0">
              <a:buNone/>
            </a:pPr>
            <a:endParaRPr lang="en-US" sz="800" dirty="0"/>
          </a:p>
          <a:p>
            <a:pPr algn="l" indent="0" marL="0">
              <a:buNone/>
            </a:pPr>
            <a:r>
              <a:rPr lang="en-US" sz="800" b="1" dirty="0">
                <a:solidFill>
                  <a:srgbClr val="1B5E20"/>
                </a:solidFill>
              </a:rPr>
              <a:t>FRONTEND UX AND DESIGN:</a:t>
            </a:r>
            <a:pPr algn="l" indent="0" marL="0">
              <a:buNone/>
            </a:pPr>
            <a:r>
              <a:rPr lang="en-US" sz="800" dirty="0">
                <a:solidFill>
                  <a:srgbClr val="1F2937"/>
                </a:solidFill>
              </a:rPr>
              <a:t> Engineering delivered prototypes for the tournaments and live pages this week. With Claude helping engineers move quickly and ship continuously, the team is starting twice-weekly design jam sessions (Tuesdays and Thursdays, first one August 6) so engineers, design, and stakeholders can review in-flight work and align on priorities in step with that pace.</a:t>
            </a:r>
            <a:endParaRPr lang="en-US" sz="800" dirty="0"/>
          </a:p>
          <a:p>
            <a:pPr algn="l" indent="0" marL="0">
              <a:buNone/>
            </a:pPr>
            <a:endParaRPr lang="en-US" sz="800" dirty="0"/>
          </a:p>
          <a:p>
            <a:pPr algn="l" indent="0" marL="0">
              <a:buNone/>
            </a:pPr>
            <a:r>
              <a:rPr lang="en-US" sz="800" b="1" dirty="0">
                <a:solidFill>
                  <a:srgbClr val="1B5E20"/>
                </a:solidFill>
              </a:rPr>
              <a:t>MERCHANDISING AND CAROUSELS:</a:t>
            </a:r>
            <a:pPr algn="l" indent="0" marL="0">
              <a:buNone/>
            </a:pPr>
            <a:r>
              <a:rPr lang="en-US" sz="800" dirty="0">
                <a:solidFill>
                  <a:srgbClr val="1F2937"/>
                </a:solidFill>
              </a:rPr>
              <a:t> Landed on "show more" link behavior across platforms: on by default, off entirely, or a custom label and destination. Default item limit is twenty, with each device able to override based on its own performance needs. Still to be settled: placing the show-more link as a full tile at the end of the carousel, treated as a near-term priority for TV apps since the team believes it would meaningfully improve discovery over today's plain title-link approach.</a:t>
            </a:r>
            <a:endParaRPr lang="en-US" sz="800" dirty="0"/>
          </a:p>
          <a:p>
            <a:pPr algn="l" indent="0" marL="0">
              <a:buNone/>
            </a:pPr>
            <a:endParaRPr lang="en-US" sz="800" dirty="0"/>
          </a:p>
          <a:p>
            <a:pPr algn="l" indent="0" marL="0">
              <a:buNone/>
            </a:pPr>
            <a:r>
              <a:rPr lang="en-US" sz="800" b="1" dirty="0">
                <a:solidFill>
                  <a:srgbClr val="1B5E20"/>
                </a:solidFill>
              </a:rPr>
              <a:t>BACKEND AND PLAYBACK:</a:t>
            </a:r>
            <a:pPr algn="l" indent="0" marL="0">
              <a:buNone/>
            </a:pPr>
            <a:r>
              <a:rPr lang="en-US" sz="800" dirty="0">
                <a:solidFill>
                  <a:srgbClr val="1F2937"/>
                </a:solidFill>
              </a:rPr>
              <a:t> DRM playback and picture-in-picture are confirmed working on real mobile devices after Akash, Alex, and Aaron patched an iOS certificate issue; a working build with MVPD login goes out once final testing wraps. The team is standing up a CI pipeline for iOS and Android so builds reach staging and TestFlight several times a week instead of ad hoc, speeding up feedback. Yisake finished decoupling the profile screen from the main menu and is now building email-change functionality, with the backend piece already in place. Erik's team spent the week on the tournaments and live pages, with follow-up design conversations already scheduled.</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r>
              <a:rPr lang="en-US" sz="800" dirty="0">
                <a:solidFill>
                  <a:srgbClr val="1F2937"/>
                </a:solidFill>
              </a:rPr>
              <a:t> Amagi proposed a significant upgrade to DVR and VOD: instead of one shared stream manually reset between matches, each match gets its own dedicated address that automatically switches from live to replay at match end, with a buffer window so mid-match viewers aren't cut off. The team raised good questions on URL predictability, security tokens, and edge cases like joining late; Amagi is drafting a written proposal this week with a working demo targeted for mid-August. Brian Hoskins delivered the data matrix Amagi needs for ad targeting, so both teams can move quickly on ad requirements. The Tennis Channel-specific EPG is being built out, and Roku flagged a certification requirement for scrub-bar thumbnail previews that Dave and Swamy are syncing on this week.</a:t>
            </a:r>
            <a:endParaRPr lang="en-US" sz="800" dirty="0"/>
          </a:p>
          <a:p>
            <a:pPr algn="l" indent="0" marL="0">
              <a:buNone/>
            </a:pPr>
            <a:endParaRPr lang="en-US" sz="800" dirty="0"/>
          </a:p>
          <a:p>
            <a:pPr algn="l" indent="0" marL="0">
              <a:buNone/>
            </a:pPr>
            <a:r>
              <a:rPr lang="en-US" sz="800" b="1" dirty="0">
                <a:solidFill>
                  <a:srgbClr val="1B5E20"/>
                </a:solidFill>
              </a:rPr>
              <a:t>CONTENT AND METADATA:</a:t>
            </a:r>
            <a:pPr algn="l" indent="0" marL="0">
              <a:buNone/>
            </a:pPr>
            <a:r>
              <a:rPr lang="en-US" sz="800" dirty="0">
                <a:solidFill>
                  <a:srgbClr val="1F2937"/>
                </a:solidFill>
              </a:rPr>
              <a:t> SportRadar login/consent tracking is moving to a new test environment, so existing test accounts won't carry over and will need to be recreated. The team is still tracking down where SportRadar stores users' favorited players so that data can migrate cleanly. Replay processing is active on real matches, with WSC-sourced replays already running through the pipeline and visible in dev. Rain-delay trimming and ad-supported VOD strategy remain future conversations, pending a broader ad-fill discussion.</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r>
              <a:rPr lang="en-US" sz="800" dirty="0">
                <a:solidFill>
                  <a:srgbClr val="1F2937"/>
                </a:solidFill>
              </a:rPr>
              <a:t>1. Beta target confirmed for September 30, with testing running through roughly December.</a:t>
            </a:r>
            <a:endParaRPr lang="en-US" sz="800" dirty="0"/>
          </a:p>
          <a:p>
            <a:pPr algn="l" indent="0" marL="0">
              <a:buNone/>
            </a:pPr>
            <a:r>
              <a:rPr lang="en-US" sz="800" dirty="0">
                <a:solidFill>
                  <a:srgbClr val="1F2937"/>
                </a:solidFill>
              </a:rPr>
              <a:t>2. Tennis Channel O&amp;Os remain on Cleeng for payment/subscription at MVP; a post-launch review will separately evaluate a Recurly transition (full project, roughly one quarter).</a:t>
            </a:r>
            <a:endParaRPr lang="en-US" sz="800" dirty="0"/>
          </a:p>
          <a:p>
            <a:pPr algn="l" indent="0" marL="0">
              <a:buNone/>
            </a:pPr>
            <a:r>
              <a:rPr lang="en-US" sz="800" dirty="0">
                <a:solidFill>
                  <a:srgbClr val="1F2937"/>
                </a:solidFill>
              </a:rPr>
              <a:t>3. Out-of-scope features will enter a formal backlog and roadmap prioritization process rather than being added ad hoc.</a:t>
            </a:r>
            <a:endParaRPr lang="en-US" sz="800" dirty="0"/>
          </a:p>
          <a:p>
            <a:pPr algn="l" indent="0" marL="0">
              <a:buNone/>
            </a:pPr>
            <a:r>
              <a:rPr lang="en-US" sz="800" dirty="0">
                <a:solidFill>
                  <a:srgbClr val="1F2937"/>
                </a:solidFill>
              </a:rPr>
              <a:t>4. Device feature parity will be secondary; web and mobile go live first, with living-room platforms catching up after.</a:t>
            </a:r>
            <a:endParaRPr lang="en-US" sz="800" dirty="0"/>
          </a:p>
          <a:p>
            <a:pPr algn="l" indent="0" marL="0">
              <a:buNone/>
            </a:pPr>
            <a:r>
              <a:rPr lang="en-US" sz="800" dirty="0">
                <a:solidFill>
                  <a:srgbClr val="1F2937"/>
                </a:solidFill>
              </a:rPr>
              <a:t>5. MultiView designated P1, post-launch.</a:t>
            </a:r>
            <a:endParaRPr lang="en-US" sz="800" dirty="0"/>
          </a:p>
          <a:p>
            <a:pPr algn="l" indent="0" marL="0">
              <a:buNone/>
            </a:pPr>
            <a:r>
              <a:rPr lang="en-US" sz="800" dirty="0">
                <a:solidFill>
                  <a:srgbClr val="1F2937"/>
                </a:solidFill>
              </a:rPr>
              <a:t>6. GraceNote will not be used for EPG management; the team will use Amagi's platform capabilities instead.</a:t>
            </a:r>
            <a:endParaRPr lang="en-US" sz="800" dirty="0"/>
          </a:p>
          <a:p>
            <a:pPr algn="l" indent="0" marL="0">
              <a:buNone/>
            </a:pPr>
            <a:r>
              <a:rPr lang="en-US" sz="800" dirty="0">
                <a:solidFill>
                  <a:srgbClr val="1F2937"/>
                </a:solidFill>
              </a:rPr>
              <a:t>7. Bitmovin will be the primary launch analytics/observability platform for streaming performance.</a:t>
            </a:r>
            <a:endParaRPr lang="en-US" sz="800" dirty="0"/>
          </a:p>
          <a:p>
            <a:pPr algn="l" indent="0" marL="0">
              <a:buNone/>
            </a:pPr>
            <a:r>
              <a:rPr lang="en-US" sz="800" dirty="0">
                <a:solidFill>
                  <a:srgbClr val="1F2937"/>
                </a:solidFill>
              </a:rPr>
              <a:t>8. Coupon/offer configuration stays in Cleeng as-is; promotions use a manual price override on the plan page rather than new tooling before launch.</a:t>
            </a:r>
            <a:endParaRPr lang="en-US" sz="800" dirty="0"/>
          </a:p>
          <a:p>
            <a:pPr algn="l" indent="0" marL="0">
              <a:buNone/>
            </a:pPr>
            <a:r>
              <a:rPr lang="en-US" sz="800" dirty="0">
                <a:solidFill>
                  <a:srgbClr val="1F2937"/>
                </a:solidFill>
              </a:rPr>
              <a:t>9. Tennis Channel keeps its existing token/URL security approach for launch.</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6,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441960"/>
          </a:xfrm>
          <a:prstGeom prst="rect">
            <a:avLst/>
          </a:prstGeom>
          <a:solidFill>
            <a:srgbClr val="FFFFFF"/>
          </a:solidFill>
          <a:ln w="3175">
            <a:solidFill>
              <a:srgbClr val="E5E7EB"/>
            </a:solidFill>
            <a:prstDash val="solid"/>
          </a:ln>
        </p:spPr>
      </p:sp>
      <p:sp>
        <p:nvSpPr>
          <p:cNvPr id="9" name="Text 7"/>
          <p:cNvSpPr/>
          <p:nvPr/>
        </p:nvSpPr>
        <p:spPr>
          <a:xfrm>
            <a:off x="164592" y="7955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387096"/>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11352"/>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1135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219200"/>
            <a:ext cx="6016752" cy="0"/>
          </a:xfrm>
          <a:prstGeom prst="line">
            <a:avLst/>
          </a:prstGeom>
          <a:noFill/>
          <a:ln w="6350">
            <a:solidFill>
              <a:srgbClr val="E5E7EB"/>
            </a:solidFill>
            <a:prstDash val="solid"/>
          </a:ln>
        </p:spPr>
      </p:sp>
      <p:sp>
        <p:nvSpPr>
          <p:cNvPr id="14" name="Text 12"/>
          <p:cNvSpPr/>
          <p:nvPr/>
        </p:nvSpPr>
        <p:spPr>
          <a:xfrm>
            <a:off x="164592" y="123748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246632"/>
            <a:ext cx="4178808" cy="387096"/>
          </a:xfrm>
          <a:prstGeom prst="rect">
            <a:avLst/>
          </a:prstGeom>
          <a:noFill/>
          <a:ln/>
        </p:spPr>
        <p:txBody>
          <a:bodyPr wrap="square" lIns="0" tIns="0" rIns="0" bIns="0" rtlCol="0" anchor="t"/>
          <a:lstStyle/>
          <a:p>
            <a:pPr indent="0" marL="0">
              <a:buNone/>
            </a:pPr>
            <a:r>
              <a:rPr lang="en-US" sz="650" dirty="0">
                <a:solidFill>
                  <a:srgbClr val="374151"/>
                </a:solidFill>
              </a:rPr>
              <a:t>We are good.</a:t>
            </a:r>
            <a:endParaRPr lang="en-US" sz="650" dirty="0"/>
          </a:p>
        </p:txBody>
      </p:sp>
      <p:sp>
        <p:nvSpPr>
          <p:cNvPr id="16" name="Shape 14"/>
          <p:cNvSpPr/>
          <p:nvPr/>
        </p:nvSpPr>
        <p:spPr>
          <a:xfrm>
            <a:off x="5230368" y="1353312"/>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35331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661160"/>
            <a:ext cx="6016752" cy="441960"/>
          </a:xfrm>
          <a:prstGeom prst="rect">
            <a:avLst/>
          </a:prstGeom>
          <a:solidFill>
            <a:srgbClr val="FFFFFF"/>
          </a:solidFill>
          <a:ln w="3175">
            <a:solidFill>
              <a:srgbClr val="E5E7EB"/>
            </a:solidFill>
            <a:prstDash val="solid"/>
          </a:ln>
        </p:spPr>
      </p:sp>
      <p:sp>
        <p:nvSpPr>
          <p:cNvPr id="19" name="Shape 17"/>
          <p:cNvSpPr/>
          <p:nvPr/>
        </p:nvSpPr>
        <p:spPr>
          <a:xfrm>
            <a:off x="91440" y="1661160"/>
            <a:ext cx="6016752" cy="0"/>
          </a:xfrm>
          <a:prstGeom prst="line">
            <a:avLst/>
          </a:prstGeom>
          <a:noFill/>
          <a:ln w="6350">
            <a:solidFill>
              <a:srgbClr val="E5E7EB"/>
            </a:solidFill>
            <a:prstDash val="solid"/>
          </a:ln>
        </p:spPr>
      </p:sp>
      <p:sp>
        <p:nvSpPr>
          <p:cNvPr id="20" name="Text 18"/>
          <p:cNvSpPr/>
          <p:nvPr/>
        </p:nvSpPr>
        <p:spPr>
          <a:xfrm>
            <a:off x="164592" y="167944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688592"/>
            <a:ext cx="4178808" cy="387096"/>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1795272"/>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179527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2103120"/>
            <a:ext cx="6016752" cy="0"/>
          </a:xfrm>
          <a:prstGeom prst="line">
            <a:avLst/>
          </a:prstGeom>
          <a:noFill/>
          <a:ln w="6350">
            <a:solidFill>
              <a:srgbClr val="E5E7EB"/>
            </a:solidFill>
            <a:prstDash val="solid"/>
          </a:ln>
        </p:spPr>
      </p:sp>
      <p:sp>
        <p:nvSpPr>
          <p:cNvPr id="25" name="Text 23"/>
          <p:cNvSpPr/>
          <p:nvPr/>
        </p:nvSpPr>
        <p:spPr>
          <a:xfrm>
            <a:off x="164592" y="212140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130552"/>
            <a:ext cx="4178808" cy="387096"/>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237232"/>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23723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545080"/>
            <a:ext cx="6016752" cy="441960"/>
          </a:xfrm>
          <a:prstGeom prst="rect">
            <a:avLst/>
          </a:prstGeom>
          <a:solidFill>
            <a:srgbClr val="FFFFFF"/>
          </a:solidFill>
          <a:ln w="3175">
            <a:solidFill>
              <a:srgbClr val="E5E7EB"/>
            </a:solidFill>
            <a:prstDash val="solid"/>
          </a:ln>
        </p:spPr>
      </p:sp>
      <p:sp>
        <p:nvSpPr>
          <p:cNvPr id="30" name="Shape 28"/>
          <p:cNvSpPr/>
          <p:nvPr/>
        </p:nvSpPr>
        <p:spPr>
          <a:xfrm>
            <a:off x="91440" y="2545080"/>
            <a:ext cx="6016752" cy="0"/>
          </a:xfrm>
          <a:prstGeom prst="line">
            <a:avLst/>
          </a:prstGeom>
          <a:noFill/>
          <a:ln w="6350">
            <a:solidFill>
              <a:srgbClr val="E5E7EB"/>
            </a:solidFill>
            <a:prstDash val="solid"/>
          </a:ln>
        </p:spPr>
      </p:sp>
      <p:sp>
        <p:nvSpPr>
          <p:cNvPr id="31" name="Text 29"/>
          <p:cNvSpPr/>
          <p:nvPr/>
        </p:nvSpPr>
        <p:spPr>
          <a:xfrm>
            <a:off x="164592" y="256336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Amplitude</a:t>
            </a:r>
            <a:endParaRPr lang="en-US" sz="750" dirty="0"/>
          </a:p>
        </p:txBody>
      </p:sp>
      <p:sp>
        <p:nvSpPr>
          <p:cNvPr id="32" name="Text 30"/>
          <p:cNvSpPr/>
          <p:nvPr/>
        </p:nvSpPr>
        <p:spPr>
          <a:xfrm>
            <a:off x="960120" y="2572512"/>
            <a:ext cx="4178808" cy="387096"/>
          </a:xfrm>
          <a:prstGeom prst="rect">
            <a:avLst/>
          </a:prstGeom>
          <a:noFill/>
          <a:ln/>
        </p:spPr>
        <p:txBody>
          <a:bodyPr wrap="square" lIns="0" tIns="0" rIns="0" bIns="0" rtlCol="0" anchor="t"/>
          <a:lstStyle/>
          <a:p>
            <a:pPr indent="0" marL="0">
              <a:buNone/>
            </a:pPr>
            <a:r>
              <a:rPr lang="en-US" sz="650" dirty="0">
                <a:solidFill>
                  <a:srgbClr val="374151"/>
                </a:solidFill>
              </a:rPr>
              <a:t>Decided, moving forward. Pricing confirmed at roughly half their initial offer (cheaper than what Wealthfront charged for similar volume), setup fee waived, and the team confirmed they want it, including integrating with Foxxum. Ari is proceeding to get the contract signed.</a:t>
            </a:r>
            <a:endParaRPr lang="en-US" sz="650" dirty="0"/>
          </a:p>
        </p:txBody>
      </p:sp>
      <p:sp>
        <p:nvSpPr>
          <p:cNvPr id="33" name="Shape 31"/>
          <p:cNvSpPr/>
          <p:nvPr/>
        </p:nvSpPr>
        <p:spPr>
          <a:xfrm>
            <a:off x="5230368" y="2679192"/>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267919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91440" y="2987040"/>
            <a:ext cx="6016752" cy="0"/>
          </a:xfrm>
          <a:prstGeom prst="line">
            <a:avLst/>
          </a:prstGeom>
          <a:noFill/>
          <a:ln w="6350">
            <a:solidFill>
              <a:srgbClr val="E5E7EB"/>
            </a:solidFill>
            <a:prstDash val="solid"/>
          </a:ln>
        </p:spPr>
      </p:sp>
      <p:sp>
        <p:nvSpPr>
          <p:cNvPr id="36" name="Text 34"/>
          <p:cNvSpPr/>
          <p:nvPr/>
        </p:nvSpPr>
        <p:spPr>
          <a:xfrm>
            <a:off x="164592" y="30053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7" name="Text 35"/>
          <p:cNvSpPr/>
          <p:nvPr/>
        </p:nvSpPr>
        <p:spPr>
          <a:xfrm>
            <a:off x="960120" y="3014472"/>
            <a:ext cx="4178808" cy="387096"/>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8" name="Shape 36"/>
          <p:cNvSpPr/>
          <p:nvPr/>
        </p:nvSpPr>
        <p:spPr>
          <a:xfrm>
            <a:off x="5230368" y="3121152"/>
            <a:ext cx="822960" cy="173736"/>
          </a:xfrm>
          <a:prstGeom prst="roundRect">
            <a:avLst>
              <a:gd name="adj" fmla="val 15789"/>
            </a:avLst>
          </a:prstGeom>
          <a:solidFill>
            <a:srgbClr val="1558A8"/>
          </a:solidFill>
          <a:ln w="12700">
            <a:solidFill>
              <a:srgbClr val="1558A8"/>
            </a:solidFill>
            <a:prstDash val="solid"/>
          </a:ln>
        </p:spPr>
      </p:sp>
      <p:sp>
        <p:nvSpPr>
          <p:cNvPr id="39" name="Text 37"/>
          <p:cNvSpPr/>
          <p:nvPr/>
        </p:nvSpPr>
        <p:spPr>
          <a:xfrm>
            <a:off x="5230368" y="31211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0" name="Shape 38"/>
          <p:cNvSpPr/>
          <p:nvPr/>
        </p:nvSpPr>
        <p:spPr>
          <a:xfrm>
            <a:off x="6236208" y="502920"/>
            <a:ext cx="6016752" cy="2926080"/>
          </a:xfrm>
          <a:prstGeom prst="rect">
            <a:avLst/>
          </a:prstGeom>
          <a:solidFill>
            <a:srgbClr val="FAFBFC"/>
          </a:solidFill>
          <a:ln w="9525">
            <a:solidFill>
              <a:srgbClr val="D1D5DB"/>
            </a:solidFill>
            <a:prstDash val="solid"/>
          </a:ln>
        </p:spPr>
      </p:sp>
      <p:sp>
        <p:nvSpPr>
          <p:cNvPr id="41" name="Shape 39"/>
          <p:cNvSpPr/>
          <p:nvPr/>
        </p:nvSpPr>
        <p:spPr>
          <a:xfrm>
            <a:off x="6236208" y="502920"/>
            <a:ext cx="6016752" cy="274320"/>
          </a:xfrm>
          <a:prstGeom prst="rect">
            <a:avLst/>
          </a:prstGeom>
          <a:solidFill>
            <a:srgbClr val="8ED973"/>
          </a:solidFill>
          <a:ln w="12700">
            <a:solidFill>
              <a:srgbClr val="8ED973"/>
            </a:solidFill>
            <a:prstDash val="solid"/>
          </a:ln>
        </p:spPr>
      </p:sp>
      <p:sp>
        <p:nvSpPr>
          <p:cNvPr id="42" name="Text 40"/>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43" name="Shape 41"/>
          <p:cNvSpPr/>
          <p:nvPr/>
        </p:nvSpPr>
        <p:spPr>
          <a:xfrm>
            <a:off x="6236208" y="777240"/>
            <a:ext cx="6016752" cy="530352"/>
          </a:xfrm>
          <a:prstGeom prst="rect">
            <a:avLst/>
          </a:prstGeom>
          <a:solidFill>
            <a:srgbClr val="FFFFFF"/>
          </a:solidFill>
          <a:ln w="3175">
            <a:solidFill>
              <a:srgbClr val="E5E7EB"/>
            </a:solidFill>
            <a:prstDash val="solid"/>
          </a:ln>
        </p:spPr>
      </p:sp>
      <p:sp>
        <p:nvSpPr>
          <p:cNvPr id="44" name="Text 42"/>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5" name="Text 43"/>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Google Analytics data is unreliable, so the team is evaluating Amplitude, Mixpanel, and PostHog as replacements and adding backend safeguards to catch errors automatically.</a:t>
            </a:r>
            <a:endParaRPr lang="en-US" sz="650" dirty="0"/>
          </a:p>
        </p:txBody>
      </p:sp>
      <p:sp>
        <p:nvSpPr>
          <p:cNvPr id="46" name="Shape 44"/>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307592"/>
            <a:ext cx="6016752" cy="0"/>
          </a:xfrm>
          <a:prstGeom prst="line">
            <a:avLst/>
          </a:prstGeom>
          <a:noFill/>
          <a:ln w="6350">
            <a:solidFill>
              <a:srgbClr val="E5E7EB"/>
            </a:solidFill>
            <a:prstDash val="solid"/>
          </a:ln>
        </p:spPr>
      </p:sp>
      <p:sp>
        <p:nvSpPr>
          <p:cNvPr id="49" name="Text 47"/>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50" name="Text 48"/>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A new TestFlight build shipped this week, and DRM playback with picture-in-picture is now confirmed working on a real device after an iOS certificate fix.</a:t>
            </a:r>
            <a:endParaRPr lang="en-US" sz="650" dirty="0"/>
          </a:p>
        </p:txBody>
      </p:sp>
      <p:sp>
        <p:nvSpPr>
          <p:cNvPr id="51" name="Shape 49"/>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52" name="Text 50"/>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3" name="Shape 51"/>
          <p:cNvSpPr/>
          <p:nvPr/>
        </p:nvSpPr>
        <p:spPr>
          <a:xfrm>
            <a:off x="6236208" y="1837944"/>
            <a:ext cx="6016752" cy="530352"/>
          </a:xfrm>
          <a:prstGeom prst="rect">
            <a:avLst/>
          </a:prstGeom>
          <a:solidFill>
            <a:srgbClr val="FFFFFF"/>
          </a:solidFill>
          <a:ln w="3175">
            <a:solidFill>
              <a:srgbClr val="E5E7EB"/>
            </a:solidFill>
            <a:prstDash val="solid"/>
          </a:ln>
        </p:spPr>
      </p:sp>
      <p:sp>
        <p:nvSpPr>
          <p:cNvPr id="54" name="Shape 52"/>
          <p:cNvSpPr/>
          <p:nvPr/>
        </p:nvSpPr>
        <p:spPr>
          <a:xfrm>
            <a:off x="6236208" y="1837944"/>
            <a:ext cx="6016752" cy="0"/>
          </a:xfrm>
          <a:prstGeom prst="line">
            <a:avLst/>
          </a:prstGeom>
          <a:noFill/>
          <a:ln w="6350">
            <a:solidFill>
              <a:srgbClr val="E5E7EB"/>
            </a:solidFill>
            <a:prstDash val="solid"/>
          </a:ln>
        </p:spPr>
      </p:sp>
      <p:sp>
        <p:nvSpPr>
          <p:cNvPr id="55" name="Text 53"/>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6" name="Text 54"/>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Engineers began prototyping the new tournaments and live pages, and the team kicked off twice-weekly design jam sessions to keep design and engineering aligned.</a:t>
            </a:r>
            <a:endParaRPr lang="en-US" sz="650" dirty="0"/>
          </a:p>
        </p:txBody>
      </p:sp>
      <p:sp>
        <p:nvSpPr>
          <p:cNvPr id="57" name="Shape 55"/>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368296"/>
            <a:ext cx="6016752" cy="0"/>
          </a:xfrm>
          <a:prstGeom prst="line">
            <a:avLst/>
          </a:prstGeom>
          <a:noFill/>
          <a:ln w="6350">
            <a:solidFill>
              <a:srgbClr val="E5E7EB"/>
            </a:solidFill>
            <a:prstDash val="solid"/>
          </a:ln>
        </p:spPr>
      </p:sp>
      <p:sp>
        <p:nvSpPr>
          <p:cNvPr id="60" name="Text 58"/>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61" name="Text 59"/>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2" name="Shape 60"/>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63" name="Text 61"/>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64" name="Shape 62"/>
          <p:cNvSpPr/>
          <p:nvPr/>
        </p:nvSpPr>
        <p:spPr>
          <a:xfrm>
            <a:off x="6236208" y="2898648"/>
            <a:ext cx="6016752" cy="530352"/>
          </a:xfrm>
          <a:prstGeom prst="rect">
            <a:avLst/>
          </a:prstGeom>
          <a:solidFill>
            <a:srgbClr val="FFFFFF"/>
          </a:solidFill>
          <a:ln w="3175">
            <a:solidFill>
              <a:srgbClr val="E5E7EB"/>
            </a:solidFill>
            <a:prstDash val="solid"/>
          </a:ln>
        </p:spPr>
      </p:sp>
      <p:sp>
        <p:nvSpPr>
          <p:cNvPr id="65" name="Shape 63"/>
          <p:cNvSpPr/>
          <p:nvPr/>
        </p:nvSpPr>
        <p:spPr>
          <a:xfrm>
            <a:off x="6236208" y="2898648"/>
            <a:ext cx="6016752" cy="0"/>
          </a:xfrm>
          <a:prstGeom prst="line">
            <a:avLst/>
          </a:prstGeom>
          <a:noFill/>
          <a:ln w="6350">
            <a:solidFill>
              <a:srgbClr val="E5E7EB"/>
            </a:solidFill>
            <a:prstDash val="solid"/>
          </a:ln>
        </p:spPr>
      </p:sp>
      <p:sp>
        <p:nvSpPr>
          <p:cNvPr id="66" name="Text 64"/>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7" name="Text 65"/>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8" name="Shape 66"/>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9" name="Text 67"/>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0" name="Shape 68"/>
          <p:cNvSpPr/>
          <p:nvPr/>
        </p:nvSpPr>
        <p:spPr>
          <a:xfrm>
            <a:off x="91440" y="3502152"/>
            <a:ext cx="6016752" cy="3749040"/>
          </a:xfrm>
          <a:prstGeom prst="rect">
            <a:avLst/>
          </a:prstGeom>
          <a:solidFill>
            <a:srgbClr val="FAFBFC"/>
          </a:solidFill>
          <a:ln w="9525">
            <a:solidFill>
              <a:srgbClr val="D1D5DB"/>
            </a:solidFill>
            <a:prstDash val="solid"/>
          </a:ln>
        </p:spPr>
      </p:sp>
      <p:sp>
        <p:nvSpPr>
          <p:cNvPr id="71" name="Shape 69"/>
          <p:cNvSpPr/>
          <p:nvPr/>
        </p:nvSpPr>
        <p:spPr>
          <a:xfrm>
            <a:off x="91440" y="3502152"/>
            <a:ext cx="6016752" cy="274320"/>
          </a:xfrm>
          <a:prstGeom prst="rect">
            <a:avLst/>
          </a:prstGeom>
          <a:solidFill>
            <a:srgbClr val="8ED973"/>
          </a:solidFill>
          <a:ln w="12700">
            <a:solidFill>
              <a:srgbClr val="8ED973"/>
            </a:solidFill>
            <a:prstDash val="solid"/>
          </a:ln>
        </p:spPr>
      </p:sp>
      <p:sp>
        <p:nvSpPr>
          <p:cNvPr id="72" name="Text 70"/>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73" name="Shape 71"/>
          <p:cNvSpPr/>
          <p:nvPr/>
        </p:nvSpPr>
        <p:spPr>
          <a:xfrm>
            <a:off x="91440" y="3776472"/>
            <a:ext cx="6016752" cy="1158240"/>
          </a:xfrm>
          <a:prstGeom prst="rect">
            <a:avLst/>
          </a:prstGeom>
          <a:solidFill>
            <a:srgbClr val="FFFFFF"/>
          </a:solidFill>
          <a:ln w="3175">
            <a:solidFill>
              <a:srgbClr val="E5E7EB"/>
            </a:solidFill>
            <a:prstDash val="solid"/>
          </a:ln>
        </p:spPr>
      </p:sp>
      <p:sp>
        <p:nvSpPr>
          <p:cNvPr id="74" name="Text 72"/>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5" name="Text 73"/>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MVPD (TV-provider) login is now the only way into the mobile app, with a login fix still being finalized for Android.</a:t>
            </a:r>
            <a:endParaRPr lang="en-US" sz="650" dirty="0"/>
          </a:p>
        </p:txBody>
      </p:sp>
      <p:sp>
        <p:nvSpPr>
          <p:cNvPr id="76" name="Shape 74"/>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77" name="Text 75"/>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78" name="Shape 76"/>
          <p:cNvSpPr/>
          <p:nvPr/>
        </p:nvSpPr>
        <p:spPr>
          <a:xfrm>
            <a:off x="91440" y="4934712"/>
            <a:ext cx="6016752" cy="0"/>
          </a:xfrm>
          <a:prstGeom prst="line">
            <a:avLst/>
          </a:prstGeom>
          <a:noFill/>
          <a:ln w="6350">
            <a:solidFill>
              <a:srgbClr val="E5E7EB"/>
            </a:solidFill>
            <a:prstDash val="solid"/>
          </a:ln>
        </p:spPr>
      </p:sp>
      <p:sp>
        <p:nvSpPr>
          <p:cNvPr id="79" name="Text 77"/>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80" name="Text 78"/>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The iOS certificate issue is fixed, and DRM playback with picture-in-picture is confirmed working on a real device.</a:t>
            </a:r>
            <a:endParaRPr lang="en-US" sz="650" dirty="0"/>
          </a:p>
        </p:txBody>
      </p:sp>
      <p:sp>
        <p:nvSpPr>
          <p:cNvPr id="81" name="Shape 79"/>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82" name="Text 80"/>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3" name="Shape 81"/>
          <p:cNvSpPr/>
          <p:nvPr/>
        </p:nvSpPr>
        <p:spPr>
          <a:xfrm>
            <a:off x="91440" y="6092952"/>
            <a:ext cx="6016752" cy="1158240"/>
          </a:xfrm>
          <a:prstGeom prst="rect">
            <a:avLst/>
          </a:prstGeom>
          <a:solidFill>
            <a:srgbClr val="FFFFFF"/>
          </a:solidFill>
          <a:ln w="3175">
            <a:solidFill>
              <a:srgbClr val="E5E7EB"/>
            </a:solidFill>
            <a:prstDash val="solid"/>
          </a:ln>
        </p:spPr>
      </p:sp>
      <p:sp>
        <p:nvSpPr>
          <p:cNvPr id="84" name="Shape 82"/>
          <p:cNvSpPr/>
          <p:nvPr/>
        </p:nvSpPr>
        <p:spPr>
          <a:xfrm>
            <a:off x="91440" y="6092952"/>
            <a:ext cx="6016752" cy="0"/>
          </a:xfrm>
          <a:prstGeom prst="line">
            <a:avLst/>
          </a:prstGeom>
          <a:noFill/>
          <a:ln w="6350">
            <a:solidFill>
              <a:srgbClr val="E5E7EB"/>
            </a:solidFill>
            <a:prstDash val="solid"/>
          </a:ln>
        </p:spPr>
      </p:sp>
      <p:sp>
        <p:nvSpPr>
          <p:cNvPr id="85" name="Text 83"/>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6" name="Text 84"/>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Foxxum demoed the new content page and carousel pagination, and is now focused on entitlement checks, with playback migration, geo-blocking, and concurrency limits queued up next.</a:t>
            </a:r>
            <a:endParaRPr lang="en-US" sz="650" dirty="0"/>
          </a:p>
        </p:txBody>
      </p:sp>
      <p:sp>
        <p:nvSpPr>
          <p:cNvPr id="87" name="Shape 85"/>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8" name="Text 86"/>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9" name="Shape 87"/>
          <p:cNvSpPr/>
          <p:nvPr/>
        </p:nvSpPr>
        <p:spPr>
          <a:xfrm>
            <a:off x="6236208" y="3502152"/>
            <a:ext cx="6016752" cy="3749040"/>
          </a:xfrm>
          <a:prstGeom prst="rect">
            <a:avLst/>
          </a:prstGeom>
          <a:solidFill>
            <a:srgbClr val="FAFBFC"/>
          </a:solidFill>
          <a:ln w="9525">
            <a:solidFill>
              <a:srgbClr val="D1D5DB"/>
            </a:solidFill>
            <a:prstDash val="solid"/>
          </a:ln>
        </p:spPr>
      </p:sp>
      <p:sp>
        <p:nvSpPr>
          <p:cNvPr id="90" name="Shape 88"/>
          <p:cNvSpPr/>
          <p:nvPr/>
        </p:nvSpPr>
        <p:spPr>
          <a:xfrm>
            <a:off x="6236208" y="3502152"/>
            <a:ext cx="6016752" cy="274320"/>
          </a:xfrm>
          <a:prstGeom prst="rect">
            <a:avLst/>
          </a:prstGeom>
          <a:solidFill>
            <a:srgbClr val="8ED973"/>
          </a:solidFill>
          <a:ln w="12700">
            <a:solidFill>
              <a:srgbClr val="8ED973"/>
            </a:solidFill>
            <a:prstDash val="solid"/>
          </a:ln>
        </p:spPr>
      </p:sp>
      <p:sp>
        <p:nvSpPr>
          <p:cNvPr id="91" name="Text 89"/>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92" name="Shape 90"/>
          <p:cNvSpPr/>
          <p:nvPr/>
        </p:nvSpPr>
        <p:spPr>
          <a:xfrm>
            <a:off x="6236208" y="3776472"/>
            <a:ext cx="6016752" cy="868680"/>
          </a:xfrm>
          <a:prstGeom prst="rect">
            <a:avLst/>
          </a:prstGeom>
          <a:solidFill>
            <a:srgbClr val="FFFFFF"/>
          </a:solidFill>
          <a:ln w="3175">
            <a:solidFill>
              <a:srgbClr val="E5E7EB"/>
            </a:solidFill>
            <a:prstDash val="solid"/>
          </a:ln>
        </p:spPr>
      </p:sp>
      <p:sp>
        <p:nvSpPr>
          <p:cNvPr id="93" name="Text 91"/>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94" name="Text 92"/>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migrating off the limited trial Auth0 account onto a proper dev tenant, and the vendor confirmed the new account request.</a:t>
            </a:r>
            <a:endParaRPr lang="en-US" sz="650" dirty="0"/>
          </a:p>
        </p:txBody>
      </p:sp>
      <p:sp>
        <p:nvSpPr>
          <p:cNvPr id="95" name="Shape 93"/>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96" name="Text 94"/>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97" name="Shape 95"/>
          <p:cNvSpPr/>
          <p:nvPr/>
        </p:nvSpPr>
        <p:spPr>
          <a:xfrm>
            <a:off x="6236208" y="4645152"/>
            <a:ext cx="6016752" cy="0"/>
          </a:xfrm>
          <a:prstGeom prst="line">
            <a:avLst/>
          </a:prstGeom>
          <a:noFill/>
          <a:ln w="6350">
            <a:solidFill>
              <a:srgbClr val="E5E7EB"/>
            </a:solidFill>
            <a:prstDash val="solid"/>
          </a:ln>
        </p:spPr>
      </p:sp>
      <p:sp>
        <p:nvSpPr>
          <p:cNvPr id="98" name="Text 96"/>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9" name="Text 97"/>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Every carousel will keep a default "show more" link with item limits set per device, and design jam sessions started this week.</a:t>
            </a:r>
            <a:endParaRPr lang="en-US" sz="650" dirty="0"/>
          </a:p>
        </p:txBody>
      </p:sp>
      <p:sp>
        <p:nvSpPr>
          <p:cNvPr id="100" name="Shape 98"/>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101" name="Text 99"/>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2" name="Shape 100"/>
          <p:cNvSpPr/>
          <p:nvPr/>
        </p:nvSpPr>
        <p:spPr>
          <a:xfrm>
            <a:off x="6236208" y="5513832"/>
            <a:ext cx="6016752" cy="868680"/>
          </a:xfrm>
          <a:prstGeom prst="rect">
            <a:avLst/>
          </a:prstGeom>
          <a:solidFill>
            <a:srgbClr val="FFFFFF"/>
          </a:solidFill>
          <a:ln w="3175">
            <a:solidFill>
              <a:srgbClr val="E5E7EB"/>
            </a:solidFill>
            <a:prstDash val="solid"/>
          </a:ln>
        </p:spPr>
      </p:sp>
      <p:sp>
        <p:nvSpPr>
          <p:cNvPr id="103" name="Shape 101"/>
          <p:cNvSpPr/>
          <p:nvPr/>
        </p:nvSpPr>
        <p:spPr>
          <a:xfrm>
            <a:off x="6236208" y="5513832"/>
            <a:ext cx="6016752" cy="0"/>
          </a:xfrm>
          <a:prstGeom prst="line">
            <a:avLst/>
          </a:prstGeom>
          <a:noFill/>
          <a:ln w="6350">
            <a:solidFill>
              <a:srgbClr val="E5E7EB"/>
            </a:solidFill>
            <a:prstDash val="solid"/>
          </a:ln>
        </p:spPr>
      </p:sp>
      <p:sp>
        <p:nvSpPr>
          <p:cNvPr id="104" name="Text 102"/>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5" name="Text 103"/>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No BitMovin-specific update this week, but DRM playback with picture-in-picture is confirmed working on iOS.</a:t>
            </a:r>
            <a:endParaRPr lang="en-US" sz="650" dirty="0"/>
          </a:p>
        </p:txBody>
      </p:sp>
      <p:sp>
        <p:nvSpPr>
          <p:cNvPr id="106" name="Shape 104"/>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8" name="Shape 106"/>
          <p:cNvSpPr/>
          <p:nvPr/>
        </p:nvSpPr>
        <p:spPr>
          <a:xfrm>
            <a:off x="6236208" y="6382512"/>
            <a:ext cx="6016752" cy="0"/>
          </a:xfrm>
          <a:prstGeom prst="line">
            <a:avLst/>
          </a:prstGeom>
          <a:noFill/>
          <a:ln w="6350">
            <a:solidFill>
              <a:srgbClr val="E5E7EB"/>
            </a:solidFill>
            <a:prstDash val="solid"/>
          </a:ln>
        </p:spPr>
      </p:sp>
      <p:sp>
        <p:nvSpPr>
          <p:cNvPr id="109" name="Text 107"/>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10" name="Text 108"/>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building a CI pipeline to push iOS and Android builds to staging and TestFlight more frequently.</a:t>
            </a:r>
            <a:endParaRPr lang="en-US" sz="650" dirty="0"/>
          </a:p>
        </p:txBody>
      </p:sp>
      <p:sp>
        <p:nvSpPr>
          <p:cNvPr id="111" name="Shape 109"/>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12" name="Text 110"/>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2026-08-06T18:49:52Z</dcterms:created>
  <dcterms:modified xsi:type="dcterms:W3CDTF">2026-08-06T18:49:52Z</dcterms:modified>
</cp:coreProperties>
</file>