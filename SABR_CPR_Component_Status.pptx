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58"/>
  </p:normalViewPr>
  <p:slideViewPr>
    <p:cSldViewPr snapToGrid="0">
      <p:cViewPr varScale="1">
        <p:scale>
          <a:sx n="109" d="100"/>
          <a:sy n="109" d="100"/>
        </p:scale>
        <p:origin x="200"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7/8/26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7/8/26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7/8/26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7/8/26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7/8/26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7/8/26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7/8/26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7/8/26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7/8/26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7/8/26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7/8/26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7/8/26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7/8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68580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marL="0" indent="0" algn="r">
              <a:buNone/>
            </a:pPr>
            <a:r>
              <a:rPr lang="en-US" sz="1100" dirty="0">
                <a:solidFill>
                  <a:srgbClr val="388849"/>
                </a:solidFill>
              </a:rPr>
              <a:t>Critical Gates  ·  Jul 8,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txBody>
          <a:bodyPr/>
          <a:lstStyle/>
          <a:p>
            <a:endParaRPr lang="en-US"/>
          </a:p>
        </p:txBody>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txBody>
          <a:bodyPr/>
          <a:lstStyle/>
          <a:p>
            <a:endParaRPr lang="en-US"/>
          </a:p>
        </p:txBody>
      </p:sp>
      <p:sp>
        <p:nvSpPr>
          <p:cNvPr id="7" name="Text 5"/>
          <p:cNvSpPr/>
          <p:nvPr/>
        </p:nvSpPr>
        <p:spPr>
          <a:xfrm>
            <a:off x="201168" y="502920"/>
            <a:ext cx="5852160" cy="274320"/>
          </a:xfrm>
          <a:prstGeom prst="rect">
            <a:avLst/>
          </a:prstGeom>
          <a:noFill/>
          <a:ln/>
        </p:spPr>
        <p:txBody>
          <a:bodyPr wrap="square" lIns="0" tIns="0" rIns="0" bIns="0" rtlCol="0" anchor="ctr"/>
          <a:lstStyle/>
          <a:p>
            <a:pPr marL="0" indent="0" algn="l">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txBody>
          <a:bodyPr/>
          <a:lstStyle/>
          <a:p>
            <a:endParaRPr lang="en-US"/>
          </a:p>
        </p:txBody>
      </p:sp>
      <p:sp>
        <p:nvSpPr>
          <p:cNvPr id="9" name="Text 7"/>
          <p:cNvSpPr/>
          <p:nvPr/>
        </p:nvSpPr>
        <p:spPr>
          <a:xfrm>
            <a:off x="164592" y="795528"/>
            <a:ext cx="777240" cy="493776"/>
          </a:xfrm>
          <a:prstGeom prst="rect">
            <a:avLst/>
          </a:prstGeom>
          <a:noFill/>
          <a:ln/>
        </p:spPr>
        <p:txBody>
          <a:bodyPr wrap="square" lIns="0" tIns="0" rIns="0" bIns="0" rtlCol="0" anchor="ctr"/>
          <a:lstStyle/>
          <a:p>
            <a:pPr marL="0" indent="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marL="0" indent="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2" name="Text 10"/>
          <p:cNvSpPr/>
          <p:nvPr/>
        </p:nvSpPr>
        <p:spPr>
          <a:xfrm>
            <a:off x="5230368" y="955548"/>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txBody>
          <a:bodyPr/>
          <a:lstStyle/>
          <a:p>
            <a:endParaRPr lang="en-US"/>
          </a:p>
        </p:txBody>
      </p:sp>
      <p:sp>
        <p:nvSpPr>
          <p:cNvPr id="14" name="Text 12"/>
          <p:cNvSpPr/>
          <p:nvPr/>
        </p:nvSpPr>
        <p:spPr>
          <a:xfrm>
            <a:off x="164592" y="1325880"/>
            <a:ext cx="777240" cy="493776"/>
          </a:xfrm>
          <a:prstGeom prst="rect">
            <a:avLst/>
          </a:prstGeom>
          <a:noFill/>
          <a:ln/>
        </p:spPr>
        <p:txBody>
          <a:bodyPr wrap="square" lIns="0" tIns="0" rIns="0" bIns="0" rtlCol="0" anchor="ctr"/>
          <a:lstStyle/>
          <a:p>
            <a:pPr marL="0" indent="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marL="0" indent="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txBody>
          <a:bodyPr/>
          <a:lstStyle/>
          <a:p>
            <a:endParaRPr lang="en-US"/>
          </a:p>
        </p:txBody>
      </p:sp>
      <p:sp>
        <p:nvSpPr>
          <p:cNvPr id="17" name="Text 15"/>
          <p:cNvSpPr/>
          <p:nvPr/>
        </p:nvSpPr>
        <p:spPr>
          <a:xfrm>
            <a:off x="5230368" y="1485900"/>
            <a:ext cx="822960" cy="173736"/>
          </a:xfrm>
          <a:prstGeom prst="rect">
            <a:avLst/>
          </a:prstGeom>
          <a:noFill/>
          <a:ln/>
        </p:spPr>
        <p:txBody>
          <a:bodyPr wrap="square" lIns="0" tIns="0" rIns="0" bIns="0" rtlCol="0" anchor="ctr"/>
          <a:lstStyle/>
          <a:p>
            <a:pPr marL="0" indent="0" algn="ctr">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txBody>
          <a:bodyPr/>
          <a:lstStyle/>
          <a:p>
            <a:endParaRPr lang="en-US"/>
          </a:p>
        </p:txBody>
      </p:sp>
      <p:sp>
        <p:nvSpPr>
          <p:cNvPr id="19" name="Shape 17"/>
          <p:cNvSpPr/>
          <p:nvPr/>
        </p:nvSpPr>
        <p:spPr>
          <a:xfrm>
            <a:off x="91440" y="1837944"/>
            <a:ext cx="6016752" cy="0"/>
          </a:xfrm>
          <a:prstGeom prst="line">
            <a:avLst/>
          </a:prstGeom>
          <a:noFill/>
          <a:ln w="6350">
            <a:solidFill>
              <a:srgbClr val="E5E7EB"/>
            </a:solidFill>
            <a:prstDash val="solid"/>
          </a:ln>
        </p:spPr>
        <p:txBody>
          <a:bodyPr/>
          <a:lstStyle/>
          <a:p>
            <a:endParaRPr lang="en-US"/>
          </a:p>
        </p:txBody>
      </p:sp>
      <p:sp>
        <p:nvSpPr>
          <p:cNvPr id="20" name="Text 18"/>
          <p:cNvSpPr/>
          <p:nvPr/>
        </p:nvSpPr>
        <p:spPr>
          <a:xfrm>
            <a:off x="164592" y="1856232"/>
            <a:ext cx="777240" cy="493776"/>
          </a:xfrm>
          <a:prstGeom prst="rect">
            <a:avLst/>
          </a:prstGeom>
          <a:noFill/>
          <a:ln/>
        </p:spPr>
        <p:txBody>
          <a:bodyPr wrap="square" lIns="0" tIns="0" rIns="0" bIns="0" rtlCol="0" anchor="ctr"/>
          <a:lstStyle/>
          <a:p>
            <a:pPr marL="0" indent="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marL="0" indent="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23" name="Text 21"/>
          <p:cNvSpPr/>
          <p:nvPr/>
        </p:nvSpPr>
        <p:spPr>
          <a:xfrm>
            <a:off x="5230368" y="2016252"/>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txBody>
          <a:bodyPr/>
          <a:lstStyle/>
          <a:p>
            <a:endParaRPr lang="en-US"/>
          </a:p>
        </p:txBody>
      </p:sp>
      <p:sp>
        <p:nvSpPr>
          <p:cNvPr id="25" name="Text 23"/>
          <p:cNvSpPr/>
          <p:nvPr/>
        </p:nvSpPr>
        <p:spPr>
          <a:xfrm>
            <a:off x="164592" y="2386584"/>
            <a:ext cx="777240" cy="493776"/>
          </a:xfrm>
          <a:prstGeom prst="rect">
            <a:avLst/>
          </a:prstGeom>
          <a:noFill/>
          <a:ln/>
        </p:spPr>
        <p:txBody>
          <a:bodyPr wrap="square" lIns="0" tIns="0" rIns="0" bIns="0" rtlCol="0" anchor="ctr"/>
          <a:lstStyle/>
          <a:p>
            <a:pPr marL="0" indent="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marL="0" indent="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28" name="Text 26"/>
          <p:cNvSpPr/>
          <p:nvPr/>
        </p:nvSpPr>
        <p:spPr>
          <a:xfrm>
            <a:off x="5230368" y="254660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txBody>
          <a:bodyPr/>
          <a:lstStyle/>
          <a:p>
            <a:endParaRPr lang="en-US"/>
          </a:p>
        </p:txBody>
      </p:sp>
      <p:sp>
        <p:nvSpPr>
          <p:cNvPr id="30" name="Shape 28"/>
          <p:cNvSpPr/>
          <p:nvPr/>
        </p:nvSpPr>
        <p:spPr>
          <a:xfrm>
            <a:off x="91440" y="2898648"/>
            <a:ext cx="6016752" cy="0"/>
          </a:xfrm>
          <a:prstGeom prst="line">
            <a:avLst/>
          </a:prstGeom>
          <a:noFill/>
          <a:ln w="6350">
            <a:solidFill>
              <a:srgbClr val="E5E7EB"/>
            </a:solidFill>
            <a:prstDash val="solid"/>
          </a:ln>
        </p:spPr>
        <p:txBody>
          <a:bodyPr/>
          <a:lstStyle/>
          <a:p>
            <a:endParaRPr lang="en-US"/>
          </a:p>
        </p:txBody>
      </p:sp>
      <p:sp>
        <p:nvSpPr>
          <p:cNvPr id="31" name="Text 29"/>
          <p:cNvSpPr/>
          <p:nvPr/>
        </p:nvSpPr>
        <p:spPr>
          <a:xfrm>
            <a:off x="164592" y="2916936"/>
            <a:ext cx="777240" cy="493776"/>
          </a:xfrm>
          <a:prstGeom prst="rect">
            <a:avLst/>
          </a:prstGeom>
          <a:noFill/>
          <a:ln/>
        </p:spPr>
        <p:txBody>
          <a:bodyPr wrap="square" lIns="0" tIns="0" rIns="0" bIns="0" rtlCol="0" anchor="ctr"/>
          <a:lstStyle/>
          <a:p>
            <a:pPr marL="0" indent="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marL="0" indent="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34" name="Text 32"/>
          <p:cNvSpPr/>
          <p:nvPr/>
        </p:nvSpPr>
        <p:spPr>
          <a:xfrm>
            <a:off x="5230368" y="3076956"/>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txBody>
          <a:bodyPr/>
          <a:lstStyle/>
          <a:p>
            <a:endParaRPr lang="en-US"/>
          </a:p>
        </p:txBody>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txBody>
          <a:bodyPr/>
          <a:lstStyle/>
          <a:p>
            <a:endParaRPr lang="en-US"/>
          </a:p>
        </p:txBody>
      </p:sp>
      <p:sp>
        <p:nvSpPr>
          <p:cNvPr id="37" name="Text 35"/>
          <p:cNvSpPr/>
          <p:nvPr/>
        </p:nvSpPr>
        <p:spPr>
          <a:xfrm>
            <a:off x="6345936" y="502920"/>
            <a:ext cx="5852160" cy="274320"/>
          </a:xfrm>
          <a:prstGeom prst="rect">
            <a:avLst/>
          </a:prstGeom>
          <a:noFill/>
          <a:ln/>
        </p:spPr>
        <p:txBody>
          <a:bodyPr wrap="square" lIns="0" tIns="0" rIns="0" bIns="0" rtlCol="0" anchor="ctr"/>
          <a:lstStyle/>
          <a:p>
            <a:pPr marL="0" indent="0" algn="l">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txBody>
          <a:bodyPr/>
          <a:lstStyle/>
          <a:p>
            <a:endParaRPr lang="en-US"/>
          </a:p>
        </p:txBody>
      </p:sp>
      <p:sp>
        <p:nvSpPr>
          <p:cNvPr id="39" name="Text 37"/>
          <p:cNvSpPr/>
          <p:nvPr/>
        </p:nvSpPr>
        <p:spPr>
          <a:xfrm>
            <a:off x="6309360" y="795528"/>
            <a:ext cx="777240" cy="493776"/>
          </a:xfrm>
          <a:prstGeom prst="rect">
            <a:avLst/>
          </a:prstGeom>
          <a:noFill/>
          <a:ln/>
        </p:spPr>
        <p:txBody>
          <a:bodyPr wrap="square" lIns="0" tIns="0" rIns="0" bIns="0" rtlCol="0" anchor="ctr"/>
          <a:lstStyle/>
          <a:p>
            <a:pPr marL="0" indent="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marL="0" indent="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42" name="Text 40"/>
          <p:cNvSpPr/>
          <p:nvPr/>
        </p:nvSpPr>
        <p:spPr>
          <a:xfrm>
            <a:off x="11375136" y="955548"/>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txBody>
          <a:bodyPr/>
          <a:lstStyle/>
          <a:p>
            <a:endParaRPr lang="en-US"/>
          </a:p>
        </p:txBody>
      </p:sp>
      <p:sp>
        <p:nvSpPr>
          <p:cNvPr id="44" name="Text 42"/>
          <p:cNvSpPr/>
          <p:nvPr/>
        </p:nvSpPr>
        <p:spPr>
          <a:xfrm>
            <a:off x="6309360" y="1325880"/>
            <a:ext cx="777240" cy="493776"/>
          </a:xfrm>
          <a:prstGeom prst="rect">
            <a:avLst/>
          </a:prstGeom>
          <a:noFill/>
          <a:ln/>
        </p:spPr>
        <p:txBody>
          <a:bodyPr wrap="square" lIns="0" tIns="0" rIns="0" bIns="0" rtlCol="0" anchor="ctr"/>
          <a:lstStyle/>
          <a:p>
            <a:pPr marL="0" indent="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marL="0" indent="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47" name="Text 45"/>
          <p:cNvSpPr/>
          <p:nvPr/>
        </p:nvSpPr>
        <p:spPr>
          <a:xfrm>
            <a:off x="11375136" y="1485900"/>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txBody>
          <a:bodyPr/>
          <a:lstStyle/>
          <a:p>
            <a:endParaRPr lang="en-US"/>
          </a:p>
        </p:txBody>
      </p:sp>
      <p:sp>
        <p:nvSpPr>
          <p:cNvPr id="49" name="Shape 47"/>
          <p:cNvSpPr/>
          <p:nvPr/>
        </p:nvSpPr>
        <p:spPr>
          <a:xfrm>
            <a:off x="6236208" y="1837944"/>
            <a:ext cx="6016752" cy="0"/>
          </a:xfrm>
          <a:prstGeom prst="line">
            <a:avLst/>
          </a:prstGeom>
          <a:noFill/>
          <a:ln w="6350">
            <a:solidFill>
              <a:srgbClr val="E5E7EB"/>
            </a:solidFill>
            <a:prstDash val="solid"/>
          </a:ln>
        </p:spPr>
        <p:txBody>
          <a:bodyPr/>
          <a:lstStyle/>
          <a:p>
            <a:endParaRPr lang="en-US"/>
          </a:p>
        </p:txBody>
      </p:sp>
      <p:sp>
        <p:nvSpPr>
          <p:cNvPr id="50" name="Text 48"/>
          <p:cNvSpPr/>
          <p:nvPr/>
        </p:nvSpPr>
        <p:spPr>
          <a:xfrm>
            <a:off x="6309360" y="1856232"/>
            <a:ext cx="777240" cy="493776"/>
          </a:xfrm>
          <a:prstGeom prst="rect">
            <a:avLst/>
          </a:prstGeom>
          <a:noFill/>
          <a:ln/>
        </p:spPr>
        <p:txBody>
          <a:bodyPr wrap="square" lIns="0" tIns="0" rIns="0" bIns="0" rtlCol="0" anchor="ctr"/>
          <a:lstStyle/>
          <a:p>
            <a:pPr marL="0" indent="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marL="0" indent="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53" name="Text 51"/>
          <p:cNvSpPr/>
          <p:nvPr/>
        </p:nvSpPr>
        <p:spPr>
          <a:xfrm>
            <a:off x="11375136" y="2016252"/>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txBody>
          <a:bodyPr/>
          <a:lstStyle/>
          <a:p>
            <a:endParaRPr lang="en-US"/>
          </a:p>
        </p:txBody>
      </p:sp>
      <p:sp>
        <p:nvSpPr>
          <p:cNvPr id="55" name="Text 53"/>
          <p:cNvSpPr/>
          <p:nvPr/>
        </p:nvSpPr>
        <p:spPr>
          <a:xfrm>
            <a:off x="6309360" y="2386584"/>
            <a:ext cx="777240" cy="493776"/>
          </a:xfrm>
          <a:prstGeom prst="rect">
            <a:avLst/>
          </a:prstGeom>
          <a:noFill/>
          <a:ln/>
        </p:spPr>
        <p:txBody>
          <a:bodyPr wrap="square" lIns="0" tIns="0" rIns="0" bIns="0" rtlCol="0" anchor="ctr"/>
          <a:lstStyle/>
          <a:p>
            <a:pPr marL="0" indent="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marL="0" indent="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58" name="Text 56"/>
          <p:cNvSpPr/>
          <p:nvPr/>
        </p:nvSpPr>
        <p:spPr>
          <a:xfrm>
            <a:off x="11375136" y="254660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txBody>
          <a:bodyPr/>
          <a:lstStyle/>
          <a:p>
            <a:endParaRPr lang="en-US"/>
          </a:p>
        </p:txBody>
      </p:sp>
      <p:sp>
        <p:nvSpPr>
          <p:cNvPr id="60" name="Shape 58"/>
          <p:cNvSpPr/>
          <p:nvPr/>
        </p:nvSpPr>
        <p:spPr>
          <a:xfrm>
            <a:off x="6236208" y="2898648"/>
            <a:ext cx="6016752" cy="0"/>
          </a:xfrm>
          <a:prstGeom prst="line">
            <a:avLst/>
          </a:prstGeom>
          <a:noFill/>
          <a:ln w="6350">
            <a:solidFill>
              <a:srgbClr val="E5E7EB"/>
            </a:solidFill>
            <a:prstDash val="solid"/>
          </a:ln>
        </p:spPr>
        <p:txBody>
          <a:bodyPr/>
          <a:lstStyle/>
          <a:p>
            <a:endParaRPr lang="en-US"/>
          </a:p>
        </p:txBody>
      </p:sp>
      <p:sp>
        <p:nvSpPr>
          <p:cNvPr id="61" name="Text 59"/>
          <p:cNvSpPr/>
          <p:nvPr/>
        </p:nvSpPr>
        <p:spPr>
          <a:xfrm>
            <a:off x="6309360" y="2916936"/>
            <a:ext cx="777240" cy="493776"/>
          </a:xfrm>
          <a:prstGeom prst="rect">
            <a:avLst/>
          </a:prstGeom>
          <a:noFill/>
          <a:ln/>
        </p:spPr>
        <p:txBody>
          <a:bodyPr wrap="square" lIns="0" tIns="0" rIns="0" bIns="0" rtlCol="0" anchor="ctr"/>
          <a:lstStyle/>
          <a:p>
            <a:pPr marL="0" indent="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marL="0" indent="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64" name="Text 62"/>
          <p:cNvSpPr/>
          <p:nvPr/>
        </p:nvSpPr>
        <p:spPr>
          <a:xfrm>
            <a:off x="11375136" y="3076956"/>
            <a:ext cx="822960" cy="173736"/>
          </a:xfrm>
          <a:prstGeom prst="rect">
            <a:avLst/>
          </a:prstGeom>
          <a:noFill/>
          <a:ln/>
        </p:spPr>
        <p:txBody>
          <a:bodyPr wrap="square" lIns="0" tIns="0" rIns="0" bIns="0" rtlCol="0" anchor="ctr"/>
          <a:lstStyle/>
          <a:p>
            <a:pPr marL="0" indent="0" algn="ctr">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txBody>
          <a:bodyPr/>
          <a:lstStyle/>
          <a:p>
            <a:endParaRPr lang="en-US"/>
          </a:p>
        </p:txBody>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txBody>
          <a:bodyPr/>
          <a:lstStyle/>
          <a:p>
            <a:endParaRPr lang="en-US"/>
          </a:p>
        </p:txBody>
      </p:sp>
      <p:sp>
        <p:nvSpPr>
          <p:cNvPr id="67" name="Text 65"/>
          <p:cNvSpPr/>
          <p:nvPr/>
        </p:nvSpPr>
        <p:spPr>
          <a:xfrm>
            <a:off x="201168" y="3502152"/>
            <a:ext cx="5852160" cy="274320"/>
          </a:xfrm>
          <a:prstGeom prst="rect">
            <a:avLst/>
          </a:prstGeom>
          <a:noFill/>
          <a:ln/>
        </p:spPr>
        <p:txBody>
          <a:bodyPr wrap="square" lIns="0" tIns="0" rIns="0" bIns="0" rtlCol="0" anchor="ctr"/>
          <a:lstStyle/>
          <a:p>
            <a:pPr marL="0" indent="0" algn="l">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txBody>
          <a:bodyPr/>
          <a:lstStyle/>
          <a:p>
            <a:endParaRPr lang="en-US"/>
          </a:p>
        </p:txBody>
      </p:sp>
      <p:sp>
        <p:nvSpPr>
          <p:cNvPr id="69" name="Text 67"/>
          <p:cNvSpPr/>
          <p:nvPr/>
        </p:nvSpPr>
        <p:spPr>
          <a:xfrm>
            <a:off x="164592" y="3794760"/>
            <a:ext cx="777240" cy="1121664"/>
          </a:xfrm>
          <a:prstGeom prst="rect">
            <a:avLst/>
          </a:prstGeom>
          <a:noFill/>
          <a:ln/>
        </p:spPr>
        <p:txBody>
          <a:bodyPr wrap="square" lIns="0" tIns="0" rIns="0" bIns="0" rtlCol="0" anchor="ctr"/>
          <a:lstStyle/>
          <a:p>
            <a:pPr marL="0" indent="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marL="0" indent="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72" name="Text 70"/>
          <p:cNvSpPr/>
          <p:nvPr/>
        </p:nvSpPr>
        <p:spPr>
          <a:xfrm>
            <a:off x="5230368" y="426872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txBody>
          <a:bodyPr/>
          <a:lstStyle/>
          <a:p>
            <a:endParaRPr lang="en-US"/>
          </a:p>
        </p:txBody>
      </p:sp>
      <p:sp>
        <p:nvSpPr>
          <p:cNvPr id="74" name="Text 72"/>
          <p:cNvSpPr/>
          <p:nvPr/>
        </p:nvSpPr>
        <p:spPr>
          <a:xfrm>
            <a:off x="164592" y="4953000"/>
            <a:ext cx="777240" cy="1121664"/>
          </a:xfrm>
          <a:prstGeom prst="rect">
            <a:avLst/>
          </a:prstGeom>
          <a:noFill/>
          <a:ln/>
        </p:spPr>
        <p:txBody>
          <a:bodyPr wrap="square" lIns="0" tIns="0" rIns="0" bIns="0" rtlCol="0" anchor="ctr"/>
          <a:lstStyle/>
          <a:p>
            <a:pPr marL="0" indent="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marL="0" indent="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77" name="Text 75"/>
          <p:cNvSpPr/>
          <p:nvPr/>
        </p:nvSpPr>
        <p:spPr>
          <a:xfrm>
            <a:off x="5230368" y="542696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txBody>
          <a:bodyPr/>
          <a:lstStyle/>
          <a:p>
            <a:endParaRPr lang="en-US"/>
          </a:p>
        </p:txBody>
      </p:sp>
      <p:sp>
        <p:nvSpPr>
          <p:cNvPr id="79" name="Shape 77"/>
          <p:cNvSpPr/>
          <p:nvPr/>
        </p:nvSpPr>
        <p:spPr>
          <a:xfrm>
            <a:off x="91440" y="6092952"/>
            <a:ext cx="6016752" cy="0"/>
          </a:xfrm>
          <a:prstGeom prst="line">
            <a:avLst/>
          </a:prstGeom>
          <a:noFill/>
          <a:ln w="6350">
            <a:solidFill>
              <a:srgbClr val="E5E7EB"/>
            </a:solidFill>
            <a:prstDash val="solid"/>
          </a:ln>
        </p:spPr>
        <p:txBody>
          <a:bodyPr/>
          <a:lstStyle/>
          <a:p>
            <a:endParaRPr lang="en-US"/>
          </a:p>
        </p:txBody>
      </p:sp>
      <p:sp>
        <p:nvSpPr>
          <p:cNvPr id="80" name="Text 78"/>
          <p:cNvSpPr/>
          <p:nvPr/>
        </p:nvSpPr>
        <p:spPr>
          <a:xfrm>
            <a:off x="164592" y="6111240"/>
            <a:ext cx="777240" cy="1121664"/>
          </a:xfrm>
          <a:prstGeom prst="rect">
            <a:avLst/>
          </a:prstGeom>
          <a:noFill/>
          <a:ln/>
        </p:spPr>
        <p:txBody>
          <a:bodyPr wrap="square" lIns="0" tIns="0" rIns="0" bIns="0" rtlCol="0" anchor="ctr"/>
          <a:lstStyle/>
          <a:p>
            <a:pPr marL="0" indent="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marL="0" indent="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83" name="Text 81"/>
          <p:cNvSpPr/>
          <p:nvPr/>
        </p:nvSpPr>
        <p:spPr>
          <a:xfrm>
            <a:off x="5230368" y="658520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txBody>
          <a:bodyPr/>
          <a:lstStyle/>
          <a:p>
            <a:endParaRPr lang="en-US"/>
          </a:p>
        </p:txBody>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txBody>
          <a:bodyPr/>
          <a:lstStyle/>
          <a:p>
            <a:endParaRPr lang="en-US"/>
          </a:p>
        </p:txBody>
      </p:sp>
      <p:sp>
        <p:nvSpPr>
          <p:cNvPr id="86" name="Text 84"/>
          <p:cNvSpPr/>
          <p:nvPr/>
        </p:nvSpPr>
        <p:spPr>
          <a:xfrm>
            <a:off x="6345936" y="3502152"/>
            <a:ext cx="5852160" cy="274320"/>
          </a:xfrm>
          <a:prstGeom prst="rect">
            <a:avLst/>
          </a:prstGeom>
          <a:noFill/>
          <a:ln/>
        </p:spPr>
        <p:txBody>
          <a:bodyPr wrap="square" lIns="0" tIns="0" rIns="0" bIns="0" rtlCol="0" anchor="ctr"/>
          <a:lstStyle/>
          <a:p>
            <a:pPr marL="0" indent="0" algn="l">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txBody>
          <a:bodyPr/>
          <a:lstStyle/>
          <a:p>
            <a:endParaRPr lang="en-US"/>
          </a:p>
        </p:txBody>
      </p:sp>
      <p:sp>
        <p:nvSpPr>
          <p:cNvPr id="88" name="Text 86"/>
          <p:cNvSpPr/>
          <p:nvPr/>
        </p:nvSpPr>
        <p:spPr>
          <a:xfrm>
            <a:off x="6309360" y="3794760"/>
            <a:ext cx="777240" cy="832104"/>
          </a:xfrm>
          <a:prstGeom prst="rect">
            <a:avLst/>
          </a:prstGeom>
          <a:noFill/>
          <a:ln/>
        </p:spPr>
        <p:txBody>
          <a:bodyPr wrap="square" lIns="0" tIns="0" rIns="0" bIns="0" rtlCol="0" anchor="ctr"/>
          <a:lstStyle/>
          <a:p>
            <a:pPr marL="0" indent="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marL="0" indent="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91" name="Text 89"/>
          <p:cNvSpPr/>
          <p:nvPr/>
        </p:nvSpPr>
        <p:spPr>
          <a:xfrm>
            <a:off x="11375136" y="412394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txBody>
          <a:bodyPr/>
          <a:lstStyle/>
          <a:p>
            <a:endParaRPr lang="en-US"/>
          </a:p>
        </p:txBody>
      </p:sp>
      <p:sp>
        <p:nvSpPr>
          <p:cNvPr id="93" name="Text 91"/>
          <p:cNvSpPr/>
          <p:nvPr/>
        </p:nvSpPr>
        <p:spPr>
          <a:xfrm>
            <a:off x="6309360" y="4663440"/>
            <a:ext cx="777240" cy="832104"/>
          </a:xfrm>
          <a:prstGeom prst="rect">
            <a:avLst/>
          </a:prstGeom>
          <a:noFill/>
          <a:ln/>
        </p:spPr>
        <p:txBody>
          <a:bodyPr wrap="square" lIns="0" tIns="0" rIns="0" bIns="0" rtlCol="0" anchor="ctr"/>
          <a:lstStyle/>
          <a:p>
            <a:pPr marL="0" indent="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marL="0" indent="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96" name="Text 94"/>
          <p:cNvSpPr/>
          <p:nvPr/>
        </p:nvSpPr>
        <p:spPr>
          <a:xfrm>
            <a:off x="11375136" y="499262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txBody>
          <a:bodyPr/>
          <a:lstStyle/>
          <a:p>
            <a:endParaRPr lang="en-US"/>
          </a:p>
        </p:txBody>
      </p:sp>
      <p:sp>
        <p:nvSpPr>
          <p:cNvPr id="98" name="Shape 96"/>
          <p:cNvSpPr/>
          <p:nvPr/>
        </p:nvSpPr>
        <p:spPr>
          <a:xfrm>
            <a:off x="6236208" y="5513832"/>
            <a:ext cx="6016752" cy="0"/>
          </a:xfrm>
          <a:prstGeom prst="line">
            <a:avLst/>
          </a:prstGeom>
          <a:noFill/>
          <a:ln w="6350">
            <a:solidFill>
              <a:srgbClr val="E5E7EB"/>
            </a:solidFill>
            <a:prstDash val="solid"/>
          </a:ln>
        </p:spPr>
        <p:txBody>
          <a:bodyPr/>
          <a:lstStyle/>
          <a:p>
            <a:endParaRPr lang="en-US"/>
          </a:p>
        </p:txBody>
      </p:sp>
      <p:sp>
        <p:nvSpPr>
          <p:cNvPr id="99" name="Text 97"/>
          <p:cNvSpPr/>
          <p:nvPr/>
        </p:nvSpPr>
        <p:spPr>
          <a:xfrm>
            <a:off x="6309360" y="5532120"/>
            <a:ext cx="777240" cy="832104"/>
          </a:xfrm>
          <a:prstGeom prst="rect">
            <a:avLst/>
          </a:prstGeom>
          <a:noFill/>
          <a:ln/>
        </p:spPr>
        <p:txBody>
          <a:bodyPr wrap="square" lIns="0" tIns="0" rIns="0" bIns="0" rtlCol="0" anchor="ctr"/>
          <a:lstStyle/>
          <a:p>
            <a:pPr marL="0" indent="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marL="0" indent="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02" name="Text 100"/>
          <p:cNvSpPr/>
          <p:nvPr/>
        </p:nvSpPr>
        <p:spPr>
          <a:xfrm>
            <a:off x="11375136" y="586130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txBody>
          <a:bodyPr/>
          <a:lstStyle/>
          <a:p>
            <a:endParaRPr lang="en-US"/>
          </a:p>
        </p:txBody>
      </p:sp>
      <p:sp>
        <p:nvSpPr>
          <p:cNvPr id="104" name="Text 102"/>
          <p:cNvSpPr/>
          <p:nvPr/>
        </p:nvSpPr>
        <p:spPr>
          <a:xfrm>
            <a:off x="6309360" y="6400800"/>
            <a:ext cx="777240" cy="832104"/>
          </a:xfrm>
          <a:prstGeom prst="rect">
            <a:avLst/>
          </a:prstGeom>
          <a:noFill/>
          <a:ln/>
        </p:spPr>
        <p:txBody>
          <a:bodyPr wrap="square" lIns="0" tIns="0" rIns="0" bIns="0" rtlCol="0" anchor="ctr"/>
          <a:lstStyle/>
          <a:p>
            <a:pPr marL="0" indent="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marL="0" indent="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07" name="Text 105"/>
          <p:cNvSpPr/>
          <p:nvPr/>
        </p:nvSpPr>
        <p:spPr>
          <a:xfrm>
            <a:off x="11375136" y="6729984"/>
            <a:ext cx="822960" cy="173736"/>
          </a:xfrm>
          <a:prstGeom prst="rect">
            <a:avLst/>
          </a:prstGeom>
          <a:noFill/>
          <a:ln/>
        </p:spPr>
        <p:txBody>
          <a:bodyPr wrap="square" lIns="0" tIns="0" rIns="0" bIns="0" rtlCol="0" anchor="ctr"/>
          <a:lstStyle/>
          <a:p>
            <a:pPr marL="0" indent="0" algn="ctr">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CPR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15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17" name="Text 15"/>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txBody>
          <a:bodyPr/>
          <a:lstStyle/>
          <a:p>
            <a:endParaRPr lang="en-US"/>
          </a:p>
        </p:txBody>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22" name="Text 20"/>
          <p:cNvSpPr/>
          <p:nvPr/>
        </p:nvSpPr>
        <p:spPr>
          <a:xfrm>
            <a:off x="182880" y="877824"/>
            <a:ext cx="859536" cy="1024128"/>
          </a:xfrm>
          <a:prstGeom prst="rect">
            <a:avLst/>
          </a:prstGeom>
          <a:noFill/>
          <a:ln/>
        </p:spPr>
        <p:txBody>
          <a:bodyPr wrap="square" lIns="0" tIns="0" rIns="0" bIns="0" rtlCol="0" anchor="ctr"/>
          <a:lstStyle/>
          <a:p>
            <a:pPr marL="0" indent="0" algn="ctr">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5" name="Text 23"/>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27" name="Text 25"/>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9" name="Text 27"/>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1" name="Text 29"/>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3" name="Text 31"/>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35" name="Text 33"/>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7" name="Text 35"/>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9" name="Text 37"/>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1" name="Text 39"/>
          <p:cNvSpPr/>
          <p:nvPr/>
        </p:nvSpPr>
        <p:spPr>
          <a:xfrm>
            <a:off x="5230368"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43" name="Text 41"/>
          <p:cNvSpPr/>
          <p:nvPr/>
        </p:nvSpPr>
        <p:spPr>
          <a:xfrm>
            <a:off x="5230368" y="128016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5" name="Text 43"/>
          <p:cNvSpPr/>
          <p:nvPr/>
        </p:nvSpPr>
        <p:spPr>
          <a:xfrm>
            <a:off x="624535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47" name="Text 45"/>
          <p:cNvSpPr/>
          <p:nvPr/>
        </p:nvSpPr>
        <p:spPr>
          <a:xfrm>
            <a:off x="6245352" y="128016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9" name="Text 47"/>
          <p:cNvSpPr/>
          <p:nvPr/>
        </p:nvSpPr>
        <p:spPr>
          <a:xfrm>
            <a:off x="726033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51" name="Text 49"/>
          <p:cNvSpPr/>
          <p:nvPr/>
        </p:nvSpPr>
        <p:spPr>
          <a:xfrm>
            <a:off x="7260336" y="128016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txBody>
          <a:bodyPr/>
          <a:lstStyle/>
          <a:p>
            <a:endParaRPr lang="en-US"/>
          </a:p>
        </p:txBody>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54" name="Text 52"/>
          <p:cNvSpPr/>
          <p:nvPr/>
        </p:nvSpPr>
        <p:spPr>
          <a:xfrm>
            <a:off x="182880" y="2103120"/>
            <a:ext cx="859536" cy="1024128"/>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7" name="Text 55"/>
          <p:cNvSpPr/>
          <p:nvPr/>
        </p:nvSpPr>
        <p:spPr>
          <a:xfrm>
            <a:off x="1170432" y="229514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9" name="Text 57"/>
          <p:cNvSpPr/>
          <p:nvPr/>
        </p:nvSpPr>
        <p:spPr>
          <a:xfrm>
            <a:off x="1170432" y="250545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1" name="Text 59"/>
          <p:cNvSpPr/>
          <p:nvPr/>
        </p:nvSpPr>
        <p:spPr>
          <a:xfrm>
            <a:off x="2185416" y="229514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3" name="Text 61"/>
          <p:cNvSpPr/>
          <p:nvPr/>
        </p:nvSpPr>
        <p:spPr>
          <a:xfrm>
            <a:off x="2185416" y="250545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5" name="Text 63"/>
          <p:cNvSpPr/>
          <p:nvPr/>
        </p:nvSpPr>
        <p:spPr>
          <a:xfrm>
            <a:off x="3200400" y="229514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7" name="Text 65"/>
          <p:cNvSpPr/>
          <p:nvPr/>
        </p:nvSpPr>
        <p:spPr>
          <a:xfrm>
            <a:off x="3200400" y="250545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9" name="Text 67"/>
          <p:cNvSpPr/>
          <p:nvPr/>
        </p:nvSpPr>
        <p:spPr>
          <a:xfrm>
            <a:off x="4215384" y="229514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1" name="Text 69"/>
          <p:cNvSpPr/>
          <p:nvPr/>
        </p:nvSpPr>
        <p:spPr>
          <a:xfrm>
            <a:off x="4215384" y="250545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3" name="Text 71"/>
          <p:cNvSpPr/>
          <p:nvPr/>
        </p:nvSpPr>
        <p:spPr>
          <a:xfrm>
            <a:off x="5230368" y="229514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5" name="Text 73"/>
          <p:cNvSpPr/>
          <p:nvPr/>
        </p:nvSpPr>
        <p:spPr>
          <a:xfrm>
            <a:off x="5230368" y="250545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7" name="Text 75"/>
          <p:cNvSpPr/>
          <p:nvPr/>
        </p:nvSpPr>
        <p:spPr>
          <a:xfrm>
            <a:off x="6245352" y="229514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9" name="Text 77"/>
          <p:cNvSpPr/>
          <p:nvPr/>
        </p:nvSpPr>
        <p:spPr>
          <a:xfrm>
            <a:off x="6245352" y="250545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txBody>
          <a:bodyPr/>
          <a:lstStyle/>
          <a:p>
            <a:endParaRPr lang="en-US"/>
          </a:p>
        </p:txBody>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82" name="Text 80"/>
          <p:cNvSpPr/>
          <p:nvPr/>
        </p:nvSpPr>
        <p:spPr>
          <a:xfrm>
            <a:off x="182880" y="3328416"/>
            <a:ext cx="859536" cy="1024128"/>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5" name="Text 83"/>
          <p:cNvSpPr/>
          <p:nvPr/>
        </p:nvSpPr>
        <p:spPr>
          <a:xfrm>
            <a:off x="1170432" y="3520440"/>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87" name="Text 85"/>
          <p:cNvSpPr/>
          <p:nvPr/>
        </p:nvSpPr>
        <p:spPr>
          <a:xfrm>
            <a:off x="1170432" y="3730752"/>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9" name="Text 87"/>
          <p:cNvSpPr/>
          <p:nvPr/>
        </p:nvSpPr>
        <p:spPr>
          <a:xfrm>
            <a:off x="2185416" y="3520440"/>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1" name="Text 89"/>
          <p:cNvSpPr/>
          <p:nvPr/>
        </p:nvSpPr>
        <p:spPr>
          <a:xfrm>
            <a:off x="2185416" y="3730752"/>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3" name="Text 91"/>
          <p:cNvSpPr/>
          <p:nvPr/>
        </p:nvSpPr>
        <p:spPr>
          <a:xfrm>
            <a:off x="3200400" y="3520440"/>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95" name="Text 93"/>
          <p:cNvSpPr/>
          <p:nvPr/>
        </p:nvSpPr>
        <p:spPr>
          <a:xfrm>
            <a:off x="3200400" y="3730752"/>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7" name="Text 95"/>
          <p:cNvSpPr/>
          <p:nvPr/>
        </p:nvSpPr>
        <p:spPr>
          <a:xfrm>
            <a:off x="4215384" y="3520440"/>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9" name="Text 97"/>
          <p:cNvSpPr/>
          <p:nvPr/>
        </p:nvSpPr>
        <p:spPr>
          <a:xfrm>
            <a:off x="4215384" y="3730752"/>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1" name="Text 99"/>
          <p:cNvSpPr/>
          <p:nvPr/>
        </p:nvSpPr>
        <p:spPr>
          <a:xfrm>
            <a:off x="5230368" y="3520440"/>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Bitmovin QOE</a:t>
            </a:r>
            <a:endParaRPr lang="en-US" sz="750" dirty="0"/>
          </a:p>
          <a:p>
            <a:pPr marL="0" indent="0" algn="ctr">
              <a:buNone/>
            </a:pPr>
            <a:r>
              <a:rPr lang="en-US" sz="750" b="1" dirty="0">
                <a:solidFill>
                  <a:srgbClr val="1E293B"/>
                </a:solidFill>
              </a:rPr>
              <a:t>NPAW/BitMov</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3" name="Text 101"/>
          <p:cNvSpPr/>
          <p:nvPr/>
        </p:nvSpPr>
        <p:spPr>
          <a:xfrm>
            <a:off x="5230368" y="3730752"/>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txBody>
          <a:bodyPr/>
          <a:lstStyle/>
          <a:p>
            <a:endParaRPr lang="en-US"/>
          </a:p>
        </p:txBody>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106" name="Text 104"/>
          <p:cNvSpPr/>
          <p:nvPr/>
        </p:nvSpPr>
        <p:spPr>
          <a:xfrm>
            <a:off x="182880" y="4553712"/>
            <a:ext cx="859536" cy="1024128"/>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9" name="Text 107"/>
          <p:cNvSpPr/>
          <p:nvPr/>
        </p:nvSpPr>
        <p:spPr>
          <a:xfrm>
            <a:off x="1170432" y="47457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1" name="Text 109"/>
          <p:cNvSpPr/>
          <p:nvPr/>
        </p:nvSpPr>
        <p:spPr>
          <a:xfrm>
            <a:off x="1170432" y="4956048"/>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3" name="Text 111"/>
          <p:cNvSpPr/>
          <p:nvPr/>
        </p:nvSpPr>
        <p:spPr>
          <a:xfrm>
            <a:off x="2185416" y="47457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5" name="Text 113"/>
          <p:cNvSpPr/>
          <p:nvPr/>
        </p:nvSpPr>
        <p:spPr>
          <a:xfrm>
            <a:off x="2185416" y="4956048"/>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7" name="Text 115"/>
          <p:cNvSpPr/>
          <p:nvPr/>
        </p:nvSpPr>
        <p:spPr>
          <a:xfrm>
            <a:off x="3200400" y="47457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9" name="Text 117"/>
          <p:cNvSpPr/>
          <p:nvPr/>
        </p:nvSpPr>
        <p:spPr>
          <a:xfrm>
            <a:off x="3200400" y="4956048"/>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1" name="Text 119"/>
          <p:cNvSpPr/>
          <p:nvPr/>
        </p:nvSpPr>
        <p:spPr>
          <a:xfrm>
            <a:off x="4215384" y="47457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23" name="Text 121"/>
          <p:cNvSpPr/>
          <p:nvPr/>
        </p:nvSpPr>
        <p:spPr>
          <a:xfrm>
            <a:off x="4215384" y="4956048"/>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5" name="Text 123"/>
          <p:cNvSpPr/>
          <p:nvPr/>
        </p:nvSpPr>
        <p:spPr>
          <a:xfrm>
            <a:off x="5230368" y="47457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7" name="Text 125"/>
          <p:cNvSpPr/>
          <p:nvPr/>
        </p:nvSpPr>
        <p:spPr>
          <a:xfrm>
            <a:off x="5230368" y="4956048"/>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9" name="Text 127"/>
          <p:cNvSpPr/>
          <p:nvPr/>
        </p:nvSpPr>
        <p:spPr>
          <a:xfrm>
            <a:off x="6245352" y="47457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31" name="Text 129"/>
          <p:cNvSpPr/>
          <p:nvPr/>
        </p:nvSpPr>
        <p:spPr>
          <a:xfrm>
            <a:off x="6245352" y="4956048"/>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3" name="Text 131"/>
          <p:cNvSpPr/>
          <p:nvPr/>
        </p:nvSpPr>
        <p:spPr>
          <a:xfrm>
            <a:off x="7260336" y="47457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35" name="Text 133"/>
          <p:cNvSpPr/>
          <p:nvPr/>
        </p:nvSpPr>
        <p:spPr>
          <a:xfrm>
            <a:off x="7260336" y="4956048"/>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7" name="Text 135"/>
          <p:cNvSpPr/>
          <p:nvPr/>
        </p:nvSpPr>
        <p:spPr>
          <a:xfrm>
            <a:off x="8275320" y="47457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39" name="Text 137"/>
          <p:cNvSpPr/>
          <p:nvPr/>
        </p:nvSpPr>
        <p:spPr>
          <a:xfrm>
            <a:off x="8275320" y="4956048"/>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41" name="Text 139"/>
          <p:cNvSpPr/>
          <p:nvPr/>
        </p:nvSpPr>
        <p:spPr>
          <a:xfrm>
            <a:off x="1170432" y="5202936"/>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43" name="Text 141"/>
          <p:cNvSpPr/>
          <p:nvPr/>
        </p:nvSpPr>
        <p:spPr>
          <a:xfrm>
            <a:off x="1170432" y="5413248"/>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txBody>
          <a:bodyPr/>
          <a:lstStyle/>
          <a:p>
            <a:endParaRPr lang="en-US"/>
          </a:p>
        </p:txBody>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146" name="Text 144"/>
          <p:cNvSpPr/>
          <p:nvPr/>
        </p:nvSpPr>
        <p:spPr>
          <a:xfrm>
            <a:off x="182880" y="5779008"/>
            <a:ext cx="859536" cy="1024128"/>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1 / 6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49" name="Text 147"/>
          <p:cNvSpPr/>
          <p:nvPr/>
        </p:nvSpPr>
        <p:spPr>
          <a:xfrm>
            <a:off x="1170432" y="5971032"/>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51" name="Text 149"/>
          <p:cNvSpPr/>
          <p:nvPr/>
        </p:nvSpPr>
        <p:spPr>
          <a:xfrm>
            <a:off x="1170432" y="6181344"/>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53" name="Text 151"/>
          <p:cNvSpPr/>
          <p:nvPr/>
        </p:nvSpPr>
        <p:spPr>
          <a:xfrm>
            <a:off x="2185416" y="5971032"/>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55" name="Text 153"/>
          <p:cNvSpPr/>
          <p:nvPr/>
        </p:nvSpPr>
        <p:spPr>
          <a:xfrm>
            <a:off x="2185416" y="6181344"/>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57" name="Text 155"/>
          <p:cNvSpPr/>
          <p:nvPr/>
        </p:nvSpPr>
        <p:spPr>
          <a:xfrm>
            <a:off x="3200400" y="5971032"/>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59" name="Text 157"/>
          <p:cNvSpPr/>
          <p:nvPr/>
        </p:nvSpPr>
        <p:spPr>
          <a:xfrm>
            <a:off x="3200400" y="6181344"/>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61" name="Text 159"/>
          <p:cNvSpPr/>
          <p:nvPr/>
        </p:nvSpPr>
        <p:spPr>
          <a:xfrm>
            <a:off x="4215384" y="5971032"/>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63" name="Text 161"/>
          <p:cNvSpPr/>
          <p:nvPr/>
        </p:nvSpPr>
        <p:spPr>
          <a:xfrm>
            <a:off x="4215384" y="6181344"/>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65" name="Text 163"/>
          <p:cNvSpPr/>
          <p:nvPr/>
        </p:nvSpPr>
        <p:spPr>
          <a:xfrm>
            <a:off x="5230368" y="5971032"/>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Promos</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67" name="Text 165"/>
          <p:cNvSpPr/>
          <p:nvPr/>
        </p:nvSpPr>
        <p:spPr>
          <a:xfrm>
            <a:off x="5230368" y="6181344"/>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68" name="Shape 166"/>
          <p:cNvSpPr/>
          <p:nvPr/>
        </p:nvSpPr>
        <p:spPr>
          <a:xfrm>
            <a:off x="6245352" y="5971032"/>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69" name="Text 167"/>
          <p:cNvSpPr/>
          <p:nvPr/>
        </p:nvSpPr>
        <p:spPr>
          <a:xfrm>
            <a:off x="6245352" y="5971032"/>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Cleeng</a:t>
            </a:r>
            <a:endParaRPr lang="en-US" sz="750" dirty="0"/>
          </a:p>
        </p:txBody>
      </p:sp>
      <p:sp>
        <p:nvSpPr>
          <p:cNvPr id="170" name="Shape 168"/>
          <p:cNvSpPr/>
          <p:nvPr/>
        </p:nvSpPr>
        <p:spPr>
          <a:xfrm>
            <a:off x="6245352" y="6181344"/>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71" name="Text 169"/>
          <p:cNvSpPr/>
          <p:nvPr/>
        </p:nvSpPr>
        <p:spPr>
          <a:xfrm>
            <a:off x="6245352" y="6181344"/>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73" name="Text 171"/>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74" name="Shape 172"/>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75" name="Shape 173"/>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76" name="Text 174"/>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77" name="Text 175"/>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78" name="Shape 17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79" name="Text 177"/>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80" name="Shape 178"/>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81" name="Shape 179"/>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82" name="Text 180"/>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83" name="Text 181"/>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84" name="Shape 18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85" name="Text 183"/>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86" name="Shape 184"/>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87" name="Shape 185"/>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88" name="Text 186"/>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189" name="Text 187"/>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190" name="Shape 18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91" name="Text 189"/>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92" name="Shape 190"/>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93" name="Shape 191"/>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94" name="Text 192"/>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195" name="Text 193"/>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196" name="Shape 19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97" name="Text 195"/>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98" name="Shape 196"/>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99" name="Text 197"/>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200" name="Shape 198"/>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201" name="Text 199"/>
          <p:cNvSpPr/>
          <p:nvPr/>
        </p:nvSpPr>
        <p:spPr>
          <a:xfrm>
            <a:off x="9500616" y="3584448"/>
            <a:ext cx="749808"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202" name="Text 200"/>
          <p:cNvSpPr/>
          <p:nvPr/>
        </p:nvSpPr>
        <p:spPr>
          <a:xfrm>
            <a:off x="10305288" y="35844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Work has not begun</a:t>
            </a:r>
            <a:endParaRPr lang="en-US" sz="700" dirty="0"/>
          </a:p>
        </p:txBody>
      </p:sp>
      <p:sp>
        <p:nvSpPr>
          <p:cNvPr id="203" name="Shape 201"/>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204" name="Text 202"/>
          <p:cNvSpPr/>
          <p:nvPr/>
        </p:nvSpPr>
        <p:spPr>
          <a:xfrm>
            <a:off x="9500616" y="3813048"/>
            <a:ext cx="749808"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205" name="Text 203"/>
          <p:cNvSpPr/>
          <p:nvPr/>
        </p:nvSpPr>
        <p:spPr>
          <a:xfrm>
            <a:off x="10305288" y="38130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Active development underway</a:t>
            </a:r>
            <a:endParaRPr lang="en-US" sz="700" dirty="0"/>
          </a:p>
        </p:txBody>
      </p:sp>
      <p:sp>
        <p:nvSpPr>
          <p:cNvPr id="206" name="Shape 204"/>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207" name="Text 205"/>
          <p:cNvSpPr/>
          <p:nvPr/>
        </p:nvSpPr>
        <p:spPr>
          <a:xfrm>
            <a:off x="9500616" y="4041648"/>
            <a:ext cx="749808"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208" name="Text 206"/>
          <p:cNvSpPr/>
          <p:nvPr/>
        </p:nvSpPr>
        <p:spPr>
          <a:xfrm>
            <a:off x="10305288" y="40416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Blocked by dependency</a:t>
            </a:r>
            <a:endParaRPr lang="en-US" sz="700" dirty="0"/>
          </a:p>
        </p:txBody>
      </p:sp>
      <p:sp>
        <p:nvSpPr>
          <p:cNvPr id="209" name="Shape 207"/>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210" name="Text 208"/>
          <p:cNvSpPr/>
          <p:nvPr/>
        </p:nvSpPr>
        <p:spPr>
          <a:xfrm>
            <a:off x="9500616" y="4270248"/>
            <a:ext cx="749808"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
        <p:nvSpPr>
          <p:cNvPr id="211" name="Text 209"/>
          <p:cNvSpPr/>
          <p:nvPr/>
        </p:nvSpPr>
        <p:spPr>
          <a:xfrm>
            <a:off x="10305288" y="42702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Complete ✓</a:t>
            </a:r>
            <a:endParaRPr lang="en-US" sz="700" dirty="0"/>
          </a:p>
        </p:txBody>
      </p:sp>
      <p:sp>
        <p:nvSpPr>
          <p:cNvPr id="212" name="Shape 210"/>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txBody>
          <a:bodyPr/>
          <a:lstStyle/>
          <a:p>
            <a:endParaRPr lang="en-US"/>
          </a:p>
        </p:txBody>
      </p:sp>
      <p:sp>
        <p:nvSpPr>
          <p:cNvPr id="213" name="Text 211"/>
          <p:cNvSpPr/>
          <p:nvPr/>
        </p:nvSpPr>
        <p:spPr>
          <a:xfrm>
            <a:off x="9500616" y="4498848"/>
            <a:ext cx="749808" cy="173736"/>
          </a:xfrm>
          <a:prstGeom prst="rect">
            <a:avLst/>
          </a:prstGeom>
          <a:noFill/>
          <a:ln/>
        </p:spPr>
        <p:txBody>
          <a:bodyPr wrap="square" lIns="0" tIns="0" rIns="0" bIns="0" rtlCol="0" anchor="ctr"/>
          <a:lstStyle/>
          <a:p>
            <a:pPr marL="0" indent="0" algn="ctr">
              <a:buNone/>
            </a:pPr>
            <a:r>
              <a:rPr lang="en-US" sz="700" b="1" dirty="0">
                <a:solidFill>
                  <a:srgbClr val="78350F"/>
                </a:solidFill>
              </a:rPr>
              <a:t>At Risk</a:t>
            </a:r>
            <a:endParaRPr lang="en-US" sz="700" dirty="0"/>
          </a:p>
        </p:txBody>
      </p:sp>
      <p:sp>
        <p:nvSpPr>
          <p:cNvPr id="214" name="Text 212"/>
          <p:cNvSpPr/>
          <p:nvPr/>
        </p:nvSpPr>
        <p:spPr>
          <a:xfrm>
            <a:off x="10305288" y="44988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Web Browser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a:solidFill>
                  <a:srgbClr val="1D4ED8"/>
                </a:solidFill>
              </a:rPr>
              <a:t>13</a:t>
            </a:r>
            <a:r>
              <a:rPr lang="en-US" sz="900" b="1" dirty="0">
                <a:solidFill>
                  <a:srgbClr val="1D4ED8"/>
                </a:solidFill>
              </a:rPr>
              <a:t>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10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17" name="Text 15"/>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txBody>
          <a:bodyPr/>
          <a:lstStyle/>
          <a:p>
            <a:endParaRPr lang="en-US"/>
          </a:p>
        </p:txBody>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22" name="Text 20"/>
          <p:cNvSpPr/>
          <p:nvPr/>
        </p:nvSpPr>
        <p:spPr>
          <a:xfrm>
            <a:off x="182880" y="87782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a:solidFill>
                  <a:srgbClr val="9CA3AF"/>
                </a:solidFill>
              </a:rPr>
              <a:t>5 </a:t>
            </a:r>
            <a:r>
              <a:rPr lang="en-US" sz="750" dirty="0">
                <a:solidFill>
                  <a:srgbClr val="9CA3AF"/>
                </a:solidFill>
              </a:rPr>
              <a:t>/ </a:t>
            </a:r>
            <a:r>
              <a:rPr lang="en-US" sz="750">
                <a:solidFill>
                  <a:srgbClr val="9CA3AF"/>
                </a:solidFill>
              </a:rPr>
              <a:t>5</a:t>
            </a:r>
            <a:r>
              <a:rPr lang="en-US" sz="750" dirty="0">
                <a:solidFill>
                  <a:srgbClr val="9CA3AF"/>
                </a:solidFill>
              </a:rPr>
              <a:t>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5" name="Text 23"/>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27" name="Text 25"/>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9" name="Text 27"/>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1" name="Text 29"/>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3" name="Text 31"/>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5" name="Text 33"/>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7" name="Text 35"/>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VOD Streams</a:t>
            </a:r>
            <a:endParaRPr lang="en-US" sz="75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9" name="Text 37"/>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a:solidFill>
                  <a:srgbClr val="FFFFFF"/>
                </a:solidFill>
              </a:rPr>
              <a:t>In Progress</a:t>
            </a:r>
            <a:endParaRPr lang="en-US" sz="70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1" name="Text 39"/>
          <p:cNvSpPr/>
          <p:nvPr/>
        </p:nvSpPr>
        <p:spPr>
          <a:xfrm>
            <a:off x="5230368" y="106984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3" name="Text 41"/>
          <p:cNvSpPr/>
          <p:nvPr/>
        </p:nvSpPr>
        <p:spPr>
          <a:xfrm>
            <a:off x="5230368"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txBody>
          <a:bodyPr/>
          <a:lstStyle/>
          <a:p>
            <a:endParaRPr lang="en-US"/>
          </a:p>
        </p:txBody>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46" name="Text 44"/>
          <p:cNvSpPr/>
          <p:nvPr/>
        </p:nvSpPr>
        <p:spPr>
          <a:xfrm>
            <a:off x="182880" y="2409444"/>
            <a:ext cx="859536" cy="1330452"/>
          </a:xfrm>
          <a:prstGeom prst="rect">
            <a:avLst/>
          </a:prstGeom>
          <a:noFill/>
          <a:ln/>
        </p:spPr>
        <p:txBody>
          <a:bodyPr wrap="square" lIns="0" tIns="0" rIns="0" bIns="0" rtlCol="0" anchor="ctr"/>
          <a:lstStyle/>
          <a:p>
            <a:pPr marL="0" indent="0" algn="ctr">
              <a:buNone/>
            </a:pPr>
            <a:r>
              <a:rPr lang="en-US" sz="800" b="1">
                <a:solidFill>
                  <a:srgbClr val="FFFFFF"/>
                </a:solidFill>
              </a:rPr>
              <a:t>Player</a:t>
            </a:r>
            <a:endParaRPr lang="en-US" sz="80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marL="0" indent="0" algn="l">
              <a:buNone/>
            </a:pPr>
            <a:r>
              <a:rPr lang="en-US" sz="750">
                <a:solidFill>
                  <a:srgbClr val="9CA3AF"/>
                </a:solidFill>
              </a:rPr>
              <a:t>2 / 3 In Progress</a:t>
            </a:r>
            <a:endParaRPr lang="en-US" sz="75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9" name="Text 47"/>
          <p:cNvSpPr/>
          <p:nvPr/>
        </p:nvSpPr>
        <p:spPr>
          <a:xfrm>
            <a:off x="1170432" y="260146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Web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1" name="Text 49"/>
          <p:cNvSpPr/>
          <p:nvPr/>
        </p:nvSpPr>
        <p:spPr>
          <a:xfrm>
            <a:off x="1170432" y="2811780"/>
            <a:ext cx="932688" cy="155448"/>
          </a:xfrm>
          <a:prstGeom prst="rect">
            <a:avLst/>
          </a:prstGeom>
          <a:noFill/>
          <a:ln/>
        </p:spPr>
        <p:txBody>
          <a:bodyPr wrap="square" lIns="0" tIns="0" rIns="0" bIns="0" rtlCol="0" anchor="ctr"/>
          <a:lstStyle/>
          <a:p>
            <a:pPr marL="0" indent="0" algn="ctr">
              <a:buNone/>
            </a:pPr>
            <a:r>
              <a:rPr lang="en-US" sz="70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3" name="Text 51"/>
          <p:cNvSpPr/>
          <p:nvPr/>
        </p:nvSpPr>
        <p:spPr>
          <a:xfrm>
            <a:off x="2185416" y="260146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HLS/DASH PB</a:t>
            </a:r>
            <a:endParaRPr lang="en-US" sz="75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5" name="Text 53"/>
          <p:cNvSpPr/>
          <p:nvPr/>
        </p:nvSpPr>
        <p:spPr>
          <a:xfrm>
            <a:off x="2185416" y="2811780"/>
            <a:ext cx="932688" cy="155448"/>
          </a:xfrm>
          <a:prstGeom prst="rect">
            <a:avLst/>
          </a:prstGeom>
          <a:noFill/>
          <a:ln/>
        </p:spPr>
        <p:txBody>
          <a:bodyPr wrap="square" lIns="0" tIns="0" rIns="0" bIns="0" rtlCol="0" anchor="ctr"/>
          <a:lstStyle/>
          <a:p>
            <a:pPr marL="0" indent="0" algn="ctr">
              <a:buNone/>
            </a:pPr>
            <a:r>
              <a:rPr lang="en-US" sz="700">
                <a:solidFill>
                  <a:srgbClr val="FFFFFF"/>
                </a:solidFill>
              </a:rPr>
              <a:t>In Progress</a:t>
            </a:r>
            <a:endParaRPr lang="en-US" sz="700"/>
          </a:p>
        </p:txBody>
      </p:sp>
      <p:sp>
        <p:nvSpPr>
          <p:cNvPr id="56" name="Shape 54"/>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7" name="Text 55"/>
          <p:cNvSpPr/>
          <p:nvPr/>
        </p:nvSpPr>
        <p:spPr>
          <a:xfrm>
            <a:off x="3200400" y="260146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Bitmovin QOE</a:t>
            </a:r>
            <a:endParaRPr lang="en-US" sz="750"/>
          </a:p>
          <a:p>
            <a:pPr marL="0" indent="0" algn="ctr">
              <a:buNone/>
            </a:pPr>
            <a:r>
              <a:rPr lang="en-US" sz="750" b="1">
                <a:solidFill>
                  <a:srgbClr val="1E293B"/>
                </a:solidFill>
              </a:rPr>
              <a:t>NPAW/BitMov</a:t>
            </a:r>
            <a:endParaRPr lang="en-US" sz="750" dirty="0"/>
          </a:p>
        </p:txBody>
      </p:sp>
      <p:sp>
        <p:nvSpPr>
          <p:cNvPr id="58" name="Shape 56"/>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59" name="Text 57"/>
          <p:cNvSpPr/>
          <p:nvPr/>
        </p:nvSpPr>
        <p:spPr>
          <a:xfrm>
            <a:off x="3200400" y="2811780"/>
            <a:ext cx="932688" cy="155448"/>
          </a:xfrm>
          <a:prstGeom prst="rect">
            <a:avLst/>
          </a:prstGeom>
          <a:noFill/>
          <a:ln/>
        </p:spPr>
        <p:txBody>
          <a:bodyPr wrap="square" lIns="0" tIns="0" rIns="0" bIns="0" rtlCol="0" anchor="ctr"/>
          <a:lstStyle/>
          <a:p>
            <a:pPr marL="0" indent="0" algn="ctr">
              <a:buNone/>
            </a:pPr>
            <a:r>
              <a:rPr lang="en-US" sz="700">
                <a:solidFill>
                  <a:srgbClr val="374151"/>
                </a:solidFill>
              </a:rPr>
              <a:t>Not Started</a:t>
            </a:r>
            <a:endParaRPr lang="en-US" sz="700" dirty="0"/>
          </a:p>
        </p:txBody>
      </p:sp>
      <p:sp>
        <p:nvSpPr>
          <p:cNvPr id="60" name="Shape 58"/>
          <p:cNvSpPr/>
          <p:nvPr/>
        </p:nvSpPr>
        <p:spPr>
          <a:xfrm>
            <a:off x="164592" y="3867912"/>
            <a:ext cx="9116568" cy="1476756"/>
          </a:xfrm>
          <a:prstGeom prst="rect">
            <a:avLst/>
          </a:prstGeom>
          <a:solidFill>
            <a:srgbClr val="FAFBFC"/>
          </a:solidFill>
          <a:ln w="6350">
            <a:solidFill>
              <a:srgbClr val="E5E7EB"/>
            </a:solidFill>
            <a:prstDash val="solid"/>
          </a:ln>
        </p:spPr>
        <p:txBody>
          <a:bodyPr/>
          <a:lstStyle/>
          <a:p>
            <a:endParaRPr lang="en-US"/>
          </a:p>
        </p:txBody>
      </p:sp>
      <p:sp>
        <p:nvSpPr>
          <p:cNvPr id="61" name="Shape 59"/>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62" name="Text 60"/>
          <p:cNvSpPr/>
          <p:nvPr/>
        </p:nvSpPr>
        <p:spPr>
          <a:xfrm>
            <a:off x="182880" y="3941064"/>
            <a:ext cx="859536" cy="1330452"/>
          </a:xfrm>
          <a:prstGeom prst="rect">
            <a:avLst/>
          </a:prstGeom>
          <a:noFill/>
          <a:ln/>
        </p:spPr>
        <p:txBody>
          <a:bodyPr wrap="square" lIns="0" tIns="0" rIns="0" bIns="0" rtlCol="0" anchor="ctr"/>
          <a:lstStyle/>
          <a:p>
            <a:pPr marL="0" indent="0" algn="ctr">
              <a:buNone/>
            </a:pPr>
            <a:r>
              <a:rPr lang="en-US" sz="800" b="1">
                <a:solidFill>
                  <a:srgbClr val="FFFFFF"/>
                </a:solidFill>
              </a:rPr>
              <a:t>Merchandising</a:t>
            </a:r>
            <a:endParaRPr lang="en-US" sz="800"/>
          </a:p>
        </p:txBody>
      </p:sp>
      <p:sp>
        <p:nvSpPr>
          <p:cNvPr id="63" name="Text 61"/>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a:solidFill>
                  <a:srgbClr val="9CA3AF"/>
                </a:solidFill>
              </a:rPr>
              <a:t>5 / 9 In Progress</a:t>
            </a:r>
            <a:endParaRPr lang="en-US" sz="750"/>
          </a:p>
        </p:txBody>
      </p:sp>
      <p:sp>
        <p:nvSpPr>
          <p:cNvPr id="64" name="Shape 62"/>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5" name="Text 63"/>
          <p:cNvSpPr/>
          <p:nvPr/>
        </p:nvSpPr>
        <p:spPr>
          <a:xfrm>
            <a:off x="1170432" y="41330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Metadata</a:t>
            </a:r>
            <a:endParaRPr lang="en-US" sz="750" dirty="0"/>
          </a:p>
        </p:txBody>
      </p:sp>
      <p:sp>
        <p:nvSpPr>
          <p:cNvPr id="66" name="Shape 64"/>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7" name="Text 65"/>
          <p:cNvSpPr/>
          <p:nvPr/>
        </p:nvSpPr>
        <p:spPr>
          <a:xfrm>
            <a:off x="1170432"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8" name="Shape 66"/>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9" name="Text 67"/>
          <p:cNvSpPr/>
          <p:nvPr/>
        </p:nvSpPr>
        <p:spPr>
          <a:xfrm>
            <a:off x="2185416" y="41330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Images</a:t>
            </a:r>
            <a:endParaRPr lang="en-US" sz="750" dirty="0"/>
          </a:p>
        </p:txBody>
      </p:sp>
      <p:sp>
        <p:nvSpPr>
          <p:cNvPr id="70" name="Shape 68"/>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1" name="Text 69"/>
          <p:cNvSpPr/>
          <p:nvPr/>
        </p:nvSpPr>
        <p:spPr>
          <a:xfrm>
            <a:off x="2185416"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2" name="Shape 70"/>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3" name="Text 71"/>
          <p:cNvSpPr/>
          <p:nvPr/>
        </p:nvSpPr>
        <p:spPr>
          <a:xfrm>
            <a:off x="3200400" y="41330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Carousels</a:t>
            </a:r>
            <a:endParaRPr lang="en-US" sz="750" dirty="0"/>
          </a:p>
        </p:txBody>
      </p:sp>
      <p:sp>
        <p:nvSpPr>
          <p:cNvPr id="74" name="Shape 72"/>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5" name="Text 73"/>
          <p:cNvSpPr/>
          <p:nvPr/>
        </p:nvSpPr>
        <p:spPr>
          <a:xfrm>
            <a:off x="3200400" y="4343400"/>
            <a:ext cx="932688" cy="155448"/>
          </a:xfrm>
          <a:prstGeom prst="rect">
            <a:avLst/>
          </a:prstGeom>
          <a:noFill/>
          <a:ln/>
        </p:spPr>
        <p:txBody>
          <a:bodyPr wrap="square" lIns="0" tIns="0" rIns="0" bIns="0" rtlCol="0" anchor="ctr"/>
          <a:lstStyle/>
          <a:p>
            <a:pPr marL="0" indent="0" algn="ctr">
              <a:buNone/>
            </a:pPr>
            <a:r>
              <a:rPr lang="en-US" sz="700">
                <a:solidFill>
                  <a:srgbClr val="FFFFFF"/>
                </a:solidFill>
              </a:rPr>
              <a:t>In Progress</a:t>
            </a:r>
            <a:endParaRPr lang="en-US" sz="700" dirty="0"/>
          </a:p>
        </p:txBody>
      </p:sp>
      <p:sp>
        <p:nvSpPr>
          <p:cNvPr id="76" name="Shape 74"/>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7" name="Text 75"/>
          <p:cNvSpPr/>
          <p:nvPr/>
        </p:nvSpPr>
        <p:spPr>
          <a:xfrm>
            <a:off x="4215384" y="41330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Live Events</a:t>
            </a:r>
            <a:endParaRPr lang="en-US" sz="750" dirty="0"/>
          </a:p>
        </p:txBody>
      </p:sp>
      <p:sp>
        <p:nvSpPr>
          <p:cNvPr id="78" name="Shape 76"/>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9" name="Text 77"/>
          <p:cNvSpPr/>
          <p:nvPr/>
        </p:nvSpPr>
        <p:spPr>
          <a:xfrm>
            <a:off x="4215384" y="4343400"/>
            <a:ext cx="932688" cy="155448"/>
          </a:xfrm>
          <a:prstGeom prst="rect">
            <a:avLst/>
          </a:prstGeom>
          <a:noFill/>
          <a:ln/>
        </p:spPr>
        <p:txBody>
          <a:bodyPr wrap="square" lIns="0" tIns="0" rIns="0" bIns="0" rtlCol="0" anchor="ctr"/>
          <a:lstStyle/>
          <a:p>
            <a:pPr marL="0" indent="0" algn="ctr">
              <a:buNone/>
            </a:pPr>
            <a:r>
              <a:rPr lang="en-US" sz="700">
                <a:solidFill>
                  <a:srgbClr val="FFFFFF"/>
                </a:solidFill>
              </a:rPr>
              <a:t>In Progress</a:t>
            </a:r>
            <a:endParaRPr lang="en-US" sz="700" dirty="0"/>
          </a:p>
        </p:txBody>
      </p:sp>
      <p:sp>
        <p:nvSpPr>
          <p:cNvPr id="80" name="Shape 78"/>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1" name="Text 79"/>
          <p:cNvSpPr/>
          <p:nvPr/>
        </p:nvSpPr>
        <p:spPr>
          <a:xfrm>
            <a:off x="5230368" y="41330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Back Catalog</a:t>
            </a:r>
            <a:endParaRPr lang="en-US" sz="750" dirty="0"/>
          </a:p>
        </p:txBody>
      </p:sp>
      <p:sp>
        <p:nvSpPr>
          <p:cNvPr id="82" name="Shape 80"/>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83" name="Text 81"/>
          <p:cNvSpPr/>
          <p:nvPr/>
        </p:nvSpPr>
        <p:spPr>
          <a:xfrm>
            <a:off x="5230368"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4" name="Shape 82"/>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5" name="Text 83"/>
          <p:cNvSpPr/>
          <p:nvPr/>
        </p:nvSpPr>
        <p:spPr>
          <a:xfrm>
            <a:off x="6245352" y="41330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Full Replays</a:t>
            </a:r>
            <a:endParaRPr lang="en-US" sz="750" dirty="0"/>
          </a:p>
        </p:txBody>
      </p:sp>
      <p:sp>
        <p:nvSpPr>
          <p:cNvPr id="86" name="Shape 84"/>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87" name="Text 85"/>
          <p:cNvSpPr/>
          <p:nvPr/>
        </p:nvSpPr>
        <p:spPr>
          <a:xfrm>
            <a:off x="6245352"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8" name="Shape 86"/>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9" name="Text 87"/>
          <p:cNvSpPr/>
          <p:nvPr/>
        </p:nvSpPr>
        <p:spPr>
          <a:xfrm>
            <a:off x="7260336" y="41330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M15</a:t>
            </a:r>
            <a:endParaRPr lang="en-US" sz="750" dirty="0"/>
          </a:p>
        </p:txBody>
      </p:sp>
      <p:sp>
        <p:nvSpPr>
          <p:cNvPr id="90" name="Shape 88"/>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91" name="Text 89"/>
          <p:cNvSpPr/>
          <p:nvPr/>
        </p:nvSpPr>
        <p:spPr>
          <a:xfrm>
            <a:off x="7260336" y="4343400"/>
            <a:ext cx="932688" cy="155448"/>
          </a:xfrm>
          <a:prstGeom prst="rect">
            <a:avLst/>
          </a:prstGeom>
          <a:noFill/>
          <a:ln/>
        </p:spPr>
        <p:txBody>
          <a:bodyPr wrap="square" lIns="0" tIns="0" rIns="0" bIns="0" rtlCol="0" anchor="ctr"/>
          <a:lstStyle/>
          <a:p>
            <a:pPr marL="0" indent="0" algn="ctr">
              <a:buNone/>
            </a:pPr>
            <a:r>
              <a:rPr lang="en-US" sz="700">
                <a:solidFill>
                  <a:srgbClr val="374151"/>
                </a:solidFill>
              </a:rPr>
              <a:t>Not Started</a:t>
            </a:r>
            <a:endParaRPr lang="en-US" sz="700" dirty="0"/>
          </a:p>
        </p:txBody>
      </p:sp>
      <p:sp>
        <p:nvSpPr>
          <p:cNvPr id="92" name="Shape 90"/>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3" name="Text 91"/>
          <p:cNvSpPr/>
          <p:nvPr/>
        </p:nvSpPr>
        <p:spPr>
          <a:xfrm>
            <a:off x="8275320" y="41330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Highlights</a:t>
            </a:r>
            <a:endParaRPr lang="en-US" sz="750"/>
          </a:p>
        </p:txBody>
      </p:sp>
      <p:sp>
        <p:nvSpPr>
          <p:cNvPr id="94" name="Shape 92"/>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95" name="Text 93"/>
          <p:cNvSpPr/>
          <p:nvPr/>
        </p:nvSpPr>
        <p:spPr>
          <a:xfrm>
            <a:off x="8275320" y="4343400"/>
            <a:ext cx="932688" cy="155448"/>
          </a:xfrm>
          <a:prstGeom prst="rect">
            <a:avLst/>
          </a:prstGeom>
          <a:noFill/>
          <a:ln/>
        </p:spPr>
        <p:txBody>
          <a:bodyPr wrap="square" lIns="0" tIns="0" rIns="0" bIns="0" rtlCol="0" anchor="ctr"/>
          <a:lstStyle/>
          <a:p>
            <a:pPr marL="0" indent="0" algn="ctr">
              <a:buNone/>
            </a:pPr>
            <a:r>
              <a:rPr lang="en-US" sz="700">
                <a:solidFill>
                  <a:srgbClr val="374151"/>
                </a:solidFill>
              </a:rPr>
              <a:t>Not Started</a:t>
            </a:r>
            <a:endParaRPr lang="en-US" sz="700"/>
          </a:p>
        </p:txBody>
      </p:sp>
      <p:sp>
        <p:nvSpPr>
          <p:cNvPr id="96" name="Shape 94"/>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7" name="Text 95"/>
          <p:cNvSpPr/>
          <p:nvPr/>
        </p:nvSpPr>
        <p:spPr>
          <a:xfrm>
            <a:off x="1170432" y="459028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Linear</a:t>
            </a:r>
            <a:endParaRPr lang="en-US" sz="750" dirty="0"/>
          </a:p>
        </p:txBody>
      </p:sp>
      <p:sp>
        <p:nvSpPr>
          <p:cNvPr id="98" name="Shape 96"/>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9" name="Text 97"/>
          <p:cNvSpPr/>
          <p:nvPr/>
        </p:nvSpPr>
        <p:spPr>
          <a:xfrm>
            <a:off x="1170432" y="4800600"/>
            <a:ext cx="932688" cy="155448"/>
          </a:xfrm>
          <a:prstGeom prst="rect">
            <a:avLst/>
          </a:prstGeom>
          <a:noFill/>
          <a:ln/>
        </p:spPr>
        <p:txBody>
          <a:bodyPr wrap="square" lIns="0" tIns="0" rIns="0" bIns="0" rtlCol="0" anchor="ctr"/>
          <a:lstStyle/>
          <a:p>
            <a:pPr marL="0" indent="0" algn="ctr">
              <a:buNone/>
            </a:pPr>
            <a:r>
              <a:rPr lang="en-US" sz="700">
                <a:solidFill>
                  <a:srgbClr val="FFFFFF"/>
                </a:solidFill>
              </a:rPr>
              <a:t>In Progress</a:t>
            </a:r>
            <a:endParaRPr lang="en-US" sz="700" dirty="0"/>
          </a:p>
        </p:txBody>
      </p:sp>
      <p:sp>
        <p:nvSpPr>
          <p:cNvPr id="100" name="Shape 98"/>
          <p:cNvSpPr/>
          <p:nvPr/>
        </p:nvSpPr>
        <p:spPr>
          <a:xfrm>
            <a:off x="164592" y="5399532"/>
            <a:ext cx="9116568" cy="1476756"/>
          </a:xfrm>
          <a:prstGeom prst="rect">
            <a:avLst/>
          </a:prstGeom>
          <a:solidFill>
            <a:srgbClr val="FFFFFF"/>
          </a:solidFill>
          <a:ln w="6350">
            <a:solidFill>
              <a:srgbClr val="E5E7EB"/>
            </a:solidFill>
            <a:prstDash val="solid"/>
          </a:ln>
        </p:spPr>
        <p:txBody>
          <a:bodyPr/>
          <a:lstStyle/>
          <a:p>
            <a:endParaRPr lang="en-US"/>
          </a:p>
        </p:txBody>
      </p:sp>
      <p:sp>
        <p:nvSpPr>
          <p:cNvPr id="101" name="Shape 99"/>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102" name="Text 100"/>
          <p:cNvSpPr/>
          <p:nvPr/>
        </p:nvSpPr>
        <p:spPr>
          <a:xfrm>
            <a:off x="182880" y="5472684"/>
            <a:ext cx="859536" cy="1330452"/>
          </a:xfrm>
          <a:prstGeom prst="rect">
            <a:avLst/>
          </a:prstGeom>
          <a:noFill/>
          <a:ln/>
        </p:spPr>
        <p:txBody>
          <a:bodyPr wrap="square" lIns="0" tIns="0" rIns="0" bIns="0" rtlCol="0" anchor="ctr"/>
          <a:lstStyle/>
          <a:p>
            <a:pPr marL="0" indent="0" algn="ctr">
              <a:buNone/>
            </a:pPr>
            <a:r>
              <a:rPr lang="en-US" sz="800" b="1">
                <a:solidFill>
                  <a:srgbClr val="FFFFFF"/>
                </a:solidFill>
              </a:rPr>
              <a:t>Onboarding</a:t>
            </a:r>
            <a:endParaRPr lang="en-US" sz="800"/>
          </a:p>
        </p:txBody>
      </p:sp>
      <p:sp>
        <p:nvSpPr>
          <p:cNvPr id="103" name="Text 101"/>
          <p:cNvSpPr/>
          <p:nvPr/>
        </p:nvSpPr>
        <p:spPr>
          <a:xfrm>
            <a:off x="1170432" y="5445252"/>
            <a:ext cx="8110728" cy="182880"/>
          </a:xfrm>
          <a:prstGeom prst="rect">
            <a:avLst/>
          </a:prstGeom>
          <a:noFill/>
          <a:ln/>
        </p:spPr>
        <p:txBody>
          <a:bodyPr wrap="square" lIns="0" tIns="0" rIns="0" bIns="0" rtlCol="0" anchor="ctr"/>
          <a:lstStyle/>
          <a:p>
            <a:pPr marL="0" indent="0" algn="l">
              <a:buNone/>
            </a:pPr>
            <a:r>
              <a:rPr lang="en-US" sz="750">
                <a:solidFill>
                  <a:srgbClr val="9CA3AF"/>
                </a:solidFill>
              </a:rPr>
              <a:t>1 / 6 In Progress</a:t>
            </a:r>
            <a:endParaRPr lang="en-US" sz="750"/>
          </a:p>
        </p:txBody>
      </p:sp>
      <p:sp>
        <p:nvSpPr>
          <p:cNvPr id="104" name="Shape 102"/>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5" name="Text 103"/>
          <p:cNvSpPr/>
          <p:nvPr/>
        </p:nvSpPr>
        <p:spPr>
          <a:xfrm>
            <a:off x="1170432" y="566470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Unentitled</a:t>
            </a:r>
            <a:endParaRPr lang="en-US" sz="750" dirty="0"/>
          </a:p>
        </p:txBody>
      </p:sp>
      <p:sp>
        <p:nvSpPr>
          <p:cNvPr id="106" name="Shape 104"/>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7" name="Text 105"/>
          <p:cNvSpPr/>
          <p:nvPr/>
        </p:nvSpPr>
        <p:spPr>
          <a:xfrm>
            <a:off x="117043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8" name="Shape 106"/>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9" name="Text 107"/>
          <p:cNvSpPr/>
          <p:nvPr/>
        </p:nvSpPr>
        <p:spPr>
          <a:xfrm>
            <a:off x="2185416" y="566470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Sign-in</a:t>
            </a:r>
            <a:endParaRPr lang="en-US" sz="750" dirty="0"/>
          </a:p>
        </p:txBody>
      </p:sp>
      <p:sp>
        <p:nvSpPr>
          <p:cNvPr id="110" name="Shape 108"/>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1" name="Text 109"/>
          <p:cNvSpPr/>
          <p:nvPr/>
        </p:nvSpPr>
        <p:spPr>
          <a:xfrm>
            <a:off x="2185416" y="5875020"/>
            <a:ext cx="932688" cy="155448"/>
          </a:xfrm>
          <a:prstGeom prst="rect">
            <a:avLst/>
          </a:prstGeom>
          <a:noFill/>
          <a:ln/>
        </p:spPr>
        <p:txBody>
          <a:bodyPr wrap="square" lIns="0" tIns="0" rIns="0" bIns="0" rtlCol="0" anchor="ctr"/>
          <a:lstStyle/>
          <a:p>
            <a:pPr marL="0" indent="0" algn="ctr">
              <a:buNone/>
            </a:pPr>
            <a:r>
              <a:rPr lang="en-US" sz="700">
                <a:solidFill>
                  <a:srgbClr val="374151"/>
                </a:solidFill>
              </a:rPr>
              <a:t>Not Started</a:t>
            </a:r>
            <a:endParaRPr lang="en-US" sz="700" dirty="0"/>
          </a:p>
        </p:txBody>
      </p:sp>
      <p:sp>
        <p:nvSpPr>
          <p:cNvPr id="112" name="Shape 110"/>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3" name="Text 111"/>
          <p:cNvSpPr/>
          <p:nvPr/>
        </p:nvSpPr>
        <p:spPr>
          <a:xfrm>
            <a:off x="3200400" y="566470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Subscription</a:t>
            </a:r>
            <a:endParaRPr lang="en-US" sz="750" dirty="0"/>
          </a:p>
        </p:txBody>
      </p:sp>
      <p:sp>
        <p:nvSpPr>
          <p:cNvPr id="114" name="Shape 112"/>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5" name="Text 113"/>
          <p:cNvSpPr/>
          <p:nvPr/>
        </p:nvSpPr>
        <p:spPr>
          <a:xfrm>
            <a:off x="3200400"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16" name="Shape 114"/>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7" name="Text 115"/>
          <p:cNvSpPr/>
          <p:nvPr/>
        </p:nvSpPr>
        <p:spPr>
          <a:xfrm>
            <a:off x="4215384" y="566470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MVPD</a:t>
            </a:r>
            <a:endParaRPr lang="en-US" sz="750" dirty="0"/>
          </a:p>
        </p:txBody>
      </p:sp>
      <p:sp>
        <p:nvSpPr>
          <p:cNvPr id="118" name="Shape 116"/>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9" name="Text 117"/>
          <p:cNvSpPr/>
          <p:nvPr/>
        </p:nvSpPr>
        <p:spPr>
          <a:xfrm>
            <a:off x="4215384" y="5875020"/>
            <a:ext cx="932688" cy="155448"/>
          </a:xfrm>
          <a:prstGeom prst="rect">
            <a:avLst/>
          </a:prstGeom>
          <a:noFill/>
          <a:ln/>
        </p:spPr>
        <p:txBody>
          <a:bodyPr wrap="square" lIns="0" tIns="0" rIns="0" bIns="0" rtlCol="0" anchor="ctr"/>
          <a:lstStyle/>
          <a:p>
            <a:pPr marL="0" indent="0" algn="ctr">
              <a:buNone/>
            </a:pPr>
            <a:r>
              <a:rPr lang="en-US" sz="700">
                <a:solidFill>
                  <a:srgbClr val="FFFFFF"/>
                </a:solidFill>
              </a:rPr>
              <a:t>In Progress</a:t>
            </a:r>
            <a:endParaRPr lang="en-US" sz="700" dirty="0"/>
          </a:p>
        </p:txBody>
      </p:sp>
      <p:sp>
        <p:nvSpPr>
          <p:cNvPr id="120" name="Shape 118"/>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1" name="Text 119"/>
          <p:cNvSpPr/>
          <p:nvPr/>
        </p:nvSpPr>
        <p:spPr>
          <a:xfrm>
            <a:off x="5230368" y="566470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Cleeng</a:t>
            </a:r>
            <a:endParaRPr lang="en-US" sz="750"/>
          </a:p>
        </p:txBody>
      </p:sp>
      <p:sp>
        <p:nvSpPr>
          <p:cNvPr id="122" name="Shape 120"/>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3" name="Text 121"/>
          <p:cNvSpPr/>
          <p:nvPr/>
        </p:nvSpPr>
        <p:spPr>
          <a:xfrm>
            <a:off x="5230368" y="5875020"/>
            <a:ext cx="932688" cy="155448"/>
          </a:xfrm>
          <a:prstGeom prst="rect">
            <a:avLst/>
          </a:prstGeom>
          <a:noFill/>
          <a:ln/>
        </p:spPr>
        <p:txBody>
          <a:bodyPr wrap="square" lIns="0" tIns="0" rIns="0" bIns="0" rtlCol="0" anchor="ctr"/>
          <a:lstStyle/>
          <a:p>
            <a:pPr marL="0" indent="0" algn="ctr">
              <a:buNone/>
            </a:pPr>
            <a:r>
              <a:rPr lang="en-US" sz="700">
                <a:solidFill>
                  <a:srgbClr val="374151"/>
                </a:solidFill>
              </a:rPr>
              <a:t>Not Started</a:t>
            </a:r>
            <a:endParaRPr lang="en-US" sz="700"/>
          </a:p>
        </p:txBody>
      </p:sp>
      <p:sp>
        <p:nvSpPr>
          <p:cNvPr id="124" name="Shape 122"/>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5" name="Text 123"/>
          <p:cNvSpPr/>
          <p:nvPr/>
        </p:nvSpPr>
        <p:spPr>
          <a:xfrm>
            <a:off x="6245352" y="5664708"/>
            <a:ext cx="932688" cy="182880"/>
          </a:xfrm>
          <a:prstGeom prst="rect">
            <a:avLst/>
          </a:prstGeom>
          <a:noFill/>
          <a:ln/>
        </p:spPr>
        <p:txBody>
          <a:bodyPr wrap="square" lIns="0" tIns="0" rIns="0" bIns="0" rtlCol="0" anchor="ctr"/>
          <a:lstStyle/>
          <a:p>
            <a:pPr marL="0" indent="0" algn="ctr">
              <a:buNone/>
            </a:pPr>
            <a:r>
              <a:rPr lang="en-US" sz="750" b="1">
                <a:solidFill>
                  <a:srgbClr val="1E293B"/>
                </a:solidFill>
              </a:rPr>
              <a:t>Promos</a:t>
            </a:r>
            <a:endParaRPr lang="en-US" sz="750"/>
          </a:p>
        </p:txBody>
      </p:sp>
      <p:sp>
        <p:nvSpPr>
          <p:cNvPr id="126" name="Shape 124"/>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7" name="Text 125"/>
          <p:cNvSpPr/>
          <p:nvPr/>
        </p:nvSpPr>
        <p:spPr>
          <a:xfrm>
            <a:off x="6245352" y="5875020"/>
            <a:ext cx="932688" cy="155448"/>
          </a:xfrm>
          <a:prstGeom prst="rect">
            <a:avLst/>
          </a:prstGeom>
          <a:noFill/>
          <a:ln/>
        </p:spPr>
        <p:txBody>
          <a:bodyPr wrap="square" lIns="0" tIns="0" rIns="0" bIns="0" rtlCol="0" anchor="ctr"/>
          <a:lstStyle/>
          <a:p>
            <a:pPr marL="0" indent="0" algn="ctr">
              <a:buNone/>
            </a:pPr>
            <a:r>
              <a:rPr lang="en-US" sz="700">
                <a:solidFill>
                  <a:srgbClr val="374151"/>
                </a:solidFill>
              </a:rPr>
              <a:t>Not Started</a:t>
            </a:r>
            <a:endParaRPr lang="en-US" sz="700"/>
          </a:p>
        </p:txBody>
      </p:sp>
      <p:sp>
        <p:nvSpPr>
          <p:cNvPr id="128" name="Shape 126"/>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29" name="Text 127"/>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a:solidFill>
                  <a:srgbClr val="111827"/>
                </a:solidFill>
              </a:rPr>
              <a:t>Milestones</a:t>
            </a:r>
            <a:endParaRPr lang="en-US" sz="950"/>
          </a:p>
        </p:txBody>
      </p:sp>
      <p:sp>
        <p:nvSpPr>
          <p:cNvPr id="130" name="Shape 128"/>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31" name="Shape 129"/>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32" name="Text 130"/>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a:solidFill>
                  <a:srgbClr val="15803D"/>
                </a:solidFill>
              </a:rPr>
              <a:t>Requirements</a:t>
            </a:r>
            <a:endParaRPr lang="en-US" sz="800"/>
          </a:p>
        </p:txBody>
      </p:sp>
      <p:sp>
        <p:nvSpPr>
          <p:cNvPr id="133" name="Text 131"/>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a:solidFill>
                  <a:srgbClr val="6B7280"/>
                </a:solidFill>
              </a:rPr>
              <a:t>Jun 30, 2026</a:t>
            </a:r>
            <a:endParaRPr lang="en-US" sz="700"/>
          </a:p>
        </p:txBody>
      </p:sp>
      <p:sp>
        <p:nvSpPr>
          <p:cNvPr id="134" name="Shape 13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35" name="Text 133"/>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a:solidFill>
                  <a:srgbClr val="166534"/>
                </a:solidFill>
              </a:rPr>
              <a:t>Complete</a:t>
            </a:r>
            <a:endParaRPr lang="en-US" sz="600"/>
          </a:p>
        </p:txBody>
      </p:sp>
      <p:sp>
        <p:nvSpPr>
          <p:cNvPr id="136" name="Shape 134"/>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37" name="Shape 135"/>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38" name="Text 136"/>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a:solidFill>
                  <a:srgbClr val="1D4ED8"/>
                </a:solidFill>
              </a:rPr>
              <a:t>Beta</a:t>
            </a:r>
            <a:endParaRPr lang="en-US" sz="800"/>
          </a:p>
        </p:txBody>
      </p:sp>
      <p:sp>
        <p:nvSpPr>
          <p:cNvPr id="139" name="Text 137"/>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a:solidFill>
                  <a:srgbClr val="6B7280"/>
                </a:solidFill>
              </a:rPr>
              <a:t>Sep 30, 2026</a:t>
            </a:r>
            <a:endParaRPr lang="en-US" sz="700"/>
          </a:p>
        </p:txBody>
      </p:sp>
      <p:sp>
        <p:nvSpPr>
          <p:cNvPr id="140" name="Shape 13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41" name="Text 139"/>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a:solidFill>
                  <a:srgbClr val="1E40AF"/>
                </a:solidFill>
              </a:rPr>
              <a:t>In Progress</a:t>
            </a:r>
            <a:endParaRPr lang="en-US" sz="600"/>
          </a:p>
        </p:txBody>
      </p:sp>
      <p:sp>
        <p:nvSpPr>
          <p:cNvPr id="142" name="Shape 140"/>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43" name="Shape 141"/>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44" name="Text 142"/>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a:solidFill>
                  <a:srgbClr val="1F2937"/>
                </a:solidFill>
              </a:rPr>
              <a:t>UAT / Testing</a:t>
            </a:r>
            <a:endParaRPr lang="en-US" sz="800"/>
          </a:p>
        </p:txBody>
      </p:sp>
      <p:sp>
        <p:nvSpPr>
          <p:cNvPr id="145" name="Text 143"/>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a:solidFill>
                  <a:srgbClr val="6B7280"/>
                </a:solidFill>
              </a:rPr>
              <a:t>Nov 30, 2026</a:t>
            </a:r>
            <a:endParaRPr lang="en-US" sz="700"/>
          </a:p>
        </p:txBody>
      </p:sp>
      <p:sp>
        <p:nvSpPr>
          <p:cNvPr id="146" name="Shape 14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47" name="Text 145"/>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a:solidFill>
                  <a:srgbClr val="6B7280"/>
                </a:solidFill>
              </a:rPr>
              <a:t>Upcoming</a:t>
            </a:r>
            <a:endParaRPr lang="en-US" sz="600"/>
          </a:p>
        </p:txBody>
      </p:sp>
      <p:sp>
        <p:nvSpPr>
          <p:cNvPr id="148" name="Shape 146"/>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49" name="Shape 147"/>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50" name="Text 148"/>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a:solidFill>
                  <a:srgbClr val="1F2937"/>
                </a:solidFill>
              </a:rPr>
              <a:t>Release</a:t>
            </a:r>
            <a:endParaRPr lang="en-US" sz="800"/>
          </a:p>
        </p:txBody>
      </p:sp>
      <p:sp>
        <p:nvSpPr>
          <p:cNvPr id="151" name="Text 149"/>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a:solidFill>
                  <a:srgbClr val="6B7280"/>
                </a:solidFill>
              </a:rPr>
              <a:t>Dec 2026</a:t>
            </a:r>
            <a:endParaRPr lang="en-US" sz="700"/>
          </a:p>
        </p:txBody>
      </p:sp>
      <p:sp>
        <p:nvSpPr>
          <p:cNvPr id="152" name="Shape 15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53" name="Text 151"/>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a:solidFill>
                  <a:srgbClr val="6B7280"/>
                </a:solidFill>
              </a:rPr>
              <a:t>Upcoming</a:t>
            </a:r>
            <a:endParaRPr lang="en-US" sz="600"/>
          </a:p>
        </p:txBody>
      </p:sp>
      <p:sp>
        <p:nvSpPr>
          <p:cNvPr id="154" name="Shape 152"/>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55" name="Text 153"/>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a:solidFill>
                  <a:srgbClr val="111827"/>
                </a:solidFill>
              </a:rPr>
              <a:t>Status Key</a:t>
            </a:r>
            <a:endParaRPr lang="en-US" sz="950"/>
          </a:p>
        </p:txBody>
      </p:sp>
      <p:sp>
        <p:nvSpPr>
          <p:cNvPr id="156" name="Shape 154"/>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57" name="Text 155"/>
          <p:cNvSpPr/>
          <p:nvPr/>
        </p:nvSpPr>
        <p:spPr>
          <a:xfrm>
            <a:off x="9500616" y="3584448"/>
            <a:ext cx="822960" cy="173736"/>
          </a:xfrm>
          <a:prstGeom prst="rect">
            <a:avLst/>
          </a:prstGeom>
          <a:noFill/>
          <a:ln/>
        </p:spPr>
        <p:txBody>
          <a:bodyPr wrap="square" lIns="0" tIns="0" rIns="0" bIns="0" rtlCol="0" anchor="ctr"/>
          <a:lstStyle/>
          <a:p>
            <a:pPr marL="0" indent="0" algn="ctr">
              <a:buNone/>
            </a:pPr>
            <a:r>
              <a:rPr lang="en-US" sz="700" b="1">
                <a:solidFill>
                  <a:srgbClr val="374151"/>
                </a:solidFill>
              </a:rPr>
              <a:t>Not Started</a:t>
            </a:r>
            <a:endParaRPr lang="en-US" sz="700"/>
          </a:p>
        </p:txBody>
      </p:sp>
      <p:sp>
        <p:nvSpPr>
          <p:cNvPr id="158" name="Shape 156"/>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59" name="Text 157"/>
          <p:cNvSpPr/>
          <p:nvPr/>
        </p:nvSpPr>
        <p:spPr>
          <a:xfrm>
            <a:off x="9500616" y="3813048"/>
            <a:ext cx="822960" cy="173736"/>
          </a:xfrm>
          <a:prstGeom prst="rect">
            <a:avLst/>
          </a:prstGeom>
          <a:noFill/>
          <a:ln/>
        </p:spPr>
        <p:txBody>
          <a:bodyPr wrap="square" lIns="0" tIns="0" rIns="0" bIns="0" rtlCol="0" anchor="ctr"/>
          <a:lstStyle/>
          <a:p>
            <a:pPr marL="0" indent="0" algn="ctr">
              <a:buNone/>
            </a:pPr>
            <a:r>
              <a:rPr lang="en-US" sz="700" b="1">
                <a:solidFill>
                  <a:srgbClr val="FFFFFF"/>
                </a:solidFill>
              </a:rPr>
              <a:t>In Progress</a:t>
            </a:r>
            <a:endParaRPr lang="en-US" sz="700"/>
          </a:p>
        </p:txBody>
      </p:sp>
      <p:sp>
        <p:nvSpPr>
          <p:cNvPr id="160" name="Shape 158"/>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161" name="Text 159"/>
          <p:cNvSpPr/>
          <p:nvPr/>
        </p:nvSpPr>
        <p:spPr>
          <a:xfrm>
            <a:off x="9500616" y="4041648"/>
            <a:ext cx="822960" cy="173736"/>
          </a:xfrm>
          <a:prstGeom prst="rect">
            <a:avLst/>
          </a:prstGeom>
          <a:noFill/>
          <a:ln/>
        </p:spPr>
        <p:txBody>
          <a:bodyPr wrap="square" lIns="0" tIns="0" rIns="0" bIns="0" rtlCol="0" anchor="ctr"/>
          <a:lstStyle/>
          <a:p>
            <a:pPr marL="0" indent="0" algn="ctr">
              <a:buNone/>
            </a:pPr>
            <a:r>
              <a:rPr lang="en-US" sz="700" b="1">
                <a:solidFill>
                  <a:srgbClr val="7F1D1D"/>
                </a:solidFill>
              </a:rPr>
              <a:t>Blocked</a:t>
            </a:r>
            <a:endParaRPr lang="en-US" sz="700"/>
          </a:p>
        </p:txBody>
      </p:sp>
      <p:sp>
        <p:nvSpPr>
          <p:cNvPr id="162" name="Shape 160"/>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163" name="Text 161"/>
          <p:cNvSpPr/>
          <p:nvPr/>
        </p:nvSpPr>
        <p:spPr>
          <a:xfrm>
            <a:off x="9500616" y="4270248"/>
            <a:ext cx="822960" cy="173736"/>
          </a:xfrm>
          <a:prstGeom prst="rect">
            <a:avLst/>
          </a:prstGeom>
          <a:noFill/>
          <a:ln/>
        </p:spPr>
        <p:txBody>
          <a:bodyPr wrap="square" lIns="0" tIns="0" rIns="0" bIns="0" rtlCol="0" anchor="ctr"/>
          <a:lstStyle/>
          <a:p>
            <a:pPr marL="0" indent="0" algn="ctr">
              <a:buNone/>
            </a:pPr>
            <a:r>
              <a:rPr lang="en-US" sz="700" b="1">
                <a:solidFill>
                  <a:srgbClr val="14532D"/>
                </a:solidFill>
              </a:rPr>
              <a:t>Done</a:t>
            </a:r>
            <a:endParaRPr lang="en-US" sz="7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iPhone · iPad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12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10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17" name="Text 15"/>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txBody>
          <a:bodyPr/>
          <a:lstStyle/>
          <a:p>
            <a:endParaRPr lang="en-US"/>
          </a:p>
        </p:txBody>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22" name="Text 20"/>
          <p:cNvSpPr/>
          <p:nvPr/>
        </p:nvSpPr>
        <p:spPr>
          <a:xfrm>
            <a:off x="182880" y="87782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5" name="Text 23"/>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27" name="Text 25"/>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9" name="Text 27"/>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1" name="Text 29"/>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3" name="Text 31"/>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5" name="Text 33"/>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7" name="Text 35"/>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9" name="Text 37"/>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txBody>
          <a:bodyPr/>
          <a:lstStyle/>
          <a:p>
            <a:endParaRPr lang="en-US"/>
          </a:p>
        </p:txBody>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42" name="Text 40"/>
          <p:cNvSpPr/>
          <p:nvPr/>
        </p:nvSpPr>
        <p:spPr>
          <a:xfrm>
            <a:off x="182880" y="240944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2 / 3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5" name="Text 43"/>
          <p:cNvSpPr/>
          <p:nvPr/>
        </p:nvSpPr>
        <p:spPr>
          <a:xfrm>
            <a:off x="1170432"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7" name="Text 45"/>
          <p:cNvSpPr/>
          <p:nvPr/>
        </p:nvSpPr>
        <p:spPr>
          <a:xfrm>
            <a:off x="1170432"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9" name="Text 47"/>
          <p:cNvSpPr/>
          <p:nvPr/>
        </p:nvSpPr>
        <p:spPr>
          <a:xfrm>
            <a:off x="2185416"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1" name="Text 49"/>
          <p:cNvSpPr/>
          <p:nvPr/>
        </p:nvSpPr>
        <p:spPr>
          <a:xfrm>
            <a:off x="2185416"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2" name="Shape 50"/>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3" name="Text 51"/>
          <p:cNvSpPr/>
          <p:nvPr/>
        </p:nvSpPr>
        <p:spPr>
          <a:xfrm>
            <a:off x="3200400"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Bitmovin QOE</a:t>
            </a:r>
            <a:endParaRPr lang="en-US" sz="750" dirty="0"/>
          </a:p>
          <a:p>
            <a:pPr marL="0" indent="0" algn="ctr">
              <a:buNone/>
            </a:pPr>
            <a:r>
              <a:rPr lang="en-US" sz="750" b="1" dirty="0">
                <a:solidFill>
                  <a:srgbClr val="1E293B"/>
                </a:solidFill>
              </a:rPr>
              <a:t>NPAW/BitMov</a:t>
            </a:r>
            <a:endParaRPr lang="en-US" sz="750" dirty="0"/>
          </a:p>
        </p:txBody>
      </p:sp>
      <p:sp>
        <p:nvSpPr>
          <p:cNvPr id="54" name="Shape 52"/>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55" name="Text 53"/>
          <p:cNvSpPr/>
          <p:nvPr/>
        </p:nvSpPr>
        <p:spPr>
          <a:xfrm>
            <a:off x="3200400" y="281178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txBody>
          <a:bodyPr/>
          <a:lstStyle/>
          <a:p>
            <a:endParaRPr lang="en-US"/>
          </a:p>
        </p:txBody>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58" name="Text 56"/>
          <p:cNvSpPr/>
          <p:nvPr/>
        </p:nvSpPr>
        <p:spPr>
          <a:xfrm>
            <a:off x="182880" y="394106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1" name="Text 59"/>
          <p:cNvSpPr/>
          <p:nvPr/>
        </p:nvSpPr>
        <p:spPr>
          <a:xfrm>
            <a:off x="117043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3" name="Text 61"/>
          <p:cNvSpPr/>
          <p:nvPr/>
        </p:nvSpPr>
        <p:spPr>
          <a:xfrm>
            <a:off x="1170432"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5" name="Text 63"/>
          <p:cNvSpPr/>
          <p:nvPr/>
        </p:nvSpPr>
        <p:spPr>
          <a:xfrm>
            <a:off x="218541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7" name="Text 65"/>
          <p:cNvSpPr/>
          <p:nvPr/>
        </p:nvSpPr>
        <p:spPr>
          <a:xfrm>
            <a:off x="2185416"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9" name="Text 67"/>
          <p:cNvSpPr/>
          <p:nvPr/>
        </p:nvSpPr>
        <p:spPr>
          <a:xfrm>
            <a:off x="320040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1" name="Text 69"/>
          <p:cNvSpPr/>
          <p:nvPr/>
        </p:nvSpPr>
        <p:spPr>
          <a:xfrm>
            <a:off x="3200400"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3" name="Text 71"/>
          <p:cNvSpPr/>
          <p:nvPr/>
        </p:nvSpPr>
        <p:spPr>
          <a:xfrm>
            <a:off x="4215384"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5" name="Text 73"/>
          <p:cNvSpPr/>
          <p:nvPr/>
        </p:nvSpPr>
        <p:spPr>
          <a:xfrm>
            <a:off x="4215384"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7" name="Text 75"/>
          <p:cNvSpPr/>
          <p:nvPr/>
        </p:nvSpPr>
        <p:spPr>
          <a:xfrm>
            <a:off x="5230368"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79" name="Text 77"/>
          <p:cNvSpPr/>
          <p:nvPr/>
        </p:nvSpPr>
        <p:spPr>
          <a:xfrm>
            <a:off x="5230368"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1" name="Text 79"/>
          <p:cNvSpPr/>
          <p:nvPr/>
        </p:nvSpPr>
        <p:spPr>
          <a:xfrm>
            <a:off x="624535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83" name="Text 81"/>
          <p:cNvSpPr/>
          <p:nvPr/>
        </p:nvSpPr>
        <p:spPr>
          <a:xfrm>
            <a:off x="6245352"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5" name="Text 83"/>
          <p:cNvSpPr/>
          <p:nvPr/>
        </p:nvSpPr>
        <p:spPr>
          <a:xfrm>
            <a:off x="726033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87" name="Text 85"/>
          <p:cNvSpPr/>
          <p:nvPr/>
        </p:nvSpPr>
        <p:spPr>
          <a:xfrm>
            <a:off x="7260336"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9" name="Text 87"/>
          <p:cNvSpPr/>
          <p:nvPr/>
        </p:nvSpPr>
        <p:spPr>
          <a:xfrm>
            <a:off x="827532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91" name="Text 89"/>
          <p:cNvSpPr/>
          <p:nvPr/>
        </p:nvSpPr>
        <p:spPr>
          <a:xfrm>
            <a:off x="8275320"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3" name="Text 91"/>
          <p:cNvSpPr/>
          <p:nvPr/>
        </p:nvSpPr>
        <p:spPr>
          <a:xfrm>
            <a:off x="1170432" y="45902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5" name="Text 93"/>
          <p:cNvSpPr/>
          <p:nvPr/>
        </p:nvSpPr>
        <p:spPr>
          <a:xfrm>
            <a:off x="1170432" y="48006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txBody>
          <a:bodyPr/>
          <a:lstStyle/>
          <a:p>
            <a:endParaRPr lang="en-US"/>
          </a:p>
        </p:txBody>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98" name="Text 96"/>
          <p:cNvSpPr/>
          <p:nvPr/>
        </p:nvSpPr>
        <p:spPr>
          <a:xfrm>
            <a:off x="182880" y="547268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1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1" name="Text 99"/>
          <p:cNvSpPr/>
          <p:nvPr/>
        </p:nvSpPr>
        <p:spPr>
          <a:xfrm>
            <a:off x="117043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3" name="Text 101"/>
          <p:cNvSpPr/>
          <p:nvPr/>
        </p:nvSpPr>
        <p:spPr>
          <a:xfrm>
            <a:off x="117043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5" name="Text 103"/>
          <p:cNvSpPr/>
          <p:nvPr/>
        </p:nvSpPr>
        <p:spPr>
          <a:xfrm>
            <a:off x="2185416"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7" name="Text 105"/>
          <p:cNvSpPr/>
          <p:nvPr/>
        </p:nvSpPr>
        <p:spPr>
          <a:xfrm>
            <a:off x="2185416"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9" name="Text 107"/>
          <p:cNvSpPr/>
          <p:nvPr/>
        </p:nvSpPr>
        <p:spPr>
          <a:xfrm>
            <a:off x="3200400"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1" name="Text 109"/>
          <p:cNvSpPr/>
          <p:nvPr/>
        </p:nvSpPr>
        <p:spPr>
          <a:xfrm>
            <a:off x="3200400"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3" name="Text 111"/>
          <p:cNvSpPr/>
          <p:nvPr/>
        </p:nvSpPr>
        <p:spPr>
          <a:xfrm>
            <a:off x="4215384"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5" name="Text 113"/>
          <p:cNvSpPr/>
          <p:nvPr/>
        </p:nvSpPr>
        <p:spPr>
          <a:xfrm>
            <a:off x="4215384"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7" name="Text 115"/>
          <p:cNvSpPr/>
          <p:nvPr/>
        </p:nvSpPr>
        <p:spPr>
          <a:xfrm>
            <a:off x="5230368"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9" name="Text 117"/>
          <p:cNvSpPr/>
          <p:nvPr/>
        </p:nvSpPr>
        <p:spPr>
          <a:xfrm>
            <a:off x="5230368"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1" name="Text 119"/>
          <p:cNvSpPr/>
          <p:nvPr/>
        </p:nvSpPr>
        <p:spPr>
          <a:xfrm>
            <a:off x="624535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3" name="Text 121"/>
          <p:cNvSpPr/>
          <p:nvPr/>
        </p:nvSpPr>
        <p:spPr>
          <a:xfrm>
            <a:off x="624535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25" name="Text 123"/>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28" name="Text 126"/>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31" name="Text 129"/>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34" name="Text 132"/>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37" name="Text 135"/>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40" name="Text 138"/>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43" name="Text 141"/>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46" name="Text 144"/>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49" name="Text 147"/>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51" name="Text 149"/>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53" name="Text 151"/>
          <p:cNvSpPr/>
          <p:nvPr/>
        </p:nvSpPr>
        <p:spPr>
          <a:xfrm>
            <a:off x="9500616" y="3584448"/>
            <a:ext cx="822960"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55" name="Text 153"/>
          <p:cNvSpPr/>
          <p:nvPr/>
        </p:nvSpPr>
        <p:spPr>
          <a:xfrm>
            <a:off x="9500616" y="3813048"/>
            <a:ext cx="822960"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157" name="Text 155"/>
          <p:cNvSpPr/>
          <p:nvPr/>
        </p:nvSpPr>
        <p:spPr>
          <a:xfrm>
            <a:off x="9500616" y="4041648"/>
            <a:ext cx="822960"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159" name="Text 157"/>
          <p:cNvSpPr/>
          <p:nvPr/>
        </p:nvSpPr>
        <p:spPr>
          <a:xfrm>
            <a:off x="9500616" y="4270248"/>
            <a:ext cx="822960"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Android Phone · Tablet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12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11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17" name="Text 15"/>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txBody>
          <a:bodyPr/>
          <a:lstStyle/>
          <a:p>
            <a:endParaRPr lang="en-US"/>
          </a:p>
        </p:txBody>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22" name="Text 20"/>
          <p:cNvSpPr/>
          <p:nvPr/>
        </p:nvSpPr>
        <p:spPr>
          <a:xfrm>
            <a:off x="182880" y="87782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5" name="Text 23"/>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27" name="Text 25"/>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9" name="Text 27"/>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1" name="Text 29"/>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3" name="Text 31"/>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5" name="Text 33"/>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7" name="Text 35"/>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9" name="Text 37"/>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1" name="Text 39"/>
          <p:cNvSpPr/>
          <p:nvPr/>
        </p:nvSpPr>
        <p:spPr>
          <a:xfrm>
            <a:off x="5230368"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3" name="Text 41"/>
          <p:cNvSpPr/>
          <p:nvPr/>
        </p:nvSpPr>
        <p:spPr>
          <a:xfrm>
            <a:off x="5230368"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txBody>
          <a:bodyPr/>
          <a:lstStyle/>
          <a:p>
            <a:endParaRPr lang="en-US"/>
          </a:p>
        </p:txBody>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46" name="Text 44"/>
          <p:cNvSpPr/>
          <p:nvPr/>
        </p:nvSpPr>
        <p:spPr>
          <a:xfrm>
            <a:off x="182880" y="240944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1 / 3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9" name="Text 47"/>
          <p:cNvSpPr/>
          <p:nvPr/>
        </p:nvSpPr>
        <p:spPr>
          <a:xfrm>
            <a:off x="1170432"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51" name="Text 49"/>
          <p:cNvSpPr/>
          <p:nvPr/>
        </p:nvSpPr>
        <p:spPr>
          <a:xfrm>
            <a:off x="1170432" y="281178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3" name="Text 51"/>
          <p:cNvSpPr/>
          <p:nvPr/>
        </p:nvSpPr>
        <p:spPr>
          <a:xfrm>
            <a:off x="2185416"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5" name="Text 53"/>
          <p:cNvSpPr/>
          <p:nvPr/>
        </p:nvSpPr>
        <p:spPr>
          <a:xfrm>
            <a:off x="2185416"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6" name="Shape 54"/>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7" name="Text 55"/>
          <p:cNvSpPr/>
          <p:nvPr/>
        </p:nvSpPr>
        <p:spPr>
          <a:xfrm>
            <a:off x="3200400"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Bitmovin QOE</a:t>
            </a:r>
            <a:endParaRPr lang="en-US" sz="750" dirty="0"/>
          </a:p>
          <a:p>
            <a:pPr marL="0" indent="0" algn="ctr">
              <a:buNone/>
            </a:pPr>
            <a:r>
              <a:rPr lang="en-US" sz="750" b="1" dirty="0">
                <a:solidFill>
                  <a:srgbClr val="1E293B"/>
                </a:solidFill>
              </a:rPr>
              <a:t>NPAW/BitMov</a:t>
            </a:r>
            <a:endParaRPr lang="en-US" sz="750" dirty="0"/>
          </a:p>
        </p:txBody>
      </p:sp>
      <p:sp>
        <p:nvSpPr>
          <p:cNvPr id="58" name="Shape 56"/>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59" name="Text 57"/>
          <p:cNvSpPr/>
          <p:nvPr/>
        </p:nvSpPr>
        <p:spPr>
          <a:xfrm>
            <a:off x="3200400" y="281178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60" name="Shape 58"/>
          <p:cNvSpPr/>
          <p:nvPr/>
        </p:nvSpPr>
        <p:spPr>
          <a:xfrm>
            <a:off x="164592" y="3867912"/>
            <a:ext cx="9116568" cy="1476756"/>
          </a:xfrm>
          <a:prstGeom prst="rect">
            <a:avLst/>
          </a:prstGeom>
          <a:solidFill>
            <a:srgbClr val="FAFBFC"/>
          </a:solidFill>
          <a:ln w="6350">
            <a:solidFill>
              <a:srgbClr val="E5E7EB"/>
            </a:solidFill>
            <a:prstDash val="solid"/>
          </a:ln>
        </p:spPr>
        <p:txBody>
          <a:bodyPr/>
          <a:lstStyle/>
          <a:p>
            <a:endParaRPr lang="en-US"/>
          </a:p>
        </p:txBody>
      </p:sp>
      <p:sp>
        <p:nvSpPr>
          <p:cNvPr id="61" name="Shape 59"/>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62" name="Text 60"/>
          <p:cNvSpPr/>
          <p:nvPr/>
        </p:nvSpPr>
        <p:spPr>
          <a:xfrm>
            <a:off x="182880" y="394106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63" name="Text 61"/>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a:t>
            </a:r>
            <a:endParaRPr lang="en-US" sz="750" dirty="0"/>
          </a:p>
        </p:txBody>
      </p:sp>
      <p:sp>
        <p:nvSpPr>
          <p:cNvPr id="64" name="Shape 62"/>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5" name="Text 63"/>
          <p:cNvSpPr/>
          <p:nvPr/>
        </p:nvSpPr>
        <p:spPr>
          <a:xfrm>
            <a:off x="117043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66" name="Shape 64"/>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7" name="Text 65"/>
          <p:cNvSpPr/>
          <p:nvPr/>
        </p:nvSpPr>
        <p:spPr>
          <a:xfrm>
            <a:off x="1170432"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8" name="Shape 66"/>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9" name="Text 67"/>
          <p:cNvSpPr/>
          <p:nvPr/>
        </p:nvSpPr>
        <p:spPr>
          <a:xfrm>
            <a:off x="218541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70" name="Shape 68"/>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1" name="Text 69"/>
          <p:cNvSpPr/>
          <p:nvPr/>
        </p:nvSpPr>
        <p:spPr>
          <a:xfrm>
            <a:off x="2185416"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2" name="Shape 70"/>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3" name="Text 71"/>
          <p:cNvSpPr/>
          <p:nvPr/>
        </p:nvSpPr>
        <p:spPr>
          <a:xfrm>
            <a:off x="320040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74" name="Shape 72"/>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5" name="Text 73"/>
          <p:cNvSpPr/>
          <p:nvPr/>
        </p:nvSpPr>
        <p:spPr>
          <a:xfrm>
            <a:off x="3200400"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6" name="Shape 74"/>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7" name="Text 75"/>
          <p:cNvSpPr/>
          <p:nvPr/>
        </p:nvSpPr>
        <p:spPr>
          <a:xfrm>
            <a:off x="4215384"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78" name="Shape 76"/>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9" name="Text 77"/>
          <p:cNvSpPr/>
          <p:nvPr/>
        </p:nvSpPr>
        <p:spPr>
          <a:xfrm>
            <a:off x="4215384"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0" name="Shape 78"/>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1" name="Text 79"/>
          <p:cNvSpPr/>
          <p:nvPr/>
        </p:nvSpPr>
        <p:spPr>
          <a:xfrm>
            <a:off x="5230368"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82" name="Shape 80"/>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83" name="Text 81"/>
          <p:cNvSpPr/>
          <p:nvPr/>
        </p:nvSpPr>
        <p:spPr>
          <a:xfrm>
            <a:off x="5230368"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4" name="Shape 82"/>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5" name="Text 83"/>
          <p:cNvSpPr/>
          <p:nvPr/>
        </p:nvSpPr>
        <p:spPr>
          <a:xfrm>
            <a:off x="624535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86" name="Shape 84"/>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87" name="Text 85"/>
          <p:cNvSpPr/>
          <p:nvPr/>
        </p:nvSpPr>
        <p:spPr>
          <a:xfrm>
            <a:off x="6245352"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8" name="Shape 86"/>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9" name="Text 87"/>
          <p:cNvSpPr/>
          <p:nvPr/>
        </p:nvSpPr>
        <p:spPr>
          <a:xfrm>
            <a:off x="726033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90" name="Shape 88"/>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91" name="Text 89"/>
          <p:cNvSpPr/>
          <p:nvPr/>
        </p:nvSpPr>
        <p:spPr>
          <a:xfrm>
            <a:off x="7260336"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92" name="Shape 90"/>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3" name="Text 91"/>
          <p:cNvSpPr/>
          <p:nvPr/>
        </p:nvSpPr>
        <p:spPr>
          <a:xfrm>
            <a:off x="827532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94" name="Shape 92"/>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95" name="Text 93"/>
          <p:cNvSpPr/>
          <p:nvPr/>
        </p:nvSpPr>
        <p:spPr>
          <a:xfrm>
            <a:off x="8275320"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96" name="Shape 94"/>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7" name="Text 95"/>
          <p:cNvSpPr/>
          <p:nvPr/>
        </p:nvSpPr>
        <p:spPr>
          <a:xfrm>
            <a:off x="1170432" y="45902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98" name="Shape 96"/>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9" name="Text 97"/>
          <p:cNvSpPr/>
          <p:nvPr/>
        </p:nvSpPr>
        <p:spPr>
          <a:xfrm>
            <a:off x="1170432" y="48006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0" name="Shape 98"/>
          <p:cNvSpPr/>
          <p:nvPr/>
        </p:nvSpPr>
        <p:spPr>
          <a:xfrm>
            <a:off x="164592" y="5399532"/>
            <a:ext cx="9116568" cy="1476756"/>
          </a:xfrm>
          <a:prstGeom prst="rect">
            <a:avLst/>
          </a:prstGeom>
          <a:solidFill>
            <a:srgbClr val="FFFFFF"/>
          </a:solidFill>
          <a:ln w="6350">
            <a:solidFill>
              <a:srgbClr val="E5E7EB"/>
            </a:solidFill>
            <a:prstDash val="solid"/>
          </a:ln>
        </p:spPr>
        <p:txBody>
          <a:bodyPr/>
          <a:lstStyle/>
          <a:p>
            <a:endParaRPr lang="en-US"/>
          </a:p>
        </p:txBody>
      </p:sp>
      <p:sp>
        <p:nvSpPr>
          <p:cNvPr id="101" name="Shape 99"/>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102" name="Text 100"/>
          <p:cNvSpPr/>
          <p:nvPr/>
        </p:nvSpPr>
        <p:spPr>
          <a:xfrm>
            <a:off x="182880" y="547268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103" name="Text 101"/>
          <p:cNvSpPr/>
          <p:nvPr/>
        </p:nvSpPr>
        <p:spPr>
          <a:xfrm>
            <a:off x="1170432" y="544525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1 / 6 In Progress</a:t>
            </a:r>
            <a:endParaRPr lang="en-US" sz="750" dirty="0"/>
          </a:p>
        </p:txBody>
      </p:sp>
      <p:sp>
        <p:nvSpPr>
          <p:cNvPr id="104" name="Shape 102"/>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5" name="Text 103"/>
          <p:cNvSpPr/>
          <p:nvPr/>
        </p:nvSpPr>
        <p:spPr>
          <a:xfrm>
            <a:off x="117043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106" name="Shape 104"/>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7" name="Text 105"/>
          <p:cNvSpPr/>
          <p:nvPr/>
        </p:nvSpPr>
        <p:spPr>
          <a:xfrm>
            <a:off x="117043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8" name="Shape 106"/>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9" name="Text 107"/>
          <p:cNvSpPr/>
          <p:nvPr/>
        </p:nvSpPr>
        <p:spPr>
          <a:xfrm>
            <a:off x="2185416"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110" name="Shape 108"/>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1" name="Text 109"/>
          <p:cNvSpPr/>
          <p:nvPr/>
        </p:nvSpPr>
        <p:spPr>
          <a:xfrm>
            <a:off x="2185416"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12" name="Shape 110"/>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3" name="Text 111"/>
          <p:cNvSpPr/>
          <p:nvPr/>
        </p:nvSpPr>
        <p:spPr>
          <a:xfrm>
            <a:off x="3200400"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14" name="Shape 112"/>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5" name="Text 113"/>
          <p:cNvSpPr/>
          <p:nvPr/>
        </p:nvSpPr>
        <p:spPr>
          <a:xfrm>
            <a:off x="3200400"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16" name="Shape 114"/>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7" name="Text 115"/>
          <p:cNvSpPr/>
          <p:nvPr/>
        </p:nvSpPr>
        <p:spPr>
          <a:xfrm>
            <a:off x="4215384"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18" name="Shape 116"/>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9" name="Text 117"/>
          <p:cNvSpPr/>
          <p:nvPr/>
        </p:nvSpPr>
        <p:spPr>
          <a:xfrm>
            <a:off x="4215384"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0" name="Shape 118"/>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1" name="Text 119"/>
          <p:cNvSpPr/>
          <p:nvPr/>
        </p:nvSpPr>
        <p:spPr>
          <a:xfrm>
            <a:off x="5230368"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a:t>
            </a:r>
            <a:endParaRPr lang="en-US" sz="750" dirty="0"/>
          </a:p>
        </p:txBody>
      </p:sp>
      <p:sp>
        <p:nvSpPr>
          <p:cNvPr id="122" name="Shape 120"/>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3" name="Text 121"/>
          <p:cNvSpPr/>
          <p:nvPr/>
        </p:nvSpPr>
        <p:spPr>
          <a:xfrm>
            <a:off x="5230368"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4" name="Shape 122"/>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5" name="Text 123"/>
          <p:cNvSpPr/>
          <p:nvPr/>
        </p:nvSpPr>
        <p:spPr>
          <a:xfrm>
            <a:off x="624535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Promos</a:t>
            </a:r>
            <a:endParaRPr lang="en-US" sz="750" dirty="0"/>
          </a:p>
        </p:txBody>
      </p:sp>
      <p:sp>
        <p:nvSpPr>
          <p:cNvPr id="126" name="Shape 124"/>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7" name="Text 125"/>
          <p:cNvSpPr/>
          <p:nvPr/>
        </p:nvSpPr>
        <p:spPr>
          <a:xfrm>
            <a:off x="624535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8" name="Shape 126"/>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29" name="Text 127"/>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30" name="Shape 128"/>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31" name="Shape 129"/>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32" name="Text 130"/>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33" name="Text 131"/>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34" name="Shape 13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35" name="Text 133"/>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36" name="Shape 134"/>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37" name="Shape 135"/>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38" name="Text 136"/>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39" name="Text 137"/>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40" name="Shape 13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41" name="Text 139"/>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42" name="Shape 140"/>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43" name="Shape 141"/>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44" name="Text 142"/>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145" name="Text 143"/>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146" name="Shape 14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47" name="Text 145"/>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48" name="Shape 146"/>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49" name="Shape 147"/>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50" name="Text 148"/>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151" name="Text 149"/>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152" name="Shape 15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53" name="Text 151"/>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54" name="Shape 152"/>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55" name="Text 153"/>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156" name="Shape 154"/>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57" name="Text 155"/>
          <p:cNvSpPr/>
          <p:nvPr/>
        </p:nvSpPr>
        <p:spPr>
          <a:xfrm>
            <a:off x="9500616" y="3584448"/>
            <a:ext cx="822960"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158" name="Shape 156"/>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59" name="Text 157"/>
          <p:cNvSpPr/>
          <p:nvPr/>
        </p:nvSpPr>
        <p:spPr>
          <a:xfrm>
            <a:off x="9500616" y="3813048"/>
            <a:ext cx="822960"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160" name="Shape 158"/>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161" name="Text 159"/>
          <p:cNvSpPr/>
          <p:nvPr/>
        </p:nvSpPr>
        <p:spPr>
          <a:xfrm>
            <a:off x="9500616" y="4041648"/>
            <a:ext cx="822960"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162" name="Shape 160"/>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163" name="Text 161"/>
          <p:cNvSpPr/>
          <p:nvPr/>
        </p:nvSpPr>
        <p:spPr>
          <a:xfrm>
            <a:off x="9500616" y="4270248"/>
            <a:ext cx="822960"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Roku · Fire TV · Samsung · tvOS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14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11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marL="0" indent="0" algn="l">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txBody>
          <a:bodyPr/>
          <a:lstStyle/>
          <a:p>
            <a:endParaRPr lang="en-US"/>
          </a:p>
        </p:txBody>
      </p:sp>
      <p:sp>
        <p:nvSpPr>
          <p:cNvPr id="18" name="Text 16"/>
          <p:cNvSpPr/>
          <p:nvPr/>
        </p:nvSpPr>
        <p:spPr>
          <a:xfrm>
            <a:off x="8613648" y="512064"/>
            <a:ext cx="585216" cy="237744"/>
          </a:xfrm>
          <a:prstGeom prst="rect">
            <a:avLst/>
          </a:prstGeom>
          <a:noFill/>
          <a:ln/>
        </p:spPr>
        <p:txBody>
          <a:bodyPr wrap="square" lIns="0" tIns="0" rIns="0" bIns="0" rtlCol="0" anchor="ctr"/>
          <a:lstStyle/>
          <a:p>
            <a:pPr marL="0" indent="0" algn="ctr">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txBody>
          <a:bodyPr/>
          <a:lstStyle/>
          <a:p>
            <a:endParaRPr lang="en-US"/>
          </a:p>
        </p:txBody>
      </p:sp>
      <p:sp>
        <p:nvSpPr>
          <p:cNvPr id="20" name="Text 18"/>
          <p:cNvSpPr/>
          <p:nvPr/>
        </p:nvSpPr>
        <p:spPr>
          <a:xfrm>
            <a:off x="9272016" y="512064"/>
            <a:ext cx="658368" cy="237744"/>
          </a:xfrm>
          <a:prstGeom prst="rect">
            <a:avLst/>
          </a:prstGeom>
          <a:noFill/>
          <a:ln/>
        </p:spPr>
        <p:txBody>
          <a:bodyPr wrap="square" lIns="0" tIns="0" rIns="0" bIns="0" rtlCol="0" anchor="ctr"/>
          <a:lstStyle/>
          <a:p>
            <a:pPr marL="0" indent="0" algn="ctr">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txBody>
          <a:bodyPr/>
          <a:lstStyle/>
          <a:p>
            <a:endParaRPr lang="en-US"/>
          </a:p>
        </p:txBody>
      </p:sp>
      <p:sp>
        <p:nvSpPr>
          <p:cNvPr id="22" name="Text 20"/>
          <p:cNvSpPr/>
          <p:nvPr/>
        </p:nvSpPr>
        <p:spPr>
          <a:xfrm>
            <a:off x="10003536" y="512064"/>
            <a:ext cx="731520" cy="237744"/>
          </a:xfrm>
          <a:prstGeom prst="rect">
            <a:avLst/>
          </a:prstGeom>
          <a:noFill/>
          <a:ln/>
        </p:spPr>
        <p:txBody>
          <a:bodyPr wrap="square" lIns="0" tIns="0" rIns="0" bIns="0" rtlCol="0" anchor="ctr"/>
          <a:lstStyle/>
          <a:p>
            <a:pPr marL="0" indent="0" algn="ctr">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txBody>
          <a:bodyPr/>
          <a:lstStyle/>
          <a:p>
            <a:endParaRPr lang="en-US"/>
          </a:p>
        </p:txBody>
      </p:sp>
      <p:sp>
        <p:nvSpPr>
          <p:cNvPr id="24" name="Text 22"/>
          <p:cNvSpPr/>
          <p:nvPr/>
        </p:nvSpPr>
        <p:spPr>
          <a:xfrm>
            <a:off x="10808208" y="512064"/>
            <a:ext cx="585216" cy="237744"/>
          </a:xfrm>
          <a:prstGeom prst="rect">
            <a:avLst/>
          </a:prstGeom>
          <a:noFill/>
          <a:ln/>
        </p:spPr>
        <p:txBody>
          <a:bodyPr wrap="square" lIns="0" tIns="0" rIns="0" bIns="0" rtlCol="0" anchor="ctr"/>
          <a:lstStyle/>
          <a:p>
            <a:pPr marL="0" indent="0" algn="ctr">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26" name="Text 24"/>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83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0%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txBody>
          <a:bodyPr/>
          <a:lstStyle/>
          <a:p>
            <a:endParaRPr lang="en-US"/>
          </a:p>
        </p:txBody>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31" name="Text 29"/>
          <p:cNvSpPr/>
          <p:nvPr/>
        </p:nvSpPr>
        <p:spPr>
          <a:xfrm>
            <a:off x="182880" y="87782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4" name="Text 32"/>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6" name="Text 34"/>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8" name="Text 36"/>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0" name="Text 38"/>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2" name="Text 40"/>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4" name="Text 42"/>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6" name="Text 44"/>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8" name="Text 46"/>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0" name="Text 48"/>
          <p:cNvSpPr/>
          <p:nvPr/>
        </p:nvSpPr>
        <p:spPr>
          <a:xfrm>
            <a:off x="5230368"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2" name="Text 50"/>
          <p:cNvSpPr/>
          <p:nvPr/>
        </p:nvSpPr>
        <p:spPr>
          <a:xfrm>
            <a:off x="5230368"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4" name="Text 52"/>
          <p:cNvSpPr/>
          <p:nvPr/>
        </p:nvSpPr>
        <p:spPr>
          <a:xfrm>
            <a:off x="624535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6" name="Text 54"/>
          <p:cNvSpPr/>
          <p:nvPr/>
        </p:nvSpPr>
        <p:spPr>
          <a:xfrm>
            <a:off x="624535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txBody>
          <a:bodyPr/>
          <a:lstStyle/>
          <a:p>
            <a:endParaRPr lang="en-US"/>
          </a:p>
        </p:txBody>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59" name="Text 57"/>
          <p:cNvSpPr/>
          <p:nvPr/>
        </p:nvSpPr>
        <p:spPr>
          <a:xfrm>
            <a:off x="182880" y="240944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2 / 4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2" name="Text 60"/>
          <p:cNvSpPr/>
          <p:nvPr/>
        </p:nvSpPr>
        <p:spPr>
          <a:xfrm>
            <a:off x="1170432"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4" name="Text 62"/>
          <p:cNvSpPr/>
          <p:nvPr/>
        </p:nvSpPr>
        <p:spPr>
          <a:xfrm>
            <a:off x="1170432"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6" name="Text 64"/>
          <p:cNvSpPr/>
          <p:nvPr/>
        </p:nvSpPr>
        <p:spPr>
          <a:xfrm>
            <a:off x="2185416"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68" name="Text 66"/>
          <p:cNvSpPr/>
          <p:nvPr/>
        </p:nvSpPr>
        <p:spPr>
          <a:xfrm>
            <a:off x="2185416" y="281178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0" name="Text 68"/>
          <p:cNvSpPr/>
          <p:nvPr/>
        </p:nvSpPr>
        <p:spPr>
          <a:xfrm>
            <a:off x="3200400"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2" name="Text 70"/>
          <p:cNvSpPr/>
          <p:nvPr/>
        </p:nvSpPr>
        <p:spPr>
          <a:xfrm>
            <a:off x="3200400"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3" name="Shape 71"/>
          <p:cNvSpPr/>
          <p:nvPr/>
        </p:nvSpPr>
        <p:spPr>
          <a:xfrm>
            <a:off x="4215384"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4" name="Text 72"/>
          <p:cNvSpPr/>
          <p:nvPr/>
        </p:nvSpPr>
        <p:spPr>
          <a:xfrm>
            <a:off x="4215384"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Bitmovin QOE</a:t>
            </a:r>
            <a:endParaRPr lang="en-US" sz="750" dirty="0"/>
          </a:p>
          <a:p>
            <a:pPr marL="0" indent="0" algn="ctr">
              <a:buNone/>
            </a:pPr>
            <a:r>
              <a:rPr lang="en-US" sz="750" b="1" dirty="0">
                <a:solidFill>
                  <a:srgbClr val="1E293B"/>
                </a:solidFill>
              </a:rPr>
              <a:t>NPAW/BitMov</a:t>
            </a:r>
            <a:endParaRPr lang="en-US" sz="750" dirty="0"/>
          </a:p>
        </p:txBody>
      </p:sp>
      <p:sp>
        <p:nvSpPr>
          <p:cNvPr id="75" name="Shape 73"/>
          <p:cNvSpPr/>
          <p:nvPr/>
        </p:nvSpPr>
        <p:spPr>
          <a:xfrm>
            <a:off x="4215384" y="281178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76" name="Text 74"/>
          <p:cNvSpPr/>
          <p:nvPr/>
        </p:nvSpPr>
        <p:spPr>
          <a:xfrm>
            <a:off x="4215384" y="281178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77" name="Shape 75"/>
          <p:cNvSpPr/>
          <p:nvPr/>
        </p:nvSpPr>
        <p:spPr>
          <a:xfrm>
            <a:off x="164592" y="3867912"/>
            <a:ext cx="9116568" cy="1476756"/>
          </a:xfrm>
          <a:prstGeom prst="rect">
            <a:avLst/>
          </a:prstGeom>
          <a:solidFill>
            <a:srgbClr val="FAFBFC"/>
          </a:solidFill>
          <a:ln w="6350">
            <a:solidFill>
              <a:srgbClr val="E5E7EB"/>
            </a:solidFill>
            <a:prstDash val="solid"/>
          </a:ln>
        </p:spPr>
        <p:txBody>
          <a:bodyPr/>
          <a:lstStyle/>
          <a:p>
            <a:endParaRPr lang="en-US"/>
          </a:p>
        </p:txBody>
      </p:sp>
      <p:sp>
        <p:nvSpPr>
          <p:cNvPr id="78" name="Shape 76"/>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79" name="Text 77"/>
          <p:cNvSpPr/>
          <p:nvPr/>
        </p:nvSpPr>
        <p:spPr>
          <a:xfrm>
            <a:off x="182880" y="394106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80" name="Text 78"/>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a:t>
            </a:r>
            <a:endParaRPr lang="en-US" sz="750" dirty="0"/>
          </a:p>
        </p:txBody>
      </p:sp>
      <p:sp>
        <p:nvSpPr>
          <p:cNvPr id="81" name="Shape 79"/>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2" name="Text 80"/>
          <p:cNvSpPr/>
          <p:nvPr/>
        </p:nvSpPr>
        <p:spPr>
          <a:xfrm>
            <a:off x="117043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83" name="Shape 81"/>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84" name="Text 82"/>
          <p:cNvSpPr/>
          <p:nvPr/>
        </p:nvSpPr>
        <p:spPr>
          <a:xfrm>
            <a:off x="1170432"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5" name="Shape 83"/>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6" name="Text 84"/>
          <p:cNvSpPr/>
          <p:nvPr/>
        </p:nvSpPr>
        <p:spPr>
          <a:xfrm>
            <a:off x="218541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87" name="Shape 85"/>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88" name="Text 86"/>
          <p:cNvSpPr/>
          <p:nvPr/>
        </p:nvSpPr>
        <p:spPr>
          <a:xfrm>
            <a:off x="2185416"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9" name="Shape 87"/>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0" name="Text 88"/>
          <p:cNvSpPr/>
          <p:nvPr/>
        </p:nvSpPr>
        <p:spPr>
          <a:xfrm>
            <a:off x="320040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91" name="Shape 89"/>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2" name="Text 90"/>
          <p:cNvSpPr/>
          <p:nvPr/>
        </p:nvSpPr>
        <p:spPr>
          <a:xfrm>
            <a:off x="3200400"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3" name="Shape 91"/>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4" name="Text 92"/>
          <p:cNvSpPr/>
          <p:nvPr/>
        </p:nvSpPr>
        <p:spPr>
          <a:xfrm>
            <a:off x="4215384"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95" name="Shape 93"/>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6" name="Text 94"/>
          <p:cNvSpPr/>
          <p:nvPr/>
        </p:nvSpPr>
        <p:spPr>
          <a:xfrm>
            <a:off x="4215384"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7" name="Shape 95"/>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8" name="Text 96"/>
          <p:cNvSpPr/>
          <p:nvPr/>
        </p:nvSpPr>
        <p:spPr>
          <a:xfrm>
            <a:off x="5230368"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99" name="Shape 97"/>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0" name="Text 98"/>
          <p:cNvSpPr/>
          <p:nvPr/>
        </p:nvSpPr>
        <p:spPr>
          <a:xfrm>
            <a:off x="5230368"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1" name="Shape 99"/>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2" name="Text 100"/>
          <p:cNvSpPr/>
          <p:nvPr/>
        </p:nvSpPr>
        <p:spPr>
          <a:xfrm>
            <a:off x="624535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103" name="Shape 101"/>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4" name="Text 102"/>
          <p:cNvSpPr/>
          <p:nvPr/>
        </p:nvSpPr>
        <p:spPr>
          <a:xfrm>
            <a:off x="6245352"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5" name="Shape 103"/>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6" name="Text 104"/>
          <p:cNvSpPr/>
          <p:nvPr/>
        </p:nvSpPr>
        <p:spPr>
          <a:xfrm>
            <a:off x="726033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107" name="Shape 105"/>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8" name="Text 106"/>
          <p:cNvSpPr/>
          <p:nvPr/>
        </p:nvSpPr>
        <p:spPr>
          <a:xfrm>
            <a:off x="7260336"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9" name="Shape 107"/>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0" name="Text 108"/>
          <p:cNvSpPr/>
          <p:nvPr/>
        </p:nvSpPr>
        <p:spPr>
          <a:xfrm>
            <a:off x="827532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111" name="Shape 109"/>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2" name="Text 110"/>
          <p:cNvSpPr/>
          <p:nvPr/>
        </p:nvSpPr>
        <p:spPr>
          <a:xfrm>
            <a:off x="8275320"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13" name="Shape 111"/>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4" name="Text 112"/>
          <p:cNvSpPr/>
          <p:nvPr/>
        </p:nvSpPr>
        <p:spPr>
          <a:xfrm>
            <a:off x="1170432" y="45902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115" name="Shape 113"/>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6" name="Text 114"/>
          <p:cNvSpPr/>
          <p:nvPr/>
        </p:nvSpPr>
        <p:spPr>
          <a:xfrm>
            <a:off x="1170432" y="48006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7" name="Shape 115"/>
          <p:cNvSpPr/>
          <p:nvPr/>
        </p:nvSpPr>
        <p:spPr>
          <a:xfrm>
            <a:off x="164592" y="5399532"/>
            <a:ext cx="9116568" cy="1476756"/>
          </a:xfrm>
          <a:prstGeom prst="rect">
            <a:avLst/>
          </a:prstGeom>
          <a:solidFill>
            <a:srgbClr val="FFFFFF"/>
          </a:solidFill>
          <a:ln w="6350">
            <a:solidFill>
              <a:srgbClr val="E5E7EB"/>
            </a:solidFill>
            <a:prstDash val="solid"/>
          </a:ln>
        </p:spPr>
        <p:txBody>
          <a:bodyPr/>
          <a:lstStyle/>
          <a:p>
            <a:endParaRPr lang="en-US"/>
          </a:p>
        </p:txBody>
      </p:sp>
      <p:sp>
        <p:nvSpPr>
          <p:cNvPr id="118" name="Shape 116"/>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119" name="Text 117"/>
          <p:cNvSpPr/>
          <p:nvPr/>
        </p:nvSpPr>
        <p:spPr>
          <a:xfrm>
            <a:off x="182880" y="547268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120" name="Text 118"/>
          <p:cNvSpPr/>
          <p:nvPr/>
        </p:nvSpPr>
        <p:spPr>
          <a:xfrm>
            <a:off x="1170432" y="544525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1 / 6 In Progress</a:t>
            </a:r>
            <a:endParaRPr lang="en-US" sz="750" dirty="0"/>
          </a:p>
        </p:txBody>
      </p:sp>
      <p:sp>
        <p:nvSpPr>
          <p:cNvPr id="121" name="Shape 119"/>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2" name="Text 120"/>
          <p:cNvSpPr/>
          <p:nvPr/>
        </p:nvSpPr>
        <p:spPr>
          <a:xfrm>
            <a:off x="117043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123" name="Shape 121"/>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4" name="Text 122"/>
          <p:cNvSpPr/>
          <p:nvPr/>
        </p:nvSpPr>
        <p:spPr>
          <a:xfrm>
            <a:off x="117043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5" name="Shape 123"/>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6" name="Text 124"/>
          <p:cNvSpPr/>
          <p:nvPr/>
        </p:nvSpPr>
        <p:spPr>
          <a:xfrm>
            <a:off x="2185416"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127" name="Shape 125"/>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8" name="Text 126"/>
          <p:cNvSpPr/>
          <p:nvPr/>
        </p:nvSpPr>
        <p:spPr>
          <a:xfrm>
            <a:off x="2185416"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9" name="Shape 127"/>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0" name="Text 128"/>
          <p:cNvSpPr/>
          <p:nvPr/>
        </p:nvSpPr>
        <p:spPr>
          <a:xfrm>
            <a:off x="3200400"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31" name="Shape 129"/>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32" name="Text 130"/>
          <p:cNvSpPr/>
          <p:nvPr/>
        </p:nvSpPr>
        <p:spPr>
          <a:xfrm>
            <a:off x="3200400"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33" name="Shape 131"/>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4" name="Text 132"/>
          <p:cNvSpPr/>
          <p:nvPr/>
        </p:nvSpPr>
        <p:spPr>
          <a:xfrm>
            <a:off x="4215384"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35" name="Shape 133"/>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36" name="Text 134"/>
          <p:cNvSpPr/>
          <p:nvPr/>
        </p:nvSpPr>
        <p:spPr>
          <a:xfrm>
            <a:off x="4215384"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37" name="Shape 135"/>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8" name="Text 136"/>
          <p:cNvSpPr/>
          <p:nvPr/>
        </p:nvSpPr>
        <p:spPr>
          <a:xfrm>
            <a:off x="5230368"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a:t>
            </a:r>
            <a:endParaRPr lang="en-US" sz="750" dirty="0"/>
          </a:p>
        </p:txBody>
      </p:sp>
      <p:sp>
        <p:nvSpPr>
          <p:cNvPr id="139" name="Shape 137"/>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40" name="Text 138"/>
          <p:cNvSpPr/>
          <p:nvPr/>
        </p:nvSpPr>
        <p:spPr>
          <a:xfrm>
            <a:off x="5230368"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41" name="Shape 139"/>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42" name="Text 140"/>
          <p:cNvSpPr/>
          <p:nvPr/>
        </p:nvSpPr>
        <p:spPr>
          <a:xfrm>
            <a:off x="624535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Promos</a:t>
            </a:r>
            <a:endParaRPr lang="en-US" sz="750" dirty="0"/>
          </a:p>
        </p:txBody>
      </p:sp>
      <p:sp>
        <p:nvSpPr>
          <p:cNvPr id="143" name="Shape 141"/>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44" name="Text 142"/>
          <p:cNvSpPr/>
          <p:nvPr/>
        </p:nvSpPr>
        <p:spPr>
          <a:xfrm>
            <a:off x="624535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45" name="Shape 143"/>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46" name="Text 144"/>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47" name="Shape 145"/>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48" name="Shape 146"/>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49" name="Text 147"/>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50" name="Text 148"/>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51" name="Shape 149"/>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52" name="Text 150"/>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53" name="Shape 151"/>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54" name="Shape 152"/>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55" name="Text 153"/>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56" name="Text 154"/>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57" name="Shape 155"/>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58" name="Text 156"/>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59" name="Shape 157"/>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60" name="Shape 158"/>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61" name="Text 159"/>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162" name="Text 160"/>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163" name="Shape 161"/>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64" name="Text 162"/>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65" name="Shape 163"/>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66" name="Shape 164"/>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67" name="Text 165"/>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168" name="Text 166"/>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169" name="Shape 167"/>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70" name="Text 168"/>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71" name="Shape 169"/>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72" name="Text 170"/>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173" name="Shape 171"/>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74" name="Text 172"/>
          <p:cNvSpPr/>
          <p:nvPr/>
        </p:nvSpPr>
        <p:spPr>
          <a:xfrm>
            <a:off x="9500616" y="3584448"/>
            <a:ext cx="822960"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175" name="Shape 173"/>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76" name="Text 174"/>
          <p:cNvSpPr/>
          <p:nvPr/>
        </p:nvSpPr>
        <p:spPr>
          <a:xfrm>
            <a:off x="9500616" y="3813048"/>
            <a:ext cx="822960"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177" name="Shape 175"/>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178" name="Text 176"/>
          <p:cNvSpPr/>
          <p:nvPr/>
        </p:nvSpPr>
        <p:spPr>
          <a:xfrm>
            <a:off x="9500616" y="4041648"/>
            <a:ext cx="822960"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179" name="Shape 177"/>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180" name="Text 178"/>
          <p:cNvSpPr/>
          <p:nvPr/>
        </p:nvSpPr>
        <p:spPr>
          <a:xfrm>
            <a:off x="9500616" y="4270248"/>
            <a:ext cx="822960"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1903</Words>
  <Application>Microsoft Macintosh PowerPoint</Application>
  <PresentationFormat>Custom</PresentationFormat>
  <Paragraphs>533</Paragraphs>
  <Slides>7</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2026-07-09T00:19:18Z</dcterms:modified>
</cp:coreProperties>
</file>