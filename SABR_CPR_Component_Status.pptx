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slides/slide2.xml" ContentType="application/vnd.openxmlformats-officedocument.presentationml.slide+xml"/>
  <Override PartName="/ppt/slides/slide3.xml" ContentType="application/vnd.openxmlformats-officedocument.presentationml.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
  </p:notesMasterIdLst>
  <p:sldIdLst>
    <p:sldId id="256" r:id="rId2"/>
    <p:sldId id="257" r:id="rId10"/>
    <p:sldId id="258" r:id="rId11"/>
  </p:sldIdLst>
  <p:sldSz cx="12344400" cy="73152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041"/>
    <p:restoredTop sz="94630"/>
  </p:normalViewPr>
  <p:slideViewPr>
    <p:cSldViewPr snapToGrid="0">
      <p:cViewPr varScale="1">
        <p:scale>
          <a:sx n="130" d="100"/>
          <a:sy n="130" d="100"/>
        </p:scale>
        <p:origin x="960"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 Id="rId10" Type="http://schemas.openxmlformats.org/officeDocument/2006/relationships/slide" Target="slides/slide2.xml"/><Relationship Id="rId11"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7F6586C-20BB-0145-BBB0-5205A2D85F37}" type="datetimeFigureOut">
              <a:rPr lang="en-US" smtClean="0"/>
              <a:t>7/6/26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5273F65-57BB-3342-98F4-D52BB15090D3}" type="slidenum">
              <a:rPr lang="en-US" smtClean="0"/>
              <a:t>‹#›</a:t>
            </a:fld>
            <a:endParaRPr lang="en-US"/>
          </a:p>
        </p:txBody>
      </p:sp>
    </p:spTree>
    <p:extLst>
      <p:ext uri="{BB962C8B-B14F-4D97-AF65-F5344CB8AC3E}">
        <p14:creationId xmlns:p14="http://schemas.microsoft.com/office/powerpoint/2010/main" val="8185981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825500" y="1143000"/>
            <a:ext cx="5207000" cy="30861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825500" y="1143000"/>
            <a:ext cx="5207000" cy="30861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825500" y="1143000"/>
            <a:ext cx="5207000" cy="30861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C542AB-4E5D-E3E5-DA43-46F3AD282BA3}"/>
              </a:ext>
            </a:extLst>
          </p:cNvPr>
          <p:cNvSpPr>
            <a:spLocks noGrp="1"/>
          </p:cNvSpPr>
          <p:nvPr>
            <p:ph type="ctrTitle"/>
          </p:nvPr>
        </p:nvSpPr>
        <p:spPr>
          <a:xfrm>
            <a:off x="1543050" y="1197187"/>
            <a:ext cx="9258300" cy="2546773"/>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26ADC5D1-2E43-2D4F-10CF-6B9C4932443F}"/>
              </a:ext>
            </a:extLst>
          </p:cNvPr>
          <p:cNvSpPr>
            <a:spLocks noGrp="1"/>
          </p:cNvSpPr>
          <p:nvPr>
            <p:ph type="subTitle" idx="1"/>
          </p:nvPr>
        </p:nvSpPr>
        <p:spPr>
          <a:xfrm>
            <a:off x="1543050" y="3842174"/>
            <a:ext cx="9258300" cy="1766146"/>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7291BCE-1E26-2FF6-8CD5-66BFE639D14A}"/>
              </a:ext>
            </a:extLst>
          </p:cNvPr>
          <p:cNvSpPr>
            <a:spLocks noGrp="1"/>
          </p:cNvSpPr>
          <p:nvPr>
            <p:ph type="dt" sz="half" idx="10"/>
          </p:nvPr>
        </p:nvSpPr>
        <p:spPr/>
        <p:txBody>
          <a:bodyPr/>
          <a:lstStyle/>
          <a:p>
            <a:fld id="{4AF3E59C-6757-304D-81DC-AFC89DC42387}" type="datetime1">
              <a:rPr lang="en-US" smtClean="0"/>
              <a:t>7/6/26</a:t>
            </a:fld>
            <a:endParaRPr lang="en-US"/>
          </a:p>
        </p:txBody>
      </p:sp>
      <p:sp>
        <p:nvSpPr>
          <p:cNvPr id="5" name="Footer Placeholder 4">
            <a:extLst>
              <a:ext uri="{FF2B5EF4-FFF2-40B4-BE49-F238E27FC236}">
                <a16:creationId xmlns:a16="http://schemas.microsoft.com/office/drawing/2014/main" id="{342DBBA0-D6C7-FC07-5C56-7191AB2C846F}"/>
              </a:ext>
            </a:extLst>
          </p:cNvPr>
          <p:cNvSpPr>
            <a:spLocks noGrp="1"/>
          </p:cNvSpPr>
          <p:nvPr>
            <p:ph type="ftr" sz="quarter" idx="11"/>
          </p:nvPr>
        </p:nvSpPr>
        <p:spPr/>
        <p:txBody>
          <a:bodyPr/>
          <a:lstStyle/>
          <a:p>
            <a:r>
              <a:rPr lang="en-US"/>
              <a:t>Tennis Channel 2025 - CONFIDENTIAL</a:t>
            </a:r>
          </a:p>
        </p:txBody>
      </p:sp>
      <p:sp>
        <p:nvSpPr>
          <p:cNvPr id="6" name="Slide Number Placeholder 5">
            <a:extLst>
              <a:ext uri="{FF2B5EF4-FFF2-40B4-BE49-F238E27FC236}">
                <a16:creationId xmlns:a16="http://schemas.microsoft.com/office/drawing/2014/main" id="{A6C5ABB2-FC67-66A2-B676-98C8F4708307}"/>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368646702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B8AB43-7245-25CD-9429-3739721B0D9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5EB2ECB-D6B4-1B28-8A6F-4A72D3E7E29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465FF69-2AD4-71DC-BCAE-6BCC61AA0542}"/>
              </a:ext>
            </a:extLst>
          </p:cNvPr>
          <p:cNvSpPr>
            <a:spLocks noGrp="1"/>
          </p:cNvSpPr>
          <p:nvPr>
            <p:ph type="dt" sz="half" idx="10"/>
          </p:nvPr>
        </p:nvSpPr>
        <p:spPr/>
        <p:txBody>
          <a:bodyPr/>
          <a:lstStyle/>
          <a:p>
            <a:fld id="{F5717DB9-6A5E-D34E-8F49-668C4E023DB8}" type="datetime1">
              <a:rPr lang="en-US" smtClean="0"/>
              <a:t>7/6/26</a:t>
            </a:fld>
            <a:endParaRPr lang="en-US"/>
          </a:p>
        </p:txBody>
      </p:sp>
      <p:sp>
        <p:nvSpPr>
          <p:cNvPr id="5" name="Footer Placeholder 4">
            <a:extLst>
              <a:ext uri="{FF2B5EF4-FFF2-40B4-BE49-F238E27FC236}">
                <a16:creationId xmlns:a16="http://schemas.microsoft.com/office/drawing/2014/main" id="{0A44906B-2BF5-D735-8C03-383888D485AC}"/>
              </a:ext>
            </a:extLst>
          </p:cNvPr>
          <p:cNvSpPr>
            <a:spLocks noGrp="1"/>
          </p:cNvSpPr>
          <p:nvPr>
            <p:ph type="ftr" sz="quarter" idx="11"/>
          </p:nvPr>
        </p:nvSpPr>
        <p:spPr/>
        <p:txBody>
          <a:bodyPr/>
          <a:lstStyle/>
          <a:p>
            <a:r>
              <a:rPr lang="en-US"/>
              <a:t>Tennis Channel 2025 - CONFIDENTIAL</a:t>
            </a:r>
          </a:p>
        </p:txBody>
      </p:sp>
      <p:sp>
        <p:nvSpPr>
          <p:cNvPr id="6" name="Slide Number Placeholder 5">
            <a:extLst>
              <a:ext uri="{FF2B5EF4-FFF2-40B4-BE49-F238E27FC236}">
                <a16:creationId xmlns:a16="http://schemas.microsoft.com/office/drawing/2014/main" id="{538854DA-D980-9804-D429-EE5849AB2C70}"/>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3581239677"/>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F38A7F-439E-24E3-D0F9-D2B05E7C8108}"/>
              </a:ext>
            </a:extLst>
          </p:cNvPr>
          <p:cNvSpPr>
            <a:spLocks noGrp="1"/>
          </p:cNvSpPr>
          <p:nvPr>
            <p:ph type="title"/>
          </p:nvPr>
        </p:nvSpPr>
        <p:spPr>
          <a:xfrm>
            <a:off x="842248" y="1823721"/>
            <a:ext cx="10647045" cy="3042919"/>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443069C-437B-5A7C-D4D2-2F5EA044BEBC}"/>
              </a:ext>
            </a:extLst>
          </p:cNvPr>
          <p:cNvSpPr>
            <a:spLocks noGrp="1"/>
          </p:cNvSpPr>
          <p:nvPr>
            <p:ph type="body" idx="1"/>
          </p:nvPr>
        </p:nvSpPr>
        <p:spPr>
          <a:xfrm>
            <a:off x="842248" y="4895428"/>
            <a:ext cx="10647045" cy="1600199"/>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C71F402-A6B4-06C9-471A-ADA7A5B20421}"/>
              </a:ext>
            </a:extLst>
          </p:cNvPr>
          <p:cNvSpPr>
            <a:spLocks noGrp="1"/>
          </p:cNvSpPr>
          <p:nvPr>
            <p:ph type="dt" sz="half" idx="10"/>
          </p:nvPr>
        </p:nvSpPr>
        <p:spPr/>
        <p:txBody>
          <a:bodyPr/>
          <a:lstStyle/>
          <a:p>
            <a:fld id="{9D8F7AC0-3832-FD45-8B44-A4D6390FE77E}" type="datetime1">
              <a:rPr lang="en-US" smtClean="0"/>
              <a:t>7/6/26</a:t>
            </a:fld>
            <a:endParaRPr lang="en-US"/>
          </a:p>
        </p:txBody>
      </p:sp>
      <p:sp>
        <p:nvSpPr>
          <p:cNvPr id="5" name="Footer Placeholder 4">
            <a:extLst>
              <a:ext uri="{FF2B5EF4-FFF2-40B4-BE49-F238E27FC236}">
                <a16:creationId xmlns:a16="http://schemas.microsoft.com/office/drawing/2014/main" id="{93CF1C27-1515-AE48-2681-B9E0DCA4CFC2}"/>
              </a:ext>
            </a:extLst>
          </p:cNvPr>
          <p:cNvSpPr>
            <a:spLocks noGrp="1"/>
          </p:cNvSpPr>
          <p:nvPr>
            <p:ph type="ftr" sz="quarter" idx="11"/>
          </p:nvPr>
        </p:nvSpPr>
        <p:spPr/>
        <p:txBody>
          <a:bodyPr/>
          <a:lstStyle/>
          <a:p>
            <a:r>
              <a:rPr lang="en-US"/>
              <a:t>Tennis Channel 2025 - CONFIDENTIAL</a:t>
            </a:r>
          </a:p>
        </p:txBody>
      </p:sp>
      <p:sp>
        <p:nvSpPr>
          <p:cNvPr id="6" name="Slide Number Placeholder 5">
            <a:extLst>
              <a:ext uri="{FF2B5EF4-FFF2-40B4-BE49-F238E27FC236}">
                <a16:creationId xmlns:a16="http://schemas.microsoft.com/office/drawing/2014/main" id="{7591AB8D-4166-DA76-F40F-CB996B4F4D19}"/>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2712274396"/>
      </p:ext>
    </p:extLst>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D33359-1342-9126-C00F-43885A33B2E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8346A5D-AA75-B6A7-2A97-8175D78EB429}"/>
              </a:ext>
            </a:extLst>
          </p:cNvPr>
          <p:cNvSpPr>
            <a:spLocks noGrp="1"/>
          </p:cNvSpPr>
          <p:nvPr>
            <p:ph sz="half" idx="1"/>
          </p:nvPr>
        </p:nvSpPr>
        <p:spPr>
          <a:xfrm>
            <a:off x="848678" y="1947333"/>
            <a:ext cx="5246370" cy="464142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05D2B62-3F5B-CA87-894D-E35F3A7A73FA}"/>
              </a:ext>
            </a:extLst>
          </p:cNvPr>
          <p:cNvSpPr>
            <a:spLocks noGrp="1"/>
          </p:cNvSpPr>
          <p:nvPr>
            <p:ph sz="half" idx="2"/>
          </p:nvPr>
        </p:nvSpPr>
        <p:spPr>
          <a:xfrm>
            <a:off x="6249353" y="1947333"/>
            <a:ext cx="5246370" cy="464142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EAB9ACC-74B2-0D1E-9729-94C5BDE608E7}"/>
              </a:ext>
            </a:extLst>
          </p:cNvPr>
          <p:cNvSpPr>
            <a:spLocks noGrp="1"/>
          </p:cNvSpPr>
          <p:nvPr>
            <p:ph type="dt" sz="half" idx="10"/>
          </p:nvPr>
        </p:nvSpPr>
        <p:spPr/>
        <p:txBody>
          <a:bodyPr/>
          <a:lstStyle/>
          <a:p>
            <a:fld id="{07846480-99BB-4344-B97D-DCA362A5FDF8}" type="datetime1">
              <a:rPr lang="en-US" smtClean="0"/>
              <a:t>7/6/26</a:t>
            </a:fld>
            <a:endParaRPr lang="en-US"/>
          </a:p>
        </p:txBody>
      </p:sp>
      <p:sp>
        <p:nvSpPr>
          <p:cNvPr id="6" name="Footer Placeholder 5">
            <a:extLst>
              <a:ext uri="{FF2B5EF4-FFF2-40B4-BE49-F238E27FC236}">
                <a16:creationId xmlns:a16="http://schemas.microsoft.com/office/drawing/2014/main" id="{0EB8D0D1-614A-F39F-2359-171D4F29F76E}"/>
              </a:ext>
            </a:extLst>
          </p:cNvPr>
          <p:cNvSpPr>
            <a:spLocks noGrp="1"/>
          </p:cNvSpPr>
          <p:nvPr>
            <p:ph type="ftr" sz="quarter" idx="11"/>
          </p:nvPr>
        </p:nvSpPr>
        <p:spPr/>
        <p:txBody>
          <a:bodyPr/>
          <a:lstStyle/>
          <a:p>
            <a:r>
              <a:rPr lang="en-US"/>
              <a:t>Tennis Channel 2025 - CONFIDENTIAL</a:t>
            </a:r>
          </a:p>
        </p:txBody>
      </p:sp>
      <p:sp>
        <p:nvSpPr>
          <p:cNvPr id="7" name="Slide Number Placeholder 6">
            <a:extLst>
              <a:ext uri="{FF2B5EF4-FFF2-40B4-BE49-F238E27FC236}">
                <a16:creationId xmlns:a16="http://schemas.microsoft.com/office/drawing/2014/main" id="{41124FE4-5372-56CC-9C0A-792C0649DD98}"/>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3611728568"/>
      </p:ext>
    </p:extLst>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F741B6-C81C-44D7-8314-B9E48D54DCC6}"/>
              </a:ext>
            </a:extLst>
          </p:cNvPr>
          <p:cNvSpPr>
            <a:spLocks noGrp="1"/>
          </p:cNvSpPr>
          <p:nvPr>
            <p:ph type="title"/>
          </p:nvPr>
        </p:nvSpPr>
        <p:spPr>
          <a:xfrm>
            <a:off x="850285" y="389467"/>
            <a:ext cx="10647045" cy="1413934"/>
          </a:xfrm>
        </p:spPr>
        <p:txBody>
          <a:bodyPr/>
          <a:lstStyle/>
          <a:p>
            <a:r>
              <a:rPr lang="en-US"/>
              <a:t>Click to edit Master title style</a:t>
            </a:r>
          </a:p>
        </p:txBody>
      </p:sp>
      <p:sp>
        <p:nvSpPr>
          <p:cNvPr id="3" name="Text Placeholder 2">
            <a:extLst>
              <a:ext uri="{FF2B5EF4-FFF2-40B4-BE49-F238E27FC236}">
                <a16:creationId xmlns:a16="http://schemas.microsoft.com/office/drawing/2014/main" id="{6A5B6461-6F52-D709-1AA9-7693FA24E633}"/>
              </a:ext>
            </a:extLst>
          </p:cNvPr>
          <p:cNvSpPr>
            <a:spLocks noGrp="1"/>
          </p:cNvSpPr>
          <p:nvPr>
            <p:ph type="body" idx="1"/>
          </p:nvPr>
        </p:nvSpPr>
        <p:spPr>
          <a:xfrm>
            <a:off x="850286" y="1793241"/>
            <a:ext cx="5222259" cy="878839"/>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F705DFE-74DC-8B97-1F5D-76C626F585D2}"/>
              </a:ext>
            </a:extLst>
          </p:cNvPr>
          <p:cNvSpPr>
            <a:spLocks noGrp="1"/>
          </p:cNvSpPr>
          <p:nvPr>
            <p:ph sz="half" idx="2"/>
          </p:nvPr>
        </p:nvSpPr>
        <p:spPr>
          <a:xfrm>
            <a:off x="850286" y="2672080"/>
            <a:ext cx="5222259" cy="393022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9030914-B7F9-314F-3471-1EB0342CE915}"/>
              </a:ext>
            </a:extLst>
          </p:cNvPr>
          <p:cNvSpPr>
            <a:spLocks noGrp="1"/>
          </p:cNvSpPr>
          <p:nvPr>
            <p:ph type="body" sz="quarter" idx="3"/>
          </p:nvPr>
        </p:nvSpPr>
        <p:spPr>
          <a:xfrm>
            <a:off x="6249352" y="1793241"/>
            <a:ext cx="5247978" cy="878839"/>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9D342F94-E36A-FBCB-AD5A-A7A2F73400BD}"/>
              </a:ext>
            </a:extLst>
          </p:cNvPr>
          <p:cNvSpPr>
            <a:spLocks noGrp="1"/>
          </p:cNvSpPr>
          <p:nvPr>
            <p:ph sz="quarter" idx="4"/>
          </p:nvPr>
        </p:nvSpPr>
        <p:spPr>
          <a:xfrm>
            <a:off x="6249352" y="2672080"/>
            <a:ext cx="5247978" cy="393022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BDDA9A0-9B83-1061-522A-D57667671334}"/>
              </a:ext>
            </a:extLst>
          </p:cNvPr>
          <p:cNvSpPr>
            <a:spLocks noGrp="1"/>
          </p:cNvSpPr>
          <p:nvPr>
            <p:ph type="dt" sz="half" idx="10"/>
          </p:nvPr>
        </p:nvSpPr>
        <p:spPr/>
        <p:txBody>
          <a:bodyPr/>
          <a:lstStyle/>
          <a:p>
            <a:fld id="{31F8A984-FDA0-474C-92E2-0FCD6F165F9D}" type="datetime1">
              <a:rPr lang="en-US" smtClean="0"/>
              <a:t>7/6/26</a:t>
            </a:fld>
            <a:endParaRPr lang="en-US"/>
          </a:p>
        </p:txBody>
      </p:sp>
      <p:sp>
        <p:nvSpPr>
          <p:cNvPr id="8" name="Footer Placeholder 7">
            <a:extLst>
              <a:ext uri="{FF2B5EF4-FFF2-40B4-BE49-F238E27FC236}">
                <a16:creationId xmlns:a16="http://schemas.microsoft.com/office/drawing/2014/main" id="{66A1BFC6-DD30-8582-9BB5-A4C2FCA69217}"/>
              </a:ext>
            </a:extLst>
          </p:cNvPr>
          <p:cNvSpPr>
            <a:spLocks noGrp="1"/>
          </p:cNvSpPr>
          <p:nvPr>
            <p:ph type="ftr" sz="quarter" idx="11"/>
          </p:nvPr>
        </p:nvSpPr>
        <p:spPr/>
        <p:txBody>
          <a:bodyPr/>
          <a:lstStyle/>
          <a:p>
            <a:r>
              <a:rPr lang="en-US"/>
              <a:t>Tennis Channel 2025 - CONFIDENTIAL</a:t>
            </a:r>
          </a:p>
        </p:txBody>
      </p:sp>
      <p:sp>
        <p:nvSpPr>
          <p:cNvPr id="9" name="Slide Number Placeholder 8">
            <a:extLst>
              <a:ext uri="{FF2B5EF4-FFF2-40B4-BE49-F238E27FC236}">
                <a16:creationId xmlns:a16="http://schemas.microsoft.com/office/drawing/2014/main" id="{50B897CB-2FF9-D746-CA12-5F53E4C9EF19}"/>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2960872535"/>
      </p:ext>
    </p:extLst>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0689EC-C4E0-F720-B4BB-9C306330584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3242ECA-686B-F2FE-244F-519EADC8FBC1}"/>
              </a:ext>
            </a:extLst>
          </p:cNvPr>
          <p:cNvSpPr>
            <a:spLocks noGrp="1"/>
          </p:cNvSpPr>
          <p:nvPr>
            <p:ph type="dt" sz="half" idx="10"/>
          </p:nvPr>
        </p:nvSpPr>
        <p:spPr/>
        <p:txBody>
          <a:bodyPr/>
          <a:lstStyle/>
          <a:p>
            <a:fld id="{DF7D6774-7599-9340-9771-ADFFFF50DA4A}" type="datetime1">
              <a:rPr lang="en-US" smtClean="0"/>
              <a:t>7/6/26</a:t>
            </a:fld>
            <a:endParaRPr lang="en-US"/>
          </a:p>
        </p:txBody>
      </p:sp>
      <p:sp>
        <p:nvSpPr>
          <p:cNvPr id="4" name="Footer Placeholder 3">
            <a:extLst>
              <a:ext uri="{FF2B5EF4-FFF2-40B4-BE49-F238E27FC236}">
                <a16:creationId xmlns:a16="http://schemas.microsoft.com/office/drawing/2014/main" id="{994311D5-E61B-E713-F072-7FC70EFC6106}"/>
              </a:ext>
            </a:extLst>
          </p:cNvPr>
          <p:cNvSpPr>
            <a:spLocks noGrp="1"/>
          </p:cNvSpPr>
          <p:nvPr>
            <p:ph type="ftr" sz="quarter" idx="11"/>
          </p:nvPr>
        </p:nvSpPr>
        <p:spPr/>
        <p:txBody>
          <a:bodyPr/>
          <a:lstStyle/>
          <a:p>
            <a:r>
              <a:rPr lang="en-US"/>
              <a:t>Tennis Channel 2025 - CONFIDENTIAL</a:t>
            </a:r>
          </a:p>
        </p:txBody>
      </p:sp>
      <p:sp>
        <p:nvSpPr>
          <p:cNvPr id="5" name="Slide Number Placeholder 4">
            <a:extLst>
              <a:ext uri="{FF2B5EF4-FFF2-40B4-BE49-F238E27FC236}">
                <a16:creationId xmlns:a16="http://schemas.microsoft.com/office/drawing/2014/main" id="{D8B1AD28-E6B8-41E5-013F-EA3705C5052B}"/>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1461587223"/>
      </p:ext>
    </p:extLst>
  </p:cSld>
  <p:clrMapOvr>
    <a:masterClrMapping/>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9044EE4-4846-6C32-288C-E05F40C3111D}"/>
              </a:ext>
            </a:extLst>
          </p:cNvPr>
          <p:cNvSpPr>
            <a:spLocks noGrp="1"/>
          </p:cNvSpPr>
          <p:nvPr>
            <p:ph type="dt" sz="half" idx="10"/>
          </p:nvPr>
        </p:nvSpPr>
        <p:spPr/>
        <p:txBody>
          <a:bodyPr/>
          <a:lstStyle/>
          <a:p>
            <a:fld id="{9CBD47B3-23AB-F54B-9A7B-8C00C8081A30}" type="datetime1">
              <a:rPr lang="en-US" smtClean="0"/>
              <a:t>7/6/26</a:t>
            </a:fld>
            <a:endParaRPr lang="en-US"/>
          </a:p>
        </p:txBody>
      </p:sp>
      <p:sp>
        <p:nvSpPr>
          <p:cNvPr id="3" name="Footer Placeholder 2">
            <a:extLst>
              <a:ext uri="{FF2B5EF4-FFF2-40B4-BE49-F238E27FC236}">
                <a16:creationId xmlns:a16="http://schemas.microsoft.com/office/drawing/2014/main" id="{6261C964-1C2C-8775-5756-EB8BCF7C5D8E}"/>
              </a:ext>
            </a:extLst>
          </p:cNvPr>
          <p:cNvSpPr>
            <a:spLocks noGrp="1"/>
          </p:cNvSpPr>
          <p:nvPr>
            <p:ph type="ftr" sz="quarter" idx="11"/>
          </p:nvPr>
        </p:nvSpPr>
        <p:spPr/>
        <p:txBody>
          <a:bodyPr/>
          <a:lstStyle/>
          <a:p>
            <a:r>
              <a:rPr lang="en-US"/>
              <a:t>Tennis Channel 2025 - CONFIDENTIAL</a:t>
            </a:r>
          </a:p>
        </p:txBody>
      </p:sp>
      <p:sp>
        <p:nvSpPr>
          <p:cNvPr id="4" name="Slide Number Placeholder 3">
            <a:extLst>
              <a:ext uri="{FF2B5EF4-FFF2-40B4-BE49-F238E27FC236}">
                <a16:creationId xmlns:a16="http://schemas.microsoft.com/office/drawing/2014/main" id="{FACE2306-71B3-FBB9-6236-9950E5EAF320}"/>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2778362405"/>
      </p:ext>
    </p:extLst>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0843BF-2A0F-47ED-D433-DF8E9551A7AC}"/>
              </a:ext>
            </a:extLst>
          </p:cNvPr>
          <p:cNvSpPr>
            <a:spLocks noGrp="1"/>
          </p:cNvSpPr>
          <p:nvPr>
            <p:ph type="title"/>
          </p:nvPr>
        </p:nvSpPr>
        <p:spPr>
          <a:xfrm>
            <a:off x="850286" y="487680"/>
            <a:ext cx="3981390" cy="170688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6473D69E-2B52-800B-E2F9-FE835D84C945}"/>
              </a:ext>
            </a:extLst>
          </p:cNvPr>
          <p:cNvSpPr>
            <a:spLocks noGrp="1"/>
          </p:cNvSpPr>
          <p:nvPr>
            <p:ph idx="1"/>
          </p:nvPr>
        </p:nvSpPr>
        <p:spPr>
          <a:xfrm>
            <a:off x="5247978" y="1053254"/>
            <a:ext cx="6249353" cy="519853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E998016-679C-7679-BDA6-B776B0D0B0C9}"/>
              </a:ext>
            </a:extLst>
          </p:cNvPr>
          <p:cNvSpPr>
            <a:spLocks noGrp="1"/>
          </p:cNvSpPr>
          <p:nvPr>
            <p:ph type="body" sz="half" idx="2"/>
          </p:nvPr>
        </p:nvSpPr>
        <p:spPr>
          <a:xfrm>
            <a:off x="850286" y="2194560"/>
            <a:ext cx="3981390" cy="406569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5C8CC95-EAA5-1963-009D-F7BA26301BCD}"/>
              </a:ext>
            </a:extLst>
          </p:cNvPr>
          <p:cNvSpPr>
            <a:spLocks noGrp="1"/>
          </p:cNvSpPr>
          <p:nvPr>
            <p:ph type="dt" sz="half" idx="10"/>
          </p:nvPr>
        </p:nvSpPr>
        <p:spPr/>
        <p:txBody>
          <a:bodyPr/>
          <a:lstStyle/>
          <a:p>
            <a:fld id="{14F30ED9-FCB1-5447-9794-AFD5F779FA3B}" type="datetime1">
              <a:rPr lang="en-US" smtClean="0"/>
              <a:t>7/6/26</a:t>
            </a:fld>
            <a:endParaRPr lang="en-US"/>
          </a:p>
        </p:txBody>
      </p:sp>
      <p:sp>
        <p:nvSpPr>
          <p:cNvPr id="6" name="Footer Placeholder 5">
            <a:extLst>
              <a:ext uri="{FF2B5EF4-FFF2-40B4-BE49-F238E27FC236}">
                <a16:creationId xmlns:a16="http://schemas.microsoft.com/office/drawing/2014/main" id="{D2646692-B664-9A1B-69AE-7EAA55E6C808}"/>
              </a:ext>
            </a:extLst>
          </p:cNvPr>
          <p:cNvSpPr>
            <a:spLocks noGrp="1"/>
          </p:cNvSpPr>
          <p:nvPr>
            <p:ph type="ftr" sz="quarter" idx="11"/>
          </p:nvPr>
        </p:nvSpPr>
        <p:spPr/>
        <p:txBody>
          <a:bodyPr/>
          <a:lstStyle/>
          <a:p>
            <a:r>
              <a:rPr lang="en-US"/>
              <a:t>Tennis Channel 2025 - CONFIDENTIAL</a:t>
            </a:r>
          </a:p>
        </p:txBody>
      </p:sp>
      <p:sp>
        <p:nvSpPr>
          <p:cNvPr id="7" name="Slide Number Placeholder 6">
            <a:extLst>
              <a:ext uri="{FF2B5EF4-FFF2-40B4-BE49-F238E27FC236}">
                <a16:creationId xmlns:a16="http://schemas.microsoft.com/office/drawing/2014/main" id="{BEAE579E-2EBD-DCFD-488E-7D4D8A627420}"/>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646652161"/>
      </p:ext>
    </p:extLst>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D89F60-72BE-0112-F6AB-FDF9D5265274}"/>
              </a:ext>
            </a:extLst>
          </p:cNvPr>
          <p:cNvSpPr>
            <a:spLocks noGrp="1"/>
          </p:cNvSpPr>
          <p:nvPr>
            <p:ph type="title"/>
          </p:nvPr>
        </p:nvSpPr>
        <p:spPr>
          <a:xfrm>
            <a:off x="850286" y="487680"/>
            <a:ext cx="3981390" cy="170688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087395E-5F3E-85C5-01AF-8B5A395FF006}"/>
              </a:ext>
            </a:extLst>
          </p:cNvPr>
          <p:cNvSpPr>
            <a:spLocks noGrp="1"/>
          </p:cNvSpPr>
          <p:nvPr>
            <p:ph type="pic" idx="1"/>
          </p:nvPr>
        </p:nvSpPr>
        <p:spPr>
          <a:xfrm>
            <a:off x="5247978" y="1053254"/>
            <a:ext cx="6249353" cy="5198533"/>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E7617A5B-9716-D4C8-864D-84AB8F3DF7AA}"/>
              </a:ext>
            </a:extLst>
          </p:cNvPr>
          <p:cNvSpPr>
            <a:spLocks noGrp="1"/>
          </p:cNvSpPr>
          <p:nvPr>
            <p:ph type="body" sz="half" idx="2"/>
          </p:nvPr>
        </p:nvSpPr>
        <p:spPr>
          <a:xfrm>
            <a:off x="850286" y="2194560"/>
            <a:ext cx="3981390" cy="406569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4BA2244-8C79-D9DA-DEDF-531C692C6327}"/>
              </a:ext>
            </a:extLst>
          </p:cNvPr>
          <p:cNvSpPr>
            <a:spLocks noGrp="1"/>
          </p:cNvSpPr>
          <p:nvPr>
            <p:ph type="dt" sz="half" idx="10"/>
          </p:nvPr>
        </p:nvSpPr>
        <p:spPr/>
        <p:txBody>
          <a:bodyPr/>
          <a:lstStyle/>
          <a:p>
            <a:fld id="{DA073474-B78A-B243-B4FD-D7121F5357F7}" type="datetime1">
              <a:rPr lang="en-US" smtClean="0"/>
              <a:t>7/6/26</a:t>
            </a:fld>
            <a:endParaRPr lang="en-US"/>
          </a:p>
        </p:txBody>
      </p:sp>
      <p:sp>
        <p:nvSpPr>
          <p:cNvPr id="6" name="Footer Placeholder 5">
            <a:extLst>
              <a:ext uri="{FF2B5EF4-FFF2-40B4-BE49-F238E27FC236}">
                <a16:creationId xmlns:a16="http://schemas.microsoft.com/office/drawing/2014/main" id="{F48925A5-5811-EC41-095C-E6482D873996}"/>
              </a:ext>
            </a:extLst>
          </p:cNvPr>
          <p:cNvSpPr>
            <a:spLocks noGrp="1"/>
          </p:cNvSpPr>
          <p:nvPr>
            <p:ph type="ftr" sz="quarter" idx="11"/>
          </p:nvPr>
        </p:nvSpPr>
        <p:spPr/>
        <p:txBody>
          <a:bodyPr/>
          <a:lstStyle/>
          <a:p>
            <a:r>
              <a:rPr lang="en-US"/>
              <a:t>Tennis Channel 2025 - CONFIDENTIAL</a:t>
            </a:r>
          </a:p>
        </p:txBody>
      </p:sp>
      <p:sp>
        <p:nvSpPr>
          <p:cNvPr id="7" name="Slide Number Placeholder 6">
            <a:extLst>
              <a:ext uri="{FF2B5EF4-FFF2-40B4-BE49-F238E27FC236}">
                <a16:creationId xmlns:a16="http://schemas.microsoft.com/office/drawing/2014/main" id="{9823A3D9-596F-C217-ADA1-150F7A064958}"/>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186003655"/>
      </p:ext>
    </p:extLst>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11DCD6-4900-D307-8B3E-845F0B83D14A}"/>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BDDC619-0D5E-261F-3E8E-3F35DAACDE5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1CCCD90-30E8-04DC-218F-7B7549CB26CB}"/>
              </a:ext>
            </a:extLst>
          </p:cNvPr>
          <p:cNvSpPr>
            <a:spLocks noGrp="1"/>
          </p:cNvSpPr>
          <p:nvPr>
            <p:ph type="dt" sz="half" idx="10"/>
          </p:nvPr>
        </p:nvSpPr>
        <p:spPr/>
        <p:txBody>
          <a:bodyPr/>
          <a:lstStyle/>
          <a:p>
            <a:fld id="{5DD0E256-82DC-B742-83EE-95D668E2CF2A}" type="datetime1">
              <a:rPr lang="en-US" smtClean="0"/>
              <a:t>7/6/26</a:t>
            </a:fld>
            <a:endParaRPr lang="en-US"/>
          </a:p>
        </p:txBody>
      </p:sp>
      <p:sp>
        <p:nvSpPr>
          <p:cNvPr id="5" name="Footer Placeholder 4">
            <a:extLst>
              <a:ext uri="{FF2B5EF4-FFF2-40B4-BE49-F238E27FC236}">
                <a16:creationId xmlns:a16="http://schemas.microsoft.com/office/drawing/2014/main" id="{1D3EFA0D-D055-1B13-E297-61A43DE8F2B3}"/>
              </a:ext>
            </a:extLst>
          </p:cNvPr>
          <p:cNvSpPr>
            <a:spLocks noGrp="1"/>
          </p:cNvSpPr>
          <p:nvPr>
            <p:ph type="ftr" sz="quarter" idx="11"/>
          </p:nvPr>
        </p:nvSpPr>
        <p:spPr/>
        <p:txBody>
          <a:bodyPr/>
          <a:lstStyle/>
          <a:p>
            <a:r>
              <a:rPr lang="en-US"/>
              <a:t>Tennis Channel 2025 - CONFIDENTIAL</a:t>
            </a:r>
          </a:p>
        </p:txBody>
      </p:sp>
      <p:sp>
        <p:nvSpPr>
          <p:cNvPr id="6" name="Slide Number Placeholder 5">
            <a:extLst>
              <a:ext uri="{FF2B5EF4-FFF2-40B4-BE49-F238E27FC236}">
                <a16:creationId xmlns:a16="http://schemas.microsoft.com/office/drawing/2014/main" id="{95AF7691-A6DA-9434-C090-1F588D69FC12}"/>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2073727667"/>
      </p:ext>
    </p:extLst>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387BDF5-EF24-0029-DCE1-7AC24EC7CFEF}"/>
              </a:ext>
            </a:extLst>
          </p:cNvPr>
          <p:cNvSpPr>
            <a:spLocks noGrp="1"/>
          </p:cNvSpPr>
          <p:nvPr>
            <p:ph type="title" orient="vert"/>
          </p:nvPr>
        </p:nvSpPr>
        <p:spPr>
          <a:xfrm>
            <a:off x="8833961" y="389467"/>
            <a:ext cx="2661761" cy="6199294"/>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73943A6-7D60-FE02-0DAD-FE1401B4EE15}"/>
              </a:ext>
            </a:extLst>
          </p:cNvPr>
          <p:cNvSpPr>
            <a:spLocks noGrp="1"/>
          </p:cNvSpPr>
          <p:nvPr>
            <p:ph type="body" orient="vert" idx="1"/>
          </p:nvPr>
        </p:nvSpPr>
        <p:spPr>
          <a:xfrm>
            <a:off x="848677" y="389467"/>
            <a:ext cx="7830979" cy="619929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DF4A4EF-C246-3BC0-F8A4-2D40BC9CAA57}"/>
              </a:ext>
            </a:extLst>
          </p:cNvPr>
          <p:cNvSpPr>
            <a:spLocks noGrp="1"/>
          </p:cNvSpPr>
          <p:nvPr>
            <p:ph type="dt" sz="half" idx="10"/>
          </p:nvPr>
        </p:nvSpPr>
        <p:spPr/>
        <p:txBody>
          <a:bodyPr/>
          <a:lstStyle/>
          <a:p>
            <a:fld id="{6E08F2DA-B790-C342-8CF1-3B2B97F389FB}" type="datetime1">
              <a:rPr lang="en-US" smtClean="0"/>
              <a:t>7/6/26</a:t>
            </a:fld>
            <a:endParaRPr lang="en-US"/>
          </a:p>
        </p:txBody>
      </p:sp>
      <p:sp>
        <p:nvSpPr>
          <p:cNvPr id="5" name="Footer Placeholder 4">
            <a:extLst>
              <a:ext uri="{FF2B5EF4-FFF2-40B4-BE49-F238E27FC236}">
                <a16:creationId xmlns:a16="http://schemas.microsoft.com/office/drawing/2014/main" id="{21A78659-C8AF-161E-4E7D-5D3EEF219ED6}"/>
              </a:ext>
            </a:extLst>
          </p:cNvPr>
          <p:cNvSpPr>
            <a:spLocks noGrp="1"/>
          </p:cNvSpPr>
          <p:nvPr>
            <p:ph type="ftr" sz="quarter" idx="11"/>
          </p:nvPr>
        </p:nvSpPr>
        <p:spPr/>
        <p:txBody>
          <a:bodyPr/>
          <a:lstStyle/>
          <a:p>
            <a:r>
              <a:rPr lang="en-US"/>
              <a:t>Tennis Channel 2025 - CONFIDENTIAL</a:t>
            </a:r>
          </a:p>
        </p:txBody>
      </p:sp>
      <p:sp>
        <p:nvSpPr>
          <p:cNvPr id="6" name="Slide Number Placeholder 5">
            <a:extLst>
              <a:ext uri="{FF2B5EF4-FFF2-40B4-BE49-F238E27FC236}">
                <a16:creationId xmlns:a16="http://schemas.microsoft.com/office/drawing/2014/main" id="{C46C2202-F3E0-D5DC-F7E2-566FC445139A}"/>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1835359364"/>
      </p:ext>
    </p:extLst>
  </p:cSld>
  <p:clrMapOvr>
    <a:masterClrMapping/>
  </p:clrMapOvr>
  <p:hf hdr="0" dt="0"/>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07507290"/>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80832AE-95EA-F660-E35B-9F761BA36B82}"/>
              </a:ext>
            </a:extLst>
          </p:cNvPr>
          <p:cNvSpPr>
            <a:spLocks noGrp="1"/>
          </p:cNvSpPr>
          <p:nvPr>
            <p:ph type="title"/>
          </p:nvPr>
        </p:nvSpPr>
        <p:spPr>
          <a:xfrm>
            <a:off x="848678" y="389467"/>
            <a:ext cx="10647045" cy="1413934"/>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C4A31F6F-E4B0-5C59-F323-FC6476B0321D}"/>
              </a:ext>
            </a:extLst>
          </p:cNvPr>
          <p:cNvSpPr>
            <a:spLocks noGrp="1"/>
          </p:cNvSpPr>
          <p:nvPr>
            <p:ph type="body" idx="1"/>
          </p:nvPr>
        </p:nvSpPr>
        <p:spPr>
          <a:xfrm>
            <a:off x="848678" y="1947333"/>
            <a:ext cx="10647045" cy="4641427"/>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5A68926-F5FE-4122-DF92-7B0B254C8718}"/>
              </a:ext>
            </a:extLst>
          </p:cNvPr>
          <p:cNvSpPr>
            <a:spLocks noGrp="1"/>
          </p:cNvSpPr>
          <p:nvPr>
            <p:ph type="dt" sz="half" idx="2"/>
          </p:nvPr>
        </p:nvSpPr>
        <p:spPr>
          <a:xfrm>
            <a:off x="848678" y="6780107"/>
            <a:ext cx="2777490" cy="389467"/>
          </a:xfrm>
          <a:prstGeom prst="rect">
            <a:avLst/>
          </a:prstGeom>
        </p:spPr>
        <p:txBody>
          <a:bodyPr vert="horz" lIns="91440" tIns="45720" rIns="91440" bIns="45720" rtlCol="0" anchor="ctr"/>
          <a:lstStyle>
            <a:lvl1pPr algn="l">
              <a:defRPr sz="1200">
                <a:solidFill>
                  <a:schemeClr val="tx1">
                    <a:tint val="82000"/>
                  </a:schemeClr>
                </a:solidFill>
              </a:defRPr>
            </a:lvl1pPr>
          </a:lstStyle>
          <a:p>
            <a:fld id="{905F453D-07D2-4A45-8FB4-9BC139C4CB3A}" type="datetime1">
              <a:rPr lang="en-US" smtClean="0"/>
              <a:t>7/6/26</a:t>
            </a:fld>
            <a:endParaRPr lang="en-US"/>
          </a:p>
        </p:txBody>
      </p:sp>
      <p:sp>
        <p:nvSpPr>
          <p:cNvPr id="5" name="Footer Placeholder 4">
            <a:extLst>
              <a:ext uri="{FF2B5EF4-FFF2-40B4-BE49-F238E27FC236}">
                <a16:creationId xmlns:a16="http://schemas.microsoft.com/office/drawing/2014/main" id="{6485CEA4-3B6B-7E59-4DDA-7365730F344D}"/>
              </a:ext>
            </a:extLst>
          </p:cNvPr>
          <p:cNvSpPr>
            <a:spLocks noGrp="1"/>
          </p:cNvSpPr>
          <p:nvPr>
            <p:ph type="ftr" sz="quarter" idx="3"/>
          </p:nvPr>
        </p:nvSpPr>
        <p:spPr>
          <a:xfrm>
            <a:off x="4089083" y="6780107"/>
            <a:ext cx="4166235" cy="389467"/>
          </a:xfrm>
          <a:prstGeom prst="rect">
            <a:avLst/>
          </a:prstGeom>
        </p:spPr>
        <p:txBody>
          <a:bodyPr vert="horz" lIns="91440" tIns="45720" rIns="91440" bIns="45720" rtlCol="0" anchor="ctr"/>
          <a:lstStyle>
            <a:lvl1pPr algn="ctr">
              <a:defRPr sz="1200">
                <a:solidFill>
                  <a:schemeClr val="tx1">
                    <a:tint val="82000"/>
                  </a:schemeClr>
                </a:solidFill>
              </a:defRPr>
            </a:lvl1pPr>
          </a:lstStyle>
          <a:p>
            <a:r>
              <a:rPr lang="en-US"/>
              <a:t>Tennis Channel 2025 - CONFIDENTIAL</a:t>
            </a:r>
          </a:p>
        </p:txBody>
      </p:sp>
      <p:sp>
        <p:nvSpPr>
          <p:cNvPr id="6" name="Slide Number Placeholder 5">
            <a:extLst>
              <a:ext uri="{FF2B5EF4-FFF2-40B4-BE49-F238E27FC236}">
                <a16:creationId xmlns:a16="http://schemas.microsoft.com/office/drawing/2014/main" id="{3162949E-0088-40B8-643A-0F725CFA305F}"/>
              </a:ext>
            </a:extLst>
          </p:cNvPr>
          <p:cNvSpPr>
            <a:spLocks noGrp="1"/>
          </p:cNvSpPr>
          <p:nvPr>
            <p:ph type="sldNum" sz="quarter" idx="4"/>
          </p:nvPr>
        </p:nvSpPr>
        <p:spPr>
          <a:xfrm>
            <a:off x="8718233" y="6780107"/>
            <a:ext cx="2777490" cy="389467"/>
          </a:xfrm>
          <a:prstGeom prst="rect">
            <a:avLst/>
          </a:prstGeom>
        </p:spPr>
        <p:txBody>
          <a:bodyPr vert="horz" lIns="91440" tIns="45720" rIns="91440" bIns="45720" rtlCol="0" anchor="ctr"/>
          <a:lstStyle>
            <a:lvl1pPr algn="r">
              <a:defRPr sz="1200">
                <a:solidFill>
                  <a:schemeClr val="tx1">
                    <a:tint val="82000"/>
                  </a:schemeClr>
                </a:solidFill>
              </a:defRPr>
            </a:lvl1pPr>
          </a:lstStyle>
          <a:p>
            <a:fld id="{F6DAA944-EC5F-9D44-9E3D-812366C7D5CA}" type="slidenum">
              <a:rPr lang="en-US" smtClean="0"/>
              <a:t>‹#›</a:t>
            </a:fld>
            <a:endParaRPr lang="en-US"/>
          </a:p>
        </p:txBody>
      </p:sp>
    </p:spTree>
    <p:extLst>
      <p:ext uri="{BB962C8B-B14F-4D97-AF65-F5344CB8AC3E}">
        <p14:creationId xmlns:p14="http://schemas.microsoft.com/office/powerpoint/2010/main" val="412501368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 y="27691"/>
            <a:ext cx="12344091" cy="388849"/>
          </a:xfrm>
          <a:prstGeom prst="rect">
            <a:avLst/>
          </a:prstGeom>
          <a:solidFill>
            <a:srgbClr val="8ED973"/>
          </a:solidFill>
          <a:ln w="12700">
            <a:solidFill>
              <a:srgbClr val="8ED973"/>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3" name="Text 1"/>
          <p:cNvSpPr/>
          <p:nvPr/>
        </p:nvSpPr>
        <p:spPr>
          <a:xfrm>
            <a:off x="1" y="38980"/>
            <a:ext cx="12344091" cy="388849"/>
          </a:xfrm>
          <a:prstGeom prst="rect">
            <a:avLst/>
          </a:prstGeom>
          <a:noFill/>
          <a:ln/>
        </p:spPr>
        <p:txBody>
          <a:bodyPr wrap="square" lIns="0" tIns="0" rIns="0" bIns="0" rtlCol="0" anchor="ctr"/>
          <a:lstStyle/>
          <a:p>
            <a:pPr algn="ctr"/>
            <a:r>
              <a:rPr lang="en-US" sz="1600" b="1" dirty="0">
                <a:solidFill>
                  <a:srgbClr val="000000"/>
                </a:solidFill>
                <a:latin typeface="Arial" panose="020B0604020202020204" pitchFamily="34" charset="0"/>
                <a:ea typeface="Arial" pitchFamily="34" charset="-122"/>
                <a:cs typeface="Arial" panose="020B0604020202020204" pitchFamily="34" charset="0"/>
              </a:rPr>
              <a:t>Tennis Channel Project SABR</a:t>
            </a:r>
            <a:endParaRPr lang="en-US" sz="1600" b="1" dirty="0">
              <a:latin typeface="Arial" panose="020B0604020202020204" pitchFamily="34" charset="0"/>
              <a:cs typeface="Arial" panose="020B0604020202020204" pitchFamily="34" charset="0"/>
            </a:endParaRPr>
          </a:p>
        </p:txBody>
      </p:sp>
      <p:sp>
        <p:nvSpPr>
          <p:cNvPr id="4" name="Shape 2"/>
          <p:cNvSpPr/>
          <p:nvPr/>
        </p:nvSpPr>
        <p:spPr>
          <a:xfrm>
            <a:off x="0" y="427829"/>
            <a:ext cx="12251509" cy="1017037"/>
          </a:xfrm>
          <a:prstGeom prst="rect">
            <a:avLst/>
          </a:prstGeom>
          <a:solidFill>
            <a:schemeClr val="bg1"/>
          </a:solidFill>
          <a:ln w="9525">
            <a:solidFill>
              <a:srgbClr val="D1D5DB"/>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5" name="Shape 3"/>
          <p:cNvSpPr/>
          <p:nvPr/>
        </p:nvSpPr>
        <p:spPr>
          <a:xfrm>
            <a:off x="92584" y="861593"/>
            <a:ext cx="12158925" cy="0"/>
          </a:xfrm>
          <a:prstGeom prst="line">
            <a:avLst/>
          </a:prstGeom>
          <a:noFill/>
          <a:ln w="6350">
            <a:solidFill>
              <a:srgbClr val="D1D5DB"/>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6" name="Shape 4"/>
          <p:cNvSpPr/>
          <p:nvPr/>
        </p:nvSpPr>
        <p:spPr>
          <a:xfrm>
            <a:off x="92584" y="1213409"/>
            <a:ext cx="12158925" cy="0"/>
          </a:xfrm>
          <a:prstGeom prst="line">
            <a:avLst/>
          </a:prstGeom>
          <a:noFill/>
          <a:ln w="6350">
            <a:solidFill>
              <a:srgbClr val="D1D5DB"/>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7" name="Shape 5"/>
          <p:cNvSpPr/>
          <p:nvPr/>
        </p:nvSpPr>
        <p:spPr>
          <a:xfrm>
            <a:off x="925830" y="611619"/>
            <a:ext cx="0" cy="833247"/>
          </a:xfrm>
          <a:prstGeom prst="line">
            <a:avLst/>
          </a:prstGeom>
          <a:noFill/>
          <a:ln w="6350">
            <a:solidFill>
              <a:srgbClr val="D1D5DB"/>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8" name="Text 6"/>
          <p:cNvSpPr/>
          <p:nvPr/>
        </p:nvSpPr>
        <p:spPr>
          <a:xfrm>
            <a:off x="148133" y="611619"/>
            <a:ext cx="759181" cy="249974"/>
          </a:xfrm>
          <a:prstGeom prst="rect">
            <a:avLst/>
          </a:prstGeom>
          <a:noFill/>
          <a:ln/>
        </p:spPr>
        <p:txBody>
          <a:bodyPr wrap="square" lIns="0" tIns="0" rIns="0" bIns="0" rtlCol="0" anchor="ctr"/>
          <a:lstStyle/>
          <a:p>
            <a:r>
              <a:rPr lang="en-US" sz="810" dirty="0">
                <a:solidFill>
                  <a:srgbClr val="555555"/>
                </a:solidFill>
                <a:latin typeface="Arial" panose="020B0604020202020204" pitchFamily="34" charset="0"/>
                <a:ea typeface="Calibri" pitchFamily="34" charset="-122"/>
                <a:cs typeface="Arial" panose="020B0604020202020204" pitchFamily="34" charset="0"/>
              </a:rPr>
              <a:t>OWNERS</a:t>
            </a:r>
            <a:endParaRPr lang="en-US" sz="810" dirty="0">
              <a:latin typeface="Arial" panose="020B0604020202020204" pitchFamily="34" charset="0"/>
              <a:cs typeface="Arial" panose="020B0604020202020204" pitchFamily="34" charset="0"/>
            </a:endParaRPr>
          </a:p>
        </p:txBody>
      </p:sp>
      <p:sp>
        <p:nvSpPr>
          <p:cNvPr id="9" name="Text 7"/>
          <p:cNvSpPr/>
          <p:nvPr/>
        </p:nvSpPr>
        <p:spPr>
          <a:xfrm>
            <a:off x="981380" y="611619"/>
            <a:ext cx="2191069" cy="249974"/>
          </a:xfrm>
          <a:prstGeom prst="rect">
            <a:avLst/>
          </a:prstGeom>
          <a:noFill/>
          <a:ln/>
        </p:spPr>
        <p:txBody>
          <a:bodyPr wrap="square" lIns="0" tIns="0" rIns="0" bIns="0" rtlCol="0" anchor="ctr"/>
          <a:lstStyle/>
          <a:p>
            <a:r>
              <a:rPr lang="en-US" sz="911" dirty="0">
                <a:solidFill>
                  <a:srgbClr val="1A1A1A"/>
                </a:solidFill>
                <a:latin typeface="Arial" panose="020B0604020202020204" pitchFamily="34" charset="0"/>
                <a:ea typeface="Calibri" pitchFamily="34" charset="-122"/>
                <a:cs typeface="Arial" panose="020B0604020202020204" pitchFamily="34" charset="0"/>
              </a:rPr>
              <a:t>Keff Ratcliffe</a:t>
            </a:r>
            <a:endParaRPr lang="en-US" sz="911" dirty="0">
              <a:latin typeface="Arial" panose="020B0604020202020204" pitchFamily="34" charset="0"/>
              <a:cs typeface="Arial" panose="020B0604020202020204" pitchFamily="34" charset="0"/>
            </a:endParaRPr>
          </a:p>
        </p:txBody>
      </p:sp>
      <p:sp>
        <p:nvSpPr>
          <p:cNvPr id="10" name="Text 8"/>
          <p:cNvSpPr/>
          <p:nvPr/>
        </p:nvSpPr>
        <p:spPr>
          <a:xfrm>
            <a:off x="3246516" y="611619"/>
            <a:ext cx="2191069" cy="249974"/>
          </a:xfrm>
          <a:prstGeom prst="rect">
            <a:avLst/>
          </a:prstGeom>
          <a:noFill/>
          <a:ln/>
        </p:spPr>
        <p:txBody>
          <a:bodyPr wrap="square" lIns="0" tIns="0" rIns="0" bIns="0" rtlCol="0" anchor="ctr"/>
          <a:lstStyle/>
          <a:p>
            <a:r>
              <a:rPr lang="en-US" sz="911" dirty="0">
                <a:solidFill>
                  <a:srgbClr val="1A1A1A"/>
                </a:solidFill>
                <a:latin typeface="Arial" panose="020B0604020202020204" pitchFamily="34" charset="0"/>
                <a:ea typeface="Calibri" pitchFamily="34" charset="-122"/>
                <a:cs typeface="Arial" panose="020B0604020202020204" pitchFamily="34" charset="0"/>
              </a:rPr>
              <a:t>Aditya Pande</a:t>
            </a:r>
            <a:endParaRPr lang="en-US" sz="911" dirty="0">
              <a:latin typeface="Arial" panose="020B0604020202020204" pitchFamily="34" charset="0"/>
              <a:cs typeface="Arial" panose="020B0604020202020204" pitchFamily="34" charset="0"/>
            </a:endParaRPr>
          </a:p>
        </p:txBody>
      </p:sp>
      <p:sp>
        <p:nvSpPr>
          <p:cNvPr id="11" name="Text 9"/>
          <p:cNvSpPr/>
          <p:nvPr/>
        </p:nvSpPr>
        <p:spPr>
          <a:xfrm>
            <a:off x="5511652" y="611619"/>
            <a:ext cx="2191069" cy="249974"/>
          </a:xfrm>
          <a:prstGeom prst="rect">
            <a:avLst/>
          </a:prstGeom>
          <a:noFill/>
          <a:ln/>
        </p:spPr>
        <p:txBody>
          <a:bodyPr wrap="square" lIns="0" tIns="0" rIns="0" bIns="0" rtlCol="0" anchor="ctr"/>
          <a:lstStyle/>
          <a:p>
            <a:r>
              <a:rPr lang="en-US" sz="911" dirty="0">
                <a:solidFill>
                  <a:srgbClr val="1A1A1A"/>
                </a:solidFill>
                <a:latin typeface="Arial" panose="020B0604020202020204" pitchFamily="34" charset="0"/>
                <a:ea typeface="Calibri" pitchFamily="34" charset="-122"/>
                <a:cs typeface="Arial" panose="020B0604020202020204" pitchFamily="34" charset="0"/>
              </a:rPr>
              <a:t>Cristina Thompson</a:t>
            </a:r>
            <a:endParaRPr lang="en-US" sz="911" dirty="0">
              <a:latin typeface="Arial" panose="020B0604020202020204" pitchFamily="34" charset="0"/>
              <a:cs typeface="Arial" panose="020B0604020202020204" pitchFamily="34" charset="0"/>
            </a:endParaRPr>
          </a:p>
        </p:txBody>
      </p:sp>
      <p:sp>
        <p:nvSpPr>
          <p:cNvPr id="12" name="Text 10"/>
          <p:cNvSpPr/>
          <p:nvPr/>
        </p:nvSpPr>
        <p:spPr>
          <a:xfrm>
            <a:off x="7776787" y="611619"/>
            <a:ext cx="2191069" cy="249974"/>
          </a:xfrm>
          <a:prstGeom prst="rect">
            <a:avLst/>
          </a:prstGeom>
          <a:noFill/>
          <a:ln/>
        </p:spPr>
        <p:txBody>
          <a:bodyPr wrap="square" lIns="0" tIns="0" rIns="0" bIns="0" rtlCol="0" anchor="ctr"/>
          <a:lstStyle/>
          <a:p>
            <a:r>
              <a:rPr lang="en-US" sz="911" dirty="0">
                <a:solidFill>
                  <a:srgbClr val="1A1A1A"/>
                </a:solidFill>
                <a:latin typeface="Arial" panose="020B0604020202020204" pitchFamily="34" charset="0"/>
                <a:ea typeface="Calibri" pitchFamily="34" charset="-122"/>
                <a:cs typeface="Arial" panose="020B0604020202020204" pitchFamily="34" charset="0"/>
              </a:rPr>
              <a:t>Juan Valdes</a:t>
            </a:r>
            <a:endParaRPr lang="en-US" sz="911" dirty="0">
              <a:latin typeface="Arial" panose="020B0604020202020204" pitchFamily="34" charset="0"/>
              <a:cs typeface="Arial" panose="020B0604020202020204" pitchFamily="34" charset="0"/>
            </a:endParaRPr>
          </a:p>
        </p:txBody>
      </p:sp>
      <p:sp>
        <p:nvSpPr>
          <p:cNvPr id="13" name="Text 11"/>
          <p:cNvSpPr/>
          <p:nvPr/>
        </p:nvSpPr>
        <p:spPr>
          <a:xfrm>
            <a:off x="10041923" y="611619"/>
            <a:ext cx="2191069" cy="249974"/>
          </a:xfrm>
          <a:prstGeom prst="rect">
            <a:avLst/>
          </a:prstGeom>
          <a:noFill/>
          <a:ln/>
        </p:spPr>
        <p:txBody>
          <a:bodyPr wrap="square" lIns="0" tIns="0" rIns="0" bIns="0" rtlCol="0" anchor="ctr"/>
          <a:lstStyle/>
          <a:p>
            <a:r>
              <a:rPr lang="en-US" sz="911" dirty="0">
                <a:solidFill>
                  <a:srgbClr val="1A1A1A"/>
                </a:solidFill>
                <a:latin typeface="Arial" panose="020B0604020202020204" pitchFamily="34" charset="0"/>
                <a:ea typeface="Calibri" pitchFamily="34" charset="-122"/>
                <a:cs typeface="Arial" panose="020B0604020202020204" pitchFamily="34" charset="0"/>
              </a:rPr>
              <a:t>Chris Krueger</a:t>
            </a:r>
            <a:endParaRPr lang="en-US" sz="911" dirty="0">
              <a:latin typeface="Arial" panose="020B0604020202020204" pitchFamily="34" charset="0"/>
              <a:cs typeface="Arial" panose="020B0604020202020204" pitchFamily="34" charset="0"/>
            </a:endParaRPr>
          </a:p>
        </p:txBody>
      </p:sp>
      <p:sp>
        <p:nvSpPr>
          <p:cNvPr id="14" name="Text 12"/>
          <p:cNvSpPr/>
          <p:nvPr/>
        </p:nvSpPr>
        <p:spPr>
          <a:xfrm>
            <a:off x="148133" y="861594"/>
            <a:ext cx="759181" cy="351815"/>
          </a:xfrm>
          <a:prstGeom prst="rect">
            <a:avLst/>
          </a:prstGeom>
          <a:noFill/>
          <a:ln/>
        </p:spPr>
        <p:txBody>
          <a:bodyPr wrap="square" lIns="0" tIns="0" rIns="0" bIns="0" rtlCol="0" anchor="ctr"/>
          <a:lstStyle/>
          <a:p>
            <a:r>
              <a:rPr lang="en-US" sz="810" dirty="0">
                <a:solidFill>
                  <a:srgbClr val="555555"/>
                </a:solidFill>
                <a:latin typeface="Arial" panose="020B0604020202020204" pitchFamily="34" charset="0"/>
                <a:ea typeface="Calibri" pitchFamily="34" charset="-122"/>
                <a:cs typeface="Arial" panose="020B0604020202020204" pitchFamily="34" charset="0"/>
              </a:rPr>
              <a:t>GOAL</a:t>
            </a:r>
            <a:endParaRPr lang="en-US" sz="810" dirty="0">
              <a:latin typeface="Arial" panose="020B0604020202020204" pitchFamily="34" charset="0"/>
              <a:cs typeface="Arial" panose="020B0604020202020204" pitchFamily="34" charset="0"/>
            </a:endParaRPr>
          </a:p>
        </p:txBody>
      </p:sp>
      <p:sp>
        <p:nvSpPr>
          <p:cNvPr id="15" name="Text 13"/>
          <p:cNvSpPr/>
          <p:nvPr/>
        </p:nvSpPr>
        <p:spPr>
          <a:xfrm>
            <a:off x="981380" y="861594"/>
            <a:ext cx="11233095" cy="351815"/>
          </a:xfrm>
          <a:prstGeom prst="rect">
            <a:avLst/>
          </a:prstGeom>
          <a:noFill/>
          <a:ln/>
        </p:spPr>
        <p:txBody>
          <a:bodyPr wrap="square" lIns="0" tIns="0" rIns="0" bIns="0" rtlCol="0" anchor="ctr"/>
          <a:lstStyle/>
          <a:p>
            <a:r>
              <a:rPr lang="en-US" sz="861" dirty="0">
                <a:solidFill>
                  <a:srgbClr val="1A1A1A"/>
                </a:solidFill>
                <a:latin typeface="Arial" panose="020B0604020202020204" pitchFamily="34" charset="0"/>
                <a:ea typeface="Calibri" pitchFamily="34" charset="-122"/>
                <a:cs typeface="Arial" panose="020B0604020202020204" pitchFamily="34" charset="0"/>
              </a:rPr>
              <a:t>Rebuilding Tennis Channel OTT (web, iOS, Android, CTV) on its own platform, powered by Match Central replacing Sport Radar stack.</a:t>
            </a:r>
            <a:endParaRPr lang="en-US" sz="861" dirty="0">
              <a:latin typeface="Arial" panose="020B0604020202020204" pitchFamily="34" charset="0"/>
              <a:cs typeface="Arial" panose="020B0604020202020204" pitchFamily="34" charset="0"/>
            </a:endParaRPr>
          </a:p>
        </p:txBody>
      </p:sp>
      <p:sp>
        <p:nvSpPr>
          <p:cNvPr id="16" name="Text 14"/>
          <p:cNvSpPr/>
          <p:nvPr/>
        </p:nvSpPr>
        <p:spPr>
          <a:xfrm>
            <a:off x="148133" y="1213409"/>
            <a:ext cx="759181" cy="231458"/>
          </a:xfrm>
          <a:prstGeom prst="rect">
            <a:avLst/>
          </a:prstGeom>
          <a:noFill/>
          <a:ln/>
        </p:spPr>
        <p:txBody>
          <a:bodyPr wrap="square" lIns="0" tIns="0" rIns="0" bIns="0" rtlCol="0" anchor="ctr"/>
          <a:lstStyle/>
          <a:p>
            <a:r>
              <a:rPr lang="en-US" sz="810" dirty="0">
                <a:solidFill>
                  <a:srgbClr val="555555"/>
                </a:solidFill>
                <a:latin typeface="Arial" panose="020B0604020202020204" pitchFamily="34" charset="0"/>
                <a:ea typeface="Calibri" pitchFamily="34" charset="-122"/>
                <a:cs typeface="Arial" panose="020B0604020202020204" pitchFamily="34" charset="0"/>
              </a:rPr>
              <a:t>LAUNCH</a:t>
            </a:r>
            <a:endParaRPr lang="en-US" sz="810" dirty="0">
              <a:latin typeface="Arial" panose="020B0604020202020204" pitchFamily="34" charset="0"/>
              <a:cs typeface="Arial" panose="020B0604020202020204" pitchFamily="34" charset="0"/>
            </a:endParaRPr>
          </a:p>
        </p:txBody>
      </p:sp>
      <p:sp>
        <p:nvSpPr>
          <p:cNvPr id="17" name="Text 15"/>
          <p:cNvSpPr/>
          <p:nvPr/>
        </p:nvSpPr>
        <p:spPr>
          <a:xfrm>
            <a:off x="981380" y="1213409"/>
            <a:ext cx="11233095" cy="231458"/>
          </a:xfrm>
          <a:prstGeom prst="rect">
            <a:avLst/>
          </a:prstGeom>
          <a:noFill/>
          <a:ln/>
        </p:spPr>
        <p:txBody>
          <a:bodyPr wrap="square" lIns="0" tIns="0" rIns="0" bIns="0" rtlCol="0" anchor="ctr"/>
          <a:lstStyle/>
          <a:p>
            <a:r>
              <a:rPr lang="en-US" sz="911" dirty="0">
                <a:solidFill>
                  <a:srgbClr val="1A1A1A"/>
                </a:solidFill>
                <a:latin typeface="Arial" panose="020B0604020202020204" pitchFamily="34" charset="0"/>
                <a:ea typeface="Calibri" pitchFamily="34" charset="-122"/>
                <a:cs typeface="Arial" panose="020B0604020202020204" pitchFamily="34" charset="0"/>
              </a:rPr>
              <a:t>December 1, 2026</a:t>
            </a:r>
            <a:endParaRPr lang="en-US" sz="911" dirty="0">
              <a:latin typeface="Arial" panose="020B0604020202020204" pitchFamily="34" charset="0"/>
              <a:cs typeface="Arial" panose="020B0604020202020204" pitchFamily="34" charset="0"/>
            </a:endParaRPr>
          </a:p>
        </p:txBody>
      </p:sp>
      <p:sp>
        <p:nvSpPr>
          <p:cNvPr id="18" name="Shape 16"/>
          <p:cNvSpPr/>
          <p:nvPr/>
        </p:nvSpPr>
        <p:spPr>
          <a:xfrm>
            <a:off x="0" y="1463382"/>
            <a:ext cx="12251509" cy="312747"/>
          </a:xfrm>
          <a:prstGeom prst="rect">
            <a:avLst/>
          </a:prstGeom>
          <a:solidFill>
            <a:srgbClr val="8ED973"/>
          </a:solidFill>
          <a:ln w="12700">
            <a:solidFill>
              <a:srgbClr val="8ED973"/>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19" name="Text 17"/>
          <p:cNvSpPr/>
          <p:nvPr/>
        </p:nvSpPr>
        <p:spPr>
          <a:xfrm>
            <a:off x="92584" y="1463383"/>
            <a:ext cx="12158925" cy="249974"/>
          </a:xfrm>
          <a:prstGeom prst="rect">
            <a:avLst/>
          </a:prstGeom>
          <a:noFill/>
          <a:ln/>
        </p:spPr>
        <p:txBody>
          <a:bodyPr wrap="square" lIns="0" tIns="102870" rIns="0" bIns="0" rtlCol="0" anchor="ctr"/>
          <a:lstStyle/>
          <a:p>
            <a:r>
              <a:rPr lang="en-US" sz="1114" b="1" dirty="0">
                <a:solidFill>
                  <a:srgbClr val="000000"/>
                </a:solidFill>
                <a:latin typeface="Arial" panose="020B0604020202020204" pitchFamily="34" charset="0"/>
                <a:ea typeface="Calibri" pitchFamily="34" charset="-122"/>
                <a:cs typeface="Arial" panose="020B0604020202020204" pitchFamily="34" charset="0"/>
              </a:rPr>
              <a:t>This Week</a:t>
            </a:r>
            <a:endParaRPr lang="en-US" sz="1114" b="1" dirty="0">
              <a:latin typeface="Arial" panose="020B0604020202020204" pitchFamily="34" charset="0"/>
              <a:cs typeface="Arial" panose="020B0604020202020204" pitchFamily="34" charset="0"/>
            </a:endParaRPr>
          </a:p>
        </p:txBody>
      </p:sp>
      <p:sp>
        <p:nvSpPr>
          <p:cNvPr id="20" name="Shape 18"/>
          <p:cNvSpPr/>
          <p:nvPr/>
        </p:nvSpPr>
        <p:spPr>
          <a:xfrm>
            <a:off x="0" y="1787423"/>
            <a:ext cx="12344400" cy="5488784"/>
          </a:xfrm>
          <a:prstGeom prst="rect">
            <a:avLst/>
          </a:prstGeom>
          <a:solidFill>
            <a:schemeClr val="bg1"/>
          </a:solidFill>
          <a:ln w="9525">
            <a:solidFill>
              <a:srgbClr val="D1D5DB"/>
            </a:solidFill>
            <a:prstDash val="solid"/>
          </a:ln>
        </p:spPr>
        <p:txBody>
          <a:bodyPr/>
          <a:lstStyle/>
          <a:p>
            <a:pPr lvl="0">
              <a:buClr>
                <a:srgbClr val="000000"/>
              </a:buClr>
              <a:defRPr/>
            </a:pPr>
            <a:r>
              <a:rPr lang="en-US" sz="1200" b="1" dirty="0">
                <a:solidFill>
                  <a:srgbClr val="0A0A0A"/>
                </a:solidFill>
                <a:highlight>
                  <a:srgbClr val="FFFFFF"/>
                </a:highlight>
                <a:latin typeface="Arial" panose="020B0604020202020204" pitchFamily="34" charset="0"/>
                <a:cs typeface="Arial" panose="020B0604020202020204" pitchFamily="34" charset="0"/>
              </a:rPr>
              <a:t>7/8 Update</a:t>
            </a:r>
          </a:p>
          <a:p>
            <a:endParaRPr lang="en-US" sz="1215" dirty="0">
              <a:latin typeface="Arial" panose="020B0604020202020204" pitchFamily="34" charset="0"/>
              <a:cs typeface="Arial" panose="020B0604020202020204" pitchFamily="34" charset="0"/>
            </a:endParaRPr>
          </a:p>
          <a:p>
            <a:r>
              <a:rPr lang="en-US" sz="1215" dirty="0">
                <a:latin typeface="Arial" panose="020B0604020202020204" pitchFamily="34" charset="0"/>
                <a:cs typeface="Arial" panose="020B0604020202020204" pitchFamily="34" charset="0"/>
              </a:rPr>
              <a:t>Amagi (Streaming Orchestration) - Several long-standing design questions were resolved this week: the Prime/Ward acknowledgment schema, day-boundary event grouping, and the manual start/stop orchestration model. The remaining open question is how to cut off viewers of a finished match on a shared stream without disrupting others; Amagi is researching a CDN-edge/token approach and owes an estimate by the July 8 call. DRM credentials are due Friday, message-level testing with dummy data starts the week of July 6, and Amagi's full orchestration readiness is targeted for July 15.</a:t>
            </a:r>
          </a:p>
          <a:p>
            <a:endParaRPr lang="en-US" sz="1215" dirty="0">
              <a:latin typeface="Arial" panose="020B0604020202020204" pitchFamily="34" charset="0"/>
              <a:cs typeface="Arial" panose="020B0604020202020204" pitchFamily="34" charset="0"/>
            </a:endParaRPr>
          </a:p>
          <a:p>
            <a:r>
              <a:rPr lang="en-US" sz="1215" dirty="0">
                <a:latin typeface="Arial" panose="020B0604020202020204" pitchFamily="34" charset="0"/>
                <a:cs typeface="Arial" panose="020B0604020202020204" pitchFamily="34" charset="0"/>
              </a:rPr>
              <a:t>Adobe Pass / MVPD - The Adobe Pass integration is transitioning from setup into implementation. The registered application and API documentation are in hand, and Tennis Channel is reviewing the implementation package while configuring domain whitelisting and platform settings. On the app side, a basic prototype of the provider authentication flow is built and currently hardcoded to DirecTV for testing. Recurring working sessions are being scheduled, with a possible dedicated Slack channel to speed up onboarding.</a:t>
            </a:r>
          </a:p>
          <a:p>
            <a:endParaRPr lang="en-US" sz="1215" dirty="0">
              <a:latin typeface="Arial" panose="020B0604020202020204" pitchFamily="34" charset="0"/>
              <a:cs typeface="Arial" panose="020B0604020202020204" pitchFamily="34" charset="0"/>
            </a:endParaRPr>
          </a:p>
          <a:p>
            <a:r>
              <a:rPr lang="en-US" sz="1215" dirty="0" err="1">
                <a:latin typeface="Arial" panose="020B0604020202020204" pitchFamily="34" charset="0"/>
                <a:cs typeface="Arial" panose="020B0604020202020204" pitchFamily="34" charset="0"/>
              </a:rPr>
              <a:t>Foxxum</a:t>
            </a:r>
            <a:r>
              <a:rPr lang="en-US" sz="1215" dirty="0">
                <a:latin typeface="Arial" panose="020B0604020202020204" pitchFamily="34" charset="0"/>
                <a:cs typeface="Arial" panose="020B0604020202020204" pitchFamily="34" charset="0"/>
              </a:rPr>
              <a:t> - Technical discovery is progressing well, with both teams aligned on the target architecture for authentication, subscription, playback, and platform integration. Focus is now shifting from architecture to execution: documentation, provisioning </a:t>
            </a:r>
            <a:r>
              <a:rPr lang="en-US" sz="1215" dirty="0" err="1">
                <a:latin typeface="Arial" panose="020B0604020202020204" pitchFamily="34" charset="0"/>
                <a:cs typeface="Arial" panose="020B0604020202020204" pitchFamily="34" charset="0"/>
              </a:rPr>
              <a:t>Cleeng</a:t>
            </a:r>
            <a:r>
              <a:rPr lang="en-US" sz="1215" dirty="0">
                <a:latin typeface="Arial" panose="020B0604020202020204" pitchFamily="34" charset="0"/>
                <a:cs typeface="Arial" panose="020B0604020202020204" pitchFamily="34" charset="0"/>
              </a:rPr>
              <a:t>, finalizing API definitions, and validating implementation across platforms. No major blockers were identified, though documentation and third-party environment delays remain a watch item.</a:t>
            </a:r>
          </a:p>
          <a:p>
            <a:endParaRPr lang="en-US" sz="1215" dirty="0">
              <a:latin typeface="Arial" panose="020B0604020202020204" pitchFamily="34" charset="0"/>
              <a:cs typeface="Arial" panose="020B0604020202020204" pitchFamily="34" charset="0"/>
            </a:endParaRPr>
          </a:p>
          <a:p>
            <a:r>
              <a:rPr lang="en-US" sz="1215" dirty="0">
                <a:latin typeface="Arial" panose="020B0604020202020204" pitchFamily="34" charset="0"/>
                <a:cs typeface="Arial" panose="020B0604020202020204" pitchFamily="34" charset="0"/>
              </a:rPr>
              <a:t>Platform Engineering (Website &amp; Mobile) On the new website, the front-end foundation shipped and CMS, carousel, Auth0/</a:t>
            </a:r>
            <a:r>
              <a:rPr lang="en-US" sz="1215" dirty="0" err="1">
                <a:latin typeface="Arial" panose="020B0604020202020204" pitchFamily="34" charset="0"/>
                <a:cs typeface="Arial" panose="020B0604020202020204" pitchFamily="34" charset="0"/>
              </a:rPr>
              <a:t>Cleeng</a:t>
            </a:r>
            <a:r>
              <a:rPr lang="en-US" sz="1215" dirty="0">
                <a:latin typeface="Arial" panose="020B0604020202020204" pitchFamily="34" charset="0"/>
                <a:cs typeface="Arial" panose="020B0604020202020204" pitchFamily="34" charset="0"/>
              </a:rPr>
              <a:t>, and Adobe Pass work are all progressing, alongside an early proof-of-concept test of the video player. On mobile, the app moved off mock data onto the live backend across Home, Live, Schedule, and Tournaments, entitlement and login groundwork is in place ahead of the real Auth0/</a:t>
            </a:r>
            <a:r>
              <a:rPr lang="en-US" sz="1215" dirty="0" err="1">
                <a:latin typeface="Arial" panose="020B0604020202020204" pitchFamily="34" charset="0"/>
                <a:cs typeface="Arial" panose="020B0604020202020204" pitchFamily="34" charset="0"/>
              </a:rPr>
              <a:t>Cleeng</a:t>
            </a:r>
            <a:r>
              <a:rPr lang="en-US" sz="1215" dirty="0">
                <a:latin typeface="Arial" panose="020B0604020202020204" pitchFamily="34" charset="0"/>
                <a:cs typeface="Arial" panose="020B0604020202020204" pitchFamily="34" charset="0"/>
              </a:rPr>
              <a:t> backend, and DRM stubs were handed to Amagi for integration testing.</a:t>
            </a:r>
          </a:p>
        </p:txBody>
      </p:sp>
      <p:sp>
        <p:nvSpPr>
          <p:cNvPr id="21" name="Text 19"/>
          <p:cNvSpPr/>
          <p:nvPr/>
        </p:nvSpPr>
        <p:spPr>
          <a:xfrm>
            <a:off x="231458" y="1787423"/>
            <a:ext cx="12020051" cy="4832833"/>
          </a:xfrm>
          <a:prstGeom prst="rect">
            <a:avLst/>
          </a:prstGeom>
          <a:noFill/>
          <a:ln/>
        </p:spPr>
        <p:txBody>
          <a:bodyPr wrap="square" rtlCol="0" anchor="t"/>
          <a:lstStyle/>
          <a:p>
            <a:pPr>
              <a:spcAft>
                <a:spcPts val="608"/>
              </a:spcAft>
            </a:pPr>
            <a:endParaRPr lang="en-US" sz="1164" dirty="0">
              <a:latin typeface="Arial" panose="020B0604020202020204" pitchFamily="34" charset="0"/>
              <a:cs typeface="Arial" panose="020B0604020202020204" pitchFamily="34"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68580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a:t>
            </a:r>
            <a:endParaRPr lang="en-US" sz="1600" dirty="0"/>
          </a:p>
        </p:txBody>
      </p:sp>
      <p:sp>
        <p:nvSpPr>
          <p:cNvPr id="4" name="Text 2"/>
          <p:cNvSpPr/>
          <p:nvPr/>
        </p:nvSpPr>
        <p:spPr>
          <a:xfrm>
            <a:off x="7315200" y="0"/>
            <a:ext cx="4754880" cy="457200"/>
          </a:xfrm>
          <a:prstGeom prst="rect">
            <a:avLst/>
          </a:prstGeom>
          <a:noFill/>
          <a:ln/>
        </p:spPr>
        <p:txBody>
          <a:bodyPr wrap="square" lIns="0" tIns="0" rIns="0" bIns="0" rtlCol="0" anchor="ctr"/>
          <a:lstStyle/>
          <a:p>
            <a:pPr algn="r" indent="0" marL="0">
              <a:buNone/>
            </a:pPr>
            <a:r>
              <a:rPr lang="en-US" sz="1100" dirty="0">
                <a:solidFill>
                  <a:srgbClr val="388849"/>
                </a:solidFill>
              </a:rPr>
              <a:t>Critical Gates  ·  Jul 8, 2026</a:t>
            </a:r>
            <a:endParaRPr lang="en-US" sz="1100" dirty="0"/>
          </a:p>
        </p:txBody>
      </p:sp>
      <p:sp>
        <p:nvSpPr>
          <p:cNvPr id="5" name="Shape 3"/>
          <p:cNvSpPr/>
          <p:nvPr/>
        </p:nvSpPr>
        <p:spPr>
          <a:xfrm>
            <a:off x="91440" y="502920"/>
            <a:ext cx="6016752" cy="2926080"/>
          </a:xfrm>
          <a:prstGeom prst="rect">
            <a:avLst/>
          </a:prstGeom>
          <a:solidFill>
            <a:srgbClr val="FAFBFC"/>
          </a:solidFill>
          <a:ln w="9525">
            <a:solidFill>
              <a:srgbClr val="D1D5DB"/>
            </a:solidFill>
            <a:prstDash val="solid"/>
          </a:ln>
        </p:spPr>
      </p:sp>
      <p:sp>
        <p:nvSpPr>
          <p:cNvPr id="6" name="Shape 4"/>
          <p:cNvSpPr/>
          <p:nvPr/>
        </p:nvSpPr>
        <p:spPr>
          <a:xfrm>
            <a:off x="91440" y="502920"/>
            <a:ext cx="6016752" cy="274320"/>
          </a:xfrm>
          <a:prstGeom prst="rect">
            <a:avLst/>
          </a:prstGeom>
          <a:solidFill>
            <a:srgbClr val="8ED973"/>
          </a:solidFill>
          <a:ln w="12700">
            <a:solidFill>
              <a:srgbClr val="8ED973"/>
            </a:solidFill>
            <a:prstDash val="solid"/>
          </a:ln>
        </p:spPr>
      </p:sp>
      <p:sp>
        <p:nvSpPr>
          <p:cNvPr id="7" name="Text 5"/>
          <p:cNvSpPr/>
          <p:nvPr/>
        </p:nvSpPr>
        <p:spPr>
          <a:xfrm>
            <a:off x="201168" y="502920"/>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Vendor / Contract</a:t>
            </a:r>
            <a:endParaRPr lang="en-US" sz="900" dirty="0"/>
          </a:p>
        </p:txBody>
      </p:sp>
      <p:sp>
        <p:nvSpPr>
          <p:cNvPr id="8" name="Shape 6"/>
          <p:cNvSpPr/>
          <p:nvPr/>
        </p:nvSpPr>
        <p:spPr>
          <a:xfrm>
            <a:off x="91440" y="777240"/>
            <a:ext cx="6016752" cy="530352"/>
          </a:xfrm>
          <a:prstGeom prst="rect">
            <a:avLst/>
          </a:prstGeom>
          <a:solidFill>
            <a:srgbClr val="FFFFFF"/>
          </a:solidFill>
          <a:ln w="3175">
            <a:solidFill>
              <a:srgbClr val="E5E7EB"/>
            </a:solidFill>
            <a:prstDash val="solid"/>
          </a:ln>
        </p:spPr>
      </p:sp>
      <p:sp>
        <p:nvSpPr>
          <p:cNvPr id="9" name="Text 7"/>
          <p:cNvSpPr/>
          <p:nvPr/>
        </p:nvSpPr>
        <p:spPr>
          <a:xfrm>
            <a:off x="164592" y="795528"/>
            <a:ext cx="777240" cy="493776"/>
          </a:xfrm>
          <a:prstGeom prst="rect">
            <a:avLst/>
          </a:prstGeom>
          <a:noFill/>
          <a:ln/>
        </p:spPr>
        <p:txBody>
          <a:bodyPr wrap="square" lIns="0" tIns="0" rIns="0" bIns="0" rtlCol="0" anchor="ctr"/>
          <a:lstStyle/>
          <a:p>
            <a:pPr indent="0" marL="0">
              <a:buNone/>
            </a:pPr>
            <a:r>
              <a:rPr lang="en-US" sz="750" b="1" dirty="0">
                <a:solidFill>
                  <a:srgbClr val="1F2937"/>
                </a:solidFill>
              </a:rPr>
              <a:t>Bitmovin</a:t>
            </a:r>
            <a:endParaRPr lang="en-US" sz="750" dirty="0"/>
          </a:p>
        </p:txBody>
      </p:sp>
      <p:sp>
        <p:nvSpPr>
          <p:cNvPr id="10" name="Text 8"/>
          <p:cNvSpPr/>
          <p:nvPr/>
        </p:nvSpPr>
        <p:spPr>
          <a:xfrm>
            <a:off x="960120" y="804672"/>
            <a:ext cx="4178808" cy="475488"/>
          </a:xfrm>
          <a:prstGeom prst="rect">
            <a:avLst/>
          </a:prstGeom>
          <a:noFill/>
          <a:ln/>
        </p:spPr>
        <p:txBody>
          <a:bodyPr wrap="square" lIns="0" tIns="0" rIns="0" bIns="0" rtlCol="0" anchor="t"/>
          <a:lstStyle/>
          <a:p>
            <a:pPr indent="0" marL="0">
              <a:buNone/>
            </a:pPr>
            <a:r>
              <a:rPr lang="en-US" sz="650" dirty="0">
                <a:solidFill>
                  <a:srgbClr val="374151"/>
                </a:solidFill>
              </a:rPr>
              <a:t>Redlined from TC legal, Bitmovin reviewing.</a:t>
            </a:r>
            <a:endParaRPr lang="en-US" sz="650" dirty="0"/>
          </a:p>
        </p:txBody>
      </p:sp>
      <p:sp>
        <p:nvSpPr>
          <p:cNvPr id="11" name="Shape 9"/>
          <p:cNvSpPr/>
          <p:nvPr/>
        </p:nvSpPr>
        <p:spPr>
          <a:xfrm>
            <a:off x="5230368" y="955548"/>
            <a:ext cx="822960" cy="173736"/>
          </a:xfrm>
          <a:prstGeom prst="roundRect">
            <a:avLst>
              <a:gd name="adj" fmla="val 15789"/>
            </a:avLst>
          </a:prstGeom>
          <a:solidFill>
            <a:srgbClr val="1558A8"/>
          </a:solidFill>
          <a:ln w="12700">
            <a:solidFill>
              <a:srgbClr val="1558A8"/>
            </a:solidFill>
            <a:prstDash val="solid"/>
          </a:ln>
        </p:spPr>
      </p:sp>
      <p:sp>
        <p:nvSpPr>
          <p:cNvPr id="12" name="Text 10"/>
          <p:cNvSpPr/>
          <p:nvPr/>
        </p:nvSpPr>
        <p:spPr>
          <a:xfrm>
            <a:off x="5230368" y="955548"/>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13" name="Shape 11"/>
          <p:cNvSpPr/>
          <p:nvPr/>
        </p:nvSpPr>
        <p:spPr>
          <a:xfrm>
            <a:off x="91440" y="1307592"/>
            <a:ext cx="6016752" cy="0"/>
          </a:xfrm>
          <a:prstGeom prst="line">
            <a:avLst/>
          </a:prstGeom>
          <a:noFill/>
          <a:ln w="6350">
            <a:solidFill>
              <a:srgbClr val="E5E7EB"/>
            </a:solidFill>
            <a:prstDash val="solid"/>
          </a:ln>
        </p:spPr>
      </p:sp>
      <p:sp>
        <p:nvSpPr>
          <p:cNvPr id="14" name="Text 12"/>
          <p:cNvSpPr/>
          <p:nvPr/>
        </p:nvSpPr>
        <p:spPr>
          <a:xfrm>
            <a:off x="164592" y="1325880"/>
            <a:ext cx="777240" cy="493776"/>
          </a:xfrm>
          <a:prstGeom prst="rect">
            <a:avLst/>
          </a:prstGeom>
          <a:noFill/>
          <a:ln/>
        </p:spPr>
        <p:txBody>
          <a:bodyPr wrap="square" lIns="0" tIns="0" rIns="0" bIns="0" rtlCol="0" anchor="ctr"/>
          <a:lstStyle/>
          <a:p>
            <a:pPr indent="0" marL="0">
              <a:buNone/>
            </a:pPr>
            <a:r>
              <a:rPr lang="en-US" sz="750" b="1" dirty="0">
                <a:solidFill>
                  <a:srgbClr val="1F2937"/>
                </a:solidFill>
              </a:rPr>
              <a:t>Adobe</a:t>
            </a:r>
            <a:endParaRPr lang="en-US" sz="750" dirty="0"/>
          </a:p>
        </p:txBody>
      </p:sp>
      <p:sp>
        <p:nvSpPr>
          <p:cNvPr id="15" name="Text 13"/>
          <p:cNvSpPr/>
          <p:nvPr/>
        </p:nvSpPr>
        <p:spPr>
          <a:xfrm>
            <a:off x="960120" y="1335024"/>
            <a:ext cx="4178808" cy="475488"/>
          </a:xfrm>
          <a:prstGeom prst="rect">
            <a:avLst/>
          </a:prstGeom>
          <a:noFill/>
          <a:ln/>
        </p:spPr>
        <p:txBody>
          <a:bodyPr wrap="square" lIns="0" tIns="0" rIns="0" bIns="0" rtlCol="0" anchor="t"/>
          <a:lstStyle/>
          <a:p>
            <a:pPr indent="0" marL="0">
              <a:buNone/>
            </a:pPr>
            <a:r>
              <a:rPr lang="en-US" sz="650" dirty="0">
                <a:solidFill>
                  <a:srgbClr val="374151"/>
                </a:solidFill>
              </a:rPr>
              <a:t>We are good. Just need to find out who owns the original contract and review renewal dates. Keff owns.</a:t>
            </a:r>
            <a:endParaRPr lang="en-US" sz="650" dirty="0"/>
          </a:p>
        </p:txBody>
      </p:sp>
      <p:sp>
        <p:nvSpPr>
          <p:cNvPr id="16" name="Shape 14"/>
          <p:cNvSpPr/>
          <p:nvPr/>
        </p:nvSpPr>
        <p:spPr>
          <a:xfrm>
            <a:off x="5230368" y="1485900"/>
            <a:ext cx="822960" cy="173736"/>
          </a:xfrm>
          <a:prstGeom prst="roundRect">
            <a:avLst>
              <a:gd name="adj" fmla="val 15789"/>
            </a:avLst>
          </a:prstGeom>
          <a:solidFill>
            <a:srgbClr val="CFFAFE"/>
          </a:solidFill>
          <a:ln w="12700">
            <a:solidFill>
              <a:srgbClr val="0E7490"/>
            </a:solidFill>
            <a:prstDash val="solid"/>
          </a:ln>
        </p:spPr>
      </p:sp>
      <p:sp>
        <p:nvSpPr>
          <p:cNvPr id="17" name="Text 15"/>
          <p:cNvSpPr/>
          <p:nvPr/>
        </p:nvSpPr>
        <p:spPr>
          <a:xfrm>
            <a:off x="5230368" y="1485900"/>
            <a:ext cx="822960" cy="173736"/>
          </a:xfrm>
          <a:prstGeom prst="rect">
            <a:avLst/>
          </a:prstGeom>
          <a:noFill/>
          <a:ln/>
        </p:spPr>
        <p:txBody>
          <a:bodyPr wrap="square" lIns="0" tIns="0" rIns="0" bIns="0" rtlCol="0" anchor="ctr"/>
          <a:lstStyle/>
          <a:p>
            <a:pPr algn="ctr" indent="0" marL="0">
              <a:buNone/>
            </a:pPr>
            <a:r>
              <a:rPr lang="en-US" sz="650" b="1" dirty="0">
                <a:solidFill>
                  <a:srgbClr val="0E7490"/>
                </a:solidFill>
              </a:rPr>
              <a:t>Contracted</a:t>
            </a:r>
            <a:endParaRPr lang="en-US" sz="650" dirty="0"/>
          </a:p>
        </p:txBody>
      </p:sp>
      <p:sp>
        <p:nvSpPr>
          <p:cNvPr id="18" name="Shape 16"/>
          <p:cNvSpPr/>
          <p:nvPr/>
        </p:nvSpPr>
        <p:spPr>
          <a:xfrm>
            <a:off x="91440" y="1837944"/>
            <a:ext cx="6016752" cy="530352"/>
          </a:xfrm>
          <a:prstGeom prst="rect">
            <a:avLst/>
          </a:prstGeom>
          <a:solidFill>
            <a:srgbClr val="FFFFFF"/>
          </a:solidFill>
          <a:ln w="3175">
            <a:solidFill>
              <a:srgbClr val="E5E7EB"/>
            </a:solidFill>
            <a:prstDash val="solid"/>
          </a:ln>
        </p:spPr>
      </p:sp>
      <p:sp>
        <p:nvSpPr>
          <p:cNvPr id="19" name="Shape 17"/>
          <p:cNvSpPr/>
          <p:nvPr/>
        </p:nvSpPr>
        <p:spPr>
          <a:xfrm>
            <a:off x="91440" y="1837944"/>
            <a:ext cx="6016752" cy="0"/>
          </a:xfrm>
          <a:prstGeom prst="line">
            <a:avLst/>
          </a:prstGeom>
          <a:noFill/>
          <a:ln w="6350">
            <a:solidFill>
              <a:srgbClr val="E5E7EB"/>
            </a:solidFill>
            <a:prstDash val="solid"/>
          </a:ln>
        </p:spPr>
      </p:sp>
      <p:sp>
        <p:nvSpPr>
          <p:cNvPr id="20" name="Text 18"/>
          <p:cNvSpPr/>
          <p:nvPr/>
        </p:nvSpPr>
        <p:spPr>
          <a:xfrm>
            <a:off x="164592" y="1856232"/>
            <a:ext cx="777240" cy="493776"/>
          </a:xfrm>
          <a:prstGeom prst="rect">
            <a:avLst/>
          </a:prstGeom>
          <a:noFill/>
          <a:ln/>
        </p:spPr>
        <p:txBody>
          <a:bodyPr wrap="square" lIns="0" tIns="0" rIns="0" bIns="0" rtlCol="0" anchor="ctr"/>
          <a:lstStyle/>
          <a:p>
            <a:pPr indent="0" marL="0">
              <a:buNone/>
            </a:pPr>
            <a:r>
              <a:rPr lang="en-US" sz="750" b="1" dirty="0">
                <a:solidFill>
                  <a:srgbClr val="1F2937"/>
                </a:solidFill>
              </a:rPr>
              <a:t>Amagi SOW</a:t>
            </a:r>
            <a:endParaRPr lang="en-US" sz="750" dirty="0"/>
          </a:p>
        </p:txBody>
      </p:sp>
      <p:sp>
        <p:nvSpPr>
          <p:cNvPr id="21" name="Text 19"/>
          <p:cNvSpPr/>
          <p:nvPr/>
        </p:nvSpPr>
        <p:spPr>
          <a:xfrm>
            <a:off x="960120" y="1865376"/>
            <a:ext cx="4178808" cy="475488"/>
          </a:xfrm>
          <a:prstGeom prst="rect">
            <a:avLst/>
          </a:prstGeom>
          <a:noFill/>
          <a:ln/>
        </p:spPr>
        <p:txBody>
          <a:bodyPr wrap="square" lIns="0" tIns="0" rIns="0" bIns="0" rtlCol="0" anchor="t"/>
          <a:lstStyle/>
          <a:p>
            <a:pPr indent="0" marL="0">
              <a:buNone/>
            </a:pPr>
            <a:r>
              <a:rPr lang="en-US" sz="650" dirty="0">
                <a:solidFill>
                  <a:srgbClr val="374151"/>
                </a:solidFill>
              </a:rPr>
              <a:t>Amagi Contract Cost Review: Provide Sinclair with details on cost savings for Amagi by following up with Mike Kralik and Kevin Kotlove. (Ari)</a:t>
            </a:r>
            <a:endParaRPr lang="en-US" sz="650" dirty="0"/>
          </a:p>
        </p:txBody>
      </p:sp>
      <p:sp>
        <p:nvSpPr>
          <p:cNvPr id="22" name="Shape 20"/>
          <p:cNvSpPr/>
          <p:nvPr/>
        </p:nvSpPr>
        <p:spPr>
          <a:xfrm>
            <a:off x="5230368" y="2016252"/>
            <a:ext cx="822960" cy="173736"/>
          </a:xfrm>
          <a:prstGeom prst="roundRect">
            <a:avLst>
              <a:gd name="adj" fmla="val 15789"/>
            </a:avLst>
          </a:prstGeom>
          <a:solidFill>
            <a:srgbClr val="1558A8"/>
          </a:solidFill>
          <a:ln w="12700">
            <a:solidFill>
              <a:srgbClr val="1558A8"/>
            </a:solidFill>
            <a:prstDash val="solid"/>
          </a:ln>
        </p:spPr>
      </p:sp>
      <p:sp>
        <p:nvSpPr>
          <p:cNvPr id="23" name="Text 21"/>
          <p:cNvSpPr/>
          <p:nvPr/>
        </p:nvSpPr>
        <p:spPr>
          <a:xfrm>
            <a:off x="5230368" y="2016252"/>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24" name="Shape 22"/>
          <p:cNvSpPr/>
          <p:nvPr/>
        </p:nvSpPr>
        <p:spPr>
          <a:xfrm>
            <a:off x="91440" y="2368296"/>
            <a:ext cx="6016752" cy="0"/>
          </a:xfrm>
          <a:prstGeom prst="line">
            <a:avLst/>
          </a:prstGeom>
          <a:noFill/>
          <a:ln w="6350">
            <a:solidFill>
              <a:srgbClr val="E5E7EB"/>
            </a:solidFill>
            <a:prstDash val="solid"/>
          </a:ln>
        </p:spPr>
      </p:sp>
      <p:sp>
        <p:nvSpPr>
          <p:cNvPr id="25" name="Text 23"/>
          <p:cNvSpPr/>
          <p:nvPr/>
        </p:nvSpPr>
        <p:spPr>
          <a:xfrm>
            <a:off x="164592" y="2386584"/>
            <a:ext cx="777240" cy="493776"/>
          </a:xfrm>
          <a:prstGeom prst="rect">
            <a:avLst/>
          </a:prstGeom>
          <a:noFill/>
          <a:ln/>
        </p:spPr>
        <p:txBody>
          <a:bodyPr wrap="square" lIns="0" tIns="0" rIns="0" bIns="0" rtlCol="0" anchor="ctr"/>
          <a:lstStyle/>
          <a:p>
            <a:pPr indent="0" marL="0">
              <a:buNone/>
            </a:pPr>
            <a:r>
              <a:rPr lang="en-US" sz="750" b="1" dirty="0">
                <a:solidFill>
                  <a:srgbClr val="1F2937"/>
                </a:solidFill>
              </a:rPr>
              <a:t>FOXXUM</a:t>
            </a:r>
            <a:endParaRPr lang="en-US" sz="750" dirty="0"/>
          </a:p>
        </p:txBody>
      </p:sp>
      <p:sp>
        <p:nvSpPr>
          <p:cNvPr id="26" name="Text 24"/>
          <p:cNvSpPr/>
          <p:nvPr/>
        </p:nvSpPr>
        <p:spPr>
          <a:xfrm>
            <a:off x="960120" y="2395728"/>
            <a:ext cx="4178808" cy="475488"/>
          </a:xfrm>
          <a:prstGeom prst="rect">
            <a:avLst/>
          </a:prstGeom>
          <a:noFill/>
          <a:ln/>
        </p:spPr>
        <p:txBody>
          <a:bodyPr wrap="square" lIns="0" tIns="0" rIns="0" bIns="0" rtlCol="0" anchor="t"/>
          <a:lstStyle/>
          <a:p>
            <a:pPr indent="0" marL="0">
              <a:buNone/>
            </a:pPr>
            <a:r>
              <a:rPr lang="en-US" sz="650" dirty="0">
                <a:solidFill>
                  <a:srgbClr val="374151"/>
                </a:solidFill>
              </a:rPr>
              <a:t>Redlined, contract sent out to FOXXUM for review on 7/2.</a:t>
            </a:r>
            <a:endParaRPr lang="en-US" sz="650" dirty="0"/>
          </a:p>
        </p:txBody>
      </p:sp>
      <p:sp>
        <p:nvSpPr>
          <p:cNvPr id="27" name="Shape 25"/>
          <p:cNvSpPr/>
          <p:nvPr/>
        </p:nvSpPr>
        <p:spPr>
          <a:xfrm>
            <a:off x="5230368" y="2546604"/>
            <a:ext cx="822960" cy="173736"/>
          </a:xfrm>
          <a:prstGeom prst="roundRect">
            <a:avLst>
              <a:gd name="adj" fmla="val 15789"/>
            </a:avLst>
          </a:prstGeom>
          <a:solidFill>
            <a:srgbClr val="1558A8"/>
          </a:solidFill>
          <a:ln w="12700">
            <a:solidFill>
              <a:srgbClr val="1558A8"/>
            </a:solidFill>
            <a:prstDash val="solid"/>
          </a:ln>
        </p:spPr>
      </p:sp>
      <p:sp>
        <p:nvSpPr>
          <p:cNvPr id="28" name="Text 26"/>
          <p:cNvSpPr/>
          <p:nvPr/>
        </p:nvSpPr>
        <p:spPr>
          <a:xfrm>
            <a:off x="5230368" y="254660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29" name="Shape 27"/>
          <p:cNvSpPr/>
          <p:nvPr/>
        </p:nvSpPr>
        <p:spPr>
          <a:xfrm>
            <a:off x="91440" y="2898648"/>
            <a:ext cx="6016752" cy="530352"/>
          </a:xfrm>
          <a:prstGeom prst="rect">
            <a:avLst/>
          </a:prstGeom>
          <a:solidFill>
            <a:srgbClr val="FFFFFF"/>
          </a:solidFill>
          <a:ln w="3175">
            <a:solidFill>
              <a:srgbClr val="E5E7EB"/>
            </a:solidFill>
            <a:prstDash val="solid"/>
          </a:ln>
        </p:spPr>
      </p:sp>
      <p:sp>
        <p:nvSpPr>
          <p:cNvPr id="30" name="Shape 28"/>
          <p:cNvSpPr/>
          <p:nvPr/>
        </p:nvSpPr>
        <p:spPr>
          <a:xfrm>
            <a:off x="91440" y="2898648"/>
            <a:ext cx="6016752" cy="0"/>
          </a:xfrm>
          <a:prstGeom prst="line">
            <a:avLst/>
          </a:prstGeom>
          <a:noFill/>
          <a:ln w="6350">
            <a:solidFill>
              <a:srgbClr val="E5E7EB"/>
            </a:solidFill>
            <a:prstDash val="solid"/>
          </a:ln>
        </p:spPr>
      </p:sp>
      <p:sp>
        <p:nvSpPr>
          <p:cNvPr id="31" name="Text 29"/>
          <p:cNvSpPr/>
          <p:nvPr/>
        </p:nvSpPr>
        <p:spPr>
          <a:xfrm>
            <a:off x="164592" y="2916936"/>
            <a:ext cx="777240" cy="493776"/>
          </a:xfrm>
          <a:prstGeom prst="rect">
            <a:avLst/>
          </a:prstGeom>
          <a:noFill/>
          <a:ln/>
        </p:spPr>
        <p:txBody>
          <a:bodyPr wrap="square" lIns="0" tIns="0" rIns="0" bIns="0" rtlCol="0" anchor="ctr"/>
          <a:lstStyle/>
          <a:p>
            <a:pPr indent="0" marL="0">
              <a:buNone/>
            </a:pPr>
            <a:r>
              <a:rPr lang="en-US" sz="750" b="1" dirty="0">
                <a:solidFill>
                  <a:srgbClr val="1F2937"/>
                </a:solidFill>
              </a:rPr>
              <a:t>SR Data</a:t>
            </a:r>
            <a:endParaRPr lang="en-US" sz="750" dirty="0"/>
          </a:p>
        </p:txBody>
      </p:sp>
      <p:sp>
        <p:nvSpPr>
          <p:cNvPr id="32" name="Text 30"/>
          <p:cNvSpPr/>
          <p:nvPr/>
        </p:nvSpPr>
        <p:spPr>
          <a:xfrm>
            <a:off x="960120" y="2926080"/>
            <a:ext cx="4178808" cy="475488"/>
          </a:xfrm>
          <a:prstGeom prst="rect">
            <a:avLst/>
          </a:prstGeom>
          <a:noFill/>
          <a:ln/>
        </p:spPr>
        <p:txBody>
          <a:bodyPr wrap="square" lIns="0" tIns="0" rIns="0" bIns="0" rtlCol="0" anchor="t"/>
          <a:lstStyle/>
          <a:p>
            <a:pPr indent="0" marL="0">
              <a:buNone/>
            </a:pPr>
            <a:r>
              <a:rPr lang="en-US" sz="650" dirty="0">
                <a:solidFill>
                  <a:srgbClr val="374151"/>
                </a:solidFill>
              </a:rPr>
              <a:t>Discussions will begin end of week or first week of July. Due by end of July.</a:t>
            </a:r>
            <a:endParaRPr lang="en-US" sz="650" dirty="0"/>
          </a:p>
        </p:txBody>
      </p:sp>
      <p:sp>
        <p:nvSpPr>
          <p:cNvPr id="33" name="Shape 31"/>
          <p:cNvSpPr/>
          <p:nvPr/>
        </p:nvSpPr>
        <p:spPr>
          <a:xfrm>
            <a:off x="5230368" y="3076956"/>
            <a:ext cx="822960" cy="173736"/>
          </a:xfrm>
          <a:prstGeom prst="roundRect">
            <a:avLst>
              <a:gd name="adj" fmla="val 15789"/>
            </a:avLst>
          </a:prstGeom>
          <a:solidFill>
            <a:srgbClr val="1558A8"/>
          </a:solidFill>
          <a:ln w="12700">
            <a:solidFill>
              <a:srgbClr val="1558A8"/>
            </a:solidFill>
            <a:prstDash val="solid"/>
          </a:ln>
        </p:spPr>
      </p:sp>
      <p:sp>
        <p:nvSpPr>
          <p:cNvPr id="34" name="Text 32"/>
          <p:cNvSpPr/>
          <p:nvPr/>
        </p:nvSpPr>
        <p:spPr>
          <a:xfrm>
            <a:off x="5230368" y="3076956"/>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35" name="Shape 33"/>
          <p:cNvSpPr/>
          <p:nvPr/>
        </p:nvSpPr>
        <p:spPr>
          <a:xfrm>
            <a:off x="6236208" y="502920"/>
            <a:ext cx="6016752" cy="2926080"/>
          </a:xfrm>
          <a:prstGeom prst="rect">
            <a:avLst/>
          </a:prstGeom>
          <a:solidFill>
            <a:srgbClr val="FAFBFC"/>
          </a:solidFill>
          <a:ln w="9525">
            <a:solidFill>
              <a:srgbClr val="D1D5DB"/>
            </a:solidFill>
            <a:prstDash val="solid"/>
          </a:ln>
        </p:spPr>
      </p:sp>
      <p:sp>
        <p:nvSpPr>
          <p:cNvPr id="36" name="Shape 34"/>
          <p:cNvSpPr/>
          <p:nvPr/>
        </p:nvSpPr>
        <p:spPr>
          <a:xfrm>
            <a:off x="6236208" y="502920"/>
            <a:ext cx="6016752" cy="274320"/>
          </a:xfrm>
          <a:prstGeom prst="rect">
            <a:avLst/>
          </a:prstGeom>
          <a:solidFill>
            <a:srgbClr val="8ED973"/>
          </a:solidFill>
          <a:ln w="12700">
            <a:solidFill>
              <a:srgbClr val="8ED973"/>
            </a:solidFill>
            <a:prstDash val="solid"/>
          </a:ln>
        </p:spPr>
      </p:sp>
      <p:sp>
        <p:nvSpPr>
          <p:cNvPr id="37" name="Text 35"/>
          <p:cNvSpPr/>
          <p:nvPr/>
        </p:nvSpPr>
        <p:spPr>
          <a:xfrm>
            <a:off x="6345936" y="502920"/>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Shared Infrastructure &amp; Dev Tooling</a:t>
            </a:r>
            <a:endParaRPr lang="en-US" sz="900" dirty="0"/>
          </a:p>
        </p:txBody>
      </p:sp>
      <p:sp>
        <p:nvSpPr>
          <p:cNvPr id="38" name="Shape 36"/>
          <p:cNvSpPr/>
          <p:nvPr/>
        </p:nvSpPr>
        <p:spPr>
          <a:xfrm>
            <a:off x="6236208" y="777240"/>
            <a:ext cx="6016752" cy="530352"/>
          </a:xfrm>
          <a:prstGeom prst="rect">
            <a:avLst/>
          </a:prstGeom>
          <a:solidFill>
            <a:srgbClr val="FFFFFF"/>
          </a:solidFill>
          <a:ln w="3175">
            <a:solidFill>
              <a:srgbClr val="E5E7EB"/>
            </a:solidFill>
            <a:prstDash val="solid"/>
          </a:ln>
        </p:spPr>
      </p:sp>
      <p:sp>
        <p:nvSpPr>
          <p:cNvPr id="39" name="Text 37"/>
          <p:cNvSpPr/>
          <p:nvPr/>
        </p:nvSpPr>
        <p:spPr>
          <a:xfrm>
            <a:off x="6309360" y="795528"/>
            <a:ext cx="777240" cy="493776"/>
          </a:xfrm>
          <a:prstGeom prst="rect">
            <a:avLst/>
          </a:prstGeom>
          <a:noFill/>
          <a:ln/>
        </p:spPr>
        <p:txBody>
          <a:bodyPr wrap="square" lIns="0" tIns="0" rIns="0" bIns="0" rtlCol="0" anchor="ctr"/>
          <a:lstStyle/>
          <a:p>
            <a:pPr indent="0" marL="0">
              <a:buNone/>
            </a:pPr>
            <a:r>
              <a:rPr lang="en-US" sz="750" b="1" dirty="0">
                <a:solidFill>
                  <a:srgbClr val="1F2937"/>
                </a:solidFill>
              </a:rPr>
              <a:t>Monitoring &amp; Error Tracking</a:t>
            </a:r>
            <a:endParaRPr lang="en-US" sz="750" dirty="0"/>
          </a:p>
        </p:txBody>
      </p:sp>
      <p:sp>
        <p:nvSpPr>
          <p:cNvPr id="40" name="Text 38"/>
          <p:cNvSpPr/>
          <p:nvPr/>
        </p:nvSpPr>
        <p:spPr>
          <a:xfrm>
            <a:off x="7104888" y="804672"/>
            <a:ext cx="4178808" cy="475488"/>
          </a:xfrm>
          <a:prstGeom prst="rect">
            <a:avLst/>
          </a:prstGeom>
          <a:noFill/>
          <a:ln/>
        </p:spPr>
        <p:txBody>
          <a:bodyPr wrap="square" lIns="0" tIns="0" rIns="0" bIns="0" rtlCol="0" anchor="t"/>
          <a:lstStyle/>
          <a:p>
            <a:pPr indent="0" marL="0">
              <a:buNone/>
            </a:pPr>
            <a:r>
              <a:rPr lang="en-US" sz="650" dirty="0">
                <a:solidFill>
                  <a:srgbClr val="374151"/>
                </a:solidFill>
              </a:rPr>
              <a:t>Added automatic tracking of what users do in the app (screens viewed, buttons tapped) and instant alerts when something breaks, so issues get caught and fixed faster instead of relying on user reports.</a:t>
            </a:r>
            <a:endParaRPr lang="en-US" sz="650" dirty="0"/>
          </a:p>
        </p:txBody>
      </p:sp>
      <p:sp>
        <p:nvSpPr>
          <p:cNvPr id="41" name="Shape 39"/>
          <p:cNvSpPr/>
          <p:nvPr/>
        </p:nvSpPr>
        <p:spPr>
          <a:xfrm>
            <a:off x="11375136" y="955548"/>
            <a:ext cx="822960" cy="173736"/>
          </a:xfrm>
          <a:prstGeom prst="roundRect">
            <a:avLst>
              <a:gd name="adj" fmla="val 15789"/>
            </a:avLst>
          </a:prstGeom>
          <a:solidFill>
            <a:srgbClr val="1558A8"/>
          </a:solidFill>
          <a:ln w="12700">
            <a:solidFill>
              <a:srgbClr val="1558A8"/>
            </a:solidFill>
            <a:prstDash val="solid"/>
          </a:ln>
        </p:spPr>
      </p:sp>
      <p:sp>
        <p:nvSpPr>
          <p:cNvPr id="42" name="Text 40"/>
          <p:cNvSpPr/>
          <p:nvPr/>
        </p:nvSpPr>
        <p:spPr>
          <a:xfrm>
            <a:off x="11375136" y="955548"/>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43" name="Shape 41"/>
          <p:cNvSpPr/>
          <p:nvPr/>
        </p:nvSpPr>
        <p:spPr>
          <a:xfrm>
            <a:off x="6236208" y="1307592"/>
            <a:ext cx="6016752" cy="0"/>
          </a:xfrm>
          <a:prstGeom prst="line">
            <a:avLst/>
          </a:prstGeom>
          <a:noFill/>
          <a:ln w="6350">
            <a:solidFill>
              <a:srgbClr val="E5E7EB"/>
            </a:solidFill>
            <a:prstDash val="solid"/>
          </a:ln>
        </p:spPr>
      </p:sp>
      <p:sp>
        <p:nvSpPr>
          <p:cNvPr id="44" name="Text 42"/>
          <p:cNvSpPr/>
          <p:nvPr/>
        </p:nvSpPr>
        <p:spPr>
          <a:xfrm>
            <a:off x="6309360" y="1325880"/>
            <a:ext cx="777240" cy="493776"/>
          </a:xfrm>
          <a:prstGeom prst="rect">
            <a:avLst/>
          </a:prstGeom>
          <a:noFill/>
          <a:ln/>
        </p:spPr>
        <p:txBody>
          <a:bodyPr wrap="square" lIns="0" tIns="0" rIns="0" bIns="0" rtlCol="0" anchor="ctr"/>
          <a:lstStyle/>
          <a:p>
            <a:pPr indent="0" marL="0">
              <a:buNone/>
            </a:pPr>
            <a:r>
              <a:rPr lang="en-US" sz="750" b="1" dirty="0">
                <a:solidFill>
                  <a:srgbClr val="1F2937"/>
                </a:solidFill>
              </a:rPr>
              <a:t>New Mobile App</a:t>
            </a:r>
            <a:endParaRPr lang="en-US" sz="750" dirty="0"/>
          </a:p>
        </p:txBody>
      </p:sp>
      <p:sp>
        <p:nvSpPr>
          <p:cNvPr id="45" name="Text 43"/>
          <p:cNvSpPr/>
          <p:nvPr/>
        </p:nvSpPr>
        <p:spPr>
          <a:xfrm>
            <a:off x="7104888" y="1335024"/>
            <a:ext cx="4178808" cy="475488"/>
          </a:xfrm>
          <a:prstGeom prst="rect">
            <a:avLst/>
          </a:prstGeom>
          <a:noFill/>
          <a:ln/>
        </p:spPr>
        <p:txBody>
          <a:bodyPr wrap="square" lIns="0" tIns="0" rIns="0" bIns="0" rtlCol="0" anchor="t"/>
          <a:lstStyle/>
          <a:p>
            <a:pPr indent="0" marL="0">
              <a:buNone/>
            </a:pPr>
            <a:r>
              <a:rPr lang="en-US" sz="650" dirty="0">
                <a:solidFill>
                  <a:srgbClr val="374151"/>
                </a:solidFill>
              </a:rPr>
              <a:t>Migrated the app off mock data onto the live backend (Home, Live, Schedule, Tournaments now show real content and real playback). Shipped ~35 merged updates.</a:t>
            </a:r>
            <a:endParaRPr lang="en-US" sz="650" dirty="0"/>
          </a:p>
        </p:txBody>
      </p:sp>
      <p:sp>
        <p:nvSpPr>
          <p:cNvPr id="46" name="Shape 44"/>
          <p:cNvSpPr/>
          <p:nvPr/>
        </p:nvSpPr>
        <p:spPr>
          <a:xfrm>
            <a:off x="11375136" y="1485900"/>
            <a:ext cx="822960" cy="173736"/>
          </a:xfrm>
          <a:prstGeom prst="roundRect">
            <a:avLst>
              <a:gd name="adj" fmla="val 15789"/>
            </a:avLst>
          </a:prstGeom>
          <a:solidFill>
            <a:srgbClr val="1558A8"/>
          </a:solidFill>
          <a:ln w="12700">
            <a:solidFill>
              <a:srgbClr val="1558A8"/>
            </a:solidFill>
            <a:prstDash val="solid"/>
          </a:ln>
        </p:spPr>
      </p:sp>
      <p:sp>
        <p:nvSpPr>
          <p:cNvPr id="47" name="Text 45"/>
          <p:cNvSpPr/>
          <p:nvPr/>
        </p:nvSpPr>
        <p:spPr>
          <a:xfrm>
            <a:off x="11375136" y="1485900"/>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48" name="Shape 46"/>
          <p:cNvSpPr/>
          <p:nvPr/>
        </p:nvSpPr>
        <p:spPr>
          <a:xfrm>
            <a:off x="6236208" y="1837944"/>
            <a:ext cx="6016752" cy="530352"/>
          </a:xfrm>
          <a:prstGeom prst="rect">
            <a:avLst/>
          </a:prstGeom>
          <a:solidFill>
            <a:srgbClr val="FFFFFF"/>
          </a:solidFill>
          <a:ln w="3175">
            <a:solidFill>
              <a:srgbClr val="E5E7EB"/>
            </a:solidFill>
            <a:prstDash val="solid"/>
          </a:ln>
        </p:spPr>
      </p:sp>
      <p:sp>
        <p:nvSpPr>
          <p:cNvPr id="49" name="Shape 47"/>
          <p:cNvSpPr/>
          <p:nvPr/>
        </p:nvSpPr>
        <p:spPr>
          <a:xfrm>
            <a:off x="6236208" y="1837944"/>
            <a:ext cx="6016752" cy="0"/>
          </a:xfrm>
          <a:prstGeom prst="line">
            <a:avLst/>
          </a:prstGeom>
          <a:noFill/>
          <a:ln w="6350">
            <a:solidFill>
              <a:srgbClr val="E5E7EB"/>
            </a:solidFill>
            <a:prstDash val="solid"/>
          </a:ln>
        </p:spPr>
      </p:sp>
      <p:sp>
        <p:nvSpPr>
          <p:cNvPr id="50" name="Text 48"/>
          <p:cNvSpPr/>
          <p:nvPr/>
        </p:nvSpPr>
        <p:spPr>
          <a:xfrm>
            <a:off x="6309360" y="1856232"/>
            <a:ext cx="777240" cy="493776"/>
          </a:xfrm>
          <a:prstGeom prst="rect">
            <a:avLst/>
          </a:prstGeom>
          <a:noFill/>
          <a:ln/>
        </p:spPr>
        <p:txBody>
          <a:bodyPr wrap="square" lIns="0" tIns="0" rIns="0" bIns="0" rtlCol="0" anchor="ctr"/>
          <a:lstStyle/>
          <a:p>
            <a:pPr indent="0" marL="0">
              <a:buNone/>
            </a:pPr>
            <a:r>
              <a:rPr lang="en-US" sz="750" b="1" dirty="0">
                <a:solidFill>
                  <a:srgbClr val="1F2937"/>
                </a:solidFill>
              </a:rPr>
              <a:t>New Website</a:t>
            </a:r>
            <a:endParaRPr lang="en-US" sz="750" dirty="0"/>
          </a:p>
        </p:txBody>
      </p:sp>
      <p:sp>
        <p:nvSpPr>
          <p:cNvPr id="51" name="Text 49"/>
          <p:cNvSpPr/>
          <p:nvPr/>
        </p:nvSpPr>
        <p:spPr>
          <a:xfrm>
            <a:off x="7104888" y="1865376"/>
            <a:ext cx="4178808" cy="475488"/>
          </a:xfrm>
          <a:prstGeom prst="rect">
            <a:avLst/>
          </a:prstGeom>
          <a:noFill/>
          <a:ln/>
        </p:spPr>
        <p:txBody>
          <a:bodyPr wrap="square" lIns="0" tIns="0" rIns="0" bIns="0" rtlCol="0" anchor="t"/>
          <a:lstStyle/>
          <a:p>
            <a:pPr indent="0" marL="0">
              <a:buNone/>
            </a:pPr>
            <a:r>
              <a:rPr lang="en-US" sz="650" dirty="0">
                <a:solidFill>
                  <a:srgbClr val="374151"/>
                </a:solidFill>
              </a:rPr>
              <a:t>Prototyping Auth0/Cleeng login, building out CMS widget support, and standing up Adobe Pass provider management. Carousel page engine and backend refresh API delivered.</a:t>
            </a:r>
            <a:endParaRPr lang="en-US" sz="650" dirty="0"/>
          </a:p>
        </p:txBody>
      </p:sp>
      <p:sp>
        <p:nvSpPr>
          <p:cNvPr id="52" name="Shape 50"/>
          <p:cNvSpPr/>
          <p:nvPr/>
        </p:nvSpPr>
        <p:spPr>
          <a:xfrm>
            <a:off x="11375136" y="2016252"/>
            <a:ext cx="822960" cy="173736"/>
          </a:xfrm>
          <a:prstGeom prst="roundRect">
            <a:avLst>
              <a:gd name="adj" fmla="val 15789"/>
            </a:avLst>
          </a:prstGeom>
          <a:solidFill>
            <a:srgbClr val="1558A8"/>
          </a:solidFill>
          <a:ln w="12700">
            <a:solidFill>
              <a:srgbClr val="1558A8"/>
            </a:solidFill>
            <a:prstDash val="solid"/>
          </a:ln>
        </p:spPr>
      </p:sp>
      <p:sp>
        <p:nvSpPr>
          <p:cNvPr id="53" name="Text 51"/>
          <p:cNvSpPr/>
          <p:nvPr/>
        </p:nvSpPr>
        <p:spPr>
          <a:xfrm>
            <a:off x="11375136" y="2016252"/>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54" name="Shape 52"/>
          <p:cNvSpPr/>
          <p:nvPr/>
        </p:nvSpPr>
        <p:spPr>
          <a:xfrm>
            <a:off x="6236208" y="2368296"/>
            <a:ext cx="6016752" cy="0"/>
          </a:xfrm>
          <a:prstGeom prst="line">
            <a:avLst/>
          </a:prstGeom>
          <a:noFill/>
          <a:ln w="6350">
            <a:solidFill>
              <a:srgbClr val="E5E7EB"/>
            </a:solidFill>
            <a:prstDash val="solid"/>
          </a:ln>
        </p:spPr>
      </p:sp>
      <p:sp>
        <p:nvSpPr>
          <p:cNvPr id="55" name="Text 53"/>
          <p:cNvSpPr/>
          <p:nvPr/>
        </p:nvSpPr>
        <p:spPr>
          <a:xfrm>
            <a:off x="6309360" y="2386584"/>
            <a:ext cx="777240" cy="493776"/>
          </a:xfrm>
          <a:prstGeom prst="rect">
            <a:avLst/>
          </a:prstGeom>
          <a:noFill/>
          <a:ln/>
        </p:spPr>
        <p:txBody>
          <a:bodyPr wrap="square" lIns="0" tIns="0" rIns="0" bIns="0" rtlCol="0" anchor="ctr"/>
          <a:lstStyle/>
          <a:p>
            <a:pPr indent="0" marL="0">
              <a:buNone/>
            </a:pPr>
            <a:r>
              <a:rPr lang="en-US" sz="750" b="1" dirty="0">
                <a:solidFill>
                  <a:srgbClr val="1F2937"/>
                </a:solidFill>
              </a:rPr>
              <a:t>Hosting</a:t>
            </a:r>
            <a:endParaRPr lang="en-US" sz="750" dirty="0"/>
          </a:p>
        </p:txBody>
      </p:sp>
      <p:sp>
        <p:nvSpPr>
          <p:cNvPr id="56" name="Text 54"/>
          <p:cNvSpPr/>
          <p:nvPr/>
        </p:nvSpPr>
        <p:spPr>
          <a:xfrm>
            <a:off x="7104888" y="2395728"/>
            <a:ext cx="4178808" cy="475488"/>
          </a:xfrm>
          <a:prstGeom prst="rect">
            <a:avLst/>
          </a:prstGeom>
          <a:noFill/>
          <a:ln/>
        </p:spPr>
        <p:txBody>
          <a:bodyPr wrap="square" lIns="0" tIns="0" rIns="0" bIns="0" rtlCol="0" anchor="t"/>
          <a:lstStyle/>
          <a:p>
            <a:pPr indent="0" marL="0">
              <a:buNone/>
            </a:pPr>
            <a:r>
              <a:rPr lang="en-US" sz="650" dirty="0">
                <a:solidFill>
                  <a:srgbClr val="374151"/>
                </a:solidFill>
              </a:rPr>
              <a:t>Moving control of Tennis Channel's website hosting setup in-house — same approach already used successfully for Tennis.com — giving us more control ahead of launch.</a:t>
            </a:r>
            <a:endParaRPr lang="en-US" sz="650" dirty="0"/>
          </a:p>
        </p:txBody>
      </p:sp>
      <p:sp>
        <p:nvSpPr>
          <p:cNvPr id="57" name="Shape 55"/>
          <p:cNvSpPr/>
          <p:nvPr/>
        </p:nvSpPr>
        <p:spPr>
          <a:xfrm>
            <a:off x="11375136" y="2546604"/>
            <a:ext cx="822960" cy="173736"/>
          </a:xfrm>
          <a:prstGeom prst="roundRect">
            <a:avLst>
              <a:gd name="adj" fmla="val 15789"/>
            </a:avLst>
          </a:prstGeom>
          <a:solidFill>
            <a:srgbClr val="1558A8"/>
          </a:solidFill>
          <a:ln w="12700">
            <a:solidFill>
              <a:srgbClr val="1558A8"/>
            </a:solidFill>
            <a:prstDash val="solid"/>
          </a:ln>
        </p:spPr>
      </p:sp>
      <p:sp>
        <p:nvSpPr>
          <p:cNvPr id="58" name="Text 56"/>
          <p:cNvSpPr/>
          <p:nvPr/>
        </p:nvSpPr>
        <p:spPr>
          <a:xfrm>
            <a:off x="11375136" y="254660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59" name="Shape 57"/>
          <p:cNvSpPr/>
          <p:nvPr/>
        </p:nvSpPr>
        <p:spPr>
          <a:xfrm>
            <a:off x="6236208" y="2898648"/>
            <a:ext cx="6016752" cy="530352"/>
          </a:xfrm>
          <a:prstGeom prst="rect">
            <a:avLst/>
          </a:prstGeom>
          <a:solidFill>
            <a:srgbClr val="FFFFFF"/>
          </a:solidFill>
          <a:ln w="3175">
            <a:solidFill>
              <a:srgbClr val="E5E7EB"/>
            </a:solidFill>
            <a:prstDash val="solid"/>
          </a:ln>
        </p:spPr>
      </p:sp>
      <p:sp>
        <p:nvSpPr>
          <p:cNvPr id="60" name="Shape 58"/>
          <p:cNvSpPr/>
          <p:nvPr/>
        </p:nvSpPr>
        <p:spPr>
          <a:xfrm>
            <a:off x="6236208" y="2898648"/>
            <a:ext cx="6016752" cy="0"/>
          </a:xfrm>
          <a:prstGeom prst="line">
            <a:avLst/>
          </a:prstGeom>
          <a:noFill/>
          <a:ln w="6350">
            <a:solidFill>
              <a:srgbClr val="E5E7EB"/>
            </a:solidFill>
            <a:prstDash val="solid"/>
          </a:ln>
        </p:spPr>
      </p:sp>
      <p:sp>
        <p:nvSpPr>
          <p:cNvPr id="61" name="Text 59"/>
          <p:cNvSpPr/>
          <p:nvPr/>
        </p:nvSpPr>
        <p:spPr>
          <a:xfrm>
            <a:off x="6309360" y="2916936"/>
            <a:ext cx="777240" cy="493776"/>
          </a:xfrm>
          <a:prstGeom prst="rect">
            <a:avLst/>
          </a:prstGeom>
          <a:noFill/>
          <a:ln/>
        </p:spPr>
        <p:txBody>
          <a:bodyPr wrap="square" lIns="0" tIns="0" rIns="0" bIns="0" rtlCol="0" anchor="ctr"/>
          <a:lstStyle/>
          <a:p>
            <a:pPr indent="0" marL="0">
              <a:buNone/>
            </a:pPr>
            <a:r>
              <a:rPr lang="en-US" sz="750" b="1" dirty="0">
                <a:solidFill>
                  <a:srgbClr val="1F2937"/>
                </a:solidFill>
              </a:rPr>
              <a:t>Analytics Data Warehouse</a:t>
            </a:r>
            <a:endParaRPr lang="en-US" sz="750" dirty="0"/>
          </a:p>
        </p:txBody>
      </p:sp>
      <p:sp>
        <p:nvSpPr>
          <p:cNvPr id="62" name="Text 60"/>
          <p:cNvSpPr/>
          <p:nvPr/>
        </p:nvSpPr>
        <p:spPr>
          <a:xfrm>
            <a:off x="7104888" y="2926080"/>
            <a:ext cx="4178808" cy="475488"/>
          </a:xfrm>
          <a:prstGeom prst="rect">
            <a:avLst/>
          </a:prstGeom>
          <a:noFill/>
          <a:ln/>
        </p:spPr>
        <p:txBody>
          <a:bodyPr wrap="square" lIns="0" tIns="0" rIns="0" bIns="0" rtlCol="0" anchor="t"/>
          <a:lstStyle/>
          <a:p>
            <a:pPr indent="0" marL="0">
              <a:buNone/>
            </a:pPr>
            <a:endParaRPr lang="en-US" sz="650" dirty="0"/>
          </a:p>
        </p:txBody>
      </p:sp>
      <p:sp>
        <p:nvSpPr>
          <p:cNvPr id="63" name="Shape 61"/>
          <p:cNvSpPr/>
          <p:nvPr/>
        </p:nvSpPr>
        <p:spPr>
          <a:xfrm>
            <a:off x="11375136" y="3076956"/>
            <a:ext cx="822960" cy="173736"/>
          </a:xfrm>
          <a:prstGeom prst="roundRect">
            <a:avLst>
              <a:gd name="adj" fmla="val 15789"/>
            </a:avLst>
          </a:prstGeom>
          <a:solidFill>
            <a:srgbClr val="F3F4F6"/>
          </a:solidFill>
          <a:ln w="9525">
            <a:solidFill>
              <a:srgbClr val="D1D5DB"/>
            </a:solidFill>
            <a:prstDash val="solid"/>
          </a:ln>
        </p:spPr>
      </p:sp>
      <p:sp>
        <p:nvSpPr>
          <p:cNvPr id="64" name="Text 62"/>
          <p:cNvSpPr/>
          <p:nvPr/>
        </p:nvSpPr>
        <p:spPr>
          <a:xfrm>
            <a:off x="11375136" y="3076956"/>
            <a:ext cx="822960" cy="173736"/>
          </a:xfrm>
          <a:prstGeom prst="rect">
            <a:avLst/>
          </a:prstGeom>
          <a:noFill/>
          <a:ln/>
        </p:spPr>
        <p:txBody>
          <a:bodyPr wrap="square" lIns="0" tIns="0" rIns="0" bIns="0" rtlCol="0" anchor="ctr"/>
          <a:lstStyle/>
          <a:p>
            <a:pPr algn="ctr" indent="0" marL="0">
              <a:buNone/>
            </a:pPr>
            <a:r>
              <a:rPr lang="en-US" sz="650" b="1" dirty="0">
                <a:solidFill>
                  <a:srgbClr val="374151"/>
                </a:solidFill>
              </a:rPr>
              <a:t>Not Started</a:t>
            </a:r>
            <a:endParaRPr lang="en-US" sz="650" dirty="0"/>
          </a:p>
        </p:txBody>
      </p:sp>
      <p:sp>
        <p:nvSpPr>
          <p:cNvPr id="65" name="Shape 63"/>
          <p:cNvSpPr/>
          <p:nvPr/>
        </p:nvSpPr>
        <p:spPr>
          <a:xfrm>
            <a:off x="91440" y="3502152"/>
            <a:ext cx="6016752" cy="3749040"/>
          </a:xfrm>
          <a:prstGeom prst="rect">
            <a:avLst/>
          </a:prstGeom>
          <a:solidFill>
            <a:srgbClr val="FAFBFC"/>
          </a:solidFill>
          <a:ln w="9525">
            <a:solidFill>
              <a:srgbClr val="D1D5DB"/>
            </a:solidFill>
            <a:prstDash val="solid"/>
          </a:ln>
        </p:spPr>
      </p:sp>
      <p:sp>
        <p:nvSpPr>
          <p:cNvPr id="66" name="Shape 64"/>
          <p:cNvSpPr/>
          <p:nvPr/>
        </p:nvSpPr>
        <p:spPr>
          <a:xfrm>
            <a:off x="91440" y="3502152"/>
            <a:ext cx="6016752" cy="274320"/>
          </a:xfrm>
          <a:prstGeom prst="rect">
            <a:avLst/>
          </a:prstGeom>
          <a:solidFill>
            <a:srgbClr val="8ED973"/>
          </a:solidFill>
          <a:ln w="12700">
            <a:solidFill>
              <a:srgbClr val="8ED973"/>
            </a:solidFill>
            <a:prstDash val="solid"/>
          </a:ln>
        </p:spPr>
      </p:sp>
      <p:sp>
        <p:nvSpPr>
          <p:cNvPr id="67" name="Text 65"/>
          <p:cNvSpPr/>
          <p:nvPr/>
        </p:nvSpPr>
        <p:spPr>
          <a:xfrm>
            <a:off x="201168" y="3502152"/>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Partner / Platform Integrations</a:t>
            </a:r>
            <a:endParaRPr lang="en-US" sz="900" dirty="0"/>
          </a:p>
        </p:txBody>
      </p:sp>
      <p:sp>
        <p:nvSpPr>
          <p:cNvPr id="68" name="Shape 66"/>
          <p:cNvSpPr/>
          <p:nvPr/>
        </p:nvSpPr>
        <p:spPr>
          <a:xfrm>
            <a:off x="91440" y="3776472"/>
            <a:ext cx="6016752" cy="1158240"/>
          </a:xfrm>
          <a:prstGeom prst="rect">
            <a:avLst/>
          </a:prstGeom>
          <a:solidFill>
            <a:srgbClr val="FFFFFF"/>
          </a:solidFill>
          <a:ln w="3175">
            <a:solidFill>
              <a:srgbClr val="E5E7EB"/>
            </a:solidFill>
            <a:prstDash val="solid"/>
          </a:ln>
        </p:spPr>
      </p:sp>
      <p:sp>
        <p:nvSpPr>
          <p:cNvPr id="69" name="Text 67"/>
          <p:cNvSpPr/>
          <p:nvPr/>
        </p:nvSpPr>
        <p:spPr>
          <a:xfrm>
            <a:off x="164592" y="3794760"/>
            <a:ext cx="777240" cy="1121664"/>
          </a:xfrm>
          <a:prstGeom prst="rect">
            <a:avLst/>
          </a:prstGeom>
          <a:noFill/>
          <a:ln/>
        </p:spPr>
        <p:txBody>
          <a:bodyPr wrap="square" lIns="0" tIns="0" rIns="0" bIns="0" rtlCol="0" anchor="ctr"/>
          <a:lstStyle/>
          <a:p>
            <a:pPr indent="0" marL="0">
              <a:buNone/>
            </a:pPr>
            <a:r>
              <a:rPr lang="en-US" sz="750" b="1" dirty="0">
                <a:solidFill>
                  <a:srgbClr val="1F2937"/>
                </a:solidFill>
              </a:rPr>
              <a:t>MVPD</a:t>
            </a:r>
            <a:endParaRPr lang="en-US" sz="750" dirty="0"/>
          </a:p>
        </p:txBody>
      </p:sp>
      <p:sp>
        <p:nvSpPr>
          <p:cNvPr id="70" name="Text 68"/>
          <p:cNvSpPr/>
          <p:nvPr/>
        </p:nvSpPr>
        <p:spPr>
          <a:xfrm>
            <a:off x="960120" y="3803904"/>
            <a:ext cx="4178808" cy="1103376"/>
          </a:xfrm>
          <a:prstGeom prst="rect">
            <a:avLst/>
          </a:prstGeom>
          <a:noFill/>
          <a:ln/>
        </p:spPr>
        <p:txBody>
          <a:bodyPr wrap="square" lIns="0" tIns="0" rIns="0" bIns="0" rtlCol="0" anchor="t"/>
          <a:lstStyle/>
          <a:p>
            <a:pPr indent="0" marL="0">
              <a:buNone/>
            </a:pPr>
            <a:r>
              <a:rPr lang="en-US" sz="650" dirty="0">
                <a:solidFill>
                  <a:srgbClr val="374151"/>
                </a:solidFill>
              </a:rPr>
              <a:t>Adobe Pass integration underway for MVPD access; CMS-based provider management being brought into the web app, with basic prototypes built and currently hardcoded to DirecTV for testing.</a:t>
            </a:r>
            <a:endParaRPr lang="en-US" sz="650" dirty="0"/>
          </a:p>
        </p:txBody>
      </p:sp>
      <p:sp>
        <p:nvSpPr>
          <p:cNvPr id="71" name="Shape 69"/>
          <p:cNvSpPr/>
          <p:nvPr/>
        </p:nvSpPr>
        <p:spPr>
          <a:xfrm>
            <a:off x="5230368" y="4268724"/>
            <a:ext cx="822960" cy="173736"/>
          </a:xfrm>
          <a:prstGeom prst="roundRect">
            <a:avLst>
              <a:gd name="adj" fmla="val 15789"/>
            </a:avLst>
          </a:prstGeom>
          <a:solidFill>
            <a:srgbClr val="1558A8"/>
          </a:solidFill>
          <a:ln w="12700">
            <a:solidFill>
              <a:srgbClr val="1558A8"/>
            </a:solidFill>
            <a:prstDash val="solid"/>
          </a:ln>
        </p:spPr>
      </p:sp>
      <p:sp>
        <p:nvSpPr>
          <p:cNvPr id="72" name="Text 70"/>
          <p:cNvSpPr/>
          <p:nvPr/>
        </p:nvSpPr>
        <p:spPr>
          <a:xfrm>
            <a:off x="5230368" y="426872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73" name="Shape 71"/>
          <p:cNvSpPr/>
          <p:nvPr/>
        </p:nvSpPr>
        <p:spPr>
          <a:xfrm>
            <a:off x="91440" y="4934712"/>
            <a:ext cx="6016752" cy="0"/>
          </a:xfrm>
          <a:prstGeom prst="line">
            <a:avLst/>
          </a:prstGeom>
          <a:noFill/>
          <a:ln w="6350">
            <a:solidFill>
              <a:srgbClr val="E5E7EB"/>
            </a:solidFill>
            <a:prstDash val="solid"/>
          </a:ln>
        </p:spPr>
      </p:sp>
      <p:sp>
        <p:nvSpPr>
          <p:cNvPr id="74" name="Text 72"/>
          <p:cNvSpPr/>
          <p:nvPr/>
        </p:nvSpPr>
        <p:spPr>
          <a:xfrm>
            <a:off x="164592" y="4953000"/>
            <a:ext cx="777240" cy="1121664"/>
          </a:xfrm>
          <a:prstGeom prst="rect">
            <a:avLst/>
          </a:prstGeom>
          <a:noFill/>
          <a:ln/>
        </p:spPr>
        <p:txBody>
          <a:bodyPr wrap="square" lIns="0" tIns="0" rIns="0" bIns="0" rtlCol="0" anchor="ctr"/>
          <a:lstStyle/>
          <a:p>
            <a:pPr indent="0" marL="0">
              <a:buNone/>
            </a:pPr>
            <a:r>
              <a:rPr lang="en-US" sz="750" b="1" dirty="0">
                <a:solidFill>
                  <a:srgbClr val="1F2937"/>
                </a:solidFill>
              </a:rPr>
              <a:t>DRM</a:t>
            </a:r>
            <a:endParaRPr lang="en-US" sz="750" dirty="0"/>
          </a:p>
        </p:txBody>
      </p:sp>
      <p:sp>
        <p:nvSpPr>
          <p:cNvPr id="75" name="Text 73"/>
          <p:cNvSpPr/>
          <p:nvPr/>
        </p:nvSpPr>
        <p:spPr>
          <a:xfrm>
            <a:off x="960120" y="4962144"/>
            <a:ext cx="4178808" cy="1103376"/>
          </a:xfrm>
          <a:prstGeom prst="rect">
            <a:avLst/>
          </a:prstGeom>
          <a:noFill/>
          <a:ln/>
        </p:spPr>
        <p:txBody>
          <a:bodyPr wrap="square" lIns="0" tIns="0" rIns="0" bIns="0" rtlCol="0" anchor="t"/>
          <a:lstStyle/>
          <a:p>
            <a:pPr indent="0" marL="0">
              <a:buNone/>
            </a:pPr>
            <a:r>
              <a:rPr lang="en-US" sz="650" dirty="0">
                <a:solidFill>
                  <a:srgbClr val="374151"/>
                </a:solidFill>
              </a:rPr>
              <a:t>Dedicated DRM auth service launched, with license flows stubbed for FairPlay, Widevine, and PlayReady, and handed off to Amagi for EZDRM integration testing.</a:t>
            </a:r>
            <a:endParaRPr lang="en-US" sz="650" dirty="0"/>
          </a:p>
        </p:txBody>
      </p:sp>
      <p:sp>
        <p:nvSpPr>
          <p:cNvPr id="76" name="Shape 74"/>
          <p:cNvSpPr/>
          <p:nvPr/>
        </p:nvSpPr>
        <p:spPr>
          <a:xfrm>
            <a:off x="5230368" y="5426964"/>
            <a:ext cx="822960" cy="173736"/>
          </a:xfrm>
          <a:prstGeom prst="roundRect">
            <a:avLst>
              <a:gd name="adj" fmla="val 15789"/>
            </a:avLst>
          </a:prstGeom>
          <a:solidFill>
            <a:srgbClr val="1558A8"/>
          </a:solidFill>
          <a:ln w="12700">
            <a:solidFill>
              <a:srgbClr val="1558A8"/>
            </a:solidFill>
            <a:prstDash val="solid"/>
          </a:ln>
        </p:spPr>
      </p:sp>
      <p:sp>
        <p:nvSpPr>
          <p:cNvPr id="77" name="Text 75"/>
          <p:cNvSpPr/>
          <p:nvPr/>
        </p:nvSpPr>
        <p:spPr>
          <a:xfrm>
            <a:off x="5230368" y="542696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78" name="Shape 76"/>
          <p:cNvSpPr/>
          <p:nvPr/>
        </p:nvSpPr>
        <p:spPr>
          <a:xfrm>
            <a:off x="91440" y="6092952"/>
            <a:ext cx="6016752" cy="1158240"/>
          </a:xfrm>
          <a:prstGeom prst="rect">
            <a:avLst/>
          </a:prstGeom>
          <a:solidFill>
            <a:srgbClr val="FFFFFF"/>
          </a:solidFill>
          <a:ln w="3175">
            <a:solidFill>
              <a:srgbClr val="E5E7EB"/>
            </a:solidFill>
            <a:prstDash val="solid"/>
          </a:ln>
        </p:spPr>
      </p:sp>
      <p:sp>
        <p:nvSpPr>
          <p:cNvPr id="79" name="Shape 77"/>
          <p:cNvSpPr/>
          <p:nvPr/>
        </p:nvSpPr>
        <p:spPr>
          <a:xfrm>
            <a:off x="91440" y="6092952"/>
            <a:ext cx="6016752" cy="0"/>
          </a:xfrm>
          <a:prstGeom prst="line">
            <a:avLst/>
          </a:prstGeom>
          <a:noFill/>
          <a:ln w="6350">
            <a:solidFill>
              <a:srgbClr val="E5E7EB"/>
            </a:solidFill>
            <a:prstDash val="solid"/>
          </a:ln>
        </p:spPr>
      </p:sp>
      <p:sp>
        <p:nvSpPr>
          <p:cNvPr id="80" name="Text 78"/>
          <p:cNvSpPr/>
          <p:nvPr/>
        </p:nvSpPr>
        <p:spPr>
          <a:xfrm>
            <a:off x="164592" y="6111240"/>
            <a:ext cx="777240" cy="1121664"/>
          </a:xfrm>
          <a:prstGeom prst="rect">
            <a:avLst/>
          </a:prstGeom>
          <a:noFill/>
          <a:ln/>
        </p:spPr>
        <p:txBody>
          <a:bodyPr wrap="square" lIns="0" tIns="0" rIns="0" bIns="0" rtlCol="0" anchor="ctr"/>
          <a:lstStyle/>
          <a:p>
            <a:pPr indent="0" marL="0">
              <a:buNone/>
            </a:pPr>
            <a:r>
              <a:rPr lang="en-US" sz="750" b="1" dirty="0">
                <a:solidFill>
                  <a:srgbClr val="1F2937"/>
                </a:solidFill>
              </a:rPr>
              <a:t>FOXXUM</a:t>
            </a:r>
            <a:endParaRPr lang="en-US" sz="750" dirty="0"/>
          </a:p>
        </p:txBody>
      </p:sp>
      <p:sp>
        <p:nvSpPr>
          <p:cNvPr id="81" name="Text 79"/>
          <p:cNvSpPr/>
          <p:nvPr/>
        </p:nvSpPr>
        <p:spPr>
          <a:xfrm>
            <a:off x="960120" y="6120384"/>
            <a:ext cx="4178808" cy="1103376"/>
          </a:xfrm>
          <a:prstGeom prst="rect">
            <a:avLst/>
          </a:prstGeom>
          <a:noFill/>
          <a:ln/>
        </p:spPr>
        <p:txBody>
          <a:bodyPr wrap="square" lIns="0" tIns="0" rIns="0" bIns="0" rtlCol="0" anchor="t"/>
          <a:lstStyle/>
          <a:p>
            <a:pPr indent="0" marL="0">
              <a:buNone/>
            </a:pPr>
            <a:r>
              <a:rPr lang="en-US" sz="650" dirty="0">
                <a:solidFill>
                  <a:srgbClr val="374151"/>
                </a:solidFill>
              </a:rPr>
              <a:t>Integration packet produced and workshop collaboration ongoing with Foxxum; no schema-stability specifics called out in this update.</a:t>
            </a:r>
            <a:endParaRPr lang="en-US" sz="650" dirty="0"/>
          </a:p>
        </p:txBody>
      </p:sp>
      <p:sp>
        <p:nvSpPr>
          <p:cNvPr id="82" name="Shape 80"/>
          <p:cNvSpPr/>
          <p:nvPr/>
        </p:nvSpPr>
        <p:spPr>
          <a:xfrm>
            <a:off x="5230368" y="6585204"/>
            <a:ext cx="822960" cy="173736"/>
          </a:xfrm>
          <a:prstGeom prst="roundRect">
            <a:avLst>
              <a:gd name="adj" fmla="val 15789"/>
            </a:avLst>
          </a:prstGeom>
          <a:solidFill>
            <a:srgbClr val="1558A8"/>
          </a:solidFill>
          <a:ln w="12700">
            <a:solidFill>
              <a:srgbClr val="1558A8"/>
            </a:solidFill>
            <a:prstDash val="solid"/>
          </a:ln>
        </p:spPr>
      </p:sp>
      <p:sp>
        <p:nvSpPr>
          <p:cNvPr id="83" name="Text 81"/>
          <p:cNvSpPr/>
          <p:nvPr/>
        </p:nvSpPr>
        <p:spPr>
          <a:xfrm>
            <a:off x="5230368" y="658520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84" name="Shape 82"/>
          <p:cNvSpPr/>
          <p:nvPr/>
        </p:nvSpPr>
        <p:spPr>
          <a:xfrm>
            <a:off x="6236208" y="3502152"/>
            <a:ext cx="6016752" cy="3749040"/>
          </a:xfrm>
          <a:prstGeom prst="rect">
            <a:avLst/>
          </a:prstGeom>
          <a:solidFill>
            <a:srgbClr val="FAFBFC"/>
          </a:solidFill>
          <a:ln w="9525">
            <a:solidFill>
              <a:srgbClr val="D1D5DB"/>
            </a:solidFill>
            <a:prstDash val="solid"/>
          </a:ln>
        </p:spPr>
      </p:sp>
      <p:sp>
        <p:nvSpPr>
          <p:cNvPr id="85" name="Shape 83"/>
          <p:cNvSpPr/>
          <p:nvPr/>
        </p:nvSpPr>
        <p:spPr>
          <a:xfrm>
            <a:off x="6236208" y="3502152"/>
            <a:ext cx="6016752" cy="274320"/>
          </a:xfrm>
          <a:prstGeom prst="rect">
            <a:avLst/>
          </a:prstGeom>
          <a:solidFill>
            <a:srgbClr val="8ED973"/>
          </a:solidFill>
          <a:ln w="12700">
            <a:solidFill>
              <a:srgbClr val="8ED973"/>
            </a:solidFill>
            <a:prstDash val="solid"/>
          </a:ln>
        </p:spPr>
      </p:sp>
      <p:sp>
        <p:nvSpPr>
          <p:cNvPr id="86" name="Text 84"/>
          <p:cNvSpPr/>
          <p:nvPr/>
        </p:nvSpPr>
        <p:spPr>
          <a:xfrm>
            <a:off x="6345936" y="3502152"/>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Platform Capabilities</a:t>
            </a:r>
            <a:endParaRPr lang="en-US" sz="900" dirty="0"/>
          </a:p>
        </p:txBody>
      </p:sp>
      <p:sp>
        <p:nvSpPr>
          <p:cNvPr id="87" name="Shape 85"/>
          <p:cNvSpPr/>
          <p:nvPr/>
        </p:nvSpPr>
        <p:spPr>
          <a:xfrm>
            <a:off x="6236208" y="3776472"/>
            <a:ext cx="6016752" cy="868680"/>
          </a:xfrm>
          <a:prstGeom prst="rect">
            <a:avLst/>
          </a:prstGeom>
          <a:solidFill>
            <a:srgbClr val="FFFFFF"/>
          </a:solidFill>
          <a:ln w="3175">
            <a:solidFill>
              <a:srgbClr val="E5E7EB"/>
            </a:solidFill>
            <a:prstDash val="solid"/>
          </a:ln>
        </p:spPr>
      </p:sp>
      <p:sp>
        <p:nvSpPr>
          <p:cNvPr id="88" name="Text 86"/>
          <p:cNvSpPr/>
          <p:nvPr/>
        </p:nvSpPr>
        <p:spPr>
          <a:xfrm>
            <a:off x="6309360" y="379476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Platform POC</a:t>
            </a:r>
            <a:endParaRPr lang="en-US" sz="750" dirty="0"/>
          </a:p>
        </p:txBody>
      </p:sp>
      <p:sp>
        <p:nvSpPr>
          <p:cNvPr id="89" name="Text 87"/>
          <p:cNvSpPr/>
          <p:nvPr/>
        </p:nvSpPr>
        <p:spPr>
          <a:xfrm>
            <a:off x="7104888" y="3803904"/>
            <a:ext cx="4178808" cy="813816"/>
          </a:xfrm>
          <a:prstGeom prst="rect">
            <a:avLst/>
          </a:prstGeom>
          <a:noFill/>
          <a:ln/>
        </p:spPr>
        <p:txBody>
          <a:bodyPr wrap="square" lIns="0" tIns="0" rIns="0" bIns="0" rtlCol="0" anchor="t"/>
          <a:lstStyle/>
          <a:p>
            <a:pPr indent="0" marL="0">
              <a:buNone/>
            </a:pPr>
            <a:r>
              <a:rPr lang="en-US" sz="650" dirty="0">
                <a:solidFill>
                  <a:srgbClr val="374151"/>
                </a:solidFill>
              </a:rPr>
              <a:t>Mobile login gate placeholder: first login gate for anonymous viewers built with placeholder UI ahead of the real Auth0 flow. Entitlement simulator: mobile tool simulating any account state to test flows.</a:t>
            </a:r>
            <a:endParaRPr lang="en-US" sz="650" dirty="0"/>
          </a:p>
        </p:txBody>
      </p:sp>
      <p:sp>
        <p:nvSpPr>
          <p:cNvPr id="90" name="Shape 88"/>
          <p:cNvSpPr/>
          <p:nvPr/>
        </p:nvSpPr>
        <p:spPr>
          <a:xfrm>
            <a:off x="11375136" y="4123944"/>
            <a:ext cx="822960" cy="173736"/>
          </a:xfrm>
          <a:prstGeom prst="roundRect">
            <a:avLst>
              <a:gd name="adj" fmla="val 15789"/>
            </a:avLst>
          </a:prstGeom>
          <a:solidFill>
            <a:srgbClr val="1558A8"/>
          </a:solidFill>
          <a:ln w="12700">
            <a:solidFill>
              <a:srgbClr val="1558A8"/>
            </a:solidFill>
            <a:prstDash val="solid"/>
          </a:ln>
        </p:spPr>
      </p:sp>
      <p:sp>
        <p:nvSpPr>
          <p:cNvPr id="91" name="Text 89"/>
          <p:cNvSpPr/>
          <p:nvPr/>
        </p:nvSpPr>
        <p:spPr>
          <a:xfrm>
            <a:off x="11375136" y="412394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92" name="Shape 90"/>
          <p:cNvSpPr/>
          <p:nvPr/>
        </p:nvSpPr>
        <p:spPr>
          <a:xfrm>
            <a:off x="6236208" y="4645152"/>
            <a:ext cx="6016752" cy="0"/>
          </a:xfrm>
          <a:prstGeom prst="line">
            <a:avLst/>
          </a:prstGeom>
          <a:noFill/>
          <a:ln w="6350">
            <a:solidFill>
              <a:srgbClr val="E5E7EB"/>
            </a:solidFill>
            <a:prstDash val="solid"/>
          </a:ln>
        </p:spPr>
      </p:sp>
      <p:sp>
        <p:nvSpPr>
          <p:cNvPr id="93" name="Text 91"/>
          <p:cNvSpPr/>
          <p:nvPr/>
        </p:nvSpPr>
        <p:spPr>
          <a:xfrm>
            <a:off x="6309360" y="466344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UI/UX</a:t>
            </a:r>
            <a:endParaRPr lang="en-US" sz="750" dirty="0"/>
          </a:p>
        </p:txBody>
      </p:sp>
      <p:sp>
        <p:nvSpPr>
          <p:cNvPr id="94" name="Text 92"/>
          <p:cNvSpPr/>
          <p:nvPr/>
        </p:nvSpPr>
        <p:spPr>
          <a:xfrm>
            <a:off x="7104888" y="4672584"/>
            <a:ext cx="4178808" cy="813816"/>
          </a:xfrm>
          <a:prstGeom prst="rect">
            <a:avLst/>
          </a:prstGeom>
          <a:noFill/>
          <a:ln/>
        </p:spPr>
        <p:txBody>
          <a:bodyPr wrap="square" lIns="0" tIns="0" rIns="0" bIns="0" rtlCol="0" anchor="t"/>
          <a:lstStyle/>
          <a:p>
            <a:pPr indent="0" marL="0">
              <a:buNone/>
            </a:pPr>
            <a:r>
              <a:rPr lang="en-US" sz="650" dirty="0">
                <a:solidFill>
                  <a:srgbClr val="374151"/>
                </a:solidFill>
              </a:rPr>
              <a:t>Built the front-end foundation (design system, left sidebar navigation, footer, and page shell). Built the page engine and styled the merchandising carousels.</a:t>
            </a:r>
            <a:endParaRPr lang="en-US" sz="650" dirty="0"/>
          </a:p>
        </p:txBody>
      </p:sp>
      <p:sp>
        <p:nvSpPr>
          <p:cNvPr id="95" name="Shape 93"/>
          <p:cNvSpPr/>
          <p:nvPr/>
        </p:nvSpPr>
        <p:spPr>
          <a:xfrm>
            <a:off x="11375136" y="4992624"/>
            <a:ext cx="822960" cy="173736"/>
          </a:xfrm>
          <a:prstGeom prst="roundRect">
            <a:avLst>
              <a:gd name="adj" fmla="val 15789"/>
            </a:avLst>
          </a:prstGeom>
          <a:solidFill>
            <a:srgbClr val="1558A8"/>
          </a:solidFill>
          <a:ln w="12700">
            <a:solidFill>
              <a:srgbClr val="1558A8"/>
            </a:solidFill>
            <a:prstDash val="solid"/>
          </a:ln>
        </p:spPr>
      </p:sp>
      <p:sp>
        <p:nvSpPr>
          <p:cNvPr id="96" name="Text 94"/>
          <p:cNvSpPr/>
          <p:nvPr/>
        </p:nvSpPr>
        <p:spPr>
          <a:xfrm>
            <a:off x="11375136" y="499262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97" name="Shape 95"/>
          <p:cNvSpPr/>
          <p:nvPr/>
        </p:nvSpPr>
        <p:spPr>
          <a:xfrm>
            <a:off x="6236208" y="5513832"/>
            <a:ext cx="6016752" cy="868680"/>
          </a:xfrm>
          <a:prstGeom prst="rect">
            <a:avLst/>
          </a:prstGeom>
          <a:solidFill>
            <a:srgbClr val="FFFFFF"/>
          </a:solidFill>
          <a:ln w="3175">
            <a:solidFill>
              <a:srgbClr val="E5E7EB"/>
            </a:solidFill>
            <a:prstDash val="solid"/>
          </a:ln>
        </p:spPr>
      </p:sp>
      <p:sp>
        <p:nvSpPr>
          <p:cNvPr id="98" name="Shape 96"/>
          <p:cNvSpPr/>
          <p:nvPr/>
        </p:nvSpPr>
        <p:spPr>
          <a:xfrm>
            <a:off x="6236208" y="5513832"/>
            <a:ext cx="6016752" cy="0"/>
          </a:xfrm>
          <a:prstGeom prst="line">
            <a:avLst/>
          </a:prstGeom>
          <a:noFill/>
          <a:ln w="6350">
            <a:solidFill>
              <a:srgbClr val="E5E7EB"/>
            </a:solidFill>
            <a:prstDash val="solid"/>
          </a:ln>
        </p:spPr>
      </p:sp>
      <p:sp>
        <p:nvSpPr>
          <p:cNvPr id="99" name="Text 97"/>
          <p:cNvSpPr/>
          <p:nvPr/>
        </p:nvSpPr>
        <p:spPr>
          <a:xfrm>
            <a:off x="6309360" y="553212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Video Player</a:t>
            </a:r>
            <a:endParaRPr lang="en-US" sz="750" dirty="0"/>
          </a:p>
        </p:txBody>
      </p:sp>
      <p:sp>
        <p:nvSpPr>
          <p:cNvPr id="100" name="Text 98"/>
          <p:cNvSpPr/>
          <p:nvPr/>
        </p:nvSpPr>
        <p:spPr>
          <a:xfrm>
            <a:off x="7104888" y="5541264"/>
            <a:ext cx="4178808" cy="813816"/>
          </a:xfrm>
          <a:prstGeom prst="rect">
            <a:avLst/>
          </a:prstGeom>
          <a:noFill/>
          <a:ln/>
        </p:spPr>
        <p:txBody>
          <a:bodyPr wrap="square" lIns="0" tIns="0" rIns="0" bIns="0" rtlCol="0" anchor="t"/>
          <a:lstStyle/>
          <a:p>
            <a:pPr indent="0" marL="0">
              <a:buNone/>
            </a:pPr>
            <a:r>
              <a:rPr lang="en-US" sz="650" dirty="0">
                <a:solidFill>
                  <a:srgbClr val="374151"/>
                </a:solidFill>
              </a:rPr>
              <a:t>Prototyped the video experience: exploratory test of the BitMovin player APIs — a proof-of-concept, not the final player.</a:t>
            </a:r>
            <a:endParaRPr lang="en-US" sz="650" dirty="0"/>
          </a:p>
        </p:txBody>
      </p:sp>
      <p:sp>
        <p:nvSpPr>
          <p:cNvPr id="101" name="Shape 99"/>
          <p:cNvSpPr/>
          <p:nvPr/>
        </p:nvSpPr>
        <p:spPr>
          <a:xfrm>
            <a:off x="11375136" y="5861304"/>
            <a:ext cx="822960" cy="173736"/>
          </a:xfrm>
          <a:prstGeom prst="roundRect">
            <a:avLst>
              <a:gd name="adj" fmla="val 15789"/>
            </a:avLst>
          </a:prstGeom>
          <a:solidFill>
            <a:srgbClr val="1558A8"/>
          </a:solidFill>
          <a:ln w="12700">
            <a:solidFill>
              <a:srgbClr val="1558A8"/>
            </a:solidFill>
            <a:prstDash val="solid"/>
          </a:ln>
        </p:spPr>
      </p:sp>
      <p:sp>
        <p:nvSpPr>
          <p:cNvPr id="102" name="Text 100"/>
          <p:cNvSpPr/>
          <p:nvPr/>
        </p:nvSpPr>
        <p:spPr>
          <a:xfrm>
            <a:off x="11375136" y="586130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103" name="Shape 101"/>
          <p:cNvSpPr/>
          <p:nvPr/>
        </p:nvSpPr>
        <p:spPr>
          <a:xfrm>
            <a:off x="6236208" y="6382512"/>
            <a:ext cx="6016752" cy="0"/>
          </a:xfrm>
          <a:prstGeom prst="line">
            <a:avLst/>
          </a:prstGeom>
          <a:noFill/>
          <a:ln w="6350">
            <a:solidFill>
              <a:srgbClr val="E5E7EB"/>
            </a:solidFill>
            <a:prstDash val="solid"/>
          </a:ln>
        </p:spPr>
      </p:sp>
      <p:sp>
        <p:nvSpPr>
          <p:cNvPr id="104" name="Text 102"/>
          <p:cNvSpPr/>
          <p:nvPr/>
        </p:nvSpPr>
        <p:spPr>
          <a:xfrm>
            <a:off x="6309360" y="640080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Testing</a:t>
            </a:r>
            <a:endParaRPr lang="en-US" sz="750" dirty="0"/>
          </a:p>
        </p:txBody>
      </p:sp>
      <p:sp>
        <p:nvSpPr>
          <p:cNvPr id="105" name="Text 103"/>
          <p:cNvSpPr/>
          <p:nvPr/>
        </p:nvSpPr>
        <p:spPr>
          <a:xfrm>
            <a:off x="7104888" y="6409944"/>
            <a:ext cx="4178808" cy="813816"/>
          </a:xfrm>
          <a:prstGeom prst="rect">
            <a:avLst/>
          </a:prstGeom>
          <a:noFill/>
          <a:ln/>
        </p:spPr>
        <p:txBody>
          <a:bodyPr wrap="square" lIns="0" tIns="0" rIns="0" bIns="0" rtlCol="0" anchor="t"/>
          <a:lstStyle/>
          <a:p>
            <a:pPr indent="0" marL="0">
              <a:buNone/>
            </a:pPr>
            <a:r>
              <a:rPr lang="en-US" sz="650" dirty="0">
                <a:solidFill>
                  <a:srgbClr val="374151"/>
                </a:solidFill>
              </a:rPr>
              <a:t>Testing E2E experience: Merchandising, sign-in flow, MVPD, Cleeng, replays.</a:t>
            </a:r>
            <a:endParaRPr lang="en-US" sz="650" dirty="0"/>
          </a:p>
        </p:txBody>
      </p:sp>
      <p:sp>
        <p:nvSpPr>
          <p:cNvPr id="106" name="Shape 104"/>
          <p:cNvSpPr/>
          <p:nvPr/>
        </p:nvSpPr>
        <p:spPr>
          <a:xfrm>
            <a:off x="11375136" y="6729984"/>
            <a:ext cx="822960" cy="173736"/>
          </a:xfrm>
          <a:prstGeom prst="roundRect">
            <a:avLst>
              <a:gd name="adj" fmla="val 15789"/>
            </a:avLst>
          </a:prstGeom>
          <a:solidFill>
            <a:srgbClr val="F3F4F6"/>
          </a:solidFill>
          <a:ln w="9525">
            <a:solidFill>
              <a:srgbClr val="D1D5DB"/>
            </a:solidFill>
            <a:prstDash val="solid"/>
          </a:ln>
        </p:spPr>
      </p:sp>
      <p:sp>
        <p:nvSpPr>
          <p:cNvPr id="107" name="Text 105"/>
          <p:cNvSpPr/>
          <p:nvPr/>
        </p:nvSpPr>
        <p:spPr>
          <a:xfrm>
            <a:off x="11375136" y="6729984"/>
            <a:ext cx="822960" cy="173736"/>
          </a:xfrm>
          <a:prstGeom prst="rect">
            <a:avLst/>
          </a:prstGeom>
          <a:noFill/>
          <a:ln/>
        </p:spPr>
        <p:txBody>
          <a:bodyPr wrap="square" lIns="0" tIns="0" rIns="0" bIns="0" rtlCol="0" anchor="ctr"/>
          <a:lstStyle/>
          <a:p>
            <a:pPr algn="ctr" indent="0" marL="0">
              <a:buNone/>
            </a:pPr>
            <a:r>
              <a:rPr lang="en-US" sz="650" b="1" dirty="0">
                <a:solidFill>
                  <a:srgbClr val="374151"/>
                </a:solidFill>
              </a:rPr>
              <a:t>Not Started</a:t>
            </a:r>
            <a:endParaRPr lang="en-US" sz="6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CPR  ·  Jul 8,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0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18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15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83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0% Ready</a:t>
            </a:r>
            <a:endParaRPr lang="en-US" sz="1100" dirty="0"/>
          </a:p>
        </p:txBody>
      </p:sp>
      <p:sp>
        <p:nvSpPr>
          <p:cNvPr id="20" name="Shape 18"/>
          <p:cNvSpPr/>
          <p:nvPr/>
        </p:nvSpPr>
        <p:spPr>
          <a:xfrm>
            <a:off x="164592" y="804672"/>
            <a:ext cx="9116568" cy="1170432"/>
          </a:xfrm>
          <a:prstGeom prst="rect">
            <a:avLst/>
          </a:prstGeom>
          <a:solidFill>
            <a:srgbClr val="FAFBFC"/>
          </a:solidFill>
          <a:ln w="6350">
            <a:solidFill>
              <a:srgbClr val="E5E7EB"/>
            </a:solidFill>
            <a:prstDash val="solid"/>
          </a:ln>
        </p:spPr>
      </p:sp>
      <p:sp>
        <p:nvSpPr>
          <p:cNvPr id="21" name="Shape 19"/>
          <p:cNvSpPr/>
          <p:nvPr/>
        </p:nvSpPr>
        <p:spPr>
          <a:xfrm>
            <a:off x="182880" y="877824"/>
            <a:ext cx="859536" cy="1024128"/>
          </a:xfrm>
          <a:prstGeom prst="roundRect">
            <a:avLst>
              <a:gd name="adj" fmla="val 5319"/>
            </a:avLst>
          </a:prstGeom>
          <a:solidFill>
            <a:srgbClr val="9CA3AF"/>
          </a:solidFill>
          <a:ln w="12700">
            <a:solidFill>
              <a:srgbClr val="9CA3AF"/>
            </a:solidFill>
            <a:prstDash val="solid"/>
          </a:ln>
        </p:spPr>
      </p:sp>
      <p:sp>
        <p:nvSpPr>
          <p:cNvPr id="22" name="Text 20"/>
          <p:cNvSpPr/>
          <p:nvPr/>
        </p:nvSpPr>
        <p:spPr>
          <a:xfrm>
            <a:off x="182880" y="877824"/>
            <a:ext cx="859536" cy="1024128"/>
          </a:xfrm>
          <a:prstGeom prst="rect">
            <a:avLst/>
          </a:prstGeom>
          <a:noFill/>
          <a:ln/>
        </p:spPr>
        <p:txBody>
          <a:bodyPr wrap="square" lIns="0" tIns="0" rIns="0" bIns="0" rtlCol="0" anchor="ctr"/>
          <a:lstStyle/>
          <a:p>
            <a:pPr algn="ctr" indent="0" marL="0">
              <a:buNone/>
            </a:pPr>
            <a:r>
              <a:rPr lang="en-US" sz="950" b="1" dirty="0">
                <a:solidFill>
                  <a:srgbClr val="FFFFFF"/>
                </a:solidFill>
              </a:rPr>
              <a:t>Platforms</a:t>
            </a:r>
            <a:endParaRPr lang="en-US" sz="95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3 / 7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TC.com</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a:t>
            </a:r>
            <a:endParaRPr lang="en-US" sz="750" dirty="0"/>
          </a:p>
        </p:txBody>
      </p:sp>
      <p:sp>
        <p:nvSpPr>
          <p:cNvPr id="34" name="Shape 32"/>
          <p:cNvSpPr/>
          <p:nvPr/>
        </p:nvSpPr>
        <p:spPr>
          <a:xfrm>
            <a:off x="3200400" y="1280160"/>
            <a:ext cx="932688" cy="155448"/>
          </a:xfrm>
          <a:prstGeom prst="roundRect">
            <a:avLst>
              <a:gd name="adj" fmla="val 17647"/>
            </a:avLst>
          </a:prstGeom>
          <a:solidFill>
            <a:srgbClr val="F3F4F6"/>
          </a:solidFill>
          <a:ln w="9525">
            <a:solidFill>
              <a:srgbClr val="D1D5DB"/>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36" name="Shape 34"/>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37" name="Text 35"/>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Roku</a:t>
            </a:r>
            <a:endParaRPr lang="en-US" sz="750" dirty="0"/>
          </a:p>
        </p:txBody>
      </p:sp>
      <p:sp>
        <p:nvSpPr>
          <p:cNvPr id="38" name="Shape 36"/>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39" name="Text 37"/>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0" name="Shape 38"/>
          <p:cNvSpPr/>
          <p:nvPr/>
        </p:nvSpPr>
        <p:spPr>
          <a:xfrm>
            <a:off x="5230368" y="1069848"/>
            <a:ext cx="932688" cy="182880"/>
          </a:xfrm>
          <a:prstGeom prst="roundRect">
            <a:avLst>
              <a:gd name="adj" fmla="val 15000"/>
            </a:avLst>
          </a:prstGeom>
          <a:solidFill>
            <a:srgbClr val="FFFFFF"/>
          </a:solidFill>
          <a:ln w="9525">
            <a:solidFill>
              <a:srgbClr val="CBD5E1"/>
            </a:solidFill>
            <a:prstDash val="solid"/>
          </a:ln>
        </p:spPr>
      </p:sp>
      <p:sp>
        <p:nvSpPr>
          <p:cNvPr id="41" name="Text 39"/>
          <p:cNvSpPr/>
          <p:nvPr/>
        </p:nvSpPr>
        <p:spPr>
          <a:xfrm>
            <a:off x="5230368"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Fire TV</a:t>
            </a:r>
            <a:endParaRPr lang="en-US" sz="750" dirty="0"/>
          </a:p>
        </p:txBody>
      </p:sp>
      <p:sp>
        <p:nvSpPr>
          <p:cNvPr id="42" name="Shape 40"/>
          <p:cNvSpPr/>
          <p:nvPr/>
        </p:nvSpPr>
        <p:spPr>
          <a:xfrm>
            <a:off x="5230368" y="1280160"/>
            <a:ext cx="932688" cy="155448"/>
          </a:xfrm>
          <a:prstGeom prst="roundRect">
            <a:avLst>
              <a:gd name="adj" fmla="val 17647"/>
            </a:avLst>
          </a:prstGeom>
          <a:solidFill>
            <a:srgbClr val="F3F4F6"/>
          </a:solidFill>
          <a:ln w="9525">
            <a:solidFill>
              <a:srgbClr val="D1D5DB"/>
            </a:solidFill>
            <a:prstDash val="solid"/>
          </a:ln>
        </p:spPr>
      </p:sp>
      <p:sp>
        <p:nvSpPr>
          <p:cNvPr id="43" name="Text 41"/>
          <p:cNvSpPr/>
          <p:nvPr/>
        </p:nvSpPr>
        <p:spPr>
          <a:xfrm>
            <a:off x="5230368" y="128016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44" name="Shape 42"/>
          <p:cNvSpPr/>
          <p:nvPr/>
        </p:nvSpPr>
        <p:spPr>
          <a:xfrm>
            <a:off x="6245352" y="1069848"/>
            <a:ext cx="932688" cy="182880"/>
          </a:xfrm>
          <a:prstGeom prst="roundRect">
            <a:avLst>
              <a:gd name="adj" fmla="val 15000"/>
            </a:avLst>
          </a:prstGeom>
          <a:solidFill>
            <a:srgbClr val="FFFFFF"/>
          </a:solidFill>
          <a:ln w="9525">
            <a:solidFill>
              <a:srgbClr val="CBD5E1"/>
            </a:solidFill>
            <a:prstDash val="solid"/>
          </a:ln>
        </p:spPr>
      </p:sp>
      <p:sp>
        <p:nvSpPr>
          <p:cNvPr id="45" name="Text 43"/>
          <p:cNvSpPr/>
          <p:nvPr/>
        </p:nvSpPr>
        <p:spPr>
          <a:xfrm>
            <a:off x="624535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Samsung</a:t>
            </a:r>
            <a:endParaRPr lang="en-US" sz="750" dirty="0"/>
          </a:p>
        </p:txBody>
      </p:sp>
      <p:sp>
        <p:nvSpPr>
          <p:cNvPr id="46" name="Shape 44"/>
          <p:cNvSpPr/>
          <p:nvPr/>
        </p:nvSpPr>
        <p:spPr>
          <a:xfrm>
            <a:off x="6245352" y="1280160"/>
            <a:ext cx="932688" cy="155448"/>
          </a:xfrm>
          <a:prstGeom prst="roundRect">
            <a:avLst>
              <a:gd name="adj" fmla="val 17647"/>
            </a:avLst>
          </a:prstGeom>
          <a:solidFill>
            <a:srgbClr val="F3F4F6"/>
          </a:solidFill>
          <a:ln w="9525">
            <a:solidFill>
              <a:srgbClr val="D1D5DB"/>
            </a:solidFill>
            <a:prstDash val="solid"/>
          </a:ln>
        </p:spPr>
      </p:sp>
      <p:sp>
        <p:nvSpPr>
          <p:cNvPr id="47" name="Text 45"/>
          <p:cNvSpPr/>
          <p:nvPr/>
        </p:nvSpPr>
        <p:spPr>
          <a:xfrm>
            <a:off x="6245352" y="128016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48" name="Shape 46"/>
          <p:cNvSpPr/>
          <p:nvPr/>
        </p:nvSpPr>
        <p:spPr>
          <a:xfrm>
            <a:off x="7260336" y="1069848"/>
            <a:ext cx="932688" cy="182880"/>
          </a:xfrm>
          <a:prstGeom prst="roundRect">
            <a:avLst>
              <a:gd name="adj" fmla="val 15000"/>
            </a:avLst>
          </a:prstGeom>
          <a:solidFill>
            <a:srgbClr val="FFFFFF"/>
          </a:solidFill>
          <a:ln w="9525">
            <a:solidFill>
              <a:srgbClr val="CBD5E1"/>
            </a:solidFill>
            <a:prstDash val="solid"/>
          </a:ln>
        </p:spPr>
      </p:sp>
      <p:sp>
        <p:nvSpPr>
          <p:cNvPr id="49" name="Text 47"/>
          <p:cNvSpPr/>
          <p:nvPr/>
        </p:nvSpPr>
        <p:spPr>
          <a:xfrm>
            <a:off x="726033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tvOS</a:t>
            </a:r>
            <a:endParaRPr lang="en-US" sz="750" dirty="0"/>
          </a:p>
        </p:txBody>
      </p:sp>
      <p:sp>
        <p:nvSpPr>
          <p:cNvPr id="50" name="Shape 48"/>
          <p:cNvSpPr/>
          <p:nvPr/>
        </p:nvSpPr>
        <p:spPr>
          <a:xfrm>
            <a:off x="7260336" y="1280160"/>
            <a:ext cx="932688" cy="155448"/>
          </a:xfrm>
          <a:prstGeom prst="roundRect">
            <a:avLst>
              <a:gd name="adj" fmla="val 17647"/>
            </a:avLst>
          </a:prstGeom>
          <a:solidFill>
            <a:srgbClr val="F3F4F6"/>
          </a:solidFill>
          <a:ln w="9525">
            <a:solidFill>
              <a:srgbClr val="D1D5DB"/>
            </a:solidFill>
            <a:prstDash val="solid"/>
          </a:ln>
        </p:spPr>
      </p:sp>
      <p:sp>
        <p:nvSpPr>
          <p:cNvPr id="51" name="Text 49"/>
          <p:cNvSpPr/>
          <p:nvPr/>
        </p:nvSpPr>
        <p:spPr>
          <a:xfrm>
            <a:off x="7260336" y="128016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52" name="Shape 50"/>
          <p:cNvSpPr/>
          <p:nvPr/>
        </p:nvSpPr>
        <p:spPr>
          <a:xfrm>
            <a:off x="164592" y="2029968"/>
            <a:ext cx="9116568" cy="1170432"/>
          </a:xfrm>
          <a:prstGeom prst="rect">
            <a:avLst/>
          </a:prstGeom>
          <a:solidFill>
            <a:srgbClr val="FFFFFF"/>
          </a:solidFill>
          <a:ln w="6350">
            <a:solidFill>
              <a:srgbClr val="E5E7EB"/>
            </a:solidFill>
            <a:prstDash val="solid"/>
          </a:ln>
        </p:spPr>
      </p:sp>
      <p:sp>
        <p:nvSpPr>
          <p:cNvPr id="53" name="Shape 51"/>
          <p:cNvSpPr/>
          <p:nvPr/>
        </p:nvSpPr>
        <p:spPr>
          <a:xfrm>
            <a:off x="182880" y="2103120"/>
            <a:ext cx="859536" cy="1024128"/>
          </a:xfrm>
          <a:prstGeom prst="roundRect">
            <a:avLst>
              <a:gd name="adj" fmla="val 5319"/>
            </a:avLst>
          </a:prstGeom>
          <a:solidFill>
            <a:srgbClr val="9CA3AF"/>
          </a:solidFill>
          <a:ln w="12700">
            <a:solidFill>
              <a:srgbClr val="9CA3AF"/>
            </a:solidFill>
            <a:prstDash val="solid"/>
          </a:ln>
        </p:spPr>
      </p:sp>
      <p:sp>
        <p:nvSpPr>
          <p:cNvPr id="54" name="Text 52"/>
          <p:cNvSpPr/>
          <p:nvPr/>
        </p:nvSpPr>
        <p:spPr>
          <a:xfrm>
            <a:off x="182880" y="2103120"/>
            <a:ext cx="859536" cy="1024128"/>
          </a:xfrm>
          <a:prstGeom prst="rect">
            <a:avLst/>
          </a:prstGeom>
          <a:noFill/>
          <a:ln/>
        </p:spPr>
        <p:txBody>
          <a:bodyPr wrap="square" lIns="0" tIns="0" rIns="0" bIns="0" rtlCol="0" anchor="ctr"/>
          <a:lstStyle/>
          <a:p>
            <a:pPr algn="ctr" indent="0" marL="0">
              <a:buNone/>
            </a:pPr>
            <a:r>
              <a:rPr lang="en-US" sz="950" b="1" dirty="0">
                <a:solidFill>
                  <a:srgbClr val="FFFFFF"/>
                </a:solidFill>
              </a:rPr>
              <a:t>Video</a:t>
            </a:r>
            <a:endParaRPr lang="en-US" sz="950" dirty="0"/>
          </a:p>
          <a:p>
            <a:pPr algn="ctr" indent="0" marL="0">
              <a:buNone/>
            </a:pPr>
            <a:r>
              <a:rPr lang="en-US" sz="950" b="1" dirty="0">
                <a:solidFill>
                  <a:srgbClr val="FFFFFF"/>
                </a:solidFill>
              </a:rPr>
              <a:t>Delivery</a:t>
            </a:r>
            <a:endParaRPr lang="en-US" sz="950" dirty="0"/>
          </a:p>
        </p:txBody>
      </p:sp>
      <p:sp>
        <p:nvSpPr>
          <p:cNvPr id="55" name="Text 53"/>
          <p:cNvSpPr/>
          <p:nvPr/>
        </p:nvSpPr>
        <p:spPr>
          <a:xfrm>
            <a:off x="1170432" y="2075688"/>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6 In Progress</a:t>
            </a:r>
            <a:endParaRPr lang="en-US" sz="750" dirty="0"/>
          </a:p>
        </p:txBody>
      </p:sp>
      <p:sp>
        <p:nvSpPr>
          <p:cNvPr id="56" name="Shape 54"/>
          <p:cNvSpPr/>
          <p:nvPr/>
        </p:nvSpPr>
        <p:spPr>
          <a:xfrm>
            <a:off x="1170432" y="2295144"/>
            <a:ext cx="932688" cy="182880"/>
          </a:xfrm>
          <a:prstGeom prst="roundRect">
            <a:avLst>
              <a:gd name="adj" fmla="val 15000"/>
            </a:avLst>
          </a:prstGeom>
          <a:solidFill>
            <a:srgbClr val="FFFFFF"/>
          </a:solidFill>
          <a:ln w="9525">
            <a:solidFill>
              <a:srgbClr val="CBD5E1"/>
            </a:solidFill>
            <a:prstDash val="solid"/>
          </a:ln>
        </p:spPr>
      </p:sp>
      <p:sp>
        <p:nvSpPr>
          <p:cNvPr id="57" name="Text 55"/>
          <p:cNvSpPr/>
          <p:nvPr/>
        </p:nvSpPr>
        <p:spPr>
          <a:xfrm>
            <a:off x="1170432" y="229514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58" name="Shape 56"/>
          <p:cNvSpPr/>
          <p:nvPr/>
        </p:nvSpPr>
        <p:spPr>
          <a:xfrm>
            <a:off x="1170432" y="2505456"/>
            <a:ext cx="932688" cy="155448"/>
          </a:xfrm>
          <a:prstGeom prst="roundRect">
            <a:avLst>
              <a:gd name="adj" fmla="val 17647"/>
            </a:avLst>
          </a:prstGeom>
          <a:solidFill>
            <a:srgbClr val="1558A8"/>
          </a:solidFill>
          <a:ln w="12700">
            <a:solidFill>
              <a:srgbClr val="1558A8"/>
            </a:solidFill>
            <a:prstDash val="solid"/>
          </a:ln>
        </p:spPr>
      </p:sp>
      <p:sp>
        <p:nvSpPr>
          <p:cNvPr id="59" name="Text 57"/>
          <p:cNvSpPr/>
          <p:nvPr/>
        </p:nvSpPr>
        <p:spPr>
          <a:xfrm>
            <a:off x="1170432" y="250545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0" name="Shape 58"/>
          <p:cNvSpPr/>
          <p:nvPr/>
        </p:nvSpPr>
        <p:spPr>
          <a:xfrm>
            <a:off x="2185416" y="2295144"/>
            <a:ext cx="932688" cy="182880"/>
          </a:xfrm>
          <a:prstGeom prst="roundRect">
            <a:avLst>
              <a:gd name="adj" fmla="val 15000"/>
            </a:avLst>
          </a:prstGeom>
          <a:solidFill>
            <a:srgbClr val="FFFFFF"/>
          </a:solidFill>
          <a:ln w="9525">
            <a:solidFill>
              <a:srgbClr val="CBD5E1"/>
            </a:solidFill>
            <a:prstDash val="solid"/>
          </a:ln>
        </p:spPr>
      </p:sp>
      <p:sp>
        <p:nvSpPr>
          <p:cNvPr id="61" name="Text 59"/>
          <p:cNvSpPr/>
          <p:nvPr/>
        </p:nvSpPr>
        <p:spPr>
          <a:xfrm>
            <a:off x="2185416" y="229514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MPEG-DASH</a:t>
            </a:r>
            <a:endParaRPr lang="en-US" sz="750" dirty="0"/>
          </a:p>
        </p:txBody>
      </p:sp>
      <p:sp>
        <p:nvSpPr>
          <p:cNvPr id="62" name="Shape 60"/>
          <p:cNvSpPr/>
          <p:nvPr/>
        </p:nvSpPr>
        <p:spPr>
          <a:xfrm>
            <a:off x="2185416" y="2505456"/>
            <a:ext cx="932688" cy="155448"/>
          </a:xfrm>
          <a:prstGeom prst="roundRect">
            <a:avLst>
              <a:gd name="adj" fmla="val 17647"/>
            </a:avLst>
          </a:prstGeom>
          <a:solidFill>
            <a:srgbClr val="1558A8"/>
          </a:solidFill>
          <a:ln w="12700">
            <a:solidFill>
              <a:srgbClr val="1558A8"/>
            </a:solidFill>
            <a:prstDash val="solid"/>
          </a:ln>
        </p:spPr>
      </p:sp>
      <p:sp>
        <p:nvSpPr>
          <p:cNvPr id="63" name="Text 61"/>
          <p:cNvSpPr/>
          <p:nvPr/>
        </p:nvSpPr>
        <p:spPr>
          <a:xfrm>
            <a:off x="2185416" y="250545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4" name="Shape 62"/>
          <p:cNvSpPr/>
          <p:nvPr/>
        </p:nvSpPr>
        <p:spPr>
          <a:xfrm>
            <a:off x="3200400" y="2295144"/>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3200400" y="229514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FairPlay DRM</a:t>
            </a:r>
            <a:endParaRPr lang="en-US" sz="750" dirty="0"/>
          </a:p>
        </p:txBody>
      </p:sp>
      <p:sp>
        <p:nvSpPr>
          <p:cNvPr id="66" name="Shape 64"/>
          <p:cNvSpPr/>
          <p:nvPr/>
        </p:nvSpPr>
        <p:spPr>
          <a:xfrm>
            <a:off x="3200400" y="2505456"/>
            <a:ext cx="932688" cy="155448"/>
          </a:xfrm>
          <a:prstGeom prst="roundRect">
            <a:avLst>
              <a:gd name="adj" fmla="val 17647"/>
            </a:avLst>
          </a:prstGeom>
          <a:solidFill>
            <a:srgbClr val="1558A8"/>
          </a:solidFill>
          <a:ln w="12700">
            <a:solidFill>
              <a:srgbClr val="1558A8"/>
            </a:solidFill>
            <a:prstDash val="solid"/>
          </a:ln>
        </p:spPr>
      </p:sp>
      <p:sp>
        <p:nvSpPr>
          <p:cNvPr id="67" name="Text 65"/>
          <p:cNvSpPr/>
          <p:nvPr/>
        </p:nvSpPr>
        <p:spPr>
          <a:xfrm>
            <a:off x="3200400" y="250545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8" name="Shape 66"/>
          <p:cNvSpPr/>
          <p:nvPr/>
        </p:nvSpPr>
        <p:spPr>
          <a:xfrm>
            <a:off x="4215384" y="2295144"/>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4215384" y="229514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Widevine DRM</a:t>
            </a:r>
            <a:endParaRPr lang="en-US" sz="750" dirty="0"/>
          </a:p>
        </p:txBody>
      </p:sp>
      <p:sp>
        <p:nvSpPr>
          <p:cNvPr id="70" name="Shape 68"/>
          <p:cNvSpPr/>
          <p:nvPr/>
        </p:nvSpPr>
        <p:spPr>
          <a:xfrm>
            <a:off x="4215384" y="2505456"/>
            <a:ext cx="932688" cy="155448"/>
          </a:xfrm>
          <a:prstGeom prst="roundRect">
            <a:avLst>
              <a:gd name="adj" fmla="val 17647"/>
            </a:avLst>
          </a:prstGeom>
          <a:solidFill>
            <a:srgbClr val="1558A8"/>
          </a:solidFill>
          <a:ln w="12700">
            <a:solidFill>
              <a:srgbClr val="1558A8"/>
            </a:solidFill>
            <a:prstDash val="solid"/>
          </a:ln>
        </p:spPr>
      </p:sp>
      <p:sp>
        <p:nvSpPr>
          <p:cNvPr id="71" name="Text 69"/>
          <p:cNvSpPr/>
          <p:nvPr/>
        </p:nvSpPr>
        <p:spPr>
          <a:xfrm>
            <a:off x="4215384" y="250545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2" name="Shape 70"/>
          <p:cNvSpPr/>
          <p:nvPr/>
        </p:nvSpPr>
        <p:spPr>
          <a:xfrm>
            <a:off x="5230368" y="2295144"/>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5230368" y="229514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74" name="Shape 72"/>
          <p:cNvSpPr/>
          <p:nvPr/>
        </p:nvSpPr>
        <p:spPr>
          <a:xfrm>
            <a:off x="5230368" y="2505456"/>
            <a:ext cx="932688" cy="155448"/>
          </a:xfrm>
          <a:prstGeom prst="roundRect">
            <a:avLst>
              <a:gd name="adj" fmla="val 17647"/>
            </a:avLst>
          </a:prstGeom>
          <a:solidFill>
            <a:srgbClr val="1558A8"/>
          </a:solidFill>
          <a:ln w="12700">
            <a:solidFill>
              <a:srgbClr val="1558A8"/>
            </a:solidFill>
            <a:prstDash val="solid"/>
          </a:ln>
        </p:spPr>
      </p:sp>
      <p:sp>
        <p:nvSpPr>
          <p:cNvPr id="75" name="Text 73"/>
          <p:cNvSpPr/>
          <p:nvPr/>
        </p:nvSpPr>
        <p:spPr>
          <a:xfrm>
            <a:off x="5230368" y="250545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6" name="Shape 74"/>
          <p:cNvSpPr/>
          <p:nvPr/>
        </p:nvSpPr>
        <p:spPr>
          <a:xfrm>
            <a:off x="6245352" y="2295144"/>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6245352" y="229514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78" name="Shape 76"/>
          <p:cNvSpPr/>
          <p:nvPr/>
        </p:nvSpPr>
        <p:spPr>
          <a:xfrm>
            <a:off x="6245352" y="2505456"/>
            <a:ext cx="932688" cy="155448"/>
          </a:xfrm>
          <a:prstGeom prst="roundRect">
            <a:avLst>
              <a:gd name="adj" fmla="val 17647"/>
            </a:avLst>
          </a:prstGeom>
          <a:solidFill>
            <a:srgbClr val="1558A8"/>
          </a:solidFill>
          <a:ln w="12700">
            <a:solidFill>
              <a:srgbClr val="1558A8"/>
            </a:solidFill>
            <a:prstDash val="solid"/>
          </a:ln>
        </p:spPr>
      </p:sp>
      <p:sp>
        <p:nvSpPr>
          <p:cNvPr id="79" name="Text 77"/>
          <p:cNvSpPr/>
          <p:nvPr/>
        </p:nvSpPr>
        <p:spPr>
          <a:xfrm>
            <a:off x="6245352" y="250545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0" name="Shape 78"/>
          <p:cNvSpPr/>
          <p:nvPr/>
        </p:nvSpPr>
        <p:spPr>
          <a:xfrm>
            <a:off x="164592" y="3255264"/>
            <a:ext cx="9116568" cy="1170432"/>
          </a:xfrm>
          <a:prstGeom prst="rect">
            <a:avLst/>
          </a:prstGeom>
          <a:solidFill>
            <a:srgbClr val="FAFBFC"/>
          </a:solidFill>
          <a:ln w="6350">
            <a:solidFill>
              <a:srgbClr val="E5E7EB"/>
            </a:solidFill>
            <a:prstDash val="solid"/>
          </a:ln>
        </p:spPr>
      </p:sp>
      <p:sp>
        <p:nvSpPr>
          <p:cNvPr id="81" name="Shape 79"/>
          <p:cNvSpPr/>
          <p:nvPr/>
        </p:nvSpPr>
        <p:spPr>
          <a:xfrm>
            <a:off x="182880" y="3328416"/>
            <a:ext cx="859536" cy="1024128"/>
          </a:xfrm>
          <a:prstGeom prst="roundRect">
            <a:avLst>
              <a:gd name="adj" fmla="val 5319"/>
            </a:avLst>
          </a:prstGeom>
          <a:solidFill>
            <a:srgbClr val="9CA3AF"/>
          </a:solidFill>
          <a:ln w="12700">
            <a:solidFill>
              <a:srgbClr val="9CA3AF"/>
            </a:solidFill>
            <a:prstDash val="solid"/>
          </a:ln>
        </p:spPr>
      </p:sp>
      <p:sp>
        <p:nvSpPr>
          <p:cNvPr id="82" name="Text 80"/>
          <p:cNvSpPr/>
          <p:nvPr/>
        </p:nvSpPr>
        <p:spPr>
          <a:xfrm>
            <a:off x="182880" y="3328416"/>
            <a:ext cx="859536" cy="1024128"/>
          </a:xfrm>
          <a:prstGeom prst="rect">
            <a:avLst/>
          </a:prstGeom>
          <a:noFill/>
          <a:ln/>
        </p:spPr>
        <p:txBody>
          <a:bodyPr wrap="square" lIns="0" tIns="0" rIns="0" bIns="0" rtlCol="0" anchor="ctr"/>
          <a:lstStyle/>
          <a:p>
            <a:pPr algn="ctr" indent="0" marL="0">
              <a:buNone/>
            </a:pPr>
            <a:r>
              <a:rPr lang="en-US" sz="950" b="1" dirty="0">
                <a:solidFill>
                  <a:srgbClr val="FFFFFF"/>
                </a:solidFill>
              </a:rPr>
              <a:t>Player</a:t>
            </a:r>
            <a:endParaRPr lang="en-US" sz="950" dirty="0"/>
          </a:p>
        </p:txBody>
      </p:sp>
      <p:sp>
        <p:nvSpPr>
          <p:cNvPr id="83" name="Text 81"/>
          <p:cNvSpPr/>
          <p:nvPr/>
        </p:nvSpPr>
        <p:spPr>
          <a:xfrm>
            <a:off x="1170432" y="3300984"/>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3 / 5 In Progress</a:t>
            </a:r>
            <a:endParaRPr lang="en-US" sz="750" dirty="0"/>
          </a:p>
        </p:txBody>
      </p:sp>
      <p:sp>
        <p:nvSpPr>
          <p:cNvPr id="84" name="Shape 82"/>
          <p:cNvSpPr/>
          <p:nvPr/>
        </p:nvSpPr>
        <p:spPr>
          <a:xfrm>
            <a:off x="1170432" y="3520440"/>
            <a:ext cx="932688" cy="182880"/>
          </a:xfrm>
          <a:prstGeom prst="roundRect">
            <a:avLst>
              <a:gd name="adj" fmla="val 15000"/>
            </a:avLst>
          </a:prstGeom>
          <a:solidFill>
            <a:srgbClr val="FFFFFF"/>
          </a:solidFill>
          <a:ln w="9525">
            <a:solidFill>
              <a:srgbClr val="CBD5E1"/>
            </a:solidFill>
            <a:prstDash val="solid"/>
          </a:ln>
        </p:spPr>
      </p:sp>
      <p:sp>
        <p:nvSpPr>
          <p:cNvPr id="85" name="Text 83"/>
          <p:cNvSpPr/>
          <p:nvPr/>
        </p:nvSpPr>
        <p:spPr>
          <a:xfrm>
            <a:off x="1170432" y="3520440"/>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Web Player</a:t>
            </a:r>
            <a:endParaRPr lang="en-US" sz="750" dirty="0"/>
          </a:p>
        </p:txBody>
      </p:sp>
      <p:sp>
        <p:nvSpPr>
          <p:cNvPr id="86" name="Shape 84"/>
          <p:cNvSpPr/>
          <p:nvPr/>
        </p:nvSpPr>
        <p:spPr>
          <a:xfrm>
            <a:off x="1170432" y="3730752"/>
            <a:ext cx="932688" cy="155448"/>
          </a:xfrm>
          <a:prstGeom prst="roundRect">
            <a:avLst>
              <a:gd name="adj" fmla="val 17647"/>
            </a:avLst>
          </a:prstGeom>
          <a:solidFill>
            <a:srgbClr val="1558A8"/>
          </a:solidFill>
          <a:ln w="12700">
            <a:solidFill>
              <a:srgbClr val="1558A8"/>
            </a:solidFill>
            <a:prstDash val="solid"/>
          </a:ln>
        </p:spPr>
      </p:sp>
      <p:sp>
        <p:nvSpPr>
          <p:cNvPr id="87" name="Text 85"/>
          <p:cNvSpPr/>
          <p:nvPr/>
        </p:nvSpPr>
        <p:spPr>
          <a:xfrm>
            <a:off x="1170432" y="3730752"/>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8" name="Shape 86"/>
          <p:cNvSpPr/>
          <p:nvPr/>
        </p:nvSpPr>
        <p:spPr>
          <a:xfrm>
            <a:off x="2185416" y="3520440"/>
            <a:ext cx="932688" cy="182880"/>
          </a:xfrm>
          <a:prstGeom prst="roundRect">
            <a:avLst>
              <a:gd name="adj" fmla="val 15000"/>
            </a:avLst>
          </a:prstGeom>
          <a:solidFill>
            <a:srgbClr val="FFFFFF"/>
          </a:solidFill>
          <a:ln w="9525">
            <a:solidFill>
              <a:srgbClr val="CBD5E1"/>
            </a:solidFill>
            <a:prstDash val="solid"/>
          </a:ln>
        </p:spPr>
      </p:sp>
      <p:sp>
        <p:nvSpPr>
          <p:cNvPr id="89" name="Text 87"/>
          <p:cNvSpPr/>
          <p:nvPr/>
        </p:nvSpPr>
        <p:spPr>
          <a:xfrm>
            <a:off x="2185416" y="3520440"/>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 Player</a:t>
            </a:r>
            <a:endParaRPr lang="en-US" sz="750" dirty="0"/>
          </a:p>
        </p:txBody>
      </p:sp>
      <p:sp>
        <p:nvSpPr>
          <p:cNvPr id="90" name="Shape 88"/>
          <p:cNvSpPr/>
          <p:nvPr/>
        </p:nvSpPr>
        <p:spPr>
          <a:xfrm>
            <a:off x="2185416" y="3730752"/>
            <a:ext cx="932688" cy="155448"/>
          </a:xfrm>
          <a:prstGeom prst="roundRect">
            <a:avLst>
              <a:gd name="adj" fmla="val 17647"/>
            </a:avLst>
          </a:prstGeom>
          <a:solidFill>
            <a:srgbClr val="1558A8"/>
          </a:solidFill>
          <a:ln w="12700">
            <a:solidFill>
              <a:srgbClr val="1558A8"/>
            </a:solidFill>
            <a:prstDash val="solid"/>
          </a:ln>
        </p:spPr>
      </p:sp>
      <p:sp>
        <p:nvSpPr>
          <p:cNvPr id="91" name="Text 89"/>
          <p:cNvSpPr/>
          <p:nvPr/>
        </p:nvSpPr>
        <p:spPr>
          <a:xfrm>
            <a:off x="2185416" y="3730752"/>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2" name="Shape 90"/>
          <p:cNvSpPr/>
          <p:nvPr/>
        </p:nvSpPr>
        <p:spPr>
          <a:xfrm>
            <a:off x="3200400" y="3520440"/>
            <a:ext cx="932688" cy="182880"/>
          </a:xfrm>
          <a:prstGeom prst="roundRect">
            <a:avLst>
              <a:gd name="adj" fmla="val 15000"/>
            </a:avLst>
          </a:prstGeom>
          <a:solidFill>
            <a:srgbClr val="FFFFFF"/>
          </a:solidFill>
          <a:ln w="9525">
            <a:solidFill>
              <a:srgbClr val="CBD5E1"/>
            </a:solidFill>
            <a:prstDash val="solid"/>
          </a:ln>
        </p:spPr>
      </p:sp>
      <p:sp>
        <p:nvSpPr>
          <p:cNvPr id="93" name="Text 91"/>
          <p:cNvSpPr/>
          <p:nvPr/>
        </p:nvSpPr>
        <p:spPr>
          <a:xfrm>
            <a:off x="3200400" y="3520440"/>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 Player</a:t>
            </a:r>
            <a:endParaRPr lang="en-US" sz="750" dirty="0"/>
          </a:p>
        </p:txBody>
      </p:sp>
      <p:sp>
        <p:nvSpPr>
          <p:cNvPr id="94" name="Shape 92"/>
          <p:cNvSpPr/>
          <p:nvPr/>
        </p:nvSpPr>
        <p:spPr>
          <a:xfrm>
            <a:off x="3200400" y="3730752"/>
            <a:ext cx="932688" cy="155448"/>
          </a:xfrm>
          <a:prstGeom prst="roundRect">
            <a:avLst>
              <a:gd name="adj" fmla="val 17647"/>
            </a:avLst>
          </a:prstGeom>
          <a:solidFill>
            <a:srgbClr val="F3F4F6"/>
          </a:solidFill>
          <a:ln w="9525">
            <a:solidFill>
              <a:srgbClr val="D1D5DB"/>
            </a:solidFill>
            <a:prstDash val="solid"/>
          </a:ln>
        </p:spPr>
      </p:sp>
      <p:sp>
        <p:nvSpPr>
          <p:cNvPr id="95" name="Text 93"/>
          <p:cNvSpPr/>
          <p:nvPr/>
        </p:nvSpPr>
        <p:spPr>
          <a:xfrm>
            <a:off x="3200400" y="3730752"/>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96" name="Shape 94"/>
          <p:cNvSpPr/>
          <p:nvPr/>
        </p:nvSpPr>
        <p:spPr>
          <a:xfrm>
            <a:off x="4215384" y="3520440"/>
            <a:ext cx="932688" cy="182880"/>
          </a:xfrm>
          <a:prstGeom prst="roundRect">
            <a:avLst>
              <a:gd name="adj" fmla="val 15000"/>
            </a:avLst>
          </a:prstGeom>
          <a:solidFill>
            <a:srgbClr val="FFFFFF"/>
          </a:solidFill>
          <a:ln w="9525">
            <a:solidFill>
              <a:srgbClr val="CBD5E1"/>
            </a:solidFill>
            <a:prstDash val="solid"/>
          </a:ln>
        </p:spPr>
      </p:sp>
      <p:sp>
        <p:nvSpPr>
          <p:cNvPr id="97" name="Text 95"/>
          <p:cNvSpPr/>
          <p:nvPr/>
        </p:nvSpPr>
        <p:spPr>
          <a:xfrm>
            <a:off x="4215384" y="3520440"/>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98" name="Shape 96"/>
          <p:cNvSpPr/>
          <p:nvPr/>
        </p:nvSpPr>
        <p:spPr>
          <a:xfrm>
            <a:off x="4215384" y="3730752"/>
            <a:ext cx="932688" cy="155448"/>
          </a:xfrm>
          <a:prstGeom prst="roundRect">
            <a:avLst>
              <a:gd name="adj" fmla="val 17647"/>
            </a:avLst>
          </a:prstGeom>
          <a:solidFill>
            <a:srgbClr val="1558A8"/>
          </a:solidFill>
          <a:ln w="12700">
            <a:solidFill>
              <a:srgbClr val="1558A8"/>
            </a:solidFill>
            <a:prstDash val="solid"/>
          </a:ln>
        </p:spPr>
      </p:sp>
      <p:sp>
        <p:nvSpPr>
          <p:cNvPr id="99" name="Text 97"/>
          <p:cNvSpPr/>
          <p:nvPr/>
        </p:nvSpPr>
        <p:spPr>
          <a:xfrm>
            <a:off x="4215384" y="3730752"/>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0" name="Shape 98"/>
          <p:cNvSpPr/>
          <p:nvPr/>
        </p:nvSpPr>
        <p:spPr>
          <a:xfrm>
            <a:off x="5230368" y="3520440"/>
            <a:ext cx="932688" cy="182880"/>
          </a:xfrm>
          <a:prstGeom prst="roundRect">
            <a:avLst>
              <a:gd name="adj" fmla="val 15000"/>
            </a:avLst>
          </a:prstGeom>
          <a:solidFill>
            <a:srgbClr val="FFFFFF"/>
          </a:solidFill>
          <a:ln w="9525">
            <a:solidFill>
              <a:srgbClr val="CBD5E1"/>
            </a:solidFill>
            <a:prstDash val="solid"/>
          </a:ln>
        </p:spPr>
      </p:sp>
      <p:sp>
        <p:nvSpPr>
          <p:cNvPr id="101" name="Text 99"/>
          <p:cNvSpPr/>
          <p:nvPr/>
        </p:nvSpPr>
        <p:spPr>
          <a:xfrm>
            <a:off x="5230368" y="3520440"/>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Bitmovin QOE</a:t>
            </a:r>
            <a:endParaRPr lang="en-US" sz="750" dirty="0"/>
          </a:p>
          <a:p>
            <a:pPr algn="ctr" indent="0" marL="0">
              <a:buNone/>
            </a:pPr>
            <a:r>
              <a:rPr lang="en-US" sz="750" b="1" dirty="0">
                <a:solidFill>
                  <a:srgbClr val="1E293B"/>
                </a:solidFill>
              </a:rPr>
              <a:t>NPAW/BitMov</a:t>
            </a:r>
            <a:endParaRPr lang="en-US" sz="750" dirty="0"/>
          </a:p>
        </p:txBody>
      </p:sp>
      <p:sp>
        <p:nvSpPr>
          <p:cNvPr id="102" name="Shape 100"/>
          <p:cNvSpPr/>
          <p:nvPr/>
        </p:nvSpPr>
        <p:spPr>
          <a:xfrm>
            <a:off x="5230368" y="3730752"/>
            <a:ext cx="932688" cy="155448"/>
          </a:xfrm>
          <a:prstGeom prst="roundRect">
            <a:avLst>
              <a:gd name="adj" fmla="val 17647"/>
            </a:avLst>
          </a:prstGeom>
          <a:solidFill>
            <a:srgbClr val="F3F4F6"/>
          </a:solidFill>
          <a:ln w="9525">
            <a:solidFill>
              <a:srgbClr val="D1D5DB"/>
            </a:solidFill>
            <a:prstDash val="solid"/>
          </a:ln>
        </p:spPr>
      </p:sp>
      <p:sp>
        <p:nvSpPr>
          <p:cNvPr id="103" name="Text 101"/>
          <p:cNvSpPr/>
          <p:nvPr/>
        </p:nvSpPr>
        <p:spPr>
          <a:xfrm>
            <a:off x="5230368" y="3730752"/>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04" name="Shape 102"/>
          <p:cNvSpPr/>
          <p:nvPr/>
        </p:nvSpPr>
        <p:spPr>
          <a:xfrm>
            <a:off x="164592" y="4480560"/>
            <a:ext cx="9116568" cy="1170432"/>
          </a:xfrm>
          <a:prstGeom prst="rect">
            <a:avLst/>
          </a:prstGeom>
          <a:solidFill>
            <a:srgbClr val="FFFFFF"/>
          </a:solidFill>
          <a:ln w="6350">
            <a:solidFill>
              <a:srgbClr val="E5E7EB"/>
            </a:solidFill>
            <a:prstDash val="solid"/>
          </a:ln>
        </p:spPr>
      </p:sp>
      <p:sp>
        <p:nvSpPr>
          <p:cNvPr id="105" name="Shape 103"/>
          <p:cNvSpPr/>
          <p:nvPr/>
        </p:nvSpPr>
        <p:spPr>
          <a:xfrm>
            <a:off x="182880" y="4553712"/>
            <a:ext cx="859536" cy="1024128"/>
          </a:xfrm>
          <a:prstGeom prst="roundRect">
            <a:avLst>
              <a:gd name="adj" fmla="val 5319"/>
            </a:avLst>
          </a:prstGeom>
          <a:solidFill>
            <a:srgbClr val="9CA3AF"/>
          </a:solidFill>
          <a:ln w="12700">
            <a:solidFill>
              <a:srgbClr val="9CA3AF"/>
            </a:solidFill>
            <a:prstDash val="solid"/>
          </a:ln>
        </p:spPr>
      </p:sp>
      <p:sp>
        <p:nvSpPr>
          <p:cNvPr id="106" name="Text 104"/>
          <p:cNvSpPr/>
          <p:nvPr/>
        </p:nvSpPr>
        <p:spPr>
          <a:xfrm>
            <a:off x="182880" y="4553712"/>
            <a:ext cx="859536" cy="1024128"/>
          </a:xfrm>
          <a:prstGeom prst="rect">
            <a:avLst/>
          </a:prstGeom>
          <a:noFill/>
          <a:ln/>
        </p:spPr>
        <p:txBody>
          <a:bodyPr wrap="square" lIns="0" tIns="0" rIns="0" bIns="0" rtlCol="0" anchor="ctr"/>
          <a:lstStyle/>
          <a:p>
            <a:pPr algn="ctr" indent="0" marL="0">
              <a:buNone/>
            </a:pPr>
            <a:r>
              <a:rPr lang="en-US" sz="950" b="1" dirty="0">
                <a:solidFill>
                  <a:srgbClr val="FFFFFF"/>
                </a:solidFill>
              </a:rPr>
              <a:t>Merchandising</a:t>
            </a:r>
            <a:endParaRPr lang="en-US" sz="950" dirty="0"/>
          </a:p>
        </p:txBody>
      </p:sp>
      <p:sp>
        <p:nvSpPr>
          <p:cNvPr id="107" name="Text 105"/>
          <p:cNvSpPr/>
          <p:nvPr/>
        </p:nvSpPr>
        <p:spPr>
          <a:xfrm>
            <a:off x="1170432" y="4526280"/>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9 In Progress</a:t>
            </a:r>
            <a:endParaRPr lang="en-US" sz="750" dirty="0"/>
          </a:p>
        </p:txBody>
      </p:sp>
      <p:sp>
        <p:nvSpPr>
          <p:cNvPr id="108" name="Shape 106"/>
          <p:cNvSpPr/>
          <p:nvPr/>
        </p:nvSpPr>
        <p:spPr>
          <a:xfrm>
            <a:off x="1170432" y="4745736"/>
            <a:ext cx="932688" cy="182880"/>
          </a:xfrm>
          <a:prstGeom prst="roundRect">
            <a:avLst>
              <a:gd name="adj" fmla="val 15000"/>
            </a:avLst>
          </a:prstGeom>
          <a:solidFill>
            <a:srgbClr val="FFFFFF"/>
          </a:solidFill>
          <a:ln w="9525">
            <a:solidFill>
              <a:srgbClr val="CBD5E1"/>
            </a:solidFill>
            <a:prstDash val="solid"/>
          </a:ln>
        </p:spPr>
      </p:sp>
      <p:sp>
        <p:nvSpPr>
          <p:cNvPr id="109" name="Text 107"/>
          <p:cNvSpPr/>
          <p:nvPr/>
        </p:nvSpPr>
        <p:spPr>
          <a:xfrm>
            <a:off x="1170432" y="474573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110" name="Shape 108"/>
          <p:cNvSpPr/>
          <p:nvPr/>
        </p:nvSpPr>
        <p:spPr>
          <a:xfrm>
            <a:off x="1170432" y="4956048"/>
            <a:ext cx="932688" cy="155448"/>
          </a:xfrm>
          <a:prstGeom prst="roundRect">
            <a:avLst>
              <a:gd name="adj" fmla="val 17647"/>
            </a:avLst>
          </a:prstGeom>
          <a:solidFill>
            <a:srgbClr val="1558A8"/>
          </a:solidFill>
          <a:ln w="12700">
            <a:solidFill>
              <a:srgbClr val="1558A8"/>
            </a:solidFill>
            <a:prstDash val="solid"/>
          </a:ln>
        </p:spPr>
      </p:sp>
      <p:sp>
        <p:nvSpPr>
          <p:cNvPr id="111" name="Text 109"/>
          <p:cNvSpPr/>
          <p:nvPr/>
        </p:nvSpPr>
        <p:spPr>
          <a:xfrm>
            <a:off x="1170432" y="4956048"/>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2" name="Shape 110"/>
          <p:cNvSpPr/>
          <p:nvPr/>
        </p:nvSpPr>
        <p:spPr>
          <a:xfrm>
            <a:off x="2185416" y="4745736"/>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2185416" y="474573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114" name="Shape 112"/>
          <p:cNvSpPr/>
          <p:nvPr/>
        </p:nvSpPr>
        <p:spPr>
          <a:xfrm>
            <a:off x="2185416" y="4956048"/>
            <a:ext cx="932688" cy="155448"/>
          </a:xfrm>
          <a:prstGeom prst="roundRect">
            <a:avLst>
              <a:gd name="adj" fmla="val 17647"/>
            </a:avLst>
          </a:prstGeom>
          <a:solidFill>
            <a:srgbClr val="1558A8"/>
          </a:solidFill>
          <a:ln w="12700">
            <a:solidFill>
              <a:srgbClr val="1558A8"/>
            </a:solidFill>
            <a:prstDash val="solid"/>
          </a:ln>
        </p:spPr>
      </p:sp>
      <p:sp>
        <p:nvSpPr>
          <p:cNvPr id="115" name="Text 113"/>
          <p:cNvSpPr/>
          <p:nvPr/>
        </p:nvSpPr>
        <p:spPr>
          <a:xfrm>
            <a:off x="2185416" y="4956048"/>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6" name="Shape 114"/>
          <p:cNvSpPr/>
          <p:nvPr/>
        </p:nvSpPr>
        <p:spPr>
          <a:xfrm>
            <a:off x="3200400" y="4745736"/>
            <a:ext cx="932688" cy="182880"/>
          </a:xfrm>
          <a:prstGeom prst="roundRect">
            <a:avLst>
              <a:gd name="adj" fmla="val 15000"/>
            </a:avLst>
          </a:prstGeom>
          <a:solidFill>
            <a:srgbClr val="FFFFFF"/>
          </a:solidFill>
          <a:ln w="9525">
            <a:solidFill>
              <a:srgbClr val="CBD5E1"/>
            </a:solidFill>
            <a:prstDash val="solid"/>
          </a:ln>
        </p:spPr>
      </p:sp>
      <p:sp>
        <p:nvSpPr>
          <p:cNvPr id="117" name="Text 115"/>
          <p:cNvSpPr/>
          <p:nvPr/>
        </p:nvSpPr>
        <p:spPr>
          <a:xfrm>
            <a:off x="3200400" y="474573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118" name="Shape 116"/>
          <p:cNvSpPr/>
          <p:nvPr/>
        </p:nvSpPr>
        <p:spPr>
          <a:xfrm>
            <a:off x="3200400" y="4956048"/>
            <a:ext cx="932688" cy="155448"/>
          </a:xfrm>
          <a:prstGeom prst="roundRect">
            <a:avLst>
              <a:gd name="adj" fmla="val 17647"/>
            </a:avLst>
          </a:prstGeom>
          <a:solidFill>
            <a:srgbClr val="1558A8"/>
          </a:solidFill>
          <a:ln w="12700">
            <a:solidFill>
              <a:srgbClr val="1558A8"/>
            </a:solidFill>
            <a:prstDash val="solid"/>
          </a:ln>
        </p:spPr>
      </p:sp>
      <p:sp>
        <p:nvSpPr>
          <p:cNvPr id="119" name="Text 117"/>
          <p:cNvSpPr/>
          <p:nvPr/>
        </p:nvSpPr>
        <p:spPr>
          <a:xfrm>
            <a:off x="3200400" y="4956048"/>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0" name="Shape 118"/>
          <p:cNvSpPr/>
          <p:nvPr/>
        </p:nvSpPr>
        <p:spPr>
          <a:xfrm>
            <a:off x="4215384" y="4745736"/>
            <a:ext cx="932688" cy="182880"/>
          </a:xfrm>
          <a:prstGeom prst="roundRect">
            <a:avLst>
              <a:gd name="adj" fmla="val 15000"/>
            </a:avLst>
          </a:prstGeom>
          <a:solidFill>
            <a:srgbClr val="FFFFFF"/>
          </a:solidFill>
          <a:ln w="9525">
            <a:solidFill>
              <a:srgbClr val="CBD5E1"/>
            </a:solidFill>
            <a:prstDash val="solid"/>
          </a:ln>
        </p:spPr>
      </p:sp>
      <p:sp>
        <p:nvSpPr>
          <p:cNvPr id="121" name="Text 119"/>
          <p:cNvSpPr/>
          <p:nvPr/>
        </p:nvSpPr>
        <p:spPr>
          <a:xfrm>
            <a:off x="4215384" y="474573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122" name="Shape 120"/>
          <p:cNvSpPr/>
          <p:nvPr/>
        </p:nvSpPr>
        <p:spPr>
          <a:xfrm>
            <a:off x="4215384" y="4956048"/>
            <a:ext cx="932688" cy="155448"/>
          </a:xfrm>
          <a:prstGeom prst="roundRect">
            <a:avLst>
              <a:gd name="adj" fmla="val 17647"/>
            </a:avLst>
          </a:prstGeom>
          <a:solidFill>
            <a:srgbClr val="1558A8"/>
          </a:solidFill>
          <a:ln w="12700">
            <a:solidFill>
              <a:srgbClr val="1558A8"/>
            </a:solidFill>
            <a:prstDash val="solid"/>
          </a:ln>
        </p:spPr>
      </p:sp>
      <p:sp>
        <p:nvSpPr>
          <p:cNvPr id="123" name="Text 121"/>
          <p:cNvSpPr/>
          <p:nvPr/>
        </p:nvSpPr>
        <p:spPr>
          <a:xfrm>
            <a:off x="4215384" y="4956048"/>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4" name="Shape 122"/>
          <p:cNvSpPr/>
          <p:nvPr/>
        </p:nvSpPr>
        <p:spPr>
          <a:xfrm>
            <a:off x="5230368" y="4745736"/>
            <a:ext cx="932688" cy="182880"/>
          </a:xfrm>
          <a:prstGeom prst="roundRect">
            <a:avLst>
              <a:gd name="adj" fmla="val 15000"/>
            </a:avLst>
          </a:prstGeom>
          <a:solidFill>
            <a:srgbClr val="FFFFFF"/>
          </a:solidFill>
          <a:ln w="9525">
            <a:solidFill>
              <a:srgbClr val="CBD5E1"/>
            </a:solidFill>
            <a:prstDash val="solid"/>
          </a:ln>
        </p:spPr>
      </p:sp>
      <p:sp>
        <p:nvSpPr>
          <p:cNvPr id="125" name="Text 123"/>
          <p:cNvSpPr/>
          <p:nvPr/>
        </p:nvSpPr>
        <p:spPr>
          <a:xfrm>
            <a:off x="5230368" y="474573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126" name="Shape 124"/>
          <p:cNvSpPr/>
          <p:nvPr/>
        </p:nvSpPr>
        <p:spPr>
          <a:xfrm>
            <a:off x="5230368" y="4956048"/>
            <a:ext cx="932688" cy="155448"/>
          </a:xfrm>
          <a:prstGeom prst="roundRect">
            <a:avLst>
              <a:gd name="adj" fmla="val 17647"/>
            </a:avLst>
          </a:prstGeom>
          <a:solidFill>
            <a:srgbClr val="F3F4F6"/>
          </a:solidFill>
          <a:ln w="9525">
            <a:solidFill>
              <a:srgbClr val="D1D5DB"/>
            </a:solidFill>
            <a:prstDash val="solid"/>
          </a:ln>
        </p:spPr>
      </p:sp>
      <p:sp>
        <p:nvSpPr>
          <p:cNvPr id="127" name="Text 125"/>
          <p:cNvSpPr/>
          <p:nvPr/>
        </p:nvSpPr>
        <p:spPr>
          <a:xfrm>
            <a:off x="5230368" y="4956048"/>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28" name="Shape 126"/>
          <p:cNvSpPr/>
          <p:nvPr/>
        </p:nvSpPr>
        <p:spPr>
          <a:xfrm>
            <a:off x="6245352" y="4745736"/>
            <a:ext cx="932688" cy="182880"/>
          </a:xfrm>
          <a:prstGeom prst="roundRect">
            <a:avLst>
              <a:gd name="adj" fmla="val 15000"/>
            </a:avLst>
          </a:prstGeom>
          <a:solidFill>
            <a:srgbClr val="FFFFFF"/>
          </a:solidFill>
          <a:ln w="9525">
            <a:solidFill>
              <a:srgbClr val="CBD5E1"/>
            </a:solidFill>
            <a:prstDash val="solid"/>
          </a:ln>
        </p:spPr>
      </p:sp>
      <p:sp>
        <p:nvSpPr>
          <p:cNvPr id="129" name="Text 127"/>
          <p:cNvSpPr/>
          <p:nvPr/>
        </p:nvSpPr>
        <p:spPr>
          <a:xfrm>
            <a:off x="6245352" y="474573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130" name="Shape 128"/>
          <p:cNvSpPr/>
          <p:nvPr/>
        </p:nvSpPr>
        <p:spPr>
          <a:xfrm>
            <a:off x="6245352" y="4956048"/>
            <a:ext cx="932688" cy="155448"/>
          </a:xfrm>
          <a:prstGeom prst="roundRect">
            <a:avLst>
              <a:gd name="adj" fmla="val 17647"/>
            </a:avLst>
          </a:prstGeom>
          <a:solidFill>
            <a:srgbClr val="F3F4F6"/>
          </a:solidFill>
          <a:ln w="9525">
            <a:solidFill>
              <a:srgbClr val="D1D5DB"/>
            </a:solidFill>
            <a:prstDash val="solid"/>
          </a:ln>
        </p:spPr>
      </p:sp>
      <p:sp>
        <p:nvSpPr>
          <p:cNvPr id="131" name="Text 129"/>
          <p:cNvSpPr/>
          <p:nvPr/>
        </p:nvSpPr>
        <p:spPr>
          <a:xfrm>
            <a:off x="6245352" y="4956048"/>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32" name="Shape 130"/>
          <p:cNvSpPr/>
          <p:nvPr/>
        </p:nvSpPr>
        <p:spPr>
          <a:xfrm>
            <a:off x="7260336" y="4745736"/>
            <a:ext cx="932688" cy="182880"/>
          </a:xfrm>
          <a:prstGeom prst="roundRect">
            <a:avLst>
              <a:gd name="adj" fmla="val 15000"/>
            </a:avLst>
          </a:prstGeom>
          <a:solidFill>
            <a:srgbClr val="FFFFFF"/>
          </a:solidFill>
          <a:ln w="9525">
            <a:solidFill>
              <a:srgbClr val="CBD5E1"/>
            </a:solidFill>
            <a:prstDash val="solid"/>
          </a:ln>
        </p:spPr>
      </p:sp>
      <p:sp>
        <p:nvSpPr>
          <p:cNvPr id="133" name="Text 131"/>
          <p:cNvSpPr/>
          <p:nvPr/>
        </p:nvSpPr>
        <p:spPr>
          <a:xfrm>
            <a:off x="7260336" y="474573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134" name="Shape 132"/>
          <p:cNvSpPr/>
          <p:nvPr/>
        </p:nvSpPr>
        <p:spPr>
          <a:xfrm>
            <a:off x="7260336" y="4956048"/>
            <a:ext cx="932688" cy="155448"/>
          </a:xfrm>
          <a:prstGeom prst="roundRect">
            <a:avLst>
              <a:gd name="adj" fmla="val 17647"/>
            </a:avLst>
          </a:prstGeom>
          <a:solidFill>
            <a:srgbClr val="F3F4F6"/>
          </a:solidFill>
          <a:ln w="9525">
            <a:solidFill>
              <a:srgbClr val="D1D5DB"/>
            </a:solidFill>
            <a:prstDash val="solid"/>
          </a:ln>
        </p:spPr>
      </p:sp>
      <p:sp>
        <p:nvSpPr>
          <p:cNvPr id="135" name="Text 133"/>
          <p:cNvSpPr/>
          <p:nvPr/>
        </p:nvSpPr>
        <p:spPr>
          <a:xfrm>
            <a:off x="7260336" y="4956048"/>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36" name="Shape 134"/>
          <p:cNvSpPr/>
          <p:nvPr/>
        </p:nvSpPr>
        <p:spPr>
          <a:xfrm>
            <a:off x="8275320" y="4745736"/>
            <a:ext cx="932688" cy="182880"/>
          </a:xfrm>
          <a:prstGeom prst="roundRect">
            <a:avLst>
              <a:gd name="adj" fmla="val 15000"/>
            </a:avLst>
          </a:prstGeom>
          <a:solidFill>
            <a:srgbClr val="FFFFFF"/>
          </a:solidFill>
          <a:ln w="9525">
            <a:solidFill>
              <a:srgbClr val="CBD5E1"/>
            </a:solidFill>
            <a:prstDash val="solid"/>
          </a:ln>
        </p:spPr>
      </p:sp>
      <p:sp>
        <p:nvSpPr>
          <p:cNvPr id="137" name="Text 135"/>
          <p:cNvSpPr/>
          <p:nvPr/>
        </p:nvSpPr>
        <p:spPr>
          <a:xfrm>
            <a:off x="8275320" y="474573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138" name="Shape 136"/>
          <p:cNvSpPr/>
          <p:nvPr/>
        </p:nvSpPr>
        <p:spPr>
          <a:xfrm>
            <a:off x="8275320" y="4956048"/>
            <a:ext cx="932688" cy="155448"/>
          </a:xfrm>
          <a:prstGeom prst="roundRect">
            <a:avLst>
              <a:gd name="adj" fmla="val 17647"/>
            </a:avLst>
          </a:prstGeom>
          <a:solidFill>
            <a:srgbClr val="F3F4F6"/>
          </a:solidFill>
          <a:ln w="9525">
            <a:solidFill>
              <a:srgbClr val="D1D5DB"/>
            </a:solidFill>
            <a:prstDash val="solid"/>
          </a:ln>
        </p:spPr>
      </p:sp>
      <p:sp>
        <p:nvSpPr>
          <p:cNvPr id="139" name="Text 137"/>
          <p:cNvSpPr/>
          <p:nvPr/>
        </p:nvSpPr>
        <p:spPr>
          <a:xfrm>
            <a:off x="8275320" y="4956048"/>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40" name="Shape 138"/>
          <p:cNvSpPr/>
          <p:nvPr/>
        </p:nvSpPr>
        <p:spPr>
          <a:xfrm>
            <a:off x="1170432" y="5202936"/>
            <a:ext cx="932688" cy="182880"/>
          </a:xfrm>
          <a:prstGeom prst="roundRect">
            <a:avLst>
              <a:gd name="adj" fmla="val 15000"/>
            </a:avLst>
          </a:prstGeom>
          <a:solidFill>
            <a:srgbClr val="FFFFFF"/>
          </a:solidFill>
          <a:ln w="9525">
            <a:solidFill>
              <a:srgbClr val="CBD5E1"/>
            </a:solidFill>
            <a:prstDash val="solid"/>
          </a:ln>
        </p:spPr>
      </p:sp>
      <p:sp>
        <p:nvSpPr>
          <p:cNvPr id="141" name="Text 139"/>
          <p:cNvSpPr/>
          <p:nvPr/>
        </p:nvSpPr>
        <p:spPr>
          <a:xfrm>
            <a:off x="1170432" y="520293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142" name="Shape 140"/>
          <p:cNvSpPr/>
          <p:nvPr/>
        </p:nvSpPr>
        <p:spPr>
          <a:xfrm>
            <a:off x="1170432" y="5413248"/>
            <a:ext cx="932688" cy="155448"/>
          </a:xfrm>
          <a:prstGeom prst="roundRect">
            <a:avLst>
              <a:gd name="adj" fmla="val 17647"/>
            </a:avLst>
          </a:prstGeom>
          <a:solidFill>
            <a:srgbClr val="1558A8"/>
          </a:solidFill>
          <a:ln w="12700">
            <a:solidFill>
              <a:srgbClr val="1558A8"/>
            </a:solidFill>
            <a:prstDash val="solid"/>
          </a:ln>
        </p:spPr>
      </p:sp>
      <p:sp>
        <p:nvSpPr>
          <p:cNvPr id="143" name="Text 141"/>
          <p:cNvSpPr/>
          <p:nvPr/>
        </p:nvSpPr>
        <p:spPr>
          <a:xfrm>
            <a:off x="1170432" y="5413248"/>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44" name="Shape 142"/>
          <p:cNvSpPr/>
          <p:nvPr/>
        </p:nvSpPr>
        <p:spPr>
          <a:xfrm>
            <a:off x="164592" y="5705856"/>
            <a:ext cx="9116568" cy="1170432"/>
          </a:xfrm>
          <a:prstGeom prst="rect">
            <a:avLst/>
          </a:prstGeom>
          <a:solidFill>
            <a:srgbClr val="FAFBFC"/>
          </a:solidFill>
          <a:ln w="6350">
            <a:solidFill>
              <a:srgbClr val="E5E7EB"/>
            </a:solidFill>
            <a:prstDash val="solid"/>
          </a:ln>
        </p:spPr>
      </p:sp>
      <p:sp>
        <p:nvSpPr>
          <p:cNvPr id="145" name="Shape 143"/>
          <p:cNvSpPr/>
          <p:nvPr/>
        </p:nvSpPr>
        <p:spPr>
          <a:xfrm>
            <a:off x="182880" y="5779008"/>
            <a:ext cx="859536" cy="1024128"/>
          </a:xfrm>
          <a:prstGeom prst="roundRect">
            <a:avLst>
              <a:gd name="adj" fmla="val 5319"/>
            </a:avLst>
          </a:prstGeom>
          <a:solidFill>
            <a:srgbClr val="9CA3AF"/>
          </a:solidFill>
          <a:ln w="12700">
            <a:solidFill>
              <a:srgbClr val="9CA3AF"/>
            </a:solidFill>
            <a:prstDash val="solid"/>
          </a:ln>
        </p:spPr>
      </p:sp>
      <p:sp>
        <p:nvSpPr>
          <p:cNvPr id="146" name="Text 144"/>
          <p:cNvSpPr/>
          <p:nvPr/>
        </p:nvSpPr>
        <p:spPr>
          <a:xfrm>
            <a:off x="182880" y="5779008"/>
            <a:ext cx="859536" cy="1024128"/>
          </a:xfrm>
          <a:prstGeom prst="rect">
            <a:avLst/>
          </a:prstGeom>
          <a:noFill/>
          <a:ln/>
        </p:spPr>
        <p:txBody>
          <a:bodyPr wrap="square" lIns="0" tIns="0" rIns="0" bIns="0" rtlCol="0" anchor="ctr"/>
          <a:lstStyle/>
          <a:p>
            <a:pPr algn="ctr" indent="0" marL="0">
              <a:buNone/>
            </a:pPr>
            <a:r>
              <a:rPr lang="en-US" sz="950" b="1" dirty="0">
                <a:solidFill>
                  <a:srgbClr val="FFFFFF"/>
                </a:solidFill>
              </a:rPr>
              <a:t>Onboarding</a:t>
            </a:r>
            <a:endParaRPr lang="en-US" sz="950" dirty="0"/>
          </a:p>
        </p:txBody>
      </p:sp>
      <p:sp>
        <p:nvSpPr>
          <p:cNvPr id="147" name="Text 145"/>
          <p:cNvSpPr/>
          <p:nvPr/>
        </p:nvSpPr>
        <p:spPr>
          <a:xfrm>
            <a:off x="1170432" y="5751576"/>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1 / 6 In Progress</a:t>
            </a:r>
            <a:endParaRPr lang="en-US" sz="750" dirty="0"/>
          </a:p>
        </p:txBody>
      </p:sp>
      <p:sp>
        <p:nvSpPr>
          <p:cNvPr id="148" name="Shape 146"/>
          <p:cNvSpPr/>
          <p:nvPr/>
        </p:nvSpPr>
        <p:spPr>
          <a:xfrm>
            <a:off x="1170432" y="5971032"/>
            <a:ext cx="932688" cy="182880"/>
          </a:xfrm>
          <a:prstGeom prst="roundRect">
            <a:avLst>
              <a:gd name="adj" fmla="val 15000"/>
            </a:avLst>
          </a:prstGeom>
          <a:solidFill>
            <a:srgbClr val="FFFFFF"/>
          </a:solidFill>
          <a:ln w="9525">
            <a:solidFill>
              <a:srgbClr val="CBD5E1"/>
            </a:solidFill>
            <a:prstDash val="solid"/>
          </a:ln>
        </p:spPr>
      </p:sp>
      <p:sp>
        <p:nvSpPr>
          <p:cNvPr id="149" name="Text 147"/>
          <p:cNvSpPr/>
          <p:nvPr/>
        </p:nvSpPr>
        <p:spPr>
          <a:xfrm>
            <a:off x="1170432" y="5971032"/>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150" name="Shape 148"/>
          <p:cNvSpPr/>
          <p:nvPr/>
        </p:nvSpPr>
        <p:spPr>
          <a:xfrm>
            <a:off x="1170432" y="6181344"/>
            <a:ext cx="932688" cy="155448"/>
          </a:xfrm>
          <a:prstGeom prst="roundRect">
            <a:avLst>
              <a:gd name="adj" fmla="val 17647"/>
            </a:avLst>
          </a:prstGeom>
          <a:solidFill>
            <a:srgbClr val="F3F4F6"/>
          </a:solidFill>
          <a:ln w="9525">
            <a:solidFill>
              <a:srgbClr val="D1D5DB"/>
            </a:solidFill>
            <a:prstDash val="solid"/>
          </a:ln>
        </p:spPr>
      </p:sp>
      <p:sp>
        <p:nvSpPr>
          <p:cNvPr id="151" name="Text 149"/>
          <p:cNvSpPr/>
          <p:nvPr/>
        </p:nvSpPr>
        <p:spPr>
          <a:xfrm>
            <a:off x="1170432" y="6181344"/>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52" name="Shape 150"/>
          <p:cNvSpPr/>
          <p:nvPr/>
        </p:nvSpPr>
        <p:spPr>
          <a:xfrm>
            <a:off x="2185416" y="5971032"/>
            <a:ext cx="932688" cy="182880"/>
          </a:xfrm>
          <a:prstGeom prst="roundRect">
            <a:avLst>
              <a:gd name="adj" fmla="val 15000"/>
            </a:avLst>
          </a:prstGeom>
          <a:solidFill>
            <a:srgbClr val="FFFFFF"/>
          </a:solidFill>
          <a:ln w="9525">
            <a:solidFill>
              <a:srgbClr val="CBD5E1"/>
            </a:solidFill>
            <a:prstDash val="solid"/>
          </a:ln>
        </p:spPr>
      </p:sp>
      <p:sp>
        <p:nvSpPr>
          <p:cNvPr id="153" name="Text 151"/>
          <p:cNvSpPr/>
          <p:nvPr/>
        </p:nvSpPr>
        <p:spPr>
          <a:xfrm>
            <a:off x="2185416" y="5971032"/>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54" name="Shape 152"/>
          <p:cNvSpPr/>
          <p:nvPr/>
        </p:nvSpPr>
        <p:spPr>
          <a:xfrm>
            <a:off x="2185416" y="6181344"/>
            <a:ext cx="932688" cy="155448"/>
          </a:xfrm>
          <a:prstGeom prst="roundRect">
            <a:avLst>
              <a:gd name="adj" fmla="val 17647"/>
            </a:avLst>
          </a:prstGeom>
          <a:solidFill>
            <a:srgbClr val="F3F4F6"/>
          </a:solidFill>
          <a:ln w="9525">
            <a:solidFill>
              <a:srgbClr val="D1D5DB"/>
            </a:solidFill>
            <a:prstDash val="solid"/>
          </a:ln>
        </p:spPr>
      </p:sp>
      <p:sp>
        <p:nvSpPr>
          <p:cNvPr id="155" name="Text 153"/>
          <p:cNvSpPr/>
          <p:nvPr/>
        </p:nvSpPr>
        <p:spPr>
          <a:xfrm>
            <a:off x="2185416" y="6181344"/>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56" name="Shape 154"/>
          <p:cNvSpPr/>
          <p:nvPr/>
        </p:nvSpPr>
        <p:spPr>
          <a:xfrm>
            <a:off x="3200400" y="5971032"/>
            <a:ext cx="932688" cy="182880"/>
          </a:xfrm>
          <a:prstGeom prst="roundRect">
            <a:avLst>
              <a:gd name="adj" fmla="val 15000"/>
            </a:avLst>
          </a:prstGeom>
          <a:solidFill>
            <a:srgbClr val="FFFFFF"/>
          </a:solidFill>
          <a:ln w="9525">
            <a:solidFill>
              <a:srgbClr val="CBD5E1"/>
            </a:solidFill>
            <a:prstDash val="solid"/>
          </a:ln>
        </p:spPr>
      </p:sp>
      <p:sp>
        <p:nvSpPr>
          <p:cNvPr id="157" name="Text 155"/>
          <p:cNvSpPr/>
          <p:nvPr/>
        </p:nvSpPr>
        <p:spPr>
          <a:xfrm>
            <a:off x="3200400" y="5971032"/>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58" name="Shape 156"/>
          <p:cNvSpPr/>
          <p:nvPr/>
        </p:nvSpPr>
        <p:spPr>
          <a:xfrm>
            <a:off x="3200400" y="6181344"/>
            <a:ext cx="932688" cy="155448"/>
          </a:xfrm>
          <a:prstGeom prst="roundRect">
            <a:avLst>
              <a:gd name="adj" fmla="val 17647"/>
            </a:avLst>
          </a:prstGeom>
          <a:solidFill>
            <a:srgbClr val="F3F4F6"/>
          </a:solidFill>
          <a:ln w="9525">
            <a:solidFill>
              <a:srgbClr val="D1D5DB"/>
            </a:solidFill>
            <a:prstDash val="solid"/>
          </a:ln>
        </p:spPr>
      </p:sp>
      <p:sp>
        <p:nvSpPr>
          <p:cNvPr id="159" name="Text 157"/>
          <p:cNvSpPr/>
          <p:nvPr/>
        </p:nvSpPr>
        <p:spPr>
          <a:xfrm>
            <a:off x="3200400" y="6181344"/>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60" name="Shape 158"/>
          <p:cNvSpPr/>
          <p:nvPr/>
        </p:nvSpPr>
        <p:spPr>
          <a:xfrm>
            <a:off x="4215384" y="5971032"/>
            <a:ext cx="932688" cy="182880"/>
          </a:xfrm>
          <a:prstGeom prst="roundRect">
            <a:avLst>
              <a:gd name="adj" fmla="val 15000"/>
            </a:avLst>
          </a:prstGeom>
          <a:solidFill>
            <a:srgbClr val="FFFFFF"/>
          </a:solidFill>
          <a:ln w="9525">
            <a:solidFill>
              <a:srgbClr val="CBD5E1"/>
            </a:solidFill>
            <a:prstDash val="solid"/>
          </a:ln>
        </p:spPr>
      </p:sp>
      <p:sp>
        <p:nvSpPr>
          <p:cNvPr id="161" name="Text 159"/>
          <p:cNvSpPr/>
          <p:nvPr/>
        </p:nvSpPr>
        <p:spPr>
          <a:xfrm>
            <a:off x="4215384" y="5971032"/>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62" name="Shape 160"/>
          <p:cNvSpPr/>
          <p:nvPr/>
        </p:nvSpPr>
        <p:spPr>
          <a:xfrm>
            <a:off x="4215384" y="6181344"/>
            <a:ext cx="932688" cy="155448"/>
          </a:xfrm>
          <a:prstGeom prst="roundRect">
            <a:avLst>
              <a:gd name="adj" fmla="val 17647"/>
            </a:avLst>
          </a:prstGeom>
          <a:solidFill>
            <a:srgbClr val="1558A8"/>
          </a:solidFill>
          <a:ln w="12700">
            <a:solidFill>
              <a:srgbClr val="1558A8"/>
            </a:solidFill>
            <a:prstDash val="solid"/>
          </a:ln>
        </p:spPr>
      </p:sp>
      <p:sp>
        <p:nvSpPr>
          <p:cNvPr id="163" name="Text 161"/>
          <p:cNvSpPr/>
          <p:nvPr/>
        </p:nvSpPr>
        <p:spPr>
          <a:xfrm>
            <a:off x="4215384" y="6181344"/>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64" name="Shape 162"/>
          <p:cNvSpPr/>
          <p:nvPr/>
        </p:nvSpPr>
        <p:spPr>
          <a:xfrm>
            <a:off x="5230368" y="5971032"/>
            <a:ext cx="932688" cy="182880"/>
          </a:xfrm>
          <a:prstGeom prst="roundRect">
            <a:avLst>
              <a:gd name="adj" fmla="val 15000"/>
            </a:avLst>
          </a:prstGeom>
          <a:solidFill>
            <a:srgbClr val="FFFFFF"/>
          </a:solidFill>
          <a:ln w="9525">
            <a:solidFill>
              <a:srgbClr val="CBD5E1"/>
            </a:solidFill>
            <a:prstDash val="solid"/>
          </a:ln>
        </p:spPr>
      </p:sp>
      <p:sp>
        <p:nvSpPr>
          <p:cNvPr id="165" name="Text 163"/>
          <p:cNvSpPr/>
          <p:nvPr/>
        </p:nvSpPr>
        <p:spPr>
          <a:xfrm>
            <a:off x="5230368" y="5971032"/>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66" name="Shape 164"/>
          <p:cNvSpPr/>
          <p:nvPr/>
        </p:nvSpPr>
        <p:spPr>
          <a:xfrm>
            <a:off x="5230368" y="6181344"/>
            <a:ext cx="932688" cy="155448"/>
          </a:xfrm>
          <a:prstGeom prst="roundRect">
            <a:avLst>
              <a:gd name="adj" fmla="val 17647"/>
            </a:avLst>
          </a:prstGeom>
          <a:solidFill>
            <a:srgbClr val="F3F4F6"/>
          </a:solidFill>
          <a:ln w="9525">
            <a:solidFill>
              <a:srgbClr val="D1D5DB"/>
            </a:solidFill>
            <a:prstDash val="solid"/>
          </a:ln>
        </p:spPr>
      </p:sp>
      <p:sp>
        <p:nvSpPr>
          <p:cNvPr id="167" name="Text 165"/>
          <p:cNvSpPr/>
          <p:nvPr/>
        </p:nvSpPr>
        <p:spPr>
          <a:xfrm>
            <a:off x="5230368" y="6181344"/>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68" name="Shape 166"/>
          <p:cNvSpPr/>
          <p:nvPr/>
        </p:nvSpPr>
        <p:spPr>
          <a:xfrm>
            <a:off x="6245352" y="5971032"/>
            <a:ext cx="932688" cy="182880"/>
          </a:xfrm>
          <a:prstGeom prst="roundRect">
            <a:avLst>
              <a:gd name="adj" fmla="val 15000"/>
            </a:avLst>
          </a:prstGeom>
          <a:solidFill>
            <a:srgbClr val="FFFFFF"/>
          </a:solidFill>
          <a:ln w="9525">
            <a:solidFill>
              <a:srgbClr val="CBD5E1"/>
            </a:solidFill>
            <a:prstDash val="solid"/>
          </a:ln>
        </p:spPr>
      </p:sp>
      <p:sp>
        <p:nvSpPr>
          <p:cNvPr id="169" name="Text 167"/>
          <p:cNvSpPr/>
          <p:nvPr/>
        </p:nvSpPr>
        <p:spPr>
          <a:xfrm>
            <a:off x="6245352" y="5971032"/>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70" name="Shape 168"/>
          <p:cNvSpPr/>
          <p:nvPr/>
        </p:nvSpPr>
        <p:spPr>
          <a:xfrm>
            <a:off x="6245352" y="6181344"/>
            <a:ext cx="932688" cy="155448"/>
          </a:xfrm>
          <a:prstGeom prst="roundRect">
            <a:avLst>
              <a:gd name="adj" fmla="val 17647"/>
            </a:avLst>
          </a:prstGeom>
          <a:solidFill>
            <a:srgbClr val="F3F4F6"/>
          </a:solidFill>
          <a:ln w="9525">
            <a:solidFill>
              <a:srgbClr val="D1D5DB"/>
            </a:solidFill>
            <a:prstDash val="solid"/>
          </a:ln>
        </p:spPr>
      </p:sp>
      <p:sp>
        <p:nvSpPr>
          <p:cNvPr id="171" name="Text 169"/>
          <p:cNvSpPr/>
          <p:nvPr/>
        </p:nvSpPr>
        <p:spPr>
          <a:xfrm>
            <a:off x="6245352" y="6181344"/>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72" name="Shape 170"/>
          <p:cNvSpPr/>
          <p:nvPr/>
        </p:nvSpPr>
        <p:spPr>
          <a:xfrm>
            <a:off x="9372600" y="804672"/>
            <a:ext cx="2834640" cy="6071616"/>
          </a:xfrm>
          <a:prstGeom prst="rect">
            <a:avLst/>
          </a:prstGeom>
          <a:solidFill>
            <a:srgbClr val="F8FAFB"/>
          </a:solidFill>
          <a:ln w="12700">
            <a:solidFill>
              <a:srgbClr val="DDE1E6"/>
            </a:solidFill>
            <a:prstDash val="solid"/>
          </a:ln>
        </p:spPr>
      </p:sp>
      <p:sp>
        <p:nvSpPr>
          <p:cNvPr id="173" name="Text 171"/>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74" name="Shape 172"/>
          <p:cNvSpPr/>
          <p:nvPr/>
        </p:nvSpPr>
        <p:spPr>
          <a:xfrm>
            <a:off x="9464040" y="1225296"/>
            <a:ext cx="2670048" cy="420624"/>
          </a:xfrm>
          <a:prstGeom prst="rect">
            <a:avLst/>
          </a:prstGeom>
          <a:solidFill>
            <a:srgbClr val="FFFFFF"/>
          </a:solidFill>
          <a:ln w="6350">
            <a:solidFill>
              <a:srgbClr val="E5E7EB"/>
            </a:solidFill>
            <a:prstDash val="solid"/>
          </a:ln>
        </p:spPr>
      </p:sp>
      <p:sp>
        <p:nvSpPr>
          <p:cNvPr id="175" name="Shape 173"/>
          <p:cNvSpPr/>
          <p:nvPr/>
        </p:nvSpPr>
        <p:spPr>
          <a:xfrm>
            <a:off x="9537192" y="1316736"/>
            <a:ext cx="109728" cy="109728"/>
          </a:xfrm>
          <a:prstGeom prst="ellipse">
            <a:avLst/>
          </a:prstGeom>
          <a:solidFill>
            <a:srgbClr val="16A34A"/>
          </a:solidFill>
          <a:ln w="12700">
            <a:solidFill>
              <a:srgbClr val="16A34A"/>
            </a:solidFill>
            <a:prstDash val="solid"/>
          </a:ln>
        </p:spPr>
      </p:sp>
      <p:sp>
        <p:nvSpPr>
          <p:cNvPr id="176" name="Text 174"/>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77" name="Text 175"/>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78" name="Shape 176"/>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79" name="Text 177"/>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80" name="Shape 178"/>
          <p:cNvSpPr/>
          <p:nvPr/>
        </p:nvSpPr>
        <p:spPr>
          <a:xfrm>
            <a:off x="9464040" y="1700784"/>
            <a:ext cx="2670048" cy="420624"/>
          </a:xfrm>
          <a:prstGeom prst="rect">
            <a:avLst/>
          </a:prstGeom>
          <a:solidFill>
            <a:srgbClr val="FFFFFF"/>
          </a:solidFill>
          <a:ln w="6350">
            <a:solidFill>
              <a:srgbClr val="E5E7EB"/>
            </a:solidFill>
            <a:prstDash val="solid"/>
          </a:ln>
        </p:spPr>
      </p:sp>
      <p:sp>
        <p:nvSpPr>
          <p:cNvPr id="181" name="Shape 179"/>
          <p:cNvSpPr/>
          <p:nvPr/>
        </p:nvSpPr>
        <p:spPr>
          <a:xfrm>
            <a:off x="9537192" y="1792224"/>
            <a:ext cx="109728" cy="109728"/>
          </a:xfrm>
          <a:prstGeom prst="ellipse">
            <a:avLst/>
          </a:prstGeom>
          <a:solidFill>
            <a:srgbClr val="1558A8"/>
          </a:solidFill>
          <a:ln w="12700">
            <a:solidFill>
              <a:srgbClr val="1558A8"/>
            </a:solidFill>
            <a:prstDash val="solid"/>
          </a:ln>
        </p:spPr>
      </p:sp>
      <p:sp>
        <p:nvSpPr>
          <p:cNvPr id="182" name="Text 180"/>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83" name="Text 181"/>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84" name="Shape 182"/>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85" name="Text 183"/>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86" name="Shape 184"/>
          <p:cNvSpPr/>
          <p:nvPr/>
        </p:nvSpPr>
        <p:spPr>
          <a:xfrm>
            <a:off x="9464040" y="2176272"/>
            <a:ext cx="2670048" cy="420624"/>
          </a:xfrm>
          <a:prstGeom prst="rect">
            <a:avLst/>
          </a:prstGeom>
          <a:solidFill>
            <a:srgbClr val="FFFFFF"/>
          </a:solidFill>
          <a:ln w="6350">
            <a:solidFill>
              <a:srgbClr val="E5E7EB"/>
            </a:solidFill>
            <a:prstDash val="solid"/>
          </a:ln>
        </p:spPr>
      </p:sp>
      <p:sp>
        <p:nvSpPr>
          <p:cNvPr id="187" name="Shape 185"/>
          <p:cNvSpPr/>
          <p:nvPr/>
        </p:nvSpPr>
        <p:spPr>
          <a:xfrm>
            <a:off x="9537192" y="2267712"/>
            <a:ext cx="109728" cy="109728"/>
          </a:xfrm>
          <a:prstGeom prst="ellipse">
            <a:avLst/>
          </a:prstGeom>
          <a:solidFill>
            <a:srgbClr val="9CA3AF"/>
          </a:solidFill>
          <a:ln w="12700">
            <a:solidFill>
              <a:srgbClr val="9CA3AF"/>
            </a:solidFill>
            <a:prstDash val="solid"/>
          </a:ln>
        </p:spPr>
      </p:sp>
      <p:sp>
        <p:nvSpPr>
          <p:cNvPr id="188" name="Text 186"/>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189" name="Text 187"/>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190" name="Shape 188"/>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191" name="Text 189"/>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92" name="Shape 190"/>
          <p:cNvSpPr/>
          <p:nvPr/>
        </p:nvSpPr>
        <p:spPr>
          <a:xfrm>
            <a:off x="9464040" y="2651760"/>
            <a:ext cx="2670048" cy="420624"/>
          </a:xfrm>
          <a:prstGeom prst="rect">
            <a:avLst/>
          </a:prstGeom>
          <a:solidFill>
            <a:srgbClr val="FFFFFF"/>
          </a:solidFill>
          <a:ln w="6350">
            <a:solidFill>
              <a:srgbClr val="E5E7EB"/>
            </a:solidFill>
            <a:prstDash val="solid"/>
          </a:ln>
        </p:spPr>
      </p:sp>
      <p:sp>
        <p:nvSpPr>
          <p:cNvPr id="193" name="Shape 191"/>
          <p:cNvSpPr/>
          <p:nvPr/>
        </p:nvSpPr>
        <p:spPr>
          <a:xfrm>
            <a:off x="9537192" y="2743200"/>
            <a:ext cx="109728" cy="109728"/>
          </a:xfrm>
          <a:prstGeom prst="ellipse">
            <a:avLst/>
          </a:prstGeom>
          <a:solidFill>
            <a:srgbClr val="9CA3AF"/>
          </a:solidFill>
          <a:ln w="12700">
            <a:solidFill>
              <a:srgbClr val="9CA3AF"/>
            </a:solidFill>
            <a:prstDash val="solid"/>
          </a:ln>
        </p:spPr>
      </p:sp>
      <p:sp>
        <p:nvSpPr>
          <p:cNvPr id="194" name="Text 192"/>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195" name="Text 193"/>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196" name="Shape 194"/>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197" name="Text 195"/>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98" name="Shape 196"/>
          <p:cNvSpPr/>
          <p:nvPr/>
        </p:nvSpPr>
        <p:spPr>
          <a:xfrm>
            <a:off x="9482328" y="3200400"/>
            <a:ext cx="2633472" cy="0"/>
          </a:xfrm>
          <a:prstGeom prst="line">
            <a:avLst/>
          </a:prstGeom>
          <a:noFill/>
          <a:ln w="9525">
            <a:solidFill>
              <a:srgbClr val="DDE1E6"/>
            </a:solidFill>
            <a:prstDash val="solid"/>
          </a:ln>
        </p:spPr>
      </p:sp>
      <p:sp>
        <p:nvSpPr>
          <p:cNvPr id="199" name="Text 197"/>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200" name="Shape 198"/>
          <p:cNvSpPr/>
          <p:nvPr/>
        </p:nvSpPr>
        <p:spPr>
          <a:xfrm>
            <a:off x="9500616" y="3584448"/>
            <a:ext cx="749808" cy="173736"/>
          </a:xfrm>
          <a:prstGeom prst="roundRect">
            <a:avLst>
              <a:gd name="adj" fmla="val 15789"/>
            </a:avLst>
          </a:prstGeom>
          <a:solidFill>
            <a:srgbClr val="F3F4F6"/>
          </a:solidFill>
          <a:ln w="9525">
            <a:solidFill>
              <a:srgbClr val="D1D5DB"/>
            </a:solidFill>
            <a:prstDash val="solid"/>
          </a:ln>
        </p:spPr>
      </p:sp>
      <p:sp>
        <p:nvSpPr>
          <p:cNvPr id="201" name="Text 199"/>
          <p:cNvSpPr/>
          <p:nvPr/>
        </p:nvSpPr>
        <p:spPr>
          <a:xfrm>
            <a:off x="9500616" y="3584448"/>
            <a:ext cx="749808"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202" name="Text 200"/>
          <p:cNvSpPr/>
          <p:nvPr/>
        </p:nvSpPr>
        <p:spPr>
          <a:xfrm>
            <a:off x="10305288" y="35844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Work has not begun</a:t>
            </a:r>
            <a:endParaRPr lang="en-US" sz="700" dirty="0"/>
          </a:p>
        </p:txBody>
      </p:sp>
      <p:sp>
        <p:nvSpPr>
          <p:cNvPr id="203" name="Shape 201"/>
          <p:cNvSpPr/>
          <p:nvPr/>
        </p:nvSpPr>
        <p:spPr>
          <a:xfrm>
            <a:off x="9500616" y="3813048"/>
            <a:ext cx="749808" cy="173736"/>
          </a:xfrm>
          <a:prstGeom prst="roundRect">
            <a:avLst>
              <a:gd name="adj" fmla="val 15789"/>
            </a:avLst>
          </a:prstGeom>
          <a:solidFill>
            <a:srgbClr val="1558A8"/>
          </a:solidFill>
          <a:ln w="12700">
            <a:solidFill>
              <a:srgbClr val="1558A8"/>
            </a:solidFill>
            <a:prstDash val="solid"/>
          </a:ln>
        </p:spPr>
      </p:sp>
      <p:sp>
        <p:nvSpPr>
          <p:cNvPr id="204" name="Text 202"/>
          <p:cNvSpPr/>
          <p:nvPr/>
        </p:nvSpPr>
        <p:spPr>
          <a:xfrm>
            <a:off x="9500616" y="3813048"/>
            <a:ext cx="749808"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205" name="Text 203"/>
          <p:cNvSpPr/>
          <p:nvPr/>
        </p:nvSpPr>
        <p:spPr>
          <a:xfrm>
            <a:off x="10305288" y="38130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Active development underway</a:t>
            </a:r>
            <a:endParaRPr lang="en-US" sz="700" dirty="0"/>
          </a:p>
        </p:txBody>
      </p:sp>
      <p:sp>
        <p:nvSpPr>
          <p:cNvPr id="206" name="Shape 204"/>
          <p:cNvSpPr/>
          <p:nvPr/>
        </p:nvSpPr>
        <p:spPr>
          <a:xfrm>
            <a:off x="9500616" y="4041648"/>
            <a:ext cx="749808" cy="173736"/>
          </a:xfrm>
          <a:prstGeom prst="roundRect">
            <a:avLst>
              <a:gd name="adj" fmla="val 15789"/>
            </a:avLst>
          </a:prstGeom>
          <a:solidFill>
            <a:srgbClr val="FEE2E2"/>
          </a:solidFill>
          <a:ln w="19050">
            <a:solidFill>
              <a:srgbClr val="DC2626"/>
            </a:solidFill>
            <a:prstDash val="solid"/>
          </a:ln>
        </p:spPr>
      </p:sp>
      <p:sp>
        <p:nvSpPr>
          <p:cNvPr id="207" name="Text 205"/>
          <p:cNvSpPr/>
          <p:nvPr/>
        </p:nvSpPr>
        <p:spPr>
          <a:xfrm>
            <a:off x="9500616" y="4041648"/>
            <a:ext cx="749808"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208" name="Text 206"/>
          <p:cNvSpPr/>
          <p:nvPr/>
        </p:nvSpPr>
        <p:spPr>
          <a:xfrm>
            <a:off x="10305288" y="40416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Blocked by dependency</a:t>
            </a:r>
            <a:endParaRPr lang="en-US" sz="700" dirty="0"/>
          </a:p>
        </p:txBody>
      </p:sp>
      <p:sp>
        <p:nvSpPr>
          <p:cNvPr id="209" name="Shape 207"/>
          <p:cNvSpPr/>
          <p:nvPr/>
        </p:nvSpPr>
        <p:spPr>
          <a:xfrm>
            <a:off x="9500616" y="4270248"/>
            <a:ext cx="749808" cy="173736"/>
          </a:xfrm>
          <a:prstGeom prst="roundRect">
            <a:avLst>
              <a:gd name="adj" fmla="val 15789"/>
            </a:avLst>
          </a:prstGeom>
          <a:solidFill>
            <a:srgbClr val="DCFCE7"/>
          </a:solidFill>
          <a:ln w="12700">
            <a:solidFill>
              <a:srgbClr val="15803D"/>
            </a:solidFill>
            <a:prstDash val="solid"/>
          </a:ln>
        </p:spPr>
      </p:sp>
      <p:sp>
        <p:nvSpPr>
          <p:cNvPr id="210" name="Text 208"/>
          <p:cNvSpPr/>
          <p:nvPr/>
        </p:nvSpPr>
        <p:spPr>
          <a:xfrm>
            <a:off x="9500616" y="4270248"/>
            <a:ext cx="749808"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
        <p:nvSpPr>
          <p:cNvPr id="211" name="Text 209"/>
          <p:cNvSpPr/>
          <p:nvPr/>
        </p:nvSpPr>
        <p:spPr>
          <a:xfrm>
            <a:off x="10305288" y="42702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Complete ✓</a:t>
            </a:r>
            <a:endParaRPr lang="en-US" sz="700" dirty="0"/>
          </a:p>
        </p:txBody>
      </p:sp>
      <p:sp>
        <p:nvSpPr>
          <p:cNvPr id="212" name="Shape 210"/>
          <p:cNvSpPr/>
          <p:nvPr/>
        </p:nvSpPr>
        <p:spPr>
          <a:xfrm>
            <a:off x="9500616" y="4498848"/>
            <a:ext cx="749808" cy="173736"/>
          </a:xfrm>
          <a:prstGeom prst="roundRect">
            <a:avLst>
              <a:gd name="adj" fmla="val 15789"/>
            </a:avLst>
          </a:prstGeom>
          <a:solidFill>
            <a:srgbClr val="FEF3C7"/>
          </a:solidFill>
          <a:ln w="19050">
            <a:solidFill>
              <a:srgbClr val="D97706"/>
            </a:solidFill>
            <a:prstDash val="solid"/>
          </a:ln>
        </p:spPr>
      </p:sp>
      <p:sp>
        <p:nvSpPr>
          <p:cNvPr id="213" name="Text 211"/>
          <p:cNvSpPr/>
          <p:nvPr/>
        </p:nvSpPr>
        <p:spPr>
          <a:xfrm>
            <a:off x="9500616" y="4498848"/>
            <a:ext cx="749808" cy="173736"/>
          </a:xfrm>
          <a:prstGeom prst="rect">
            <a:avLst/>
          </a:prstGeom>
          <a:noFill/>
          <a:ln/>
        </p:spPr>
        <p:txBody>
          <a:bodyPr wrap="square" lIns="0" tIns="0" rIns="0" bIns="0" rtlCol="0" anchor="ctr"/>
          <a:lstStyle/>
          <a:p>
            <a:pPr algn="ctr" indent="0" marL="0">
              <a:buNone/>
            </a:pPr>
            <a:r>
              <a:rPr lang="en-US" sz="700" b="1" dirty="0">
                <a:solidFill>
                  <a:srgbClr val="78350F"/>
                </a:solidFill>
              </a:rPr>
              <a:t>At Risk</a:t>
            </a:r>
            <a:endParaRPr lang="en-US" sz="700" dirty="0"/>
          </a:p>
        </p:txBody>
      </p:sp>
      <p:sp>
        <p:nvSpPr>
          <p:cNvPr id="214" name="Text 212"/>
          <p:cNvSpPr/>
          <p:nvPr/>
        </p:nvSpPr>
        <p:spPr>
          <a:xfrm>
            <a:off x="10305288" y="44988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NS with unmet dependencies</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43</TotalTime>
  <Words>1190</Words>
  <Application>Microsoft Macintosh PowerPoint</Application>
  <PresentationFormat>Custom</PresentationFormat>
  <Paragraphs>191</Paragraphs>
  <Slides>3</Slides>
  <Notes>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vt:i4>
      </vt:variant>
    </vt:vector>
  </HeadingPairs>
  <TitlesOfParts>
    <vt:vector size="7" baseType="lpstr">
      <vt:lpstr>Aptos</vt:lpstr>
      <vt:lpstr>Aptos Display</vt:lpstr>
      <vt:lpstr>Arial</vt:lpstr>
      <vt:lpstr>Office Theme</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Juan Valdes</dc:creator>
  <cp:lastModifiedBy>Juan Valdes</cp:lastModifiedBy>
  <cp:revision>63</cp:revision>
  <cp:lastPrinted>2026-04-23T15:50:00Z</cp:lastPrinted>
  <dcterms:created xsi:type="dcterms:W3CDTF">2025-09-04T21:24:03Z</dcterms:created>
  <dcterms:modified xsi:type="dcterms:W3CDTF">2026-07-06T19:43:22Z</dcterms:modified>
</cp:coreProperties>
</file>