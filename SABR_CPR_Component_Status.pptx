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344400" cy="7315200"/>
  <p:notesSz cx="7315200" cy="12344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This Week  ·  Aug 5, 2026</a:t>
            </a:r>
            <a:endParaRPr lang="en-US" sz="1100" dirty="0"/>
          </a:p>
        </p:txBody>
      </p:sp>
      <p:sp>
        <p:nvSpPr>
          <p:cNvPr id="5" name="Shape 3"/>
          <p:cNvSpPr/>
          <p:nvPr/>
        </p:nvSpPr>
        <p:spPr>
          <a:xfrm>
            <a:off x="0" y="457200"/>
            <a:ext cx="12344400" cy="274320"/>
          </a:xfrm>
          <a:prstGeom prst="rect">
            <a:avLst/>
          </a:prstGeom>
          <a:solidFill>
            <a:srgbClr val="EFF7F3"/>
          </a:solidFill>
          <a:ln w="12700">
            <a:solidFill>
              <a:srgbClr val="CCE4D8"/>
            </a:solidFill>
            <a:prstDash val="solid"/>
          </a:ln>
        </p:spPr>
      </p:sp>
      <p:sp>
        <p:nvSpPr>
          <p:cNvPr id="6" name="Text 4"/>
          <p:cNvSpPr/>
          <p:nvPr/>
        </p:nvSpPr>
        <p:spPr>
          <a:xfrm>
            <a:off x="201168" y="457200"/>
            <a:ext cx="5486400" cy="274320"/>
          </a:xfrm>
          <a:prstGeom prst="rect">
            <a:avLst/>
          </a:prstGeom>
          <a:noFill/>
          <a:ln/>
        </p:spPr>
        <p:txBody>
          <a:bodyPr wrap="square" lIns="0" tIns="0" rIns="0" bIns="0" rtlCol="0" anchor="ctr"/>
          <a:lstStyle/>
          <a:p>
            <a:pPr algn="l" indent="0" marL="0">
              <a:buNone/>
            </a:pPr>
            <a:r>
              <a:rPr lang="en-US" sz="1100" b="1" dirty="0">
                <a:solidFill>
                  <a:srgbClr val="388849"/>
                </a:solidFill>
              </a:rPr>
              <a:t>8/6 Update</a:t>
            </a:r>
            <a:endParaRPr lang="en-US" sz="1100" dirty="0"/>
          </a:p>
        </p:txBody>
      </p:sp>
      <p:sp>
        <p:nvSpPr>
          <p:cNvPr id="7" name="Text 5"/>
          <p:cNvSpPr/>
          <p:nvPr/>
        </p:nvSpPr>
        <p:spPr>
          <a:xfrm>
            <a:off x="5943600" y="457200"/>
            <a:ext cx="5943600" cy="274320"/>
          </a:xfrm>
          <a:prstGeom prst="rect">
            <a:avLst/>
          </a:prstGeom>
          <a:noFill/>
          <a:ln/>
        </p:spPr>
        <p:txBody>
          <a:bodyPr wrap="square" lIns="0" tIns="0" rIns="0" bIns="0" rtlCol="0" anchor="ctr"/>
          <a:lstStyle/>
          <a:p>
            <a:pPr algn="r" indent="0" marL="0">
              <a:buNone/>
            </a:pPr>
            <a:r>
              <a:rPr lang="en-US" sz="900" dirty="0">
                <a:solidFill>
                  <a:srgbClr val="374151"/>
                </a:solidFill>
              </a:rPr>
              <a:t>Beta: Sep 30, 2026  ·  55 days remaining</a:t>
            </a:r>
            <a:endParaRPr lang="en-US" sz="900" dirty="0"/>
          </a:p>
        </p:txBody>
      </p:sp>
      <p:sp>
        <p:nvSpPr>
          <p:cNvPr id="8" name="Shape 6"/>
          <p:cNvSpPr/>
          <p:nvPr/>
        </p:nvSpPr>
        <p:spPr>
          <a:xfrm>
            <a:off x="164592" y="822960"/>
            <a:ext cx="12015216" cy="6035040"/>
          </a:xfrm>
          <a:prstGeom prst="rect">
            <a:avLst/>
          </a:prstGeom>
          <a:solidFill>
            <a:srgbClr val="FAFCFB"/>
          </a:solidFill>
          <a:ln w="9525">
            <a:solidFill>
              <a:srgbClr val="D8EDE3"/>
            </a:solidFill>
            <a:prstDash val="solid"/>
          </a:ln>
        </p:spPr>
      </p:sp>
      <p:sp>
        <p:nvSpPr>
          <p:cNvPr id="9" name="Text 7"/>
          <p:cNvSpPr/>
          <p:nvPr/>
        </p:nvSpPr>
        <p:spPr>
          <a:xfrm>
            <a:off x="274320" y="896112"/>
            <a:ext cx="11795760" cy="5888736"/>
          </a:xfrm>
          <a:prstGeom prst="rect">
            <a:avLst/>
          </a:prstGeom>
          <a:noFill/>
          <a:ln/>
        </p:spPr>
        <p:txBody>
          <a:bodyPr wrap="square" lIns="101600" tIns="101600" rIns="101600" bIns="101600" rtlCol="0" anchor="t"/>
          <a:lstStyle/>
          <a:p>
            <a:pPr algn="l" indent="0" marL="0">
              <a:buNone/>
            </a:pPr>
            <a:r>
              <a:rPr lang="en-US" sz="800" b="1" dirty="0">
                <a:solidFill>
                  <a:srgbClr val="1B5E20"/>
                </a:solidFill>
              </a:rPr>
              <a:t>HIGHLIGHTS:</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MVPD:</a:t>
            </a:r>
            <a:pPr algn="l" indent="0" marL="0">
              <a:buNone/>
            </a:pPr>
            <a:r>
              <a:rPr lang="en-US" sz="800" dirty="0">
                <a:solidFill>
                  <a:srgbClr val="1F2937"/>
                </a:solidFill>
              </a:rPr>
              <a:t> Mobile now has a working build with DRM and picture-in-picture confirmed on-device. MVPD provider login ("sign in with your TV provider") is currently the only way into the app, since it's required before any video will play.</a:t>
            </a:r>
            <a:endParaRPr lang="en-US" sz="800" dirty="0"/>
          </a:p>
          <a:p>
            <a:pPr algn="l" indent="0" marL="0">
              <a:buNone/>
            </a:pPr>
            <a:endParaRPr lang="en-US" sz="800" dirty="0"/>
          </a:p>
          <a:p>
            <a:pPr algn="l" indent="0" marL="0">
              <a:buNone/>
            </a:pPr>
            <a:r>
              <a:rPr lang="en-US" sz="800" b="1" dirty="0">
                <a:solidFill>
                  <a:srgbClr val="1B5E20"/>
                </a:solidFill>
              </a:rPr>
              <a:t>VOD:</a:t>
            </a:r>
            <a:pPr algn="l" indent="0" marL="0">
              <a:buNone/>
            </a:pPr>
            <a:r>
              <a:rPr lang="en-US" sz="800" dirty="0">
                <a:solidFill>
                  <a:srgbClr val="1F2937"/>
                </a:solidFill>
              </a:rPr>
              <a:t> The replay processing pipeline is now running against real production matches and data, with output already viewable in the dev environment. The team is coordinating with Amagi on getting replays flowing to Roku as well.</a:t>
            </a:r>
            <a:endParaRPr lang="en-US" sz="800" dirty="0"/>
          </a:p>
          <a:p>
            <a:pPr algn="l" indent="0" marL="0">
              <a:buNone/>
            </a:pPr>
            <a:endParaRPr lang="en-US" sz="800" dirty="0"/>
          </a:p>
          <a:p>
            <a:pPr algn="l" indent="0" marL="0">
              <a:buNone/>
            </a:pPr>
            <a:r>
              <a:rPr lang="en-US" sz="800" b="1" dirty="0">
                <a:solidFill>
                  <a:srgbClr val="1B5E20"/>
                </a:solidFill>
              </a:rPr>
              <a:t>STATUS UPDATE:</a:t>
            </a:r>
            <a:pPr algn="l" indent="0" marL="0">
              <a:buNone/>
            </a:pPr>
            <a:endParaRPr lang="en-US" sz="800" dirty="0"/>
          </a:p>
          <a:p>
            <a:pPr algn="l" indent="0" marL="0">
              <a:buNone/>
            </a:pPr>
            <a:endParaRPr lang="en-US" sz="800" dirty="0"/>
          </a:p>
          <a:p>
            <a:pPr algn="l" indent="0" marL="0">
              <a:buNone/>
            </a:pPr>
            <a:r>
              <a:rPr lang="en-US" sz="800" b="1" dirty="0">
                <a:solidFill>
                  <a:srgbClr val="1B5E20"/>
                </a:solidFill>
              </a:rPr>
              <a:t>ROKU INTEGRATION:</a:t>
            </a:r>
            <a:pPr algn="l" indent="0" marL="0">
              <a:buNone/>
            </a:pPr>
            <a:r>
              <a:rPr lang="en-US" sz="800" dirty="0">
                <a:solidFill>
                  <a:srgbClr val="1F2937"/>
                </a:solidFill>
              </a:rPr>
              <a:t> Resolved a metadata conflict between Premium Subscriptions and Roku by removing the conflicting sports event feed from OTT, simplifying the implementation path. Amagi's monitoring UI for match visibility is on track for mid-August delivery, giving Roku read-only access to what's live without Tennis Channel maintaining manual availability sheets by hand. Linear stream reconnection is complete, and ad testing is underway pending final connection confirmation.</a:t>
            </a:r>
            <a:endParaRPr lang="en-US" sz="800" dirty="0"/>
          </a:p>
          <a:p>
            <a:pPr algn="l" indent="0" marL="0">
              <a:buNone/>
            </a:pPr>
            <a:endParaRPr lang="en-US" sz="800" dirty="0"/>
          </a:p>
          <a:p>
            <a:pPr algn="l" indent="0" marL="0">
              <a:buNone/>
            </a:pPr>
            <a:r>
              <a:rPr lang="en-US" sz="800" b="1" dirty="0">
                <a:solidFill>
                  <a:srgbClr val="1B5E20"/>
                </a:solidFill>
              </a:rPr>
              <a:t>FRONTEND UX AND DESIGN:</a:t>
            </a:r>
            <a:pPr algn="l" indent="0" marL="0">
              <a:buNone/>
            </a:pPr>
            <a:r>
              <a:rPr lang="en-US" sz="800" dirty="0">
                <a:solidFill>
                  <a:srgbClr val="1F2937"/>
                </a:solidFill>
              </a:rPr>
              <a:t> Engineering delivered prototypes for the tournaments and live pages this week. With Claude helping engineers move quickly and ship continuously, the team is starting twice-weekly design jam sessions (Tuesdays and Thursdays, first one August 6) so engineers, design, and stakeholders can review in-flight work and align on priorities in step with that pace.</a:t>
            </a:r>
            <a:endParaRPr lang="en-US" sz="800" dirty="0"/>
          </a:p>
          <a:p>
            <a:pPr algn="l" indent="0" marL="0">
              <a:buNone/>
            </a:pPr>
            <a:endParaRPr lang="en-US" sz="800" dirty="0"/>
          </a:p>
          <a:p>
            <a:pPr algn="l" indent="0" marL="0">
              <a:buNone/>
            </a:pPr>
            <a:r>
              <a:rPr lang="en-US" sz="800" b="1" dirty="0">
                <a:solidFill>
                  <a:srgbClr val="1B5E20"/>
                </a:solidFill>
              </a:rPr>
              <a:t>MERCHANDISING AND CAROUSELS:</a:t>
            </a:r>
            <a:pPr algn="l" indent="0" marL="0">
              <a:buNone/>
            </a:pPr>
            <a:r>
              <a:rPr lang="en-US" sz="800" dirty="0">
                <a:solidFill>
                  <a:srgbClr val="1F2937"/>
                </a:solidFill>
              </a:rPr>
              <a:t> Landed on "show more" link behavior across platforms: on by default, off entirely, or a custom label and destination. Default item limit is twenty, with each device able to override based on its own performance needs. Still to be settled: placing the show-more link as a full tile at the end of the carousel, treated as a near-term priority for TV apps since the team believes it would meaningfully improve discovery over today's plain title-link approach.</a:t>
            </a:r>
            <a:endParaRPr lang="en-US" sz="800" dirty="0"/>
          </a:p>
          <a:p>
            <a:pPr algn="l" indent="0" marL="0">
              <a:buNone/>
            </a:pPr>
            <a:endParaRPr lang="en-US" sz="800" dirty="0"/>
          </a:p>
          <a:p>
            <a:pPr algn="l" indent="0" marL="0">
              <a:buNone/>
            </a:pPr>
            <a:r>
              <a:rPr lang="en-US" sz="800" b="1" dirty="0">
                <a:solidFill>
                  <a:srgbClr val="1B5E20"/>
                </a:solidFill>
              </a:rPr>
              <a:t>BACKEND AND PLAYBACK:</a:t>
            </a:r>
            <a:pPr algn="l" indent="0" marL="0">
              <a:buNone/>
            </a:pPr>
            <a:r>
              <a:rPr lang="en-US" sz="800" dirty="0">
                <a:solidFill>
                  <a:srgbClr val="1F2937"/>
                </a:solidFill>
              </a:rPr>
              <a:t> DRM playback and picture-in-picture are confirmed working on real mobile devices after Akash, Alex, and Aaron patched an iOS certificate issue; a working build with MVPD login goes out once final testing wraps. The team is standing up a CI pipeline for iOS and Android so builds reach staging and TestFlight several times a week instead of ad hoc, speeding up feedback. Yisake finished decoupling the profile screen from the main menu and is now building email-change functionality, with the backend piece already in place. Erik's team spent the week on the tournaments and live pages, with follow-up design conversations already scheduled.</a:t>
            </a:r>
            <a:endParaRPr lang="en-US" sz="800" dirty="0"/>
          </a:p>
          <a:p>
            <a:pPr algn="l" indent="0" marL="0">
              <a:buNone/>
            </a:pPr>
            <a:endParaRPr lang="en-US" sz="800" dirty="0"/>
          </a:p>
          <a:p>
            <a:pPr algn="l" indent="0" marL="0">
              <a:buNone/>
            </a:pPr>
            <a:r>
              <a:rPr lang="en-US" sz="800" b="1" dirty="0">
                <a:solidFill>
                  <a:srgbClr val="1B5E20"/>
                </a:solidFill>
              </a:rPr>
              <a:t>AMAGI INTEGRATION:</a:t>
            </a:r>
            <a:pPr algn="l" indent="0" marL="0">
              <a:buNone/>
            </a:pPr>
            <a:r>
              <a:rPr lang="en-US" sz="800" dirty="0">
                <a:solidFill>
                  <a:srgbClr val="1F2937"/>
                </a:solidFill>
              </a:rPr>
              <a:t> Amagi proposed a significant upgrade to DVR and VOD: instead of one shared stream manually reset between matches, each match gets its own dedicated address that automatically switches from live to replay at match end, with a buffer window so mid-match viewers aren't cut off. The team raised good questions on URL predictability, security tokens, and edge cases like joining late; Amagi is drafting a written proposal this week with a working demo targeted for mid-August. Brian Hoskins delivered the data matrix Amagi needs for ad targeting, so both teams can move quickly on ad requirements. The Tennis Channel-specific EPG is being built out, and Roku flagged a certification requirement for scrub-bar thumbnail previews that Dave and Swamy are syncing on this week.</a:t>
            </a:r>
            <a:endParaRPr lang="en-US" sz="800" dirty="0"/>
          </a:p>
          <a:p>
            <a:pPr algn="l" indent="0" marL="0">
              <a:buNone/>
            </a:pPr>
            <a:endParaRPr lang="en-US" sz="800" dirty="0"/>
          </a:p>
          <a:p>
            <a:pPr algn="l" indent="0" marL="0">
              <a:buNone/>
            </a:pPr>
            <a:r>
              <a:rPr lang="en-US" sz="800" b="1" dirty="0">
                <a:solidFill>
                  <a:srgbClr val="1B5E20"/>
                </a:solidFill>
              </a:rPr>
              <a:t>CONTENT AND METADATA:</a:t>
            </a:r>
            <a:pPr algn="l" indent="0" marL="0">
              <a:buNone/>
            </a:pPr>
            <a:r>
              <a:rPr lang="en-US" sz="800" dirty="0">
                <a:solidFill>
                  <a:srgbClr val="1F2937"/>
                </a:solidFill>
              </a:rPr>
              <a:t> SportRadar login/consent tracking is moving to a new test environment, so existing test accounts won't carry over and will need to be recreated. The team is still tracking down where SportRadar stores users' favorited players so that data can migrate cleanly. Replay processing is active on real matches, with WSC-sourced replays already running through the pipeline and visible in dev. Rain-delay trimming and ad-supported VOD strategy remain future conversations, pending a broader ad-fill discussion.</a:t>
            </a:r>
            <a:endParaRPr lang="en-US" sz="800" dirty="0"/>
          </a:p>
          <a:p>
            <a:pPr algn="l" indent="0" marL="0">
              <a:buNone/>
            </a:pPr>
            <a:endParaRPr lang="en-US" sz="800" dirty="0"/>
          </a:p>
          <a:p>
            <a:pPr algn="l" indent="0" marL="0">
              <a:buNone/>
            </a:pPr>
            <a:r>
              <a:rPr lang="en-US" sz="800" b="1" dirty="0">
                <a:solidFill>
                  <a:srgbClr val="1B5E20"/>
                </a:solidFill>
              </a:rPr>
              <a:t>KEY DECISIONS:</a:t>
            </a:r>
            <a:pPr algn="l" indent="0" marL="0">
              <a:buNone/>
            </a:pPr>
            <a:endParaRPr lang="en-US" sz="800" dirty="0"/>
          </a:p>
          <a:p>
            <a:pPr algn="l" indent="0" marL="0">
              <a:buNone/>
            </a:pPr>
            <a:r>
              <a:rPr lang="en-US" sz="800" dirty="0">
                <a:solidFill>
                  <a:srgbClr val="1F2937"/>
                </a:solidFill>
              </a:rPr>
              <a:t>1. Beta target confirmed for September 30, with testing running through roughly December.</a:t>
            </a:r>
            <a:endParaRPr lang="en-US" sz="800" dirty="0"/>
          </a:p>
          <a:p>
            <a:pPr algn="l" indent="0" marL="0">
              <a:buNone/>
            </a:pPr>
            <a:r>
              <a:rPr lang="en-US" sz="800" dirty="0">
                <a:solidFill>
                  <a:srgbClr val="1F2937"/>
                </a:solidFill>
              </a:rPr>
              <a:t>2. Tennis Channel O&amp;Os remain on Cleeng for payment/subscription at MVP; a post-launch review will separately evaluate a Recurly transition (full project, roughly one quarter).</a:t>
            </a:r>
            <a:endParaRPr lang="en-US" sz="800" dirty="0"/>
          </a:p>
          <a:p>
            <a:pPr algn="l" indent="0" marL="0">
              <a:buNone/>
            </a:pPr>
            <a:r>
              <a:rPr lang="en-US" sz="800" dirty="0">
                <a:solidFill>
                  <a:srgbClr val="1F2937"/>
                </a:solidFill>
              </a:rPr>
              <a:t>3. Out-of-scope features will enter a formal backlog and roadmap prioritization process rather than being added ad hoc.</a:t>
            </a:r>
            <a:endParaRPr lang="en-US" sz="800" dirty="0"/>
          </a:p>
          <a:p>
            <a:pPr algn="l" indent="0" marL="0">
              <a:buNone/>
            </a:pPr>
            <a:r>
              <a:rPr lang="en-US" sz="800" dirty="0">
                <a:solidFill>
                  <a:srgbClr val="1F2937"/>
                </a:solidFill>
              </a:rPr>
              <a:t>4. Device feature parity will be secondary; web and mobile go live first, with living-room platforms catching up after.</a:t>
            </a:r>
            <a:endParaRPr lang="en-US" sz="800" dirty="0"/>
          </a:p>
          <a:p>
            <a:pPr algn="l" indent="0" marL="0">
              <a:buNone/>
            </a:pPr>
            <a:r>
              <a:rPr lang="en-US" sz="800" dirty="0">
                <a:solidFill>
                  <a:srgbClr val="1F2937"/>
                </a:solidFill>
              </a:rPr>
              <a:t>5. MultiView designated P1, post-launch.</a:t>
            </a:r>
            <a:endParaRPr lang="en-US" sz="800" dirty="0"/>
          </a:p>
          <a:p>
            <a:pPr algn="l" indent="0" marL="0">
              <a:buNone/>
            </a:pPr>
            <a:r>
              <a:rPr lang="en-US" sz="800" dirty="0">
                <a:solidFill>
                  <a:srgbClr val="1F2937"/>
                </a:solidFill>
              </a:rPr>
              <a:t>6. GraceNote will not be used for EPG management; the team will use Amagi's platform capabilities instead.</a:t>
            </a:r>
            <a:endParaRPr lang="en-US" sz="800" dirty="0"/>
          </a:p>
          <a:p>
            <a:pPr algn="l" indent="0" marL="0">
              <a:buNone/>
            </a:pPr>
            <a:r>
              <a:rPr lang="en-US" sz="800" dirty="0">
                <a:solidFill>
                  <a:srgbClr val="1F2937"/>
                </a:solidFill>
              </a:rPr>
              <a:t>7. Bitmovin will be the primary launch analytics/observability platform for streaming performance.</a:t>
            </a:r>
            <a:endParaRPr lang="en-US" sz="800" dirty="0"/>
          </a:p>
          <a:p>
            <a:pPr algn="l" indent="0" marL="0">
              <a:buNone/>
            </a:pPr>
            <a:r>
              <a:rPr lang="en-US" sz="800" dirty="0">
                <a:solidFill>
                  <a:srgbClr val="1F2937"/>
                </a:solidFill>
              </a:rPr>
              <a:t>8. Coupon/offer configuration stays in Cleeng as-is; promotions use a manual price override on the plan page rather than new tooling before launch.</a:t>
            </a:r>
            <a:endParaRPr lang="en-US" sz="800" dirty="0"/>
          </a:p>
          <a:p>
            <a:pPr algn="l" indent="0" marL="0">
              <a:buNone/>
            </a:pPr>
            <a:r>
              <a:rPr lang="en-US" sz="800" dirty="0">
                <a:solidFill>
                  <a:srgbClr val="1F2937"/>
                </a:solidFill>
              </a:rPr>
              <a:t>9. Tennis Channel keeps its existing token/URL security approach for launch.</a:t>
            </a:r>
            <a:endParaRPr lang="en-US" sz="800" dirty="0"/>
          </a:p>
        </p:txBody>
      </p:sp>
      <p:sp>
        <p:nvSpPr>
          <p:cNvPr id="10" name="Shape 8"/>
          <p:cNvSpPr/>
          <p:nvPr/>
        </p:nvSpPr>
        <p:spPr>
          <a:xfrm>
            <a:off x="0" y="6876288"/>
            <a:ext cx="12344400" cy="438912"/>
          </a:xfrm>
          <a:prstGeom prst="rect">
            <a:avLst/>
          </a:prstGeom>
          <a:solidFill>
            <a:srgbClr val="F4F6F8"/>
          </a:solidFill>
          <a:ln w="12700">
            <a:solidFill>
              <a:srgbClr val="D1D5DB"/>
            </a:solidFill>
            <a:prstDash val="solid"/>
          </a:ln>
        </p:spPr>
      </p:sp>
      <p:sp>
        <p:nvSpPr>
          <p:cNvPr id="11" name="Text 9"/>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2" name="Text 10"/>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Aug 5,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441960"/>
          </a:xfrm>
          <a:prstGeom prst="rect">
            <a:avLst/>
          </a:prstGeom>
          <a:solidFill>
            <a:srgbClr val="FFFFFF"/>
          </a:solidFill>
          <a:ln w="3175">
            <a:solidFill>
              <a:srgbClr val="E5E7EB"/>
            </a:solidFill>
            <a:prstDash val="solid"/>
          </a:ln>
        </p:spPr>
      </p:sp>
      <p:sp>
        <p:nvSpPr>
          <p:cNvPr id="9" name="Text 7"/>
          <p:cNvSpPr/>
          <p:nvPr/>
        </p:nvSpPr>
        <p:spPr>
          <a:xfrm>
            <a:off x="164592" y="7955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387096"/>
          </a:xfrm>
          <a:prstGeom prst="rect">
            <a:avLst/>
          </a:prstGeom>
          <a:noFill/>
          <a:ln/>
        </p:spPr>
        <p:txBody>
          <a:bodyPr wrap="square" lIns="0" tIns="0" rIns="0" bIns="0" rtlCol="0" anchor="t"/>
          <a:lstStyle/>
          <a:p>
            <a:pPr indent="0" marL="0">
              <a:buNone/>
            </a:pPr>
            <a:r>
              <a:rPr lang="en-US" sz="650" dirty="0">
                <a:solidFill>
                  <a:srgbClr val="374151"/>
                </a:solidFill>
              </a:rPr>
              <a:t>Contract signed 7/15.</a:t>
            </a:r>
            <a:endParaRPr lang="en-US" sz="650" dirty="0"/>
          </a:p>
        </p:txBody>
      </p:sp>
      <p:sp>
        <p:nvSpPr>
          <p:cNvPr id="11" name="Shape 9"/>
          <p:cNvSpPr/>
          <p:nvPr/>
        </p:nvSpPr>
        <p:spPr>
          <a:xfrm>
            <a:off x="5230368" y="911352"/>
            <a:ext cx="822960" cy="173736"/>
          </a:xfrm>
          <a:prstGeom prst="roundRect">
            <a:avLst>
              <a:gd name="adj" fmla="val 15789"/>
            </a:avLst>
          </a:prstGeom>
          <a:solidFill>
            <a:srgbClr val="CFFAFE"/>
          </a:solidFill>
          <a:ln w="12700">
            <a:solidFill>
              <a:srgbClr val="0E7490"/>
            </a:solidFill>
            <a:prstDash val="solid"/>
          </a:ln>
        </p:spPr>
      </p:sp>
      <p:sp>
        <p:nvSpPr>
          <p:cNvPr id="12" name="Text 10"/>
          <p:cNvSpPr/>
          <p:nvPr/>
        </p:nvSpPr>
        <p:spPr>
          <a:xfrm>
            <a:off x="5230368" y="91135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3" name="Shape 11"/>
          <p:cNvSpPr/>
          <p:nvPr/>
        </p:nvSpPr>
        <p:spPr>
          <a:xfrm>
            <a:off x="91440" y="1219200"/>
            <a:ext cx="6016752" cy="0"/>
          </a:xfrm>
          <a:prstGeom prst="line">
            <a:avLst/>
          </a:prstGeom>
          <a:noFill/>
          <a:ln w="6350">
            <a:solidFill>
              <a:srgbClr val="E5E7EB"/>
            </a:solidFill>
            <a:prstDash val="solid"/>
          </a:ln>
        </p:spPr>
      </p:sp>
      <p:sp>
        <p:nvSpPr>
          <p:cNvPr id="14" name="Text 12"/>
          <p:cNvSpPr/>
          <p:nvPr/>
        </p:nvSpPr>
        <p:spPr>
          <a:xfrm>
            <a:off x="164592" y="123748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246632"/>
            <a:ext cx="4178808" cy="387096"/>
          </a:xfrm>
          <a:prstGeom prst="rect">
            <a:avLst/>
          </a:prstGeom>
          <a:noFill/>
          <a:ln/>
        </p:spPr>
        <p:txBody>
          <a:bodyPr wrap="square" lIns="0" tIns="0" rIns="0" bIns="0" rtlCol="0" anchor="t"/>
          <a:lstStyle/>
          <a:p>
            <a:pPr indent="0" marL="0">
              <a:buNone/>
            </a:pPr>
            <a:r>
              <a:rPr lang="en-US" sz="650" dirty="0">
                <a:solidFill>
                  <a:srgbClr val="374151"/>
                </a:solidFill>
              </a:rPr>
              <a:t>We are good.</a:t>
            </a:r>
            <a:endParaRPr lang="en-US" sz="650" dirty="0"/>
          </a:p>
        </p:txBody>
      </p:sp>
      <p:sp>
        <p:nvSpPr>
          <p:cNvPr id="16" name="Shape 14"/>
          <p:cNvSpPr/>
          <p:nvPr/>
        </p:nvSpPr>
        <p:spPr>
          <a:xfrm>
            <a:off x="5230368" y="1353312"/>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35331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661160"/>
            <a:ext cx="6016752" cy="441960"/>
          </a:xfrm>
          <a:prstGeom prst="rect">
            <a:avLst/>
          </a:prstGeom>
          <a:solidFill>
            <a:srgbClr val="FFFFFF"/>
          </a:solidFill>
          <a:ln w="3175">
            <a:solidFill>
              <a:srgbClr val="E5E7EB"/>
            </a:solidFill>
            <a:prstDash val="solid"/>
          </a:ln>
        </p:spPr>
      </p:sp>
      <p:sp>
        <p:nvSpPr>
          <p:cNvPr id="19" name="Shape 17"/>
          <p:cNvSpPr/>
          <p:nvPr/>
        </p:nvSpPr>
        <p:spPr>
          <a:xfrm>
            <a:off x="91440" y="1661160"/>
            <a:ext cx="6016752" cy="0"/>
          </a:xfrm>
          <a:prstGeom prst="line">
            <a:avLst/>
          </a:prstGeom>
          <a:noFill/>
          <a:ln w="6350">
            <a:solidFill>
              <a:srgbClr val="E5E7EB"/>
            </a:solidFill>
            <a:prstDash val="solid"/>
          </a:ln>
        </p:spPr>
      </p:sp>
      <p:sp>
        <p:nvSpPr>
          <p:cNvPr id="20" name="Text 18"/>
          <p:cNvSpPr/>
          <p:nvPr/>
        </p:nvSpPr>
        <p:spPr>
          <a:xfrm>
            <a:off x="164592" y="167944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688592"/>
            <a:ext cx="4178808" cy="387096"/>
          </a:xfrm>
          <a:prstGeom prst="rect">
            <a:avLst/>
          </a:prstGeom>
          <a:noFill/>
          <a:ln/>
        </p:spPr>
        <p:txBody>
          <a:bodyPr wrap="square" lIns="0" tIns="0" rIns="0" bIns="0" rtlCol="0" anchor="t"/>
          <a:lstStyle/>
          <a:p>
            <a:pPr indent="0" marL="0">
              <a:buNone/>
            </a:pPr>
            <a:r>
              <a:rPr lang="en-US" sz="650" dirty="0">
                <a:solidFill>
                  <a:srgbClr val="374151"/>
                </a:solidFill>
              </a:rPr>
              <a:t>M15 and Highlights will deliver via Amagi. Back-catalog VOD through Aspera; newer content (S3) handled separately. Amagi generating public key for Roku credential exchange.</a:t>
            </a:r>
            <a:endParaRPr lang="en-US" sz="650" dirty="0"/>
          </a:p>
        </p:txBody>
      </p:sp>
      <p:sp>
        <p:nvSpPr>
          <p:cNvPr id="22" name="Shape 20"/>
          <p:cNvSpPr/>
          <p:nvPr/>
        </p:nvSpPr>
        <p:spPr>
          <a:xfrm>
            <a:off x="5230368" y="1795272"/>
            <a:ext cx="822960" cy="173736"/>
          </a:xfrm>
          <a:prstGeom prst="roundRect">
            <a:avLst>
              <a:gd name="adj" fmla="val 15789"/>
            </a:avLst>
          </a:prstGeom>
          <a:solidFill>
            <a:srgbClr val="CFFAFE"/>
          </a:solidFill>
          <a:ln w="12700">
            <a:solidFill>
              <a:srgbClr val="0E7490"/>
            </a:solidFill>
            <a:prstDash val="solid"/>
          </a:ln>
        </p:spPr>
      </p:sp>
      <p:sp>
        <p:nvSpPr>
          <p:cNvPr id="23" name="Text 21"/>
          <p:cNvSpPr/>
          <p:nvPr/>
        </p:nvSpPr>
        <p:spPr>
          <a:xfrm>
            <a:off x="5230368" y="1795272"/>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24" name="Shape 22"/>
          <p:cNvSpPr/>
          <p:nvPr/>
        </p:nvSpPr>
        <p:spPr>
          <a:xfrm>
            <a:off x="91440" y="2103120"/>
            <a:ext cx="6016752" cy="0"/>
          </a:xfrm>
          <a:prstGeom prst="line">
            <a:avLst/>
          </a:prstGeom>
          <a:noFill/>
          <a:ln w="6350">
            <a:solidFill>
              <a:srgbClr val="E5E7EB"/>
            </a:solidFill>
            <a:prstDash val="solid"/>
          </a:ln>
        </p:spPr>
      </p:sp>
      <p:sp>
        <p:nvSpPr>
          <p:cNvPr id="25" name="Text 23"/>
          <p:cNvSpPr/>
          <p:nvPr/>
        </p:nvSpPr>
        <p:spPr>
          <a:xfrm>
            <a:off x="164592" y="212140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130552"/>
            <a:ext cx="4178808" cy="387096"/>
          </a:xfrm>
          <a:prstGeom prst="rect">
            <a:avLst/>
          </a:prstGeom>
          <a:noFill/>
          <a:ln/>
        </p:spPr>
        <p:txBody>
          <a:bodyPr wrap="square" lIns="0" tIns="0" rIns="0" bIns="0" rtlCol="0" anchor="t"/>
          <a:lstStyle/>
          <a:p>
            <a:pPr indent="0" marL="0">
              <a:buNone/>
            </a:pPr>
            <a:r>
              <a:rPr lang="en-US" sz="650" dirty="0">
                <a:solidFill>
                  <a:srgbClr val="374151"/>
                </a:solidFill>
              </a:rPr>
              <a:t>Integration ongoing. TV cert submission tied to November 1 deadline. UX change catalog being drafted for Foxxum coordination. Contract signature unconfirmed as of 7/15.</a:t>
            </a:r>
            <a:endParaRPr lang="en-US" sz="650" dirty="0"/>
          </a:p>
        </p:txBody>
      </p:sp>
      <p:sp>
        <p:nvSpPr>
          <p:cNvPr id="27" name="Shape 25"/>
          <p:cNvSpPr/>
          <p:nvPr/>
        </p:nvSpPr>
        <p:spPr>
          <a:xfrm>
            <a:off x="5230368" y="2237232"/>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23723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545080"/>
            <a:ext cx="6016752" cy="441960"/>
          </a:xfrm>
          <a:prstGeom prst="rect">
            <a:avLst/>
          </a:prstGeom>
          <a:solidFill>
            <a:srgbClr val="FFFFFF"/>
          </a:solidFill>
          <a:ln w="3175">
            <a:solidFill>
              <a:srgbClr val="E5E7EB"/>
            </a:solidFill>
            <a:prstDash val="solid"/>
          </a:ln>
        </p:spPr>
      </p:sp>
      <p:sp>
        <p:nvSpPr>
          <p:cNvPr id="30" name="Shape 28"/>
          <p:cNvSpPr/>
          <p:nvPr/>
        </p:nvSpPr>
        <p:spPr>
          <a:xfrm>
            <a:off x="91440" y="2545080"/>
            <a:ext cx="6016752" cy="0"/>
          </a:xfrm>
          <a:prstGeom prst="line">
            <a:avLst/>
          </a:prstGeom>
          <a:noFill/>
          <a:ln w="6350">
            <a:solidFill>
              <a:srgbClr val="E5E7EB"/>
            </a:solidFill>
            <a:prstDash val="solid"/>
          </a:ln>
        </p:spPr>
      </p:sp>
      <p:sp>
        <p:nvSpPr>
          <p:cNvPr id="31" name="Text 29"/>
          <p:cNvSpPr/>
          <p:nvPr/>
        </p:nvSpPr>
        <p:spPr>
          <a:xfrm>
            <a:off x="164592" y="256336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Amplitude</a:t>
            </a:r>
            <a:endParaRPr lang="en-US" sz="750" dirty="0"/>
          </a:p>
        </p:txBody>
      </p:sp>
      <p:sp>
        <p:nvSpPr>
          <p:cNvPr id="32" name="Text 30"/>
          <p:cNvSpPr/>
          <p:nvPr/>
        </p:nvSpPr>
        <p:spPr>
          <a:xfrm>
            <a:off x="960120" y="2572512"/>
            <a:ext cx="4178808" cy="387096"/>
          </a:xfrm>
          <a:prstGeom prst="rect">
            <a:avLst/>
          </a:prstGeom>
          <a:noFill/>
          <a:ln/>
        </p:spPr>
        <p:txBody>
          <a:bodyPr wrap="square" lIns="0" tIns="0" rIns="0" bIns="0" rtlCol="0" anchor="t"/>
          <a:lstStyle/>
          <a:p>
            <a:pPr indent="0" marL="0">
              <a:buNone/>
            </a:pPr>
            <a:r>
              <a:rPr lang="en-US" sz="650" dirty="0">
                <a:solidFill>
                  <a:srgbClr val="374151"/>
                </a:solidFill>
              </a:rPr>
              <a:t>Decided, moving forward. Pricing confirmed at roughly half their initial offer (cheaper than what Wealthfront charged for similar volume), setup fee waived, and the team confirmed they want it, including integrating with Foxxum. Ari is proceeding to get the contract signed.</a:t>
            </a:r>
            <a:endParaRPr lang="en-US" sz="650" dirty="0"/>
          </a:p>
        </p:txBody>
      </p:sp>
      <p:sp>
        <p:nvSpPr>
          <p:cNvPr id="33" name="Shape 31"/>
          <p:cNvSpPr/>
          <p:nvPr/>
        </p:nvSpPr>
        <p:spPr>
          <a:xfrm>
            <a:off x="5230368" y="2679192"/>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267919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91440" y="2987040"/>
            <a:ext cx="6016752" cy="0"/>
          </a:xfrm>
          <a:prstGeom prst="line">
            <a:avLst/>
          </a:prstGeom>
          <a:noFill/>
          <a:ln w="6350">
            <a:solidFill>
              <a:srgbClr val="E5E7EB"/>
            </a:solidFill>
            <a:prstDash val="solid"/>
          </a:ln>
        </p:spPr>
      </p:sp>
      <p:sp>
        <p:nvSpPr>
          <p:cNvPr id="36" name="Text 34"/>
          <p:cNvSpPr/>
          <p:nvPr/>
        </p:nvSpPr>
        <p:spPr>
          <a:xfrm>
            <a:off x="164592" y="3005328"/>
            <a:ext cx="777240" cy="405384"/>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7" name="Text 35"/>
          <p:cNvSpPr/>
          <p:nvPr/>
        </p:nvSpPr>
        <p:spPr>
          <a:xfrm>
            <a:off x="960120" y="3014472"/>
            <a:ext cx="4178808" cy="387096"/>
          </a:xfrm>
          <a:prstGeom prst="rect">
            <a:avLst/>
          </a:prstGeom>
          <a:noFill/>
          <a:ln/>
        </p:spPr>
        <p:txBody>
          <a:bodyPr wrap="square" lIns="0" tIns="0" rIns="0" bIns="0" rtlCol="0" anchor="t"/>
          <a:lstStyle/>
          <a:p>
            <a:pPr indent="0" marL="0">
              <a:buNone/>
            </a:pPr>
            <a:r>
              <a:rPr lang="en-US" sz="650" dirty="0">
                <a:solidFill>
                  <a:srgbClr val="374151"/>
                </a:solidFill>
              </a:rPr>
              <a:t>Bulk VOD ingest of 30,000+ assets planned. Manual media ingest workflow for content team (non-bulk uploads). VOD replace/hide workaround in place as interim solution.</a:t>
            </a:r>
            <a:endParaRPr lang="en-US" sz="650" dirty="0"/>
          </a:p>
        </p:txBody>
      </p:sp>
      <p:sp>
        <p:nvSpPr>
          <p:cNvPr id="38" name="Shape 36"/>
          <p:cNvSpPr/>
          <p:nvPr/>
        </p:nvSpPr>
        <p:spPr>
          <a:xfrm>
            <a:off x="5230368" y="3121152"/>
            <a:ext cx="822960" cy="173736"/>
          </a:xfrm>
          <a:prstGeom prst="roundRect">
            <a:avLst>
              <a:gd name="adj" fmla="val 15789"/>
            </a:avLst>
          </a:prstGeom>
          <a:solidFill>
            <a:srgbClr val="1558A8"/>
          </a:solidFill>
          <a:ln w="12700">
            <a:solidFill>
              <a:srgbClr val="1558A8"/>
            </a:solidFill>
            <a:prstDash val="solid"/>
          </a:ln>
        </p:spPr>
      </p:sp>
      <p:sp>
        <p:nvSpPr>
          <p:cNvPr id="39" name="Text 37"/>
          <p:cNvSpPr/>
          <p:nvPr/>
        </p:nvSpPr>
        <p:spPr>
          <a:xfrm>
            <a:off x="5230368" y="31211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0" name="Shape 38"/>
          <p:cNvSpPr/>
          <p:nvPr/>
        </p:nvSpPr>
        <p:spPr>
          <a:xfrm>
            <a:off x="6236208" y="502920"/>
            <a:ext cx="6016752" cy="2926080"/>
          </a:xfrm>
          <a:prstGeom prst="rect">
            <a:avLst/>
          </a:prstGeom>
          <a:solidFill>
            <a:srgbClr val="FAFBFC"/>
          </a:solidFill>
          <a:ln w="9525">
            <a:solidFill>
              <a:srgbClr val="D1D5DB"/>
            </a:solidFill>
            <a:prstDash val="solid"/>
          </a:ln>
        </p:spPr>
      </p:sp>
      <p:sp>
        <p:nvSpPr>
          <p:cNvPr id="41" name="Shape 39"/>
          <p:cNvSpPr/>
          <p:nvPr/>
        </p:nvSpPr>
        <p:spPr>
          <a:xfrm>
            <a:off x="6236208" y="502920"/>
            <a:ext cx="6016752" cy="274320"/>
          </a:xfrm>
          <a:prstGeom prst="rect">
            <a:avLst/>
          </a:prstGeom>
          <a:solidFill>
            <a:srgbClr val="8ED973"/>
          </a:solidFill>
          <a:ln w="12700">
            <a:solidFill>
              <a:srgbClr val="8ED973"/>
            </a:solidFill>
            <a:prstDash val="solid"/>
          </a:ln>
        </p:spPr>
      </p:sp>
      <p:sp>
        <p:nvSpPr>
          <p:cNvPr id="42" name="Text 40"/>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43" name="Shape 41"/>
          <p:cNvSpPr/>
          <p:nvPr/>
        </p:nvSpPr>
        <p:spPr>
          <a:xfrm>
            <a:off x="6236208" y="777240"/>
            <a:ext cx="6016752" cy="530352"/>
          </a:xfrm>
          <a:prstGeom prst="rect">
            <a:avLst/>
          </a:prstGeom>
          <a:solidFill>
            <a:srgbClr val="FFFFFF"/>
          </a:solidFill>
          <a:ln w="3175">
            <a:solidFill>
              <a:srgbClr val="E5E7EB"/>
            </a:solidFill>
            <a:prstDash val="solid"/>
          </a:ln>
        </p:spPr>
      </p:sp>
      <p:sp>
        <p:nvSpPr>
          <p:cNvPr id="44" name="Text 42"/>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5" name="Text 43"/>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Google Analytics data is unreliable, so the team is evaluating Amplitude, Mixpanel, and PostHog as replacements and adding backend safeguards to catch errors automatically.</a:t>
            </a:r>
            <a:endParaRPr lang="en-US" sz="650" dirty="0"/>
          </a:p>
        </p:txBody>
      </p:sp>
      <p:sp>
        <p:nvSpPr>
          <p:cNvPr id="46" name="Shape 44"/>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307592"/>
            <a:ext cx="6016752" cy="0"/>
          </a:xfrm>
          <a:prstGeom prst="line">
            <a:avLst/>
          </a:prstGeom>
          <a:noFill/>
          <a:ln w="6350">
            <a:solidFill>
              <a:srgbClr val="E5E7EB"/>
            </a:solidFill>
            <a:prstDash val="solid"/>
          </a:ln>
        </p:spPr>
      </p:sp>
      <p:sp>
        <p:nvSpPr>
          <p:cNvPr id="49" name="Text 47"/>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50" name="Text 48"/>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A new TestFlight build shipped this week, and DRM playback with picture-in-picture is now confirmed working on a real device after an iOS certificate fix.</a:t>
            </a:r>
            <a:endParaRPr lang="en-US" sz="650" dirty="0"/>
          </a:p>
        </p:txBody>
      </p:sp>
      <p:sp>
        <p:nvSpPr>
          <p:cNvPr id="51" name="Shape 49"/>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52" name="Text 50"/>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3" name="Shape 51"/>
          <p:cNvSpPr/>
          <p:nvPr/>
        </p:nvSpPr>
        <p:spPr>
          <a:xfrm>
            <a:off x="6236208" y="1837944"/>
            <a:ext cx="6016752" cy="530352"/>
          </a:xfrm>
          <a:prstGeom prst="rect">
            <a:avLst/>
          </a:prstGeom>
          <a:solidFill>
            <a:srgbClr val="FFFFFF"/>
          </a:solidFill>
          <a:ln w="3175">
            <a:solidFill>
              <a:srgbClr val="E5E7EB"/>
            </a:solidFill>
            <a:prstDash val="solid"/>
          </a:ln>
        </p:spPr>
      </p:sp>
      <p:sp>
        <p:nvSpPr>
          <p:cNvPr id="54" name="Shape 52"/>
          <p:cNvSpPr/>
          <p:nvPr/>
        </p:nvSpPr>
        <p:spPr>
          <a:xfrm>
            <a:off x="6236208" y="1837944"/>
            <a:ext cx="6016752" cy="0"/>
          </a:xfrm>
          <a:prstGeom prst="line">
            <a:avLst/>
          </a:prstGeom>
          <a:noFill/>
          <a:ln w="6350">
            <a:solidFill>
              <a:srgbClr val="E5E7EB"/>
            </a:solidFill>
            <a:prstDash val="solid"/>
          </a:ln>
        </p:spPr>
      </p:sp>
      <p:sp>
        <p:nvSpPr>
          <p:cNvPr id="55" name="Text 53"/>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6" name="Text 54"/>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Engineers began prototyping the new tournaments and live pages, and the team kicked off twice-weekly design jam sessions to keep design and engineering aligned.</a:t>
            </a:r>
            <a:endParaRPr lang="en-US" sz="650" dirty="0"/>
          </a:p>
        </p:txBody>
      </p:sp>
      <p:sp>
        <p:nvSpPr>
          <p:cNvPr id="57" name="Shape 55"/>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368296"/>
            <a:ext cx="6016752" cy="0"/>
          </a:xfrm>
          <a:prstGeom prst="line">
            <a:avLst/>
          </a:prstGeom>
          <a:noFill/>
          <a:ln w="6350">
            <a:solidFill>
              <a:srgbClr val="E5E7EB"/>
            </a:solidFill>
            <a:prstDash val="solid"/>
          </a:ln>
        </p:spPr>
      </p:sp>
      <p:sp>
        <p:nvSpPr>
          <p:cNvPr id="60" name="Text 58"/>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61" name="Text 59"/>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2" name="Shape 60"/>
          <p:cNvSpPr/>
          <p:nvPr/>
        </p:nvSpPr>
        <p:spPr>
          <a:xfrm>
            <a:off x="11375136" y="2546604"/>
            <a:ext cx="822960" cy="173736"/>
          </a:xfrm>
          <a:prstGeom prst="roundRect">
            <a:avLst>
              <a:gd name="adj" fmla="val 15789"/>
            </a:avLst>
          </a:prstGeom>
          <a:solidFill>
            <a:srgbClr val="CFFAFE"/>
          </a:solidFill>
          <a:ln w="12700">
            <a:solidFill>
              <a:srgbClr val="0E7490"/>
            </a:solidFill>
            <a:prstDash val="solid"/>
          </a:ln>
        </p:spPr>
      </p:sp>
      <p:sp>
        <p:nvSpPr>
          <p:cNvPr id="63" name="Text 61"/>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64" name="Shape 62"/>
          <p:cNvSpPr/>
          <p:nvPr/>
        </p:nvSpPr>
        <p:spPr>
          <a:xfrm>
            <a:off x="6236208" y="2898648"/>
            <a:ext cx="6016752" cy="530352"/>
          </a:xfrm>
          <a:prstGeom prst="rect">
            <a:avLst/>
          </a:prstGeom>
          <a:solidFill>
            <a:srgbClr val="FFFFFF"/>
          </a:solidFill>
          <a:ln w="3175">
            <a:solidFill>
              <a:srgbClr val="E5E7EB"/>
            </a:solidFill>
            <a:prstDash val="solid"/>
          </a:ln>
        </p:spPr>
      </p:sp>
      <p:sp>
        <p:nvSpPr>
          <p:cNvPr id="65" name="Shape 63"/>
          <p:cNvSpPr/>
          <p:nvPr/>
        </p:nvSpPr>
        <p:spPr>
          <a:xfrm>
            <a:off x="6236208" y="2898648"/>
            <a:ext cx="6016752" cy="0"/>
          </a:xfrm>
          <a:prstGeom prst="line">
            <a:avLst/>
          </a:prstGeom>
          <a:noFill/>
          <a:ln w="6350">
            <a:solidFill>
              <a:srgbClr val="E5E7EB"/>
            </a:solidFill>
            <a:prstDash val="solid"/>
          </a:ln>
        </p:spPr>
      </p:sp>
      <p:sp>
        <p:nvSpPr>
          <p:cNvPr id="66" name="Text 64"/>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7" name="Text 65"/>
          <p:cNvSpPr/>
          <p:nvPr/>
        </p:nvSpPr>
        <p:spPr>
          <a:xfrm>
            <a:off x="7104888"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No new update this week.</a:t>
            </a:r>
            <a:endParaRPr lang="en-US" sz="650" dirty="0"/>
          </a:p>
        </p:txBody>
      </p:sp>
      <p:sp>
        <p:nvSpPr>
          <p:cNvPr id="68" name="Shape 66"/>
          <p:cNvSpPr/>
          <p:nvPr/>
        </p:nvSpPr>
        <p:spPr>
          <a:xfrm>
            <a:off x="11375136" y="3076956"/>
            <a:ext cx="822960" cy="173736"/>
          </a:xfrm>
          <a:prstGeom prst="roundRect">
            <a:avLst>
              <a:gd name="adj" fmla="val 15789"/>
            </a:avLst>
          </a:prstGeom>
          <a:solidFill>
            <a:srgbClr val="1558A8"/>
          </a:solidFill>
          <a:ln w="12700">
            <a:solidFill>
              <a:srgbClr val="1558A8"/>
            </a:solidFill>
            <a:prstDash val="solid"/>
          </a:ln>
        </p:spPr>
      </p:sp>
      <p:sp>
        <p:nvSpPr>
          <p:cNvPr id="69" name="Text 67"/>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0" name="Shape 68"/>
          <p:cNvSpPr/>
          <p:nvPr/>
        </p:nvSpPr>
        <p:spPr>
          <a:xfrm>
            <a:off x="91440" y="3502152"/>
            <a:ext cx="6016752" cy="3749040"/>
          </a:xfrm>
          <a:prstGeom prst="rect">
            <a:avLst/>
          </a:prstGeom>
          <a:solidFill>
            <a:srgbClr val="FAFBFC"/>
          </a:solidFill>
          <a:ln w="9525">
            <a:solidFill>
              <a:srgbClr val="D1D5DB"/>
            </a:solidFill>
            <a:prstDash val="solid"/>
          </a:ln>
        </p:spPr>
      </p:sp>
      <p:sp>
        <p:nvSpPr>
          <p:cNvPr id="71" name="Shape 69"/>
          <p:cNvSpPr/>
          <p:nvPr/>
        </p:nvSpPr>
        <p:spPr>
          <a:xfrm>
            <a:off x="91440" y="3502152"/>
            <a:ext cx="6016752" cy="274320"/>
          </a:xfrm>
          <a:prstGeom prst="rect">
            <a:avLst/>
          </a:prstGeom>
          <a:solidFill>
            <a:srgbClr val="8ED973"/>
          </a:solidFill>
          <a:ln w="12700">
            <a:solidFill>
              <a:srgbClr val="8ED973"/>
            </a:solidFill>
            <a:prstDash val="solid"/>
          </a:ln>
        </p:spPr>
      </p:sp>
      <p:sp>
        <p:nvSpPr>
          <p:cNvPr id="72" name="Text 70"/>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73" name="Shape 71"/>
          <p:cNvSpPr/>
          <p:nvPr/>
        </p:nvSpPr>
        <p:spPr>
          <a:xfrm>
            <a:off x="91440" y="3776472"/>
            <a:ext cx="6016752" cy="1158240"/>
          </a:xfrm>
          <a:prstGeom prst="rect">
            <a:avLst/>
          </a:prstGeom>
          <a:solidFill>
            <a:srgbClr val="FFFFFF"/>
          </a:solidFill>
          <a:ln w="3175">
            <a:solidFill>
              <a:srgbClr val="E5E7EB"/>
            </a:solidFill>
            <a:prstDash val="solid"/>
          </a:ln>
        </p:spPr>
      </p:sp>
      <p:sp>
        <p:nvSpPr>
          <p:cNvPr id="74" name="Text 72"/>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5" name="Text 73"/>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MVPD (TV-provider) login is now the only way into the mobile app, with a login fix still being finalized for Android.</a:t>
            </a:r>
            <a:endParaRPr lang="en-US" sz="650" dirty="0"/>
          </a:p>
        </p:txBody>
      </p:sp>
      <p:sp>
        <p:nvSpPr>
          <p:cNvPr id="76" name="Shape 74"/>
          <p:cNvSpPr/>
          <p:nvPr/>
        </p:nvSpPr>
        <p:spPr>
          <a:xfrm>
            <a:off x="5230368" y="4268724"/>
            <a:ext cx="822960" cy="173736"/>
          </a:xfrm>
          <a:prstGeom prst="roundRect">
            <a:avLst>
              <a:gd name="adj" fmla="val 15789"/>
            </a:avLst>
          </a:prstGeom>
          <a:solidFill>
            <a:srgbClr val="F3F4F6"/>
          </a:solidFill>
          <a:ln w="9525">
            <a:solidFill>
              <a:srgbClr val="D1D5DB"/>
            </a:solidFill>
            <a:prstDash val="solid"/>
          </a:ln>
        </p:spPr>
      </p:sp>
      <p:sp>
        <p:nvSpPr>
          <p:cNvPr id="77" name="Text 75"/>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78" name="Shape 76"/>
          <p:cNvSpPr/>
          <p:nvPr/>
        </p:nvSpPr>
        <p:spPr>
          <a:xfrm>
            <a:off x="91440" y="4934712"/>
            <a:ext cx="6016752" cy="0"/>
          </a:xfrm>
          <a:prstGeom prst="line">
            <a:avLst/>
          </a:prstGeom>
          <a:noFill/>
          <a:ln w="6350">
            <a:solidFill>
              <a:srgbClr val="E5E7EB"/>
            </a:solidFill>
            <a:prstDash val="solid"/>
          </a:ln>
        </p:spPr>
      </p:sp>
      <p:sp>
        <p:nvSpPr>
          <p:cNvPr id="79" name="Text 77"/>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80" name="Text 78"/>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The iOS certificate issue is fixed, and DRM playback with picture-in-picture is confirmed working on a real device.</a:t>
            </a:r>
            <a:endParaRPr lang="en-US" sz="650" dirty="0"/>
          </a:p>
        </p:txBody>
      </p:sp>
      <p:sp>
        <p:nvSpPr>
          <p:cNvPr id="81" name="Shape 79"/>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82" name="Text 80"/>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3" name="Shape 81"/>
          <p:cNvSpPr/>
          <p:nvPr/>
        </p:nvSpPr>
        <p:spPr>
          <a:xfrm>
            <a:off x="91440" y="6092952"/>
            <a:ext cx="6016752" cy="1158240"/>
          </a:xfrm>
          <a:prstGeom prst="rect">
            <a:avLst/>
          </a:prstGeom>
          <a:solidFill>
            <a:srgbClr val="FFFFFF"/>
          </a:solidFill>
          <a:ln w="3175">
            <a:solidFill>
              <a:srgbClr val="E5E7EB"/>
            </a:solidFill>
            <a:prstDash val="solid"/>
          </a:ln>
        </p:spPr>
      </p:sp>
      <p:sp>
        <p:nvSpPr>
          <p:cNvPr id="84" name="Shape 82"/>
          <p:cNvSpPr/>
          <p:nvPr/>
        </p:nvSpPr>
        <p:spPr>
          <a:xfrm>
            <a:off x="91440" y="6092952"/>
            <a:ext cx="6016752" cy="0"/>
          </a:xfrm>
          <a:prstGeom prst="line">
            <a:avLst/>
          </a:prstGeom>
          <a:noFill/>
          <a:ln w="6350">
            <a:solidFill>
              <a:srgbClr val="E5E7EB"/>
            </a:solidFill>
            <a:prstDash val="solid"/>
          </a:ln>
        </p:spPr>
      </p:sp>
      <p:sp>
        <p:nvSpPr>
          <p:cNvPr id="85" name="Text 83"/>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6" name="Text 84"/>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Foxxum demoed the new content page and carousel pagination, and is now focused on entitlement checks, with playback migration, geo-blocking, and concurrency limits queued up next.</a:t>
            </a:r>
            <a:endParaRPr lang="en-US" sz="650" dirty="0"/>
          </a:p>
        </p:txBody>
      </p:sp>
      <p:sp>
        <p:nvSpPr>
          <p:cNvPr id="87" name="Shape 85"/>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8" name="Text 86"/>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9" name="Shape 87"/>
          <p:cNvSpPr/>
          <p:nvPr/>
        </p:nvSpPr>
        <p:spPr>
          <a:xfrm>
            <a:off x="6236208" y="3502152"/>
            <a:ext cx="6016752" cy="3749040"/>
          </a:xfrm>
          <a:prstGeom prst="rect">
            <a:avLst/>
          </a:prstGeom>
          <a:solidFill>
            <a:srgbClr val="FAFBFC"/>
          </a:solidFill>
          <a:ln w="9525">
            <a:solidFill>
              <a:srgbClr val="D1D5DB"/>
            </a:solidFill>
            <a:prstDash val="solid"/>
          </a:ln>
        </p:spPr>
      </p:sp>
      <p:sp>
        <p:nvSpPr>
          <p:cNvPr id="90" name="Shape 88"/>
          <p:cNvSpPr/>
          <p:nvPr/>
        </p:nvSpPr>
        <p:spPr>
          <a:xfrm>
            <a:off x="6236208" y="3502152"/>
            <a:ext cx="6016752" cy="274320"/>
          </a:xfrm>
          <a:prstGeom prst="rect">
            <a:avLst/>
          </a:prstGeom>
          <a:solidFill>
            <a:srgbClr val="8ED973"/>
          </a:solidFill>
          <a:ln w="12700">
            <a:solidFill>
              <a:srgbClr val="8ED973"/>
            </a:solidFill>
            <a:prstDash val="solid"/>
          </a:ln>
        </p:spPr>
      </p:sp>
      <p:sp>
        <p:nvSpPr>
          <p:cNvPr id="91" name="Text 89"/>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92" name="Shape 90"/>
          <p:cNvSpPr/>
          <p:nvPr/>
        </p:nvSpPr>
        <p:spPr>
          <a:xfrm>
            <a:off x="6236208" y="3776472"/>
            <a:ext cx="6016752" cy="868680"/>
          </a:xfrm>
          <a:prstGeom prst="rect">
            <a:avLst/>
          </a:prstGeom>
          <a:solidFill>
            <a:srgbClr val="FFFFFF"/>
          </a:solidFill>
          <a:ln w="3175">
            <a:solidFill>
              <a:srgbClr val="E5E7EB"/>
            </a:solidFill>
            <a:prstDash val="solid"/>
          </a:ln>
        </p:spPr>
      </p:sp>
      <p:sp>
        <p:nvSpPr>
          <p:cNvPr id="93" name="Text 91"/>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94" name="Text 92"/>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migrating off the limited trial Auth0 account onto a proper dev tenant, and the vendor confirmed the new account request.</a:t>
            </a:r>
            <a:endParaRPr lang="en-US" sz="650" dirty="0"/>
          </a:p>
        </p:txBody>
      </p:sp>
      <p:sp>
        <p:nvSpPr>
          <p:cNvPr id="95" name="Shape 93"/>
          <p:cNvSpPr/>
          <p:nvPr/>
        </p:nvSpPr>
        <p:spPr>
          <a:xfrm>
            <a:off x="11375136" y="4123944"/>
            <a:ext cx="822960" cy="173736"/>
          </a:xfrm>
          <a:prstGeom prst="roundRect">
            <a:avLst>
              <a:gd name="adj" fmla="val 15789"/>
            </a:avLst>
          </a:prstGeom>
          <a:solidFill>
            <a:srgbClr val="F3F4F6"/>
          </a:solidFill>
          <a:ln w="9525">
            <a:solidFill>
              <a:srgbClr val="D1D5DB"/>
            </a:solidFill>
            <a:prstDash val="solid"/>
          </a:ln>
        </p:spPr>
      </p:sp>
      <p:sp>
        <p:nvSpPr>
          <p:cNvPr id="96" name="Text 94"/>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Complete</a:t>
            </a:r>
            <a:endParaRPr lang="en-US" sz="650" dirty="0"/>
          </a:p>
        </p:txBody>
      </p:sp>
      <p:sp>
        <p:nvSpPr>
          <p:cNvPr id="97" name="Shape 95"/>
          <p:cNvSpPr/>
          <p:nvPr/>
        </p:nvSpPr>
        <p:spPr>
          <a:xfrm>
            <a:off x="6236208" y="4645152"/>
            <a:ext cx="6016752" cy="0"/>
          </a:xfrm>
          <a:prstGeom prst="line">
            <a:avLst/>
          </a:prstGeom>
          <a:noFill/>
          <a:ln w="6350">
            <a:solidFill>
              <a:srgbClr val="E5E7EB"/>
            </a:solidFill>
            <a:prstDash val="solid"/>
          </a:ln>
        </p:spPr>
      </p:sp>
      <p:sp>
        <p:nvSpPr>
          <p:cNvPr id="98" name="Text 96"/>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9" name="Text 97"/>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Every carousel will keep a default "show more" link with item limits set per device, and design jam sessions started this week.</a:t>
            </a:r>
            <a:endParaRPr lang="en-US" sz="650" dirty="0"/>
          </a:p>
        </p:txBody>
      </p:sp>
      <p:sp>
        <p:nvSpPr>
          <p:cNvPr id="100" name="Shape 98"/>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101" name="Text 99"/>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2" name="Shape 100"/>
          <p:cNvSpPr/>
          <p:nvPr/>
        </p:nvSpPr>
        <p:spPr>
          <a:xfrm>
            <a:off x="6236208" y="5513832"/>
            <a:ext cx="6016752" cy="868680"/>
          </a:xfrm>
          <a:prstGeom prst="rect">
            <a:avLst/>
          </a:prstGeom>
          <a:solidFill>
            <a:srgbClr val="FFFFFF"/>
          </a:solidFill>
          <a:ln w="3175">
            <a:solidFill>
              <a:srgbClr val="E5E7EB"/>
            </a:solidFill>
            <a:prstDash val="solid"/>
          </a:ln>
        </p:spPr>
      </p:sp>
      <p:sp>
        <p:nvSpPr>
          <p:cNvPr id="103" name="Shape 101"/>
          <p:cNvSpPr/>
          <p:nvPr/>
        </p:nvSpPr>
        <p:spPr>
          <a:xfrm>
            <a:off x="6236208" y="5513832"/>
            <a:ext cx="6016752" cy="0"/>
          </a:xfrm>
          <a:prstGeom prst="line">
            <a:avLst/>
          </a:prstGeom>
          <a:noFill/>
          <a:ln w="6350">
            <a:solidFill>
              <a:srgbClr val="E5E7EB"/>
            </a:solidFill>
            <a:prstDash val="solid"/>
          </a:ln>
        </p:spPr>
      </p:sp>
      <p:sp>
        <p:nvSpPr>
          <p:cNvPr id="104" name="Text 102"/>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5" name="Text 103"/>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No BitMovin-specific update this week, but DRM playback with picture-in-picture is confirmed working on iOS.</a:t>
            </a:r>
            <a:endParaRPr lang="en-US" sz="650" dirty="0"/>
          </a:p>
        </p:txBody>
      </p:sp>
      <p:sp>
        <p:nvSpPr>
          <p:cNvPr id="106" name="Shape 104"/>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7" name="Text 105"/>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8" name="Shape 106"/>
          <p:cNvSpPr/>
          <p:nvPr/>
        </p:nvSpPr>
        <p:spPr>
          <a:xfrm>
            <a:off x="6236208" y="6382512"/>
            <a:ext cx="6016752" cy="0"/>
          </a:xfrm>
          <a:prstGeom prst="line">
            <a:avLst/>
          </a:prstGeom>
          <a:noFill/>
          <a:ln w="6350">
            <a:solidFill>
              <a:srgbClr val="E5E7EB"/>
            </a:solidFill>
            <a:prstDash val="solid"/>
          </a:ln>
        </p:spPr>
      </p:sp>
      <p:sp>
        <p:nvSpPr>
          <p:cNvPr id="109" name="Text 107"/>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10" name="Text 108"/>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The team is building a CI pipeline to push iOS and Android builds to staging and TestFlight more frequently.</a:t>
            </a:r>
            <a:endParaRPr lang="en-US" sz="650" dirty="0"/>
          </a:p>
        </p:txBody>
      </p:sp>
      <p:sp>
        <p:nvSpPr>
          <p:cNvPr id="111" name="Shape 109"/>
          <p:cNvSpPr/>
          <p:nvPr/>
        </p:nvSpPr>
        <p:spPr>
          <a:xfrm>
            <a:off x="11375136" y="6729984"/>
            <a:ext cx="822960" cy="173736"/>
          </a:xfrm>
          <a:prstGeom prst="roundRect">
            <a:avLst>
              <a:gd name="adj" fmla="val 15789"/>
            </a:avLst>
          </a:prstGeom>
          <a:solidFill>
            <a:srgbClr val="1558A8"/>
          </a:solidFill>
          <a:ln w="12700">
            <a:solidFill>
              <a:srgbClr val="1558A8"/>
            </a:solidFill>
            <a:prstDash val="solid"/>
          </a:ln>
        </p:spPr>
      </p:sp>
      <p:sp>
        <p:nvSpPr>
          <p:cNvPr id="112" name="Text 110"/>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29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3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9% Ready</a:t>
            </a:r>
            <a:endParaRPr lang="en-US" sz="1100" dirty="0"/>
          </a:p>
        </p:txBody>
      </p:sp>
      <p:sp>
        <p:nvSpPr>
          <p:cNvPr id="20" name="Shape 18"/>
          <p:cNvSpPr/>
          <p:nvPr/>
        </p:nvSpPr>
        <p:spPr>
          <a:xfrm>
            <a:off x="164592" y="804672"/>
            <a:ext cx="9116568" cy="966216"/>
          </a:xfrm>
          <a:prstGeom prst="rect">
            <a:avLst/>
          </a:prstGeom>
          <a:solidFill>
            <a:srgbClr val="FAFBFC"/>
          </a:solidFill>
          <a:ln w="6350">
            <a:solidFill>
              <a:srgbClr val="E5E7EB"/>
            </a:solidFill>
            <a:prstDash val="solid"/>
          </a:ln>
        </p:spPr>
      </p:sp>
      <p:sp>
        <p:nvSpPr>
          <p:cNvPr id="21" name="Shape 19"/>
          <p:cNvSpPr/>
          <p:nvPr/>
        </p:nvSpPr>
        <p:spPr>
          <a:xfrm>
            <a:off x="182880" y="877824"/>
            <a:ext cx="859536" cy="819912"/>
          </a:xfrm>
          <a:prstGeom prst="roundRect">
            <a:avLst>
              <a:gd name="adj" fmla="val 5576"/>
            </a:avLst>
          </a:prstGeom>
          <a:solidFill>
            <a:srgbClr val="9CA3AF"/>
          </a:solidFill>
          <a:ln w="12700">
            <a:solidFill>
              <a:srgbClr val="9CA3AF"/>
            </a:solidFill>
            <a:prstDash val="solid"/>
          </a:ln>
        </p:spPr>
      </p:sp>
      <p:sp>
        <p:nvSpPr>
          <p:cNvPr id="22" name="Text 20"/>
          <p:cNvSpPr/>
          <p:nvPr/>
        </p:nvSpPr>
        <p:spPr>
          <a:xfrm>
            <a:off x="182880" y="8778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1825752"/>
            <a:ext cx="9116568" cy="966216"/>
          </a:xfrm>
          <a:prstGeom prst="rect">
            <a:avLst/>
          </a:prstGeom>
          <a:solidFill>
            <a:srgbClr val="FFFFFF"/>
          </a:solidFill>
          <a:ln w="6350">
            <a:solidFill>
              <a:srgbClr val="E5E7EB"/>
            </a:solidFill>
            <a:prstDash val="solid"/>
          </a:ln>
        </p:spPr>
      </p:sp>
      <p:sp>
        <p:nvSpPr>
          <p:cNvPr id="53" name="Shape 51"/>
          <p:cNvSpPr/>
          <p:nvPr/>
        </p:nvSpPr>
        <p:spPr>
          <a:xfrm>
            <a:off x="182880" y="1898904"/>
            <a:ext cx="859536" cy="819912"/>
          </a:xfrm>
          <a:prstGeom prst="roundRect">
            <a:avLst>
              <a:gd name="adj" fmla="val 5576"/>
            </a:avLst>
          </a:prstGeom>
          <a:solidFill>
            <a:srgbClr val="9CA3AF"/>
          </a:solidFill>
          <a:ln w="12700">
            <a:solidFill>
              <a:srgbClr val="9CA3AF"/>
            </a:solidFill>
            <a:prstDash val="solid"/>
          </a:ln>
        </p:spPr>
      </p:sp>
      <p:sp>
        <p:nvSpPr>
          <p:cNvPr id="54" name="Text 52"/>
          <p:cNvSpPr/>
          <p:nvPr/>
        </p:nvSpPr>
        <p:spPr>
          <a:xfrm>
            <a:off x="182880" y="189890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187147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09092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30124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09092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30124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09092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30124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09092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30124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09092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30124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09092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09092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30124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30124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2846832"/>
            <a:ext cx="9116568" cy="966216"/>
          </a:xfrm>
          <a:prstGeom prst="rect">
            <a:avLst/>
          </a:prstGeom>
          <a:solidFill>
            <a:srgbClr val="FAFBFC"/>
          </a:solidFill>
          <a:ln w="6350">
            <a:solidFill>
              <a:srgbClr val="E5E7EB"/>
            </a:solidFill>
            <a:prstDash val="solid"/>
          </a:ln>
        </p:spPr>
      </p:sp>
      <p:sp>
        <p:nvSpPr>
          <p:cNvPr id="81" name="Shape 79"/>
          <p:cNvSpPr/>
          <p:nvPr/>
        </p:nvSpPr>
        <p:spPr>
          <a:xfrm>
            <a:off x="182880" y="2919984"/>
            <a:ext cx="859536" cy="819912"/>
          </a:xfrm>
          <a:prstGeom prst="roundRect">
            <a:avLst>
              <a:gd name="adj" fmla="val 5576"/>
            </a:avLst>
          </a:prstGeom>
          <a:solidFill>
            <a:srgbClr val="9CA3AF"/>
          </a:solidFill>
          <a:ln w="12700">
            <a:solidFill>
              <a:srgbClr val="9CA3AF"/>
            </a:solidFill>
            <a:prstDash val="solid"/>
          </a:ln>
        </p:spPr>
      </p:sp>
      <p:sp>
        <p:nvSpPr>
          <p:cNvPr id="82" name="Text 80"/>
          <p:cNvSpPr/>
          <p:nvPr/>
        </p:nvSpPr>
        <p:spPr>
          <a:xfrm>
            <a:off x="182880" y="291998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28925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84" name="Shape 82"/>
          <p:cNvSpPr/>
          <p:nvPr/>
        </p:nvSpPr>
        <p:spPr>
          <a:xfrm>
            <a:off x="1170432" y="311200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32232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11200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32232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1120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3223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3200400"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4215384" y="31120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3223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1120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1120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2" name="Shape 100"/>
          <p:cNvSpPr/>
          <p:nvPr/>
        </p:nvSpPr>
        <p:spPr>
          <a:xfrm>
            <a:off x="5230368" y="33223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5230368" y="33223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3867912"/>
            <a:ext cx="9116568" cy="966216"/>
          </a:xfrm>
          <a:prstGeom prst="rect">
            <a:avLst/>
          </a:prstGeom>
          <a:solidFill>
            <a:srgbClr val="FFFFFF"/>
          </a:solidFill>
          <a:ln w="6350">
            <a:solidFill>
              <a:srgbClr val="E5E7EB"/>
            </a:solidFill>
            <a:prstDash val="solid"/>
          </a:ln>
        </p:spPr>
      </p:sp>
      <p:sp>
        <p:nvSpPr>
          <p:cNvPr id="105" name="Shape 103"/>
          <p:cNvSpPr/>
          <p:nvPr/>
        </p:nvSpPr>
        <p:spPr>
          <a:xfrm>
            <a:off x="182880" y="3941064"/>
            <a:ext cx="859536" cy="819912"/>
          </a:xfrm>
          <a:prstGeom prst="roundRect">
            <a:avLst>
              <a:gd name="adj" fmla="val 5576"/>
            </a:avLst>
          </a:prstGeom>
          <a:solidFill>
            <a:srgbClr val="9CA3AF"/>
          </a:solidFill>
          <a:ln w="12700">
            <a:solidFill>
              <a:srgbClr val="9CA3AF"/>
            </a:solidFill>
            <a:prstDash val="solid"/>
          </a:ln>
        </p:spPr>
      </p:sp>
      <p:sp>
        <p:nvSpPr>
          <p:cNvPr id="106" name="Text 104"/>
          <p:cNvSpPr/>
          <p:nvPr/>
        </p:nvSpPr>
        <p:spPr>
          <a:xfrm>
            <a:off x="182880" y="394106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108" name="Shape 106"/>
          <p:cNvSpPr/>
          <p:nvPr/>
        </p:nvSpPr>
        <p:spPr>
          <a:xfrm>
            <a:off x="1170432" y="4032504"/>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242816"/>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032504"/>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242816"/>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032504"/>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242816"/>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032504"/>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242816"/>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032504"/>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242816"/>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24281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032504"/>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242816"/>
            <a:ext cx="932688" cy="155448"/>
          </a:xfrm>
          <a:prstGeom prst="roundRect">
            <a:avLst>
              <a:gd name="adj" fmla="val 17647"/>
            </a:avLst>
          </a:prstGeom>
          <a:solidFill>
            <a:srgbClr val="1558A8"/>
          </a:solidFill>
          <a:ln w="12700">
            <a:solidFill>
              <a:srgbClr val="1558A8"/>
            </a:solidFill>
            <a:prstDash val="solid"/>
          </a:ln>
        </p:spPr>
      </p:sp>
      <p:sp>
        <p:nvSpPr>
          <p:cNvPr id="131" name="Text 129"/>
          <p:cNvSpPr/>
          <p:nvPr/>
        </p:nvSpPr>
        <p:spPr>
          <a:xfrm>
            <a:off x="6245352" y="424281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2" name="Shape 130"/>
          <p:cNvSpPr/>
          <p:nvPr/>
        </p:nvSpPr>
        <p:spPr>
          <a:xfrm>
            <a:off x="7260336" y="4032504"/>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242816"/>
            <a:ext cx="932688" cy="155448"/>
          </a:xfrm>
          <a:prstGeom prst="roundRect">
            <a:avLst>
              <a:gd name="adj" fmla="val 17647"/>
            </a:avLst>
          </a:prstGeom>
          <a:solidFill>
            <a:srgbClr val="DCFCE7"/>
          </a:solidFill>
          <a:ln w="12700">
            <a:solidFill>
              <a:srgbClr val="15803D"/>
            </a:solidFill>
            <a:prstDash val="solid"/>
          </a:ln>
        </p:spPr>
      </p:sp>
      <p:sp>
        <p:nvSpPr>
          <p:cNvPr id="135" name="Text 133"/>
          <p:cNvSpPr/>
          <p:nvPr/>
        </p:nvSpPr>
        <p:spPr>
          <a:xfrm>
            <a:off x="7260336"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6" name="Shape 134"/>
          <p:cNvSpPr/>
          <p:nvPr/>
        </p:nvSpPr>
        <p:spPr>
          <a:xfrm>
            <a:off x="8275320" y="4032504"/>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03250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242816"/>
            <a:ext cx="932688" cy="155448"/>
          </a:xfrm>
          <a:prstGeom prst="roundRect">
            <a:avLst>
              <a:gd name="adj" fmla="val 17647"/>
            </a:avLst>
          </a:prstGeom>
          <a:solidFill>
            <a:srgbClr val="DCFCE7"/>
          </a:solidFill>
          <a:ln w="12700">
            <a:solidFill>
              <a:srgbClr val="15803D"/>
            </a:solidFill>
            <a:prstDash val="solid"/>
          </a:ln>
        </p:spPr>
      </p:sp>
      <p:sp>
        <p:nvSpPr>
          <p:cNvPr id="139" name="Text 137"/>
          <p:cNvSpPr/>
          <p:nvPr/>
        </p:nvSpPr>
        <p:spPr>
          <a:xfrm>
            <a:off x="8275320" y="4242816"/>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40" name="Shape 138"/>
          <p:cNvSpPr/>
          <p:nvPr/>
        </p:nvSpPr>
        <p:spPr>
          <a:xfrm>
            <a:off x="1170432" y="4431792"/>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443179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4642104"/>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464210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4888992"/>
            <a:ext cx="9116568" cy="966216"/>
          </a:xfrm>
          <a:prstGeom prst="rect">
            <a:avLst/>
          </a:prstGeom>
          <a:solidFill>
            <a:srgbClr val="FAFBFC"/>
          </a:solidFill>
          <a:ln w="6350">
            <a:solidFill>
              <a:srgbClr val="E5E7EB"/>
            </a:solidFill>
            <a:prstDash val="solid"/>
          </a:ln>
        </p:spPr>
      </p:sp>
      <p:sp>
        <p:nvSpPr>
          <p:cNvPr id="145" name="Shape 143"/>
          <p:cNvSpPr/>
          <p:nvPr/>
        </p:nvSpPr>
        <p:spPr>
          <a:xfrm>
            <a:off x="182880" y="4962144"/>
            <a:ext cx="859536" cy="819912"/>
          </a:xfrm>
          <a:prstGeom prst="roundRect">
            <a:avLst>
              <a:gd name="adj" fmla="val 5576"/>
            </a:avLst>
          </a:prstGeom>
          <a:solidFill>
            <a:srgbClr val="9CA3AF"/>
          </a:solidFill>
          <a:ln w="12700">
            <a:solidFill>
              <a:srgbClr val="9CA3AF"/>
            </a:solidFill>
            <a:prstDash val="solid"/>
          </a:ln>
        </p:spPr>
      </p:sp>
      <p:sp>
        <p:nvSpPr>
          <p:cNvPr id="146" name="Text 144"/>
          <p:cNvSpPr/>
          <p:nvPr/>
        </p:nvSpPr>
        <p:spPr>
          <a:xfrm>
            <a:off x="182880" y="496214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49347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48" name="Shape 146"/>
          <p:cNvSpPr/>
          <p:nvPr/>
        </p:nvSpPr>
        <p:spPr>
          <a:xfrm>
            <a:off x="1170432" y="5154168"/>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5364480"/>
            <a:ext cx="932688" cy="155448"/>
          </a:xfrm>
          <a:prstGeom prst="roundRect">
            <a:avLst>
              <a:gd name="adj" fmla="val 17647"/>
            </a:avLst>
          </a:prstGeom>
          <a:solidFill>
            <a:srgbClr val="1558A8"/>
          </a:solidFill>
          <a:ln w="12700">
            <a:solidFill>
              <a:srgbClr val="1558A8"/>
            </a:solidFill>
            <a:prstDash val="solid"/>
          </a:ln>
        </p:spPr>
      </p:sp>
      <p:sp>
        <p:nvSpPr>
          <p:cNvPr id="151" name="Text 149"/>
          <p:cNvSpPr/>
          <p:nvPr/>
        </p:nvSpPr>
        <p:spPr>
          <a:xfrm>
            <a:off x="1170432"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2" name="Shape 150"/>
          <p:cNvSpPr/>
          <p:nvPr/>
        </p:nvSpPr>
        <p:spPr>
          <a:xfrm>
            <a:off x="2185416" y="5154168"/>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5364480"/>
            <a:ext cx="932688" cy="155448"/>
          </a:xfrm>
          <a:prstGeom prst="roundRect">
            <a:avLst>
              <a:gd name="adj" fmla="val 17647"/>
            </a:avLst>
          </a:prstGeom>
          <a:solidFill>
            <a:srgbClr val="1558A8"/>
          </a:solidFill>
          <a:ln w="12700">
            <a:solidFill>
              <a:srgbClr val="1558A8"/>
            </a:solidFill>
            <a:prstDash val="solid"/>
          </a:ln>
        </p:spPr>
      </p:sp>
      <p:sp>
        <p:nvSpPr>
          <p:cNvPr id="155" name="Text 153"/>
          <p:cNvSpPr/>
          <p:nvPr/>
        </p:nvSpPr>
        <p:spPr>
          <a:xfrm>
            <a:off x="2185416"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56" name="Shape 154"/>
          <p:cNvSpPr/>
          <p:nvPr/>
        </p:nvSpPr>
        <p:spPr>
          <a:xfrm>
            <a:off x="3200400" y="5154168"/>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5364480"/>
            <a:ext cx="932688" cy="155448"/>
          </a:xfrm>
          <a:prstGeom prst="roundRect">
            <a:avLst>
              <a:gd name="adj" fmla="val 17647"/>
            </a:avLst>
          </a:prstGeom>
          <a:solidFill>
            <a:srgbClr val="1558A8"/>
          </a:solidFill>
          <a:ln w="12700">
            <a:solidFill>
              <a:srgbClr val="1558A8"/>
            </a:solidFill>
            <a:prstDash val="solid"/>
          </a:ln>
        </p:spPr>
      </p:sp>
      <p:sp>
        <p:nvSpPr>
          <p:cNvPr id="159" name="Text 157"/>
          <p:cNvSpPr/>
          <p:nvPr/>
        </p:nvSpPr>
        <p:spPr>
          <a:xfrm>
            <a:off x="3200400"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0" name="Shape 158"/>
          <p:cNvSpPr/>
          <p:nvPr/>
        </p:nvSpPr>
        <p:spPr>
          <a:xfrm>
            <a:off x="4215384" y="5154168"/>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5364480"/>
            <a:ext cx="932688" cy="155448"/>
          </a:xfrm>
          <a:prstGeom prst="roundRect">
            <a:avLst>
              <a:gd name="adj" fmla="val 17647"/>
            </a:avLst>
          </a:prstGeom>
          <a:solidFill>
            <a:srgbClr val="DCFCE7"/>
          </a:solidFill>
          <a:ln w="12700">
            <a:solidFill>
              <a:srgbClr val="15803D"/>
            </a:solidFill>
            <a:prstDash val="solid"/>
          </a:ln>
        </p:spPr>
      </p:sp>
      <p:sp>
        <p:nvSpPr>
          <p:cNvPr id="163" name="Text 161"/>
          <p:cNvSpPr/>
          <p:nvPr/>
        </p:nvSpPr>
        <p:spPr>
          <a:xfrm>
            <a:off x="4215384" y="536448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64" name="Shape 162"/>
          <p:cNvSpPr/>
          <p:nvPr/>
        </p:nvSpPr>
        <p:spPr>
          <a:xfrm>
            <a:off x="5230368" y="5154168"/>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5364480"/>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5230368" y="53644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6245352" y="5154168"/>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1541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5364480"/>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53644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164592" y="5910072"/>
            <a:ext cx="9116568" cy="966216"/>
          </a:xfrm>
          <a:prstGeom prst="rect">
            <a:avLst/>
          </a:prstGeom>
          <a:solidFill>
            <a:srgbClr val="FFFFFF"/>
          </a:solidFill>
          <a:ln w="6350">
            <a:solidFill>
              <a:srgbClr val="E5E7EB"/>
            </a:solidFill>
            <a:prstDash val="solid"/>
          </a:ln>
        </p:spPr>
      </p:sp>
      <p:sp>
        <p:nvSpPr>
          <p:cNvPr id="173" name="Shape 171"/>
          <p:cNvSpPr/>
          <p:nvPr/>
        </p:nvSpPr>
        <p:spPr>
          <a:xfrm>
            <a:off x="182880" y="5983224"/>
            <a:ext cx="859536" cy="819912"/>
          </a:xfrm>
          <a:prstGeom prst="roundRect">
            <a:avLst>
              <a:gd name="adj" fmla="val 5576"/>
            </a:avLst>
          </a:prstGeom>
          <a:solidFill>
            <a:srgbClr val="64748B"/>
          </a:solidFill>
          <a:ln w="12700">
            <a:solidFill>
              <a:srgbClr val="64748B"/>
            </a:solidFill>
            <a:prstDash val="solid"/>
          </a:ln>
        </p:spPr>
      </p:sp>
      <p:sp>
        <p:nvSpPr>
          <p:cNvPr id="174" name="Text 172"/>
          <p:cNvSpPr/>
          <p:nvPr/>
        </p:nvSpPr>
        <p:spPr>
          <a:xfrm>
            <a:off x="182880" y="5983224"/>
            <a:ext cx="859536" cy="819912"/>
          </a:xfrm>
          <a:prstGeom prst="rect">
            <a:avLst/>
          </a:prstGeom>
          <a:noFill/>
          <a:ln/>
        </p:spPr>
        <p:txBody>
          <a:bodyPr wrap="square" lIns="0" tIns="0" rIns="0" bIns="0" rtlCol="0" anchor="ctr"/>
          <a:lstStyle/>
          <a:p>
            <a:pPr algn="ctr" indent="0" marL="0">
              <a:buNone/>
            </a:pPr>
            <a:r>
              <a:rPr lang="en-US" sz="800" b="1" dirty="0">
                <a:solidFill>
                  <a:srgbClr val="FFFFFF"/>
                </a:solidFill>
              </a:rPr>
              <a:t>Data</a:t>
            </a:r>
            <a:endParaRPr lang="en-US" sz="800" dirty="0"/>
          </a:p>
          <a:p>
            <a:pPr algn="ctr" indent="0" marL="0">
              <a:buNone/>
            </a:pPr>
            <a:r>
              <a:rPr lang="en-US" sz="800" b="1" dirty="0">
                <a:solidFill>
                  <a:srgbClr val="FFFFFF"/>
                </a:solidFill>
              </a:rPr>
              <a:t>&amp; Analytics</a:t>
            </a:r>
            <a:endParaRPr lang="en-US" sz="800" dirty="0"/>
          </a:p>
        </p:txBody>
      </p:sp>
      <p:sp>
        <p:nvSpPr>
          <p:cNvPr id="175" name="Text 173"/>
          <p:cNvSpPr/>
          <p:nvPr/>
        </p:nvSpPr>
        <p:spPr>
          <a:xfrm>
            <a:off x="1170432" y="59557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176" name="Shape 174"/>
          <p:cNvSpPr/>
          <p:nvPr/>
        </p:nvSpPr>
        <p:spPr>
          <a:xfrm>
            <a:off x="1170432" y="6175248"/>
            <a:ext cx="932688" cy="182880"/>
          </a:xfrm>
          <a:prstGeom prst="roundRect">
            <a:avLst>
              <a:gd name="adj" fmla="val 15000"/>
            </a:avLst>
          </a:prstGeom>
          <a:solidFill>
            <a:srgbClr val="FFFFFF"/>
          </a:solidFill>
          <a:ln w="9525">
            <a:solidFill>
              <a:srgbClr val="CBD5E1"/>
            </a:solidFill>
            <a:prstDash val="solid"/>
          </a:ln>
        </p:spPr>
      </p:sp>
      <p:sp>
        <p:nvSpPr>
          <p:cNvPr id="177" name="Text 175"/>
          <p:cNvSpPr/>
          <p:nvPr/>
        </p:nvSpPr>
        <p:spPr>
          <a:xfrm>
            <a:off x="1170432"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NPAW Historical</a:t>
            </a:r>
            <a:endParaRPr lang="en-US" sz="750" dirty="0"/>
          </a:p>
        </p:txBody>
      </p:sp>
      <p:sp>
        <p:nvSpPr>
          <p:cNvPr id="178" name="Shape 176"/>
          <p:cNvSpPr/>
          <p:nvPr/>
        </p:nvSpPr>
        <p:spPr>
          <a:xfrm>
            <a:off x="1170432" y="6385560"/>
            <a:ext cx="932688" cy="155448"/>
          </a:xfrm>
          <a:prstGeom prst="roundRect">
            <a:avLst>
              <a:gd name="adj" fmla="val 17647"/>
            </a:avLst>
          </a:prstGeom>
          <a:solidFill>
            <a:srgbClr val="1558A8"/>
          </a:solidFill>
          <a:ln w="12700">
            <a:solidFill>
              <a:srgbClr val="1558A8"/>
            </a:solidFill>
            <a:prstDash val="solid"/>
          </a:ln>
        </p:spPr>
      </p:sp>
      <p:sp>
        <p:nvSpPr>
          <p:cNvPr id="179" name="Text 177"/>
          <p:cNvSpPr/>
          <p:nvPr/>
        </p:nvSpPr>
        <p:spPr>
          <a:xfrm>
            <a:off x="1170432"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0" name="Shape 178"/>
          <p:cNvSpPr/>
          <p:nvPr/>
        </p:nvSpPr>
        <p:spPr>
          <a:xfrm>
            <a:off x="2185416" y="6175248"/>
            <a:ext cx="932688" cy="182880"/>
          </a:xfrm>
          <a:prstGeom prst="roundRect">
            <a:avLst>
              <a:gd name="adj" fmla="val 15000"/>
            </a:avLst>
          </a:prstGeom>
          <a:solidFill>
            <a:srgbClr val="FFFFFF"/>
          </a:solidFill>
          <a:ln w="9525">
            <a:solidFill>
              <a:srgbClr val="CBD5E1"/>
            </a:solidFill>
            <a:prstDash val="solid"/>
          </a:ln>
        </p:spPr>
      </p:sp>
      <p:sp>
        <p:nvSpPr>
          <p:cNvPr id="181" name="Text 179"/>
          <p:cNvSpPr/>
          <p:nvPr/>
        </p:nvSpPr>
        <p:spPr>
          <a:xfrm>
            <a:off x="2185416" y="61752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 Historical</a:t>
            </a:r>
            <a:endParaRPr lang="en-US" sz="750" dirty="0"/>
          </a:p>
        </p:txBody>
      </p:sp>
      <p:sp>
        <p:nvSpPr>
          <p:cNvPr id="182" name="Shape 180"/>
          <p:cNvSpPr/>
          <p:nvPr/>
        </p:nvSpPr>
        <p:spPr>
          <a:xfrm>
            <a:off x="2185416" y="6385560"/>
            <a:ext cx="932688" cy="155448"/>
          </a:xfrm>
          <a:prstGeom prst="roundRect">
            <a:avLst>
              <a:gd name="adj" fmla="val 17647"/>
            </a:avLst>
          </a:prstGeom>
          <a:solidFill>
            <a:srgbClr val="1558A8"/>
          </a:solidFill>
          <a:ln w="12700">
            <a:solidFill>
              <a:srgbClr val="1558A8"/>
            </a:solidFill>
            <a:prstDash val="solid"/>
          </a:ln>
        </p:spPr>
      </p:sp>
      <p:sp>
        <p:nvSpPr>
          <p:cNvPr id="183" name="Text 181"/>
          <p:cNvSpPr/>
          <p:nvPr/>
        </p:nvSpPr>
        <p:spPr>
          <a:xfrm>
            <a:off x="2185416" y="63855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84" name="Shape 182"/>
          <p:cNvSpPr/>
          <p:nvPr/>
        </p:nvSpPr>
        <p:spPr>
          <a:xfrm>
            <a:off x="9372600" y="804672"/>
            <a:ext cx="2834640" cy="6071616"/>
          </a:xfrm>
          <a:prstGeom prst="rect">
            <a:avLst/>
          </a:prstGeom>
          <a:solidFill>
            <a:srgbClr val="F8FAFB"/>
          </a:solidFill>
          <a:ln w="12700">
            <a:solidFill>
              <a:srgbClr val="DDE1E6"/>
            </a:solidFill>
            <a:prstDash val="solid"/>
          </a:ln>
        </p:spPr>
      </p:sp>
      <p:sp>
        <p:nvSpPr>
          <p:cNvPr id="185" name="Text 18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86" name="Shape 184"/>
          <p:cNvSpPr/>
          <p:nvPr/>
        </p:nvSpPr>
        <p:spPr>
          <a:xfrm>
            <a:off x="9464040" y="1225296"/>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1316736"/>
            <a:ext cx="109728" cy="109728"/>
          </a:xfrm>
          <a:prstGeom prst="ellipse">
            <a:avLst/>
          </a:prstGeom>
          <a:solidFill>
            <a:srgbClr val="16A34A"/>
          </a:solidFill>
          <a:ln w="12700">
            <a:solidFill>
              <a:srgbClr val="16A34A"/>
            </a:solidFill>
            <a:prstDash val="solid"/>
          </a:ln>
        </p:spPr>
      </p:sp>
      <p:sp>
        <p:nvSpPr>
          <p:cNvPr id="188" name="Text 18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89" name="Text 18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90" name="Shape 18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91" name="Text 18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92" name="Shape 190"/>
          <p:cNvSpPr/>
          <p:nvPr/>
        </p:nvSpPr>
        <p:spPr>
          <a:xfrm>
            <a:off x="9464040" y="1700784"/>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1792224"/>
            <a:ext cx="109728" cy="109728"/>
          </a:xfrm>
          <a:prstGeom prst="ellipse">
            <a:avLst/>
          </a:prstGeom>
          <a:solidFill>
            <a:srgbClr val="1558A8"/>
          </a:solidFill>
          <a:ln w="12700">
            <a:solidFill>
              <a:srgbClr val="1558A8"/>
            </a:solidFill>
            <a:prstDash val="solid"/>
          </a:ln>
        </p:spPr>
      </p:sp>
      <p:sp>
        <p:nvSpPr>
          <p:cNvPr id="194" name="Text 19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95" name="Text 19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96" name="Shape 19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97" name="Text 19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98" name="Shape 196"/>
          <p:cNvSpPr/>
          <p:nvPr/>
        </p:nvSpPr>
        <p:spPr>
          <a:xfrm>
            <a:off x="9464040" y="2176272"/>
            <a:ext cx="2670048" cy="420624"/>
          </a:xfrm>
          <a:prstGeom prst="rect">
            <a:avLst/>
          </a:prstGeom>
          <a:solidFill>
            <a:srgbClr val="FFFFFF"/>
          </a:solidFill>
          <a:ln w="6350">
            <a:solidFill>
              <a:srgbClr val="E5E7EB"/>
            </a:solidFill>
            <a:prstDash val="solid"/>
          </a:ln>
        </p:spPr>
      </p:sp>
      <p:sp>
        <p:nvSpPr>
          <p:cNvPr id="199" name="Shape 197"/>
          <p:cNvSpPr/>
          <p:nvPr/>
        </p:nvSpPr>
        <p:spPr>
          <a:xfrm>
            <a:off x="9537192" y="2267712"/>
            <a:ext cx="109728" cy="109728"/>
          </a:xfrm>
          <a:prstGeom prst="ellipse">
            <a:avLst/>
          </a:prstGeom>
          <a:solidFill>
            <a:srgbClr val="9CA3AF"/>
          </a:solidFill>
          <a:ln w="12700">
            <a:solidFill>
              <a:srgbClr val="9CA3AF"/>
            </a:solidFill>
            <a:prstDash val="solid"/>
          </a:ln>
        </p:spPr>
      </p:sp>
      <p:sp>
        <p:nvSpPr>
          <p:cNvPr id="200" name="Text 19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201" name="Text 19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202" name="Shape 20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203" name="Text 20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04" name="Shape 202"/>
          <p:cNvSpPr/>
          <p:nvPr/>
        </p:nvSpPr>
        <p:spPr>
          <a:xfrm>
            <a:off x="9464040" y="2651760"/>
            <a:ext cx="2670048" cy="420624"/>
          </a:xfrm>
          <a:prstGeom prst="rect">
            <a:avLst/>
          </a:prstGeom>
          <a:solidFill>
            <a:srgbClr val="FFFFFF"/>
          </a:solidFill>
          <a:ln w="6350">
            <a:solidFill>
              <a:srgbClr val="E5E7EB"/>
            </a:solidFill>
            <a:prstDash val="solid"/>
          </a:ln>
        </p:spPr>
      </p:sp>
      <p:sp>
        <p:nvSpPr>
          <p:cNvPr id="205" name="Shape 203"/>
          <p:cNvSpPr/>
          <p:nvPr/>
        </p:nvSpPr>
        <p:spPr>
          <a:xfrm>
            <a:off x="9537192" y="2743200"/>
            <a:ext cx="109728" cy="109728"/>
          </a:xfrm>
          <a:prstGeom prst="ellipse">
            <a:avLst/>
          </a:prstGeom>
          <a:solidFill>
            <a:srgbClr val="9CA3AF"/>
          </a:solidFill>
          <a:ln w="12700">
            <a:solidFill>
              <a:srgbClr val="9CA3AF"/>
            </a:solidFill>
            <a:prstDash val="solid"/>
          </a:ln>
        </p:spPr>
      </p:sp>
      <p:sp>
        <p:nvSpPr>
          <p:cNvPr id="206" name="Text 20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207" name="Text 20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208" name="Shape 20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209" name="Text 20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210" name="Shape 208"/>
          <p:cNvSpPr/>
          <p:nvPr/>
        </p:nvSpPr>
        <p:spPr>
          <a:xfrm>
            <a:off x="9482328" y="3200400"/>
            <a:ext cx="2633472" cy="0"/>
          </a:xfrm>
          <a:prstGeom prst="line">
            <a:avLst/>
          </a:prstGeom>
          <a:noFill/>
          <a:ln w="9525">
            <a:solidFill>
              <a:srgbClr val="DDE1E6"/>
            </a:solidFill>
            <a:prstDash val="solid"/>
          </a:ln>
        </p:spPr>
      </p:sp>
      <p:sp>
        <p:nvSpPr>
          <p:cNvPr id="211" name="Text 20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12" name="Shape 210"/>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13" name="Text 211"/>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14" name="Text 212"/>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15" name="Shape 213"/>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16" name="Text 214"/>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17" name="Text 215"/>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18" name="Shape 216"/>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19" name="Text 217"/>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20" name="Text 218"/>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21" name="Shape 219"/>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22" name="Text 220"/>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23" name="Text 221"/>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24" name="Shape 222"/>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25" name="Text 223"/>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26" name="Text 224"/>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15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15%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3867912"/>
            <a:ext cx="9116568" cy="1476756"/>
          </a:xfrm>
          <a:prstGeom prst="rect">
            <a:avLst/>
          </a:prstGeom>
          <a:solidFill>
            <a:srgbClr val="FAFBFC"/>
          </a:solidFill>
          <a:ln w="6350">
            <a:solidFill>
              <a:srgbClr val="E5E7EB"/>
            </a:solidFill>
            <a:prstDash val="solid"/>
          </a:ln>
        </p:spPr>
      </p:sp>
      <p:sp>
        <p:nvSpPr>
          <p:cNvPr id="49" name="Shape 4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1" name="Text 4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2" name="Shape 5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4" name="Shape 5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58" name="Shape 5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2" name="Shape 6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66" name="Shape 6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0" name="Shape 6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1" name="Text 6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2" name="Shape 7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4" name="Shape 72"/>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78" name="Shape 76"/>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79" name="Text 7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0" name="Shape 7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2" name="Shape 80"/>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6" name="Shape 8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164592" y="5399532"/>
            <a:ext cx="9116568" cy="1476756"/>
          </a:xfrm>
          <a:prstGeom prst="rect">
            <a:avLst/>
          </a:prstGeom>
          <a:solidFill>
            <a:srgbClr val="FFFFFF"/>
          </a:solidFill>
          <a:ln w="6350">
            <a:solidFill>
              <a:srgbClr val="E5E7EB"/>
            </a:solidFill>
            <a:prstDash val="solid"/>
          </a:ln>
        </p:spPr>
      </p:sp>
      <p:sp>
        <p:nvSpPr>
          <p:cNvPr id="89" name="Shape 8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0" name="Text 8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1" name="Text 8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2" name="Shape 9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4" name="Shape 92"/>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98" name="Shape 96"/>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2" name="Shape 100"/>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06" name="Shape 104"/>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07" name="Text 10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8" name="Shape 10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0" name="Shape 108"/>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4" name="Shape 11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9372600" y="804672"/>
            <a:ext cx="2834640" cy="6071616"/>
          </a:xfrm>
          <a:prstGeom prst="rect">
            <a:avLst/>
          </a:prstGeom>
          <a:solidFill>
            <a:srgbClr val="F8FAFB"/>
          </a:solidFill>
          <a:ln w="12700">
            <a:solidFill>
              <a:srgbClr val="DDE1E6"/>
            </a:solidFill>
            <a:prstDash val="solid"/>
          </a:ln>
        </p:spPr>
      </p:sp>
      <p:sp>
        <p:nvSpPr>
          <p:cNvPr id="117" name="Text 11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18" name="Shape 116"/>
          <p:cNvSpPr/>
          <p:nvPr/>
        </p:nvSpPr>
        <p:spPr>
          <a:xfrm>
            <a:off x="9464040" y="1225296"/>
            <a:ext cx="2670048" cy="420624"/>
          </a:xfrm>
          <a:prstGeom prst="rect">
            <a:avLst/>
          </a:prstGeom>
          <a:solidFill>
            <a:srgbClr val="FFFFFF"/>
          </a:solidFill>
          <a:ln w="6350">
            <a:solidFill>
              <a:srgbClr val="E5E7EB"/>
            </a:solidFill>
            <a:prstDash val="solid"/>
          </a:ln>
        </p:spPr>
      </p:sp>
      <p:sp>
        <p:nvSpPr>
          <p:cNvPr id="119" name="Shape 117"/>
          <p:cNvSpPr/>
          <p:nvPr/>
        </p:nvSpPr>
        <p:spPr>
          <a:xfrm>
            <a:off x="9537192" y="1316736"/>
            <a:ext cx="109728" cy="109728"/>
          </a:xfrm>
          <a:prstGeom prst="ellipse">
            <a:avLst/>
          </a:prstGeom>
          <a:solidFill>
            <a:srgbClr val="16A34A"/>
          </a:solidFill>
          <a:ln w="12700">
            <a:solidFill>
              <a:srgbClr val="16A34A"/>
            </a:solidFill>
            <a:prstDash val="solid"/>
          </a:ln>
        </p:spPr>
      </p:sp>
      <p:sp>
        <p:nvSpPr>
          <p:cNvPr id="120" name="Text 11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1" name="Text 11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2" name="Shape 12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3" name="Text 12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4" name="Shape 122"/>
          <p:cNvSpPr/>
          <p:nvPr/>
        </p:nvSpPr>
        <p:spPr>
          <a:xfrm>
            <a:off x="9464040" y="1700784"/>
            <a:ext cx="2670048" cy="420624"/>
          </a:xfrm>
          <a:prstGeom prst="rect">
            <a:avLst/>
          </a:prstGeom>
          <a:solidFill>
            <a:srgbClr val="FFFFFF"/>
          </a:solidFill>
          <a:ln w="6350">
            <a:solidFill>
              <a:srgbClr val="E5E7EB"/>
            </a:solidFill>
            <a:prstDash val="solid"/>
          </a:ln>
        </p:spPr>
      </p:sp>
      <p:sp>
        <p:nvSpPr>
          <p:cNvPr id="125" name="Shape 123"/>
          <p:cNvSpPr/>
          <p:nvPr/>
        </p:nvSpPr>
        <p:spPr>
          <a:xfrm>
            <a:off x="9537192" y="1792224"/>
            <a:ext cx="109728" cy="109728"/>
          </a:xfrm>
          <a:prstGeom prst="ellipse">
            <a:avLst/>
          </a:prstGeom>
          <a:solidFill>
            <a:srgbClr val="1558A8"/>
          </a:solidFill>
          <a:ln w="12700">
            <a:solidFill>
              <a:srgbClr val="1558A8"/>
            </a:solidFill>
            <a:prstDash val="solid"/>
          </a:ln>
        </p:spPr>
      </p:sp>
      <p:sp>
        <p:nvSpPr>
          <p:cNvPr id="126" name="Text 12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27" name="Text 12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28" name="Shape 12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29" name="Text 12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0" name="Shape 128"/>
          <p:cNvSpPr/>
          <p:nvPr/>
        </p:nvSpPr>
        <p:spPr>
          <a:xfrm>
            <a:off x="9464040" y="2176272"/>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2267712"/>
            <a:ext cx="109728" cy="109728"/>
          </a:xfrm>
          <a:prstGeom prst="ellipse">
            <a:avLst/>
          </a:prstGeom>
          <a:solidFill>
            <a:srgbClr val="9CA3AF"/>
          </a:solidFill>
          <a:ln w="12700">
            <a:solidFill>
              <a:srgbClr val="9CA3AF"/>
            </a:solidFill>
            <a:prstDash val="solid"/>
          </a:ln>
        </p:spPr>
      </p:sp>
      <p:sp>
        <p:nvSpPr>
          <p:cNvPr id="132" name="Text 13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3" name="Text 13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4" name="Shape 13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5" name="Text 13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36" name="Shape 134"/>
          <p:cNvSpPr/>
          <p:nvPr/>
        </p:nvSpPr>
        <p:spPr>
          <a:xfrm>
            <a:off x="9464040" y="2651760"/>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2743200"/>
            <a:ext cx="109728" cy="109728"/>
          </a:xfrm>
          <a:prstGeom prst="ellipse">
            <a:avLst/>
          </a:prstGeom>
          <a:solidFill>
            <a:srgbClr val="9CA3AF"/>
          </a:solidFill>
          <a:ln w="12700">
            <a:solidFill>
              <a:srgbClr val="9CA3AF"/>
            </a:solidFill>
            <a:prstDash val="solid"/>
          </a:ln>
        </p:spPr>
      </p:sp>
      <p:sp>
        <p:nvSpPr>
          <p:cNvPr id="138" name="Text 13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39" name="Text 13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0" name="Shape 13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1" name="Text 13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2" name="Shape 140"/>
          <p:cNvSpPr/>
          <p:nvPr/>
        </p:nvSpPr>
        <p:spPr>
          <a:xfrm>
            <a:off x="9482328" y="3200400"/>
            <a:ext cx="2633472" cy="0"/>
          </a:xfrm>
          <a:prstGeom prst="line">
            <a:avLst/>
          </a:prstGeom>
          <a:noFill/>
          <a:ln w="9525">
            <a:solidFill>
              <a:srgbClr val="DDE1E6"/>
            </a:solidFill>
            <a:prstDash val="solid"/>
          </a:ln>
        </p:spPr>
      </p:sp>
      <p:sp>
        <p:nvSpPr>
          <p:cNvPr id="143" name="Text 14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4" name="Shape 14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5" name="Text 14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46" name="Shape 14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47" name="Text 14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48" name="Shape 14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49" name="Text 14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0" name="Shape 14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1" name="Text 14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16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17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14%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2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Aug 5,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3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19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2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55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13%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164592" y="3867912"/>
            <a:ext cx="9116568" cy="1476756"/>
          </a:xfrm>
          <a:prstGeom prst="rect">
            <a:avLst/>
          </a:prstGeom>
          <a:solidFill>
            <a:srgbClr val="FAFBFC"/>
          </a:solidFill>
          <a:ln w="6350">
            <a:solidFill>
              <a:srgbClr val="E5E7EB"/>
            </a:solidFill>
            <a:prstDash val="solid"/>
          </a:ln>
        </p:spPr>
      </p:sp>
      <p:sp>
        <p:nvSpPr>
          <p:cNvPr id="74" name="Shape 72"/>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5" name="Text 73"/>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6" name="Text 74"/>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9 In Progress · 2 Done</a:t>
            </a:r>
            <a:endParaRPr lang="en-US" sz="750" dirty="0"/>
          </a:p>
        </p:txBody>
      </p:sp>
      <p:sp>
        <p:nvSpPr>
          <p:cNvPr id="77" name="Shape 75"/>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8" name="Text 76"/>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9" name="Shape 77"/>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0" name="Text 78"/>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1" name="Shape 79"/>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3" name="Shape 81"/>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7" name="Shape 85"/>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1" name="Shape 89"/>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5" name="Shape 93"/>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6" name="Text 94"/>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7" name="Shape 95"/>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9" name="Shape 97"/>
          <p:cNvSpPr/>
          <p:nvPr/>
        </p:nvSpPr>
        <p:spPr>
          <a:xfrm>
            <a:off x="6245352" y="4343400"/>
            <a:ext cx="932688" cy="155448"/>
          </a:xfrm>
          <a:prstGeom prst="roundRect">
            <a:avLst>
              <a:gd name="adj" fmla="val 17647"/>
            </a:avLst>
          </a:prstGeom>
          <a:solidFill>
            <a:srgbClr val="1558A8"/>
          </a:solidFill>
          <a:ln w="12700">
            <a:solidFill>
              <a:srgbClr val="1558A8"/>
            </a:solidFill>
            <a:prstDash val="solid"/>
          </a:ln>
        </p:spPr>
      </p:sp>
      <p:sp>
        <p:nvSpPr>
          <p:cNvPr id="100" name="Text 98"/>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1" name="Shape 99"/>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3" name="Shape 101"/>
          <p:cNvSpPr/>
          <p:nvPr/>
        </p:nvSpPr>
        <p:spPr>
          <a:xfrm>
            <a:off x="7260336" y="4343400"/>
            <a:ext cx="932688" cy="155448"/>
          </a:xfrm>
          <a:prstGeom prst="roundRect">
            <a:avLst>
              <a:gd name="adj" fmla="val 17647"/>
            </a:avLst>
          </a:prstGeom>
          <a:solidFill>
            <a:srgbClr val="DCFCE7"/>
          </a:solidFill>
          <a:ln w="12700">
            <a:solidFill>
              <a:srgbClr val="15803D"/>
            </a:solidFill>
            <a:prstDash val="solid"/>
          </a:ln>
        </p:spPr>
      </p:sp>
      <p:sp>
        <p:nvSpPr>
          <p:cNvPr id="104" name="Text 102"/>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5" name="Shape 103"/>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7" name="Shape 105"/>
          <p:cNvSpPr/>
          <p:nvPr/>
        </p:nvSpPr>
        <p:spPr>
          <a:xfrm>
            <a:off x="8275320" y="4343400"/>
            <a:ext cx="932688" cy="155448"/>
          </a:xfrm>
          <a:prstGeom prst="roundRect">
            <a:avLst>
              <a:gd name="adj" fmla="val 17647"/>
            </a:avLst>
          </a:prstGeom>
          <a:solidFill>
            <a:srgbClr val="DCFCE7"/>
          </a:solidFill>
          <a:ln w="12700">
            <a:solidFill>
              <a:srgbClr val="15803D"/>
            </a:solidFill>
            <a:prstDash val="solid"/>
          </a:ln>
        </p:spPr>
      </p:sp>
      <p:sp>
        <p:nvSpPr>
          <p:cNvPr id="108" name="Text 106"/>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09" name="Shape 107"/>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1" name="Shape 109"/>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2" name="Text 110"/>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3" name="Shape 111"/>
          <p:cNvSpPr/>
          <p:nvPr/>
        </p:nvSpPr>
        <p:spPr>
          <a:xfrm>
            <a:off x="164592" y="5399532"/>
            <a:ext cx="9116568" cy="1476756"/>
          </a:xfrm>
          <a:prstGeom prst="rect">
            <a:avLst/>
          </a:prstGeom>
          <a:solidFill>
            <a:srgbClr val="FFFFFF"/>
          </a:solidFill>
          <a:ln w="6350">
            <a:solidFill>
              <a:srgbClr val="E5E7EB"/>
            </a:solidFill>
            <a:prstDash val="solid"/>
          </a:ln>
        </p:spPr>
      </p:sp>
      <p:sp>
        <p:nvSpPr>
          <p:cNvPr id="114" name="Shape 112"/>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5" name="Text 113"/>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6" name="Text 114"/>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6 In Progress · 1 Done</a:t>
            </a:r>
            <a:endParaRPr lang="en-US" sz="750" dirty="0"/>
          </a:p>
        </p:txBody>
      </p:sp>
      <p:sp>
        <p:nvSpPr>
          <p:cNvPr id="117" name="Shape 115"/>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8" name="Text 116"/>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9" name="Shape 117"/>
          <p:cNvSpPr/>
          <p:nvPr/>
        </p:nvSpPr>
        <p:spPr>
          <a:xfrm>
            <a:off x="1170432" y="5875020"/>
            <a:ext cx="932688" cy="155448"/>
          </a:xfrm>
          <a:prstGeom prst="roundRect">
            <a:avLst>
              <a:gd name="adj" fmla="val 17647"/>
            </a:avLst>
          </a:prstGeom>
          <a:solidFill>
            <a:srgbClr val="1558A8"/>
          </a:solidFill>
          <a:ln w="12700">
            <a:solidFill>
              <a:srgbClr val="1558A8"/>
            </a:solidFill>
            <a:prstDash val="solid"/>
          </a:ln>
        </p:spPr>
      </p:sp>
      <p:sp>
        <p:nvSpPr>
          <p:cNvPr id="120" name="Text 118"/>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1" name="Shape 119"/>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3" name="Shape 121"/>
          <p:cNvSpPr/>
          <p:nvPr/>
        </p:nvSpPr>
        <p:spPr>
          <a:xfrm>
            <a:off x="2185416" y="5875020"/>
            <a:ext cx="932688" cy="155448"/>
          </a:xfrm>
          <a:prstGeom prst="roundRect">
            <a:avLst>
              <a:gd name="adj" fmla="val 17647"/>
            </a:avLst>
          </a:prstGeom>
          <a:solidFill>
            <a:srgbClr val="1558A8"/>
          </a:solidFill>
          <a:ln w="12700">
            <a:solidFill>
              <a:srgbClr val="1558A8"/>
            </a:solidFill>
            <a:prstDash val="solid"/>
          </a:ln>
        </p:spPr>
      </p:sp>
      <p:sp>
        <p:nvSpPr>
          <p:cNvPr id="124" name="Text 122"/>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5" name="Shape 123"/>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7" name="Shape 125"/>
          <p:cNvSpPr/>
          <p:nvPr/>
        </p:nvSpPr>
        <p:spPr>
          <a:xfrm>
            <a:off x="3200400" y="5875020"/>
            <a:ext cx="932688" cy="155448"/>
          </a:xfrm>
          <a:prstGeom prst="roundRect">
            <a:avLst>
              <a:gd name="adj" fmla="val 17647"/>
            </a:avLst>
          </a:prstGeom>
          <a:solidFill>
            <a:srgbClr val="1558A8"/>
          </a:solidFill>
          <a:ln w="12700">
            <a:solidFill>
              <a:srgbClr val="1558A8"/>
            </a:solidFill>
            <a:prstDash val="solid"/>
          </a:ln>
        </p:spPr>
      </p:sp>
      <p:sp>
        <p:nvSpPr>
          <p:cNvPr id="128" name="Text 126"/>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9" name="Shape 127"/>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1" name="Shape 129"/>
          <p:cNvSpPr/>
          <p:nvPr/>
        </p:nvSpPr>
        <p:spPr>
          <a:xfrm>
            <a:off x="4215384" y="5875020"/>
            <a:ext cx="932688" cy="155448"/>
          </a:xfrm>
          <a:prstGeom prst="roundRect">
            <a:avLst>
              <a:gd name="adj" fmla="val 17647"/>
            </a:avLst>
          </a:prstGeom>
          <a:solidFill>
            <a:srgbClr val="DCFCE7"/>
          </a:solidFill>
          <a:ln w="12700">
            <a:solidFill>
              <a:srgbClr val="15803D"/>
            </a:solidFill>
            <a:prstDash val="solid"/>
          </a:ln>
        </p:spPr>
      </p:sp>
      <p:sp>
        <p:nvSpPr>
          <p:cNvPr id="132" name="Text 130"/>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14532D"/>
                </a:solidFill>
              </a:rPr>
              <a:t>Done</a:t>
            </a:r>
            <a:endParaRPr lang="en-US" sz="700" dirty="0"/>
          </a:p>
        </p:txBody>
      </p:sp>
      <p:sp>
        <p:nvSpPr>
          <p:cNvPr id="133" name="Shape 131"/>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5" name="Shape 133"/>
          <p:cNvSpPr/>
          <p:nvPr/>
        </p:nvSpPr>
        <p:spPr>
          <a:xfrm>
            <a:off x="5230368"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9" name="Shape 137"/>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9372600" y="804672"/>
            <a:ext cx="2834640" cy="6071616"/>
          </a:xfrm>
          <a:prstGeom prst="rect">
            <a:avLst/>
          </a:prstGeom>
          <a:solidFill>
            <a:srgbClr val="F8FAFB"/>
          </a:solidFill>
          <a:ln w="12700">
            <a:solidFill>
              <a:srgbClr val="DDE1E6"/>
            </a:solidFill>
            <a:prstDash val="solid"/>
          </a:ln>
        </p:spPr>
      </p:sp>
      <p:sp>
        <p:nvSpPr>
          <p:cNvPr id="142" name="Text 140"/>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3" name="Shape 141"/>
          <p:cNvSpPr/>
          <p:nvPr/>
        </p:nvSpPr>
        <p:spPr>
          <a:xfrm>
            <a:off x="9464040" y="1225296"/>
            <a:ext cx="2670048" cy="420624"/>
          </a:xfrm>
          <a:prstGeom prst="rect">
            <a:avLst/>
          </a:prstGeom>
          <a:solidFill>
            <a:srgbClr val="FFFFFF"/>
          </a:solidFill>
          <a:ln w="6350">
            <a:solidFill>
              <a:srgbClr val="E5E7EB"/>
            </a:solidFill>
            <a:prstDash val="solid"/>
          </a:ln>
        </p:spPr>
      </p:sp>
      <p:sp>
        <p:nvSpPr>
          <p:cNvPr id="144" name="Shape 142"/>
          <p:cNvSpPr/>
          <p:nvPr/>
        </p:nvSpPr>
        <p:spPr>
          <a:xfrm>
            <a:off x="9537192" y="1316736"/>
            <a:ext cx="109728" cy="109728"/>
          </a:xfrm>
          <a:prstGeom prst="ellipse">
            <a:avLst/>
          </a:prstGeom>
          <a:solidFill>
            <a:srgbClr val="16A34A"/>
          </a:solidFill>
          <a:ln w="12700">
            <a:solidFill>
              <a:srgbClr val="16A34A"/>
            </a:solidFill>
            <a:prstDash val="solid"/>
          </a:ln>
        </p:spPr>
      </p:sp>
      <p:sp>
        <p:nvSpPr>
          <p:cNvPr id="145" name="Text 143"/>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6" name="Text 144"/>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7" name="Shape 145"/>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8" name="Text 146"/>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9" name="Shape 147"/>
          <p:cNvSpPr/>
          <p:nvPr/>
        </p:nvSpPr>
        <p:spPr>
          <a:xfrm>
            <a:off x="9464040" y="1700784"/>
            <a:ext cx="2670048" cy="420624"/>
          </a:xfrm>
          <a:prstGeom prst="rect">
            <a:avLst/>
          </a:prstGeom>
          <a:solidFill>
            <a:srgbClr val="FFFFFF"/>
          </a:solidFill>
          <a:ln w="6350">
            <a:solidFill>
              <a:srgbClr val="E5E7EB"/>
            </a:solidFill>
            <a:prstDash val="solid"/>
          </a:ln>
        </p:spPr>
      </p:sp>
      <p:sp>
        <p:nvSpPr>
          <p:cNvPr id="150" name="Shape 148"/>
          <p:cNvSpPr/>
          <p:nvPr/>
        </p:nvSpPr>
        <p:spPr>
          <a:xfrm>
            <a:off x="9537192" y="1792224"/>
            <a:ext cx="109728" cy="109728"/>
          </a:xfrm>
          <a:prstGeom prst="ellipse">
            <a:avLst/>
          </a:prstGeom>
          <a:solidFill>
            <a:srgbClr val="1558A8"/>
          </a:solidFill>
          <a:ln w="12700">
            <a:solidFill>
              <a:srgbClr val="1558A8"/>
            </a:solidFill>
            <a:prstDash val="solid"/>
          </a:ln>
        </p:spPr>
      </p:sp>
      <p:sp>
        <p:nvSpPr>
          <p:cNvPr id="151" name="Text 149"/>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2" name="Text 150"/>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3" name="Shape 151"/>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4" name="Text 152"/>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5" name="Shape 153"/>
          <p:cNvSpPr/>
          <p:nvPr/>
        </p:nvSpPr>
        <p:spPr>
          <a:xfrm>
            <a:off x="9464040" y="2176272"/>
            <a:ext cx="2670048" cy="420624"/>
          </a:xfrm>
          <a:prstGeom prst="rect">
            <a:avLst/>
          </a:prstGeom>
          <a:solidFill>
            <a:srgbClr val="FFFFFF"/>
          </a:solidFill>
          <a:ln w="6350">
            <a:solidFill>
              <a:srgbClr val="E5E7EB"/>
            </a:solidFill>
            <a:prstDash val="solid"/>
          </a:ln>
        </p:spPr>
      </p:sp>
      <p:sp>
        <p:nvSpPr>
          <p:cNvPr id="156" name="Shape 154"/>
          <p:cNvSpPr/>
          <p:nvPr/>
        </p:nvSpPr>
        <p:spPr>
          <a:xfrm>
            <a:off x="9537192" y="2267712"/>
            <a:ext cx="109728" cy="109728"/>
          </a:xfrm>
          <a:prstGeom prst="ellipse">
            <a:avLst/>
          </a:prstGeom>
          <a:solidFill>
            <a:srgbClr val="9CA3AF"/>
          </a:solidFill>
          <a:ln w="12700">
            <a:solidFill>
              <a:srgbClr val="9CA3AF"/>
            </a:solidFill>
            <a:prstDash val="solid"/>
          </a:ln>
        </p:spPr>
      </p:sp>
      <p:sp>
        <p:nvSpPr>
          <p:cNvPr id="157" name="Text 155"/>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8" name="Text 156"/>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9" name="Shape 157"/>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0" name="Text 158"/>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1" name="Shape 159"/>
          <p:cNvSpPr/>
          <p:nvPr/>
        </p:nvSpPr>
        <p:spPr>
          <a:xfrm>
            <a:off x="9464040" y="2651760"/>
            <a:ext cx="2670048" cy="420624"/>
          </a:xfrm>
          <a:prstGeom prst="rect">
            <a:avLst/>
          </a:prstGeom>
          <a:solidFill>
            <a:srgbClr val="FFFFFF"/>
          </a:solidFill>
          <a:ln w="6350">
            <a:solidFill>
              <a:srgbClr val="E5E7EB"/>
            </a:solidFill>
            <a:prstDash val="solid"/>
          </a:ln>
        </p:spPr>
      </p:sp>
      <p:sp>
        <p:nvSpPr>
          <p:cNvPr id="162" name="Shape 160"/>
          <p:cNvSpPr/>
          <p:nvPr/>
        </p:nvSpPr>
        <p:spPr>
          <a:xfrm>
            <a:off x="9537192" y="2743200"/>
            <a:ext cx="109728" cy="109728"/>
          </a:xfrm>
          <a:prstGeom prst="ellipse">
            <a:avLst/>
          </a:prstGeom>
          <a:solidFill>
            <a:srgbClr val="9CA3AF"/>
          </a:solidFill>
          <a:ln w="12700">
            <a:solidFill>
              <a:srgbClr val="9CA3AF"/>
            </a:solidFill>
            <a:prstDash val="solid"/>
          </a:ln>
        </p:spPr>
      </p:sp>
      <p:sp>
        <p:nvSpPr>
          <p:cNvPr id="163" name="Text 161"/>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4" name="Text 162"/>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5" name="Shape 163"/>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6" name="Text 164"/>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7" name="Shape 165"/>
          <p:cNvSpPr/>
          <p:nvPr/>
        </p:nvSpPr>
        <p:spPr>
          <a:xfrm>
            <a:off x="9482328" y="3200400"/>
            <a:ext cx="2633472" cy="0"/>
          </a:xfrm>
          <a:prstGeom prst="line">
            <a:avLst/>
          </a:prstGeom>
          <a:noFill/>
          <a:ln w="9525">
            <a:solidFill>
              <a:srgbClr val="DDE1E6"/>
            </a:solidFill>
            <a:prstDash val="solid"/>
          </a:ln>
        </p:spPr>
      </p:sp>
      <p:sp>
        <p:nvSpPr>
          <p:cNvPr id="168" name="Text 166"/>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9" name="Shape 167"/>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0" name="Text 168"/>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1" name="Shape 169"/>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2" name="Text 170"/>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3" name="Shape 171"/>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4" name="Text 172"/>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5" name="Shape 173"/>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6" name="Text 174"/>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SABR Component Status</dc:title>
  <dc:subject>PptxGenJS Presentation</dc:subject>
  <dc:creator>SABR Reporting</dc:creator>
  <cp:lastModifiedBy>SABR Reporting</cp:lastModifiedBy>
  <cp:revision>1</cp:revision>
  <dcterms:created xsi:type="dcterms:W3CDTF">2026-08-06T06:09:29Z</dcterms:created>
  <dcterms:modified xsi:type="dcterms:W3CDTF">2026-08-06T06:09:29Z</dcterms:modified>
</cp:coreProperties>
</file>