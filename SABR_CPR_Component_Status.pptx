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457200"/>
          </a:xfrm>
          <a:prstGeom prst="rect">
            <a:avLst/>
          </a:prstGeom>
          <a:solidFill>
            <a:srgbClr val="0F6E56"/>
          </a:solidFill>
          <a:ln w="12700">
            <a:solidFill>
              <a:srgbClr val="0F6E5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01168" y="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Project SABR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686800" y="0"/>
            <a:ext cx="3337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A7D7C5"/>
                </a:solidFill>
              </a:rPr>
              <a:t>CPR  ·  Jul 6, 2026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0" y="457200"/>
            <a:ext cx="12188952" cy="347472"/>
          </a:xfrm>
          <a:prstGeom prst="rect">
            <a:avLst/>
          </a:prstGeom>
          <a:solidFill>
            <a:srgbClr val="EFF7F3"/>
          </a:solidFill>
          <a:ln w="12700">
            <a:solidFill>
              <a:srgbClr val="CCE4D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56032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DCFCE7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6534"/>
                </a:solidFill>
              </a:rPr>
              <a:t>0  Done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389888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DBEAFE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389888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D4ED8"/>
                </a:solidFill>
              </a:rPr>
              <a:t>10  In Progress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2843784" y="521208"/>
            <a:ext cx="1325880" cy="219456"/>
          </a:xfrm>
          <a:prstGeom prst="roundRect">
            <a:avLst>
              <a:gd name="adj" fmla="val 20833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843784" y="521208"/>
            <a:ext cx="13258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23  Not Started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0" y="521208"/>
            <a:ext cx="1005840" cy="219456"/>
          </a:xfrm>
          <a:prstGeom prst="roundRect">
            <a:avLst>
              <a:gd name="adj" fmla="val 20833"/>
            </a:avLst>
          </a:prstGeom>
          <a:solidFill>
            <a:srgbClr val="FEE2E2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97680" y="521208"/>
            <a:ext cx="1005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7F1D1D"/>
                </a:solidFill>
              </a:rPr>
              <a:t>0  Blocked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5431536" y="521208"/>
            <a:ext cx="2377440" cy="219456"/>
          </a:xfrm>
          <a:prstGeom prst="roundRect">
            <a:avLst>
              <a:gd name="adj" fmla="val 20833"/>
            </a:avLst>
          </a:prstGeom>
          <a:solidFill>
            <a:srgbClr val="FFFFFF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31536" y="521208"/>
            <a:ext cx="2377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374151"/>
                </a:solidFill>
              </a:rPr>
              <a:t>Dec 1, 2026  ·  147 days to launch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0" y="6419088"/>
            <a:ext cx="12188952" cy="438912"/>
          </a:xfrm>
          <a:prstGeom prst="rect">
            <a:avLst/>
          </a:prstGeom>
          <a:solidFill>
            <a:srgbClr val="F4F6F8"/>
          </a:solidFill>
          <a:ln w="12700">
            <a:solidFill>
              <a:srgbClr val="D1D5D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01168" y="641908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Project SABR  ·  Tennis Channel OTT  ·  CONFIDENTIAL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5486400" y="6419088"/>
            <a:ext cx="45720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CA3AF"/>
                </a:solidFill>
              </a:rPr>
              <a:t>Launch: Dec 1, 2026  ·  147 days remaining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10515600" y="6419088"/>
            <a:ext cx="1508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F6E56"/>
                </a:solidFill>
              </a:rPr>
              <a:t>0% Ready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64592" y="804672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2880" y="877824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82880" y="877824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Platforms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1170432" y="850392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3 / 7 In Progress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117043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17043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TC.com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117043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17043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28" name="Shape 26"/>
          <p:cNvSpPr/>
          <p:nvPr/>
        </p:nvSpPr>
        <p:spPr>
          <a:xfrm>
            <a:off x="218541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18541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</a:t>
            </a:r>
            <a:endParaRPr lang="en-US" sz="750" dirty="0"/>
          </a:p>
        </p:txBody>
      </p:sp>
      <p:sp>
        <p:nvSpPr>
          <p:cNvPr id="30" name="Shape 28"/>
          <p:cNvSpPr/>
          <p:nvPr/>
        </p:nvSpPr>
        <p:spPr>
          <a:xfrm>
            <a:off x="218541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18541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32" name="Shape 30"/>
          <p:cNvSpPr/>
          <p:nvPr/>
        </p:nvSpPr>
        <p:spPr>
          <a:xfrm>
            <a:off x="3200400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200400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</a:t>
            </a:r>
            <a:endParaRPr lang="en-US" sz="750" dirty="0"/>
          </a:p>
        </p:txBody>
      </p:sp>
      <p:sp>
        <p:nvSpPr>
          <p:cNvPr id="34" name="Shape 32"/>
          <p:cNvSpPr/>
          <p:nvPr/>
        </p:nvSpPr>
        <p:spPr>
          <a:xfrm>
            <a:off x="3200400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00400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4215384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215384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Roku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215384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215384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40" name="Shape 38"/>
          <p:cNvSpPr/>
          <p:nvPr/>
        </p:nvSpPr>
        <p:spPr>
          <a:xfrm>
            <a:off x="5230368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230368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Fire TV</a:t>
            </a:r>
            <a:endParaRPr lang="en-US" sz="750" dirty="0"/>
          </a:p>
        </p:txBody>
      </p:sp>
      <p:sp>
        <p:nvSpPr>
          <p:cNvPr id="42" name="Shape 40"/>
          <p:cNvSpPr/>
          <p:nvPr/>
        </p:nvSpPr>
        <p:spPr>
          <a:xfrm>
            <a:off x="5230368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230368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4" name="Shape 42"/>
          <p:cNvSpPr/>
          <p:nvPr/>
        </p:nvSpPr>
        <p:spPr>
          <a:xfrm>
            <a:off x="6245352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245352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Samsung</a:t>
            </a:r>
            <a:endParaRPr lang="en-US" sz="750" dirty="0"/>
          </a:p>
        </p:txBody>
      </p:sp>
      <p:sp>
        <p:nvSpPr>
          <p:cNvPr id="46" name="Shape 44"/>
          <p:cNvSpPr/>
          <p:nvPr/>
        </p:nvSpPr>
        <p:spPr>
          <a:xfrm>
            <a:off x="6245352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6245352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48" name="Shape 46"/>
          <p:cNvSpPr/>
          <p:nvPr/>
        </p:nvSpPr>
        <p:spPr>
          <a:xfrm>
            <a:off x="7260336" y="1069848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7260336" y="1069848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tvOS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7260336" y="1280160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260336" y="1280160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52" name="Shape 50"/>
          <p:cNvSpPr/>
          <p:nvPr/>
        </p:nvSpPr>
        <p:spPr>
          <a:xfrm>
            <a:off x="164592" y="1938528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182880" y="2011680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82880" y="2011680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Video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Delivery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170432" y="1984248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7 In Progress</a:t>
            </a:r>
            <a:endParaRPr lang="en-US" sz="750" dirty="0"/>
          </a:p>
        </p:txBody>
      </p:sp>
      <p:sp>
        <p:nvSpPr>
          <p:cNvPr id="56" name="Shape 54"/>
          <p:cNvSpPr/>
          <p:nvPr/>
        </p:nvSpPr>
        <p:spPr>
          <a:xfrm>
            <a:off x="117043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17043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117043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17043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0" name="Shape 58"/>
          <p:cNvSpPr/>
          <p:nvPr/>
        </p:nvSpPr>
        <p:spPr>
          <a:xfrm>
            <a:off x="218541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218541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MPEG-DASH</a:t>
            </a:r>
            <a:endParaRPr lang="en-US" sz="750" dirty="0"/>
          </a:p>
        </p:txBody>
      </p:sp>
      <p:sp>
        <p:nvSpPr>
          <p:cNvPr id="62" name="Shape 60"/>
          <p:cNvSpPr/>
          <p:nvPr/>
        </p:nvSpPr>
        <p:spPr>
          <a:xfrm>
            <a:off x="218541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218541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64" name="Shape 62"/>
          <p:cNvSpPr/>
          <p:nvPr/>
        </p:nvSpPr>
        <p:spPr>
          <a:xfrm>
            <a:off x="3200400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200400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FairPlay DRM</a:t>
            </a:r>
            <a:endParaRPr lang="en-US" sz="750" dirty="0"/>
          </a:p>
        </p:txBody>
      </p:sp>
      <p:sp>
        <p:nvSpPr>
          <p:cNvPr id="66" name="Shape 64"/>
          <p:cNvSpPr/>
          <p:nvPr/>
        </p:nvSpPr>
        <p:spPr>
          <a:xfrm>
            <a:off x="3200400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00400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68" name="Shape 66"/>
          <p:cNvSpPr/>
          <p:nvPr/>
        </p:nvSpPr>
        <p:spPr>
          <a:xfrm>
            <a:off x="4215384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15384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Widevine DRM</a:t>
            </a:r>
            <a:endParaRPr lang="en-US" sz="750" dirty="0"/>
          </a:p>
        </p:txBody>
      </p:sp>
      <p:sp>
        <p:nvSpPr>
          <p:cNvPr id="70" name="Shape 68"/>
          <p:cNvSpPr/>
          <p:nvPr/>
        </p:nvSpPr>
        <p:spPr>
          <a:xfrm>
            <a:off x="4215384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215384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2" name="Shape 70"/>
          <p:cNvSpPr/>
          <p:nvPr/>
        </p:nvSpPr>
        <p:spPr>
          <a:xfrm>
            <a:off x="5230368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230368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Streams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5230368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5230368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76" name="Shape 74"/>
          <p:cNvSpPr/>
          <p:nvPr/>
        </p:nvSpPr>
        <p:spPr>
          <a:xfrm>
            <a:off x="6245352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6245352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VOD Streams</a:t>
            </a:r>
            <a:endParaRPr lang="en-US" sz="750" dirty="0"/>
          </a:p>
        </p:txBody>
      </p:sp>
      <p:sp>
        <p:nvSpPr>
          <p:cNvPr id="78" name="Shape 76"/>
          <p:cNvSpPr/>
          <p:nvPr/>
        </p:nvSpPr>
        <p:spPr>
          <a:xfrm>
            <a:off x="6245352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245352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0" name="Shape 78"/>
          <p:cNvSpPr/>
          <p:nvPr/>
        </p:nvSpPr>
        <p:spPr>
          <a:xfrm>
            <a:off x="7260336" y="2203704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7260336" y="2203704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82" name="Shape 80"/>
          <p:cNvSpPr/>
          <p:nvPr/>
        </p:nvSpPr>
        <p:spPr>
          <a:xfrm>
            <a:off x="7260336" y="2414016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7260336" y="2414016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84" name="Shape 82"/>
          <p:cNvSpPr/>
          <p:nvPr/>
        </p:nvSpPr>
        <p:spPr>
          <a:xfrm>
            <a:off x="164592" y="3072384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182880" y="3145536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82880" y="3145536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Player</a:t>
            </a:r>
            <a:endParaRPr lang="en-US" sz="950" dirty="0"/>
          </a:p>
        </p:txBody>
      </p:sp>
      <p:sp>
        <p:nvSpPr>
          <p:cNvPr id="87" name="Text 85"/>
          <p:cNvSpPr/>
          <p:nvPr/>
        </p:nvSpPr>
        <p:spPr>
          <a:xfrm>
            <a:off x="1170432" y="3118104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5 In Progress</a:t>
            </a:r>
            <a:endParaRPr lang="en-US" sz="750" dirty="0"/>
          </a:p>
        </p:txBody>
      </p:sp>
      <p:sp>
        <p:nvSpPr>
          <p:cNvPr id="88" name="Shape 86"/>
          <p:cNvSpPr/>
          <p:nvPr/>
        </p:nvSpPr>
        <p:spPr>
          <a:xfrm>
            <a:off x="1170432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1170432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Web Player</a:t>
            </a:r>
            <a:endParaRPr lang="en-US" sz="750" dirty="0"/>
          </a:p>
        </p:txBody>
      </p:sp>
      <p:sp>
        <p:nvSpPr>
          <p:cNvPr id="90" name="Shape 88"/>
          <p:cNvSpPr/>
          <p:nvPr/>
        </p:nvSpPr>
        <p:spPr>
          <a:xfrm>
            <a:off x="1170432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70432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2185416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2185416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iOS Player</a:t>
            </a:r>
            <a:endParaRPr lang="en-US" sz="750" dirty="0"/>
          </a:p>
        </p:txBody>
      </p:sp>
      <p:sp>
        <p:nvSpPr>
          <p:cNvPr id="94" name="Shape 92"/>
          <p:cNvSpPr/>
          <p:nvPr/>
        </p:nvSpPr>
        <p:spPr>
          <a:xfrm>
            <a:off x="2185416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185416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3200400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00400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Android Player</a:t>
            </a:r>
            <a:endParaRPr lang="en-US" sz="750" dirty="0"/>
          </a:p>
        </p:txBody>
      </p:sp>
      <p:sp>
        <p:nvSpPr>
          <p:cNvPr id="98" name="Shape 96"/>
          <p:cNvSpPr/>
          <p:nvPr/>
        </p:nvSpPr>
        <p:spPr>
          <a:xfrm>
            <a:off x="3200400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200400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4215384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4215384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HLS/DASH PB</a:t>
            </a:r>
            <a:endParaRPr lang="en-US" sz="750" dirty="0"/>
          </a:p>
        </p:txBody>
      </p:sp>
      <p:sp>
        <p:nvSpPr>
          <p:cNvPr id="102" name="Shape 100"/>
          <p:cNvSpPr/>
          <p:nvPr/>
        </p:nvSpPr>
        <p:spPr>
          <a:xfrm>
            <a:off x="4215384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215384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4" name="Shape 102"/>
          <p:cNvSpPr/>
          <p:nvPr/>
        </p:nvSpPr>
        <p:spPr>
          <a:xfrm>
            <a:off x="5230368" y="3337560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230368" y="3337560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Bitmovin QOE</a:t>
            </a:r>
            <a:endParaRPr lang="en-US" sz="750" dirty="0"/>
          </a:p>
        </p:txBody>
      </p:sp>
      <p:sp>
        <p:nvSpPr>
          <p:cNvPr id="106" name="Shape 104"/>
          <p:cNvSpPr/>
          <p:nvPr/>
        </p:nvSpPr>
        <p:spPr>
          <a:xfrm>
            <a:off x="5230368" y="3547872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230368" y="3547872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08" name="Shape 106"/>
          <p:cNvSpPr/>
          <p:nvPr/>
        </p:nvSpPr>
        <p:spPr>
          <a:xfrm>
            <a:off x="164592" y="4206240"/>
            <a:ext cx="9116568" cy="1078992"/>
          </a:xfrm>
          <a:prstGeom prst="rect">
            <a:avLst/>
          </a:prstGeom>
          <a:solidFill>
            <a:srgbClr val="FFFFFF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182880" y="4279392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182880" y="4279392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Merchandising</a:t>
            </a:r>
            <a:endParaRPr lang="en-US" sz="950" dirty="0"/>
          </a:p>
        </p:txBody>
      </p:sp>
      <p:sp>
        <p:nvSpPr>
          <p:cNvPr id="111" name="Text 109"/>
          <p:cNvSpPr/>
          <p:nvPr/>
        </p:nvSpPr>
        <p:spPr>
          <a:xfrm>
            <a:off x="1170432" y="4251960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2 / 9 In Progress</a:t>
            </a:r>
            <a:endParaRPr lang="en-US" sz="750" dirty="0"/>
          </a:p>
        </p:txBody>
      </p:sp>
      <p:sp>
        <p:nvSpPr>
          <p:cNvPr id="112" name="Shape 110"/>
          <p:cNvSpPr/>
          <p:nvPr/>
        </p:nvSpPr>
        <p:spPr>
          <a:xfrm>
            <a:off x="117043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117043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Metadata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117043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117043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16" name="Shape 114"/>
          <p:cNvSpPr/>
          <p:nvPr/>
        </p:nvSpPr>
        <p:spPr>
          <a:xfrm>
            <a:off x="218541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218541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Images</a:t>
            </a:r>
            <a:endParaRPr lang="en-US" sz="750" dirty="0"/>
          </a:p>
        </p:txBody>
      </p:sp>
      <p:sp>
        <p:nvSpPr>
          <p:cNvPr id="118" name="Shape 116"/>
          <p:cNvSpPr/>
          <p:nvPr/>
        </p:nvSpPr>
        <p:spPr>
          <a:xfrm>
            <a:off x="218541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18541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0" name="Shape 118"/>
          <p:cNvSpPr/>
          <p:nvPr/>
        </p:nvSpPr>
        <p:spPr>
          <a:xfrm>
            <a:off x="320040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320040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Carousels</a:t>
            </a:r>
            <a:endParaRPr lang="en-US" sz="750" dirty="0"/>
          </a:p>
        </p:txBody>
      </p:sp>
      <p:sp>
        <p:nvSpPr>
          <p:cNvPr id="122" name="Shape 120"/>
          <p:cNvSpPr/>
          <p:nvPr/>
        </p:nvSpPr>
        <p:spPr>
          <a:xfrm>
            <a:off x="320040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320040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24" name="Shape 122"/>
          <p:cNvSpPr/>
          <p:nvPr/>
        </p:nvSpPr>
        <p:spPr>
          <a:xfrm>
            <a:off x="4215384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215384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Live Events</a:t>
            </a:r>
            <a:endParaRPr lang="en-US" sz="750" dirty="0"/>
          </a:p>
        </p:txBody>
      </p:sp>
      <p:sp>
        <p:nvSpPr>
          <p:cNvPr id="126" name="Shape 124"/>
          <p:cNvSpPr/>
          <p:nvPr/>
        </p:nvSpPr>
        <p:spPr>
          <a:xfrm>
            <a:off x="4215384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215384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28" name="Shape 126"/>
          <p:cNvSpPr/>
          <p:nvPr/>
        </p:nvSpPr>
        <p:spPr>
          <a:xfrm>
            <a:off x="5230368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230368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Back Catalog</a:t>
            </a:r>
            <a:endParaRPr lang="en-US" sz="750" dirty="0"/>
          </a:p>
        </p:txBody>
      </p:sp>
      <p:sp>
        <p:nvSpPr>
          <p:cNvPr id="130" name="Shape 128"/>
          <p:cNvSpPr/>
          <p:nvPr/>
        </p:nvSpPr>
        <p:spPr>
          <a:xfrm>
            <a:off x="5230368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230368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2" name="Shape 130"/>
          <p:cNvSpPr/>
          <p:nvPr/>
        </p:nvSpPr>
        <p:spPr>
          <a:xfrm>
            <a:off x="6245352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45352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Full Replays</a:t>
            </a:r>
            <a:endParaRPr lang="en-US" sz="750" dirty="0"/>
          </a:p>
        </p:txBody>
      </p:sp>
      <p:sp>
        <p:nvSpPr>
          <p:cNvPr id="134" name="Shape 132"/>
          <p:cNvSpPr/>
          <p:nvPr/>
        </p:nvSpPr>
        <p:spPr>
          <a:xfrm>
            <a:off x="6245352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245352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36" name="Shape 134"/>
          <p:cNvSpPr/>
          <p:nvPr/>
        </p:nvSpPr>
        <p:spPr>
          <a:xfrm>
            <a:off x="7260336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7260336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M15</a:t>
            </a:r>
            <a:endParaRPr lang="en-US" sz="750" dirty="0"/>
          </a:p>
        </p:txBody>
      </p:sp>
      <p:sp>
        <p:nvSpPr>
          <p:cNvPr id="138" name="Shape 136"/>
          <p:cNvSpPr/>
          <p:nvPr/>
        </p:nvSpPr>
        <p:spPr>
          <a:xfrm>
            <a:off x="7260336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260336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0" name="Shape 138"/>
          <p:cNvSpPr/>
          <p:nvPr/>
        </p:nvSpPr>
        <p:spPr>
          <a:xfrm>
            <a:off x="8275320" y="44714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275320" y="44714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Highlights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8275320" y="46817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8275320" y="46817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4" name="Shape 142"/>
          <p:cNvSpPr/>
          <p:nvPr/>
        </p:nvSpPr>
        <p:spPr>
          <a:xfrm>
            <a:off x="1170432" y="4928616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1170432" y="4928616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Linear</a:t>
            </a:r>
            <a:endParaRPr lang="en-US" sz="750" dirty="0"/>
          </a:p>
        </p:txBody>
      </p:sp>
      <p:sp>
        <p:nvSpPr>
          <p:cNvPr id="146" name="Shape 144"/>
          <p:cNvSpPr/>
          <p:nvPr/>
        </p:nvSpPr>
        <p:spPr>
          <a:xfrm>
            <a:off x="1170432" y="5138928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1170432" y="5138928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48" name="Shape 146"/>
          <p:cNvSpPr/>
          <p:nvPr/>
        </p:nvSpPr>
        <p:spPr>
          <a:xfrm>
            <a:off x="164592" y="5340096"/>
            <a:ext cx="9116568" cy="1078992"/>
          </a:xfrm>
          <a:prstGeom prst="rect">
            <a:avLst/>
          </a:prstGeom>
          <a:solidFill>
            <a:srgbClr val="FAFBFC"/>
          </a:solidFill>
          <a:ln w="6350">
            <a:solidFill>
              <a:srgbClr val="E5E7EB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182880" y="5413248"/>
            <a:ext cx="859536" cy="932688"/>
          </a:xfrm>
          <a:prstGeom prst="roundRect">
            <a:avLst>
              <a:gd name="adj" fmla="val 5319"/>
            </a:avLst>
          </a:prstGeom>
          <a:solidFill>
            <a:srgbClr val="9CA3AF"/>
          </a:solidFill>
          <a:ln w="12700">
            <a:solidFill>
              <a:srgbClr val="9CA3AF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182880" y="5413248"/>
            <a:ext cx="859536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</a:rPr>
              <a:t>Onboarding</a:t>
            </a:r>
            <a:endParaRPr lang="en-US" sz="950" dirty="0"/>
          </a:p>
        </p:txBody>
      </p:sp>
      <p:sp>
        <p:nvSpPr>
          <p:cNvPr id="151" name="Text 149"/>
          <p:cNvSpPr/>
          <p:nvPr/>
        </p:nvSpPr>
        <p:spPr>
          <a:xfrm>
            <a:off x="1170432" y="5385816"/>
            <a:ext cx="81107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9CA3AF"/>
                </a:solidFill>
              </a:rPr>
              <a:t>1 / 5 In Progress</a:t>
            </a:r>
            <a:endParaRPr lang="en-US" sz="750" dirty="0"/>
          </a:p>
        </p:txBody>
      </p:sp>
      <p:sp>
        <p:nvSpPr>
          <p:cNvPr id="152" name="Shape 150"/>
          <p:cNvSpPr/>
          <p:nvPr/>
        </p:nvSpPr>
        <p:spPr>
          <a:xfrm>
            <a:off x="1170432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1170432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Unentitled</a:t>
            </a:r>
            <a:endParaRPr lang="en-US" sz="750" dirty="0"/>
          </a:p>
        </p:txBody>
      </p:sp>
      <p:sp>
        <p:nvSpPr>
          <p:cNvPr id="154" name="Shape 152"/>
          <p:cNvSpPr/>
          <p:nvPr/>
        </p:nvSpPr>
        <p:spPr>
          <a:xfrm>
            <a:off x="1170432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1170432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56" name="Shape 154"/>
          <p:cNvSpPr/>
          <p:nvPr/>
        </p:nvSpPr>
        <p:spPr>
          <a:xfrm>
            <a:off x="2185416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185416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Sign-in</a:t>
            </a:r>
            <a:endParaRPr lang="en-US" sz="750" dirty="0"/>
          </a:p>
        </p:txBody>
      </p:sp>
      <p:sp>
        <p:nvSpPr>
          <p:cNvPr id="158" name="Shape 156"/>
          <p:cNvSpPr/>
          <p:nvPr/>
        </p:nvSpPr>
        <p:spPr>
          <a:xfrm>
            <a:off x="2185416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2185416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0" name="Shape 158"/>
          <p:cNvSpPr/>
          <p:nvPr/>
        </p:nvSpPr>
        <p:spPr>
          <a:xfrm>
            <a:off x="3200400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3200400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Subscription</a:t>
            </a: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3200400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3200400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4215384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215384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MVPD</a:t>
            </a:r>
            <a:endParaRPr lang="en-US" sz="750" dirty="0"/>
          </a:p>
        </p:txBody>
      </p:sp>
      <p:sp>
        <p:nvSpPr>
          <p:cNvPr id="166" name="Shape 164"/>
          <p:cNvSpPr/>
          <p:nvPr/>
        </p:nvSpPr>
        <p:spPr>
          <a:xfrm>
            <a:off x="4215384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215384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68" name="Shape 166"/>
          <p:cNvSpPr/>
          <p:nvPr/>
        </p:nvSpPr>
        <p:spPr>
          <a:xfrm>
            <a:off x="5230368" y="5605272"/>
            <a:ext cx="932688" cy="1828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5230368" y="5605272"/>
            <a:ext cx="9326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1E293B"/>
                </a:solidFill>
              </a:rPr>
              <a:t>Promos</a:t>
            </a:r>
            <a:endParaRPr lang="en-US" sz="750" dirty="0"/>
          </a:p>
        </p:txBody>
      </p:sp>
      <p:sp>
        <p:nvSpPr>
          <p:cNvPr id="170" name="Shape 168"/>
          <p:cNvSpPr/>
          <p:nvPr/>
        </p:nvSpPr>
        <p:spPr>
          <a:xfrm>
            <a:off x="5230368" y="5815584"/>
            <a:ext cx="932688" cy="155448"/>
          </a:xfrm>
          <a:prstGeom prst="roundRect">
            <a:avLst>
              <a:gd name="adj" fmla="val 17647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230368" y="5815584"/>
            <a:ext cx="93268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72" name="Shape 170"/>
          <p:cNvSpPr/>
          <p:nvPr/>
        </p:nvSpPr>
        <p:spPr>
          <a:xfrm>
            <a:off x="9372600" y="804672"/>
            <a:ext cx="2679192" cy="5614416"/>
          </a:xfrm>
          <a:prstGeom prst="rect">
            <a:avLst/>
          </a:prstGeom>
          <a:solidFill>
            <a:srgbClr val="F8FAFB"/>
          </a:solidFill>
          <a:ln w="12700">
            <a:solidFill>
              <a:srgbClr val="DDE1E6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9500616" y="950976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Progress by Category</a:t>
            </a:r>
            <a:endParaRPr lang="en-US" sz="950" dirty="0"/>
          </a:p>
        </p:txBody>
      </p:sp>
      <p:sp>
        <p:nvSpPr>
          <p:cNvPr id="174" name="Text 172"/>
          <p:cNvSpPr/>
          <p:nvPr/>
        </p:nvSpPr>
        <p:spPr>
          <a:xfrm>
            <a:off x="9500616" y="1216152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Platforms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11558016" y="1216152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6" name="Shape 174"/>
          <p:cNvSpPr/>
          <p:nvPr/>
        </p:nvSpPr>
        <p:spPr>
          <a:xfrm>
            <a:off x="9500616" y="1399032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500616" y="1572768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Video Delivery</a:t>
            </a:r>
            <a:endParaRPr lang="en-US" sz="800" dirty="0"/>
          </a:p>
        </p:txBody>
      </p:sp>
      <p:sp>
        <p:nvSpPr>
          <p:cNvPr id="178" name="Text 176"/>
          <p:cNvSpPr/>
          <p:nvPr/>
        </p:nvSpPr>
        <p:spPr>
          <a:xfrm>
            <a:off x="11558016" y="1572768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79" name="Shape 177"/>
          <p:cNvSpPr/>
          <p:nvPr/>
        </p:nvSpPr>
        <p:spPr>
          <a:xfrm>
            <a:off x="9500616" y="1755648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9500616" y="1929384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Player</a:t>
            </a:r>
            <a:endParaRPr lang="en-US" sz="800" dirty="0"/>
          </a:p>
        </p:txBody>
      </p:sp>
      <p:sp>
        <p:nvSpPr>
          <p:cNvPr id="181" name="Text 179"/>
          <p:cNvSpPr/>
          <p:nvPr/>
        </p:nvSpPr>
        <p:spPr>
          <a:xfrm>
            <a:off x="11558016" y="1929384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2" name="Shape 180"/>
          <p:cNvSpPr/>
          <p:nvPr/>
        </p:nvSpPr>
        <p:spPr>
          <a:xfrm>
            <a:off x="9500616" y="2112264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9500616" y="2286000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Merchandising</a:t>
            </a:r>
            <a:endParaRPr lang="en-US" sz="800" dirty="0"/>
          </a:p>
        </p:txBody>
      </p:sp>
      <p:sp>
        <p:nvSpPr>
          <p:cNvPr id="184" name="Text 182"/>
          <p:cNvSpPr/>
          <p:nvPr/>
        </p:nvSpPr>
        <p:spPr>
          <a:xfrm>
            <a:off x="11558016" y="2286000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5" name="Shape 183"/>
          <p:cNvSpPr/>
          <p:nvPr/>
        </p:nvSpPr>
        <p:spPr>
          <a:xfrm>
            <a:off x="9500616" y="2468880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9500616" y="2642616"/>
            <a:ext cx="169200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74151"/>
                </a:solidFill>
              </a:rPr>
              <a:t>Onboarding</a:t>
            </a:r>
            <a:endParaRPr lang="en-US" sz="800" dirty="0"/>
          </a:p>
        </p:txBody>
      </p:sp>
      <p:sp>
        <p:nvSpPr>
          <p:cNvPr id="187" name="Text 185"/>
          <p:cNvSpPr/>
          <p:nvPr/>
        </p:nvSpPr>
        <p:spPr>
          <a:xfrm>
            <a:off x="11558016" y="2642616"/>
            <a:ext cx="365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9CA3AF"/>
                </a:solidFill>
              </a:rPr>
              <a:t>0%</a:t>
            </a:r>
            <a:endParaRPr lang="en-US" sz="800" dirty="0"/>
          </a:p>
        </p:txBody>
      </p:sp>
      <p:sp>
        <p:nvSpPr>
          <p:cNvPr id="188" name="Shape 186"/>
          <p:cNvSpPr/>
          <p:nvPr/>
        </p:nvSpPr>
        <p:spPr>
          <a:xfrm>
            <a:off x="9500616" y="2825496"/>
            <a:ext cx="2350008" cy="82296"/>
          </a:xfrm>
          <a:prstGeom prst="roundRect">
            <a:avLst>
              <a:gd name="adj" fmla="val 50000"/>
            </a:avLst>
          </a:prstGeom>
          <a:solidFill>
            <a:srgbClr val="E5E7EB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482328" y="3127248"/>
            <a:ext cx="2478024" cy="0"/>
          </a:xfrm>
          <a:prstGeom prst="line">
            <a:avLst/>
          </a:prstGeom>
          <a:noFill/>
          <a:ln w="9525">
            <a:solidFill>
              <a:srgbClr val="DDE1E6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9500616" y="3264408"/>
            <a:ext cx="24780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11827"/>
                </a:solidFill>
              </a:rPr>
              <a:t>Status Key</a:t>
            </a:r>
            <a:endParaRPr lang="en-US" sz="950" dirty="0"/>
          </a:p>
        </p:txBody>
      </p:sp>
      <p:sp>
        <p:nvSpPr>
          <p:cNvPr id="191" name="Shape 189"/>
          <p:cNvSpPr/>
          <p:nvPr/>
        </p:nvSpPr>
        <p:spPr>
          <a:xfrm>
            <a:off x="9500616" y="35112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3F4F6"/>
          </a:solidFill>
          <a:ln w="9525">
            <a:solidFill>
              <a:srgbClr val="D1D5DB"/>
            </a:solidFill>
            <a:prstDash val="solid"/>
          </a:ln>
        </p:spPr>
      </p:sp>
      <p:sp>
        <p:nvSpPr>
          <p:cNvPr id="192" name="Text 190"/>
          <p:cNvSpPr/>
          <p:nvPr/>
        </p:nvSpPr>
        <p:spPr>
          <a:xfrm>
            <a:off x="9500616" y="35112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374151"/>
                </a:solidFill>
              </a:rPr>
              <a:t>Not Started</a:t>
            </a:r>
            <a:endParaRPr lang="en-US" sz="700" dirty="0"/>
          </a:p>
        </p:txBody>
      </p:sp>
      <p:sp>
        <p:nvSpPr>
          <p:cNvPr id="193" name="Text 191"/>
          <p:cNvSpPr/>
          <p:nvPr/>
        </p:nvSpPr>
        <p:spPr>
          <a:xfrm>
            <a:off x="10305288" y="35112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Work has not begun</a:t>
            </a:r>
            <a:endParaRPr lang="en-US" sz="700" dirty="0"/>
          </a:p>
        </p:txBody>
      </p:sp>
      <p:sp>
        <p:nvSpPr>
          <p:cNvPr id="194" name="Shape 192"/>
          <p:cNvSpPr/>
          <p:nvPr/>
        </p:nvSpPr>
        <p:spPr>
          <a:xfrm>
            <a:off x="9500616" y="37398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1558A8"/>
          </a:solidFill>
          <a:ln w="12700">
            <a:solidFill>
              <a:srgbClr val="1558A8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9500616" y="37398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In Progress</a:t>
            </a:r>
            <a:endParaRPr lang="en-US" sz="700" dirty="0"/>
          </a:p>
        </p:txBody>
      </p:sp>
      <p:sp>
        <p:nvSpPr>
          <p:cNvPr id="196" name="Text 194"/>
          <p:cNvSpPr/>
          <p:nvPr/>
        </p:nvSpPr>
        <p:spPr>
          <a:xfrm>
            <a:off x="10305288" y="37398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Active development underway</a:t>
            </a:r>
            <a:endParaRPr lang="en-US" sz="700" dirty="0"/>
          </a:p>
        </p:txBody>
      </p:sp>
      <p:sp>
        <p:nvSpPr>
          <p:cNvPr id="197" name="Shape 195"/>
          <p:cNvSpPr/>
          <p:nvPr/>
        </p:nvSpPr>
        <p:spPr>
          <a:xfrm>
            <a:off x="9500616" y="39684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E2E2"/>
          </a:solidFill>
          <a:ln w="19050">
            <a:solidFill>
              <a:srgbClr val="DC262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9500616" y="39684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F1D1D"/>
                </a:solidFill>
              </a:rPr>
              <a:t>Blocked</a:t>
            </a:r>
            <a:endParaRPr lang="en-US" sz="700" dirty="0"/>
          </a:p>
        </p:txBody>
      </p:sp>
      <p:sp>
        <p:nvSpPr>
          <p:cNvPr id="199" name="Text 197"/>
          <p:cNvSpPr/>
          <p:nvPr/>
        </p:nvSpPr>
        <p:spPr>
          <a:xfrm>
            <a:off x="10305288" y="39684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Blocked by dependency</a:t>
            </a:r>
            <a:endParaRPr lang="en-US" sz="700" dirty="0"/>
          </a:p>
        </p:txBody>
      </p:sp>
      <p:sp>
        <p:nvSpPr>
          <p:cNvPr id="200" name="Shape 198"/>
          <p:cNvSpPr/>
          <p:nvPr/>
        </p:nvSpPr>
        <p:spPr>
          <a:xfrm>
            <a:off x="9500616" y="41970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DCFCE7"/>
          </a:solidFill>
          <a:ln w="12700">
            <a:solidFill>
              <a:srgbClr val="15803D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9500616" y="41970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14532D"/>
                </a:solidFill>
              </a:rPr>
              <a:t>Done</a:t>
            </a:r>
            <a:endParaRPr lang="en-US" sz="700" dirty="0"/>
          </a:p>
        </p:txBody>
      </p:sp>
      <p:sp>
        <p:nvSpPr>
          <p:cNvPr id="202" name="Text 200"/>
          <p:cNvSpPr/>
          <p:nvPr/>
        </p:nvSpPr>
        <p:spPr>
          <a:xfrm>
            <a:off x="10305288" y="41970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Complete ✓</a:t>
            </a:r>
            <a:endParaRPr lang="en-US" sz="700" dirty="0"/>
          </a:p>
        </p:txBody>
      </p:sp>
      <p:sp>
        <p:nvSpPr>
          <p:cNvPr id="203" name="Shape 201"/>
          <p:cNvSpPr/>
          <p:nvPr/>
        </p:nvSpPr>
        <p:spPr>
          <a:xfrm>
            <a:off x="9500616" y="4425696"/>
            <a:ext cx="749808" cy="173736"/>
          </a:xfrm>
          <a:prstGeom prst="roundRect">
            <a:avLst>
              <a:gd name="adj" fmla="val 15789"/>
            </a:avLst>
          </a:prstGeom>
          <a:solidFill>
            <a:srgbClr val="FEF3C7"/>
          </a:solidFill>
          <a:ln w="19050">
            <a:solidFill>
              <a:srgbClr val="D97706"/>
            </a:solidFill>
            <a:prstDash val="solid"/>
          </a:ln>
        </p:spPr>
      </p:sp>
      <p:sp>
        <p:nvSpPr>
          <p:cNvPr id="204" name="Text 202"/>
          <p:cNvSpPr/>
          <p:nvPr/>
        </p:nvSpPr>
        <p:spPr>
          <a:xfrm>
            <a:off x="9500616" y="4425696"/>
            <a:ext cx="74980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78350F"/>
                </a:solidFill>
              </a:rPr>
              <a:t>At Risk</a:t>
            </a:r>
            <a:endParaRPr lang="en-US" sz="700" dirty="0"/>
          </a:p>
        </p:txBody>
      </p:sp>
      <p:sp>
        <p:nvSpPr>
          <p:cNvPr id="205" name="Text 203"/>
          <p:cNvSpPr/>
          <p:nvPr/>
        </p:nvSpPr>
        <p:spPr>
          <a:xfrm>
            <a:off x="10305288" y="4425696"/>
            <a:ext cx="1636776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6B7280"/>
                </a:solidFill>
              </a:rPr>
              <a:t>NS with unmet dependencies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SABR Component Status</dc:title>
  <dc:subject>PptxGenJS Presentation</dc:subject>
  <dc:creator>SABR Reporting</dc:creator>
  <cp:lastModifiedBy>SABR Reporting</cp:lastModifiedBy>
  <cp:revision>1</cp:revision>
  <dcterms:created xsi:type="dcterms:W3CDTF">2026-07-06T18:58:18Z</dcterms:created>
  <dcterms:modified xsi:type="dcterms:W3CDTF">2026-07-06T18:58:18Z</dcterms:modified>
</cp:coreProperties>
</file>