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10"/>
    <p:sldId id="258" r:id="rId11"/>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2.xml"/><Relationship Id="rId11"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September 30,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7/8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8,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from TC legal, Bitmovin reviewing.</a:t>
            </a:r>
            <a:endParaRPr lang="en-US" sz="650" dirty="0"/>
          </a:p>
        </p:txBody>
      </p:sp>
      <p:sp>
        <p:nvSpPr>
          <p:cNvPr id="11" name="Shape 9"/>
          <p:cNvSpPr/>
          <p:nvPr/>
        </p:nvSpPr>
        <p:spPr>
          <a:xfrm>
            <a:off x="5230368" y="955548"/>
            <a:ext cx="822960" cy="173736"/>
          </a:xfrm>
          <a:prstGeom prst="roundRect">
            <a:avLst>
              <a:gd name="adj" fmla="val 15789"/>
            </a:avLst>
          </a:prstGeom>
          <a:solidFill>
            <a:srgbClr val="1558A8"/>
          </a:solidFill>
          <a:ln w="12700">
            <a:solidFill>
              <a:srgbClr val="1558A8"/>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Amagi Contract Cost Review: Provide Sinclair with details on cost savings for Amagi by following up with Mike Kralik and Kevin Kotlove. (Ari)</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contract sent out to FOXXUM for review on 7/2.</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Discussions will begin end of week or first week of July. Due by end of July.</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662940"/>
          </a:xfrm>
          <a:prstGeom prst="rect">
            <a:avLst/>
          </a:prstGeom>
          <a:solidFill>
            <a:srgbClr val="FFFFFF"/>
          </a:solidFill>
          <a:ln w="3175">
            <a:solidFill>
              <a:srgbClr val="E5E7EB"/>
            </a:solidFill>
            <a:prstDash val="solid"/>
          </a:ln>
        </p:spPr>
      </p:sp>
      <p:sp>
        <p:nvSpPr>
          <p:cNvPr id="39" name="Text 37"/>
          <p:cNvSpPr/>
          <p:nvPr/>
        </p:nvSpPr>
        <p:spPr>
          <a:xfrm>
            <a:off x="6309360" y="795528"/>
            <a:ext cx="777240" cy="626364"/>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608076"/>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1021842"/>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102184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440180"/>
            <a:ext cx="6016752" cy="0"/>
          </a:xfrm>
          <a:prstGeom prst="line">
            <a:avLst/>
          </a:prstGeom>
          <a:noFill/>
          <a:ln w="6350">
            <a:solidFill>
              <a:srgbClr val="E5E7EB"/>
            </a:solidFill>
            <a:prstDash val="solid"/>
          </a:ln>
        </p:spPr>
      </p:sp>
      <p:sp>
        <p:nvSpPr>
          <p:cNvPr id="44" name="Text 42"/>
          <p:cNvSpPr/>
          <p:nvPr/>
        </p:nvSpPr>
        <p:spPr>
          <a:xfrm>
            <a:off x="6309360" y="1458468"/>
            <a:ext cx="777240" cy="626364"/>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467612"/>
            <a:ext cx="4178808" cy="608076"/>
          </a:xfrm>
          <a:prstGeom prst="rect">
            <a:avLst/>
          </a:prstGeom>
          <a:noFill/>
          <a:ln/>
        </p:spPr>
        <p:txBody>
          <a:bodyPr wrap="square" lIns="0" tIns="0" rIns="0" bIns="0" rtlCol="0" anchor="t"/>
          <a:lstStyle/>
          <a:p>
            <a:pPr indent="0" marL="0">
              <a:buNone/>
            </a:pPr>
            <a:r>
              <a:rPr lang="en-US" sz="650" dirty="0">
                <a:solidFill>
                  <a:srgbClr val="374151"/>
                </a:solidFill>
              </a:rPr>
              <a:t>Migrated the app off mock data onto the live backend (Home, Live, Schedule, Tournaments now show real content and real playback). Shipped ~35 merged updates.</a:t>
            </a:r>
            <a:endParaRPr lang="en-US" sz="650" dirty="0"/>
          </a:p>
        </p:txBody>
      </p:sp>
      <p:sp>
        <p:nvSpPr>
          <p:cNvPr id="46" name="Shape 44"/>
          <p:cNvSpPr/>
          <p:nvPr/>
        </p:nvSpPr>
        <p:spPr>
          <a:xfrm>
            <a:off x="11375136" y="1684782"/>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68478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2103120"/>
            <a:ext cx="6016752" cy="662940"/>
          </a:xfrm>
          <a:prstGeom prst="rect">
            <a:avLst/>
          </a:prstGeom>
          <a:solidFill>
            <a:srgbClr val="FFFFFF"/>
          </a:solidFill>
          <a:ln w="3175">
            <a:solidFill>
              <a:srgbClr val="E5E7EB"/>
            </a:solidFill>
            <a:prstDash val="solid"/>
          </a:ln>
        </p:spPr>
      </p:sp>
      <p:sp>
        <p:nvSpPr>
          <p:cNvPr id="49" name="Shape 47"/>
          <p:cNvSpPr/>
          <p:nvPr/>
        </p:nvSpPr>
        <p:spPr>
          <a:xfrm>
            <a:off x="6236208" y="2103120"/>
            <a:ext cx="6016752" cy="0"/>
          </a:xfrm>
          <a:prstGeom prst="line">
            <a:avLst/>
          </a:prstGeom>
          <a:noFill/>
          <a:ln w="6350">
            <a:solidFill>
              <a:srgbClr val="E5E7EB"/>
            </a:solidFill>
            <a:prstDash val="solid"/>
          </a:ln>
        </p:spPr>
      </p:sp>
      <p:sp>
        <p:nvSpPr>
          <p:cNvPr id="50" name="Text 48"/>
          <p:cNvSpPr/>
          <p:nvPr/>
        </p:nvSpPr>
        <p:spPr>
          <a:xfrm>
            <a:off x="6309360" y="2121408"/>
            <a:ext cx="777240" cy="626364"/>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2130552"/>
            <a:ext cx="4178808" cy="608076"/>
          </a:xfrm>
          <a:prstGeom prst="rect">
            <a:avLst/>
          </a:prstGeom>
          <a:noFill/>
          <a:ln/>
        </p:spPr>
        <p:txBody>
          <a:bodyPr wrap="square" lIns="0" tIns="0" rIns="0" bIns="0" rtlCol="0" anchor="t"/>
          <a:lstStyle/>
          <a:p>
            <a:pPr indent="0" marL="0">
              <a:buNone/>
            </a:pPr>
            <a:r>
              <a:rPr lang="en-US" sz="650" dirty="0">
                <a:solidFill>
                  <a:srgbClr val="374151"/>
                </a:solidFill>
              </a:rPr>
              <a:t>Prototyping Auth0/Cleeng login, building out CMS widget support, and standing up Adobe Pass provider management. Carousel page engine and backend refresh API delivered.</a:t>
            </a:r>
            <a:endParaRPr lang="en-US" sz="650" dirty="0"/>
          </a:p>
        </p:txBody>
      </p:sp>
      <p:sp>
        <p:nvSpPr>
          <p:cNvPr id="52" name="Shape 50"/>
          <p:cNvSpPr/>
          <p:nvPr/>
        </p:nvSpPr>
        <p:spPr>
          <a:xfrm>
            <a:off x="11375136" y="234772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34772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766060"/>
            <a:ext cx="6016752" cy="0"/>
          </a:xfrm>
          <a:prstGeom prst="line">
            <a:avLst/>
          </a:prstGeom>
          <a:noFill/>
          <a:ln w="6350">
            <a:solidFill>
              <a:srgbClr val="E5E7EB"/>
            </a:solidFill>
            <a:prstDash val="solid"/>
          </a:ln>
        </p:spPr>
      </p:sp>
      <p:sp>
        <p:nvSpPr>
          <p:cNvPr id="55" name="Text 53"/>
          <p:cNvSpPr/>
          <p:nvPr/>
        </p:nvSpPr>
        <p:spPr>
          <a:xfrm>
            <a:off x="6309360" y="2784348"/>
            <a:ext cx="777240" cy="626364"/>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793492"/>
            <a:ext cx="4178808" cy="608076"/>
          </a:xfrm>
          <a:prstGeom prst="rect">
            <a:avLst/>
          </a:prstGeom>
          <a:noFill/>
          <a:ln/>
        </p:spPr>
        <p:txBody>
          <a:bodyPr wrap="square" lIns="0" tIns="0" rIns="0" bIns="0" rtlCol="0" anchor="t"/>
          <a:lstStyle/>
          <a:p>
            <a:pPr indent="0" marL="0">
              <a:buNone/>
            </a:pPr>
            <a:r>
              <a:rPr lang="en-US" sz="650" dirty="0">
                <a:solidFill>
                  <a:srgbClr val="374151"/>
                </a:solidFill>
              </a:rPr>
              <a:t>Moving control of Tennis Channel's website hosting setup in-house — same approach already used successfully for Tennis.com — giving us more control ahead of launch.</a:t>
            </a:r>
            <a:endParaRPr lang="en-US" sz="650" dirty="0"/>
          </a:p>
        </p:txBody>
      </p:sp>
      <p:sp>
        <p:nvSpPr>
          <p:cNvPr id="57" name="Shape 55"/>
          <p:cNvSpPr/>
          <p:nvPr/>
        </p:nvSpPr>
        <p:spPr>
          <a:xfrm>
            <a:off x="11375136" y="3010662"/>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301066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91440" y="3502152"/>
            <a:ext cx="6016752" cy="3749040"/>
          </a:xfrm>
          <a:prstGeom prst="rect">
            <a:avLst/>
          </a:prstGeom>
          <a:solidFill>
            <a:srgbClr val="FAFBFC"/>
          </a:solidFill>
          <a:ln w="9525">
            <a:solidFill>
              <a:srgbClr val="D1D5DB"/>
            </a:solidFill>
            <a:prstDash val="solid"/>
          </a:ln>
        </p:spPr>
      </p:sp>
      <p:sp>
        <p:nvSpPr>
          <p:cNvPr id="60" name="Shape 58"/>
          <p:cNvSpPr/>
          <p:nvPr/>
        </p:nvSpPr>
        <p:spPr>
          <a:xfrm>
            <a:off x="91440" y="3502152"/>
            <a:ext cx="6016752" cy="274320"/>
          </a:xfrm>
          <a:prstGeom prst="rect">
            <a:avLst/>
          </a:prstGeom>
          <a:solidFill>
            <a:srgbClr val="8ED973"/>
          </a:solidFill>
          <a:ln w="12700">
            <a:solidFill>
              <a:srgbClr val="8ED973"/>
            </a:solidFill>
            <a:prstDash val="solid"/>
          </a:ln>
        </p:spPr>
      </p:sp>
      <p:sp>
        <p:nvSpPr>
          <p:cNvPr id="61" name="Text 59"/>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2" name="Shape 60"/>
          <p:cNvSpPr/>
          <p:nvPr/>
        </p:nvSpPr>
        <p:spPr>
          <a:xfrm>
            <a:off x="91440" y="3776472"/>
            <a:ext cx="6016752" cy="1158240"/>
          </a:xfrm>
          <a:prstGeom prst="rect">
            <a:avLst/>
          </a:prstGeom>
          <a:solidFill>
            <a:srgbClr val="FFFFFF"/>
          </a:solidFill>
          <a:ln w="3175">
            <a:solidFill>
              <a:srgbClr val="E5E7EB"/>
            </a:solidFill>
            <a:prstDash val="solid"/>
          </a:ln>
        </p:spPr>
      </p:sp>
      <p:sp>
        <p:nvSpPr>
          <p:cNvPr id="63" name="Text 61"/>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64" name="Text 62"/>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Adobe Pass integration underway for MVPD access; CMS-based provider management being brought into the web app, with basic prototypes built and currently hardcoded to DirecTV for testing.</a:t>
            </a:r>
            <a:endParaRPr lang="en-US" sz="650" dirty="0"/>
          </a:p>
        </p:txBody>
      </p:sp>
      <p:sp>
        <p:nvSpPr>
          <p:cNvPr id="65" name="Shape 63"/>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66" name="Text 64"/>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7" name="Shape 65"/>
          <p:cNvSpPr/>
          <p:nvPr/>
        </p:nvSpPr>
        <p:spPr>
          <a:xfrm>
            <a:off x="91440" y="4934712"/>
            <a:ext cx="6016752" cy="0"/>
          </a:xfrm>
          <a:prstGeom prst="line">
            <a:avLst/>
          </a:prstGeom>
          <a:noFill/>
          <a:ln w="6350">
            <a:solidFill>
              <a:srgbClr val="E5E7EB"/>
            </a:solidFill>
            <a:prstDash val="solid"/>
          </a:ln>
        </p:spPr>
      </p:sp>
      <p:sp>
        <p:nvSpPr>
          <p:cNvPr id="68" name="Text 66"/>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69" name="Text 67"/>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0" name="Shape 68"/>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1" name="Text 69"/>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2" name="Shape 70"/>
          <p:cNvSpPr/>
          <p:nvPr/>
        </p:nvSpPr>
        <p:spPr>
          <a:xfrm>
            <a:off x="91440" y="6092952"/>
            <a:ext cx="6016752" cy="1158240"/>
          </a:xfrm>
          <a:prstGeom prst="rect">
            <a:avLst/>
          </a:prstGeom>
          <a:solidFill>
            <a:srgbClr val="FFFFFF"/>
          </a:solidFill>
          <a:ln w="3175">
            <a:solidFill>
              <a:srgbClr val="E5E7EB"/>
            </a:solidFill>
            <a:prstDash val="solid"/>
          </a:ln>
        </p:spPr>
      </p:sp>
      <p:sp>
        <p:nvSpPr>
          <p:cNvPr id="73" name="Shape 71"/>
          <p:cNvSpPr/>
          <p:nvPr/>
        </p:nvSpPr>
        <p:spPr>
          <a:xfrm>
            <a:off x="91440" y="6092952"/>
            <a:ext cx="6016752" cy="0"/>
          </a:xfrm>
          <a:prstGeom prst="line">
            <a:avLst/>
          </a:prstGeom>
          <a:noFill/>
          <a:ln w="6350">
            <a:solidFill>
              <a:srgbClr val="E5E7EB"/>
            </a:solidFill>
            <a:prstDash val="solid"/>
          </a:ln>
        </p:spPr>
      </p:sp>
      <p:sp>
        <p:nvSpPr>
          <p:cNvPr id="74" name="Text 72"/>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75" name="Text 73"/>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76" name="Shape 74"/>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6236208" y="3502152"/>
            <a:ext cx="6016752" cy="3749040"/>
          </a:xfrm>
          <a:prstGeom prst="rect">
            <a:avLst/>
          </a:prstGeom>
          <a:solidFill>
            <a:srgbClr val="FAFBFC"/>
          </a:solidFill>
          <a:ln w="9525">
            <a:solidFill>
              <a:srgbClr val="D1D5DB"/>
            </a:solidFill>
            <a:prstDash val="solid"/>
          </a:ln>
        </p:spPr>
      </p:sp>
      <p:sp>
        <p:nvSpPr>
          <p:cNvPr id="79" name="Shape 77"/>
          <p:cNvSpPr/>
          <p:nvPr/>
        </p:nvSpPr>
        <p:spPr>
          <a:xfrm>
            <a:off x="6236208" y="3502152"/>
            <a:ext cx="6016752" cy="274320"/>
          </a:xfrm>
          <a:prstGeom prst="rect">
            <a:avLst/>
          </a:prstGeom>
          <a:solidFill>
            <a:srgbClr val="8ED973"/>
          </a:solidFill>
          <a:ln w="12700">
            <a:solidFill>
              <a:srgbClr val="8ED973"/>
            </a:solidFill>
            <a:prstDash val="solid"/>
          </a:ln>
        </p:spPr>
      </p:sp>
      <p:sp>
        <p:nvSpPr>
          <p:cNvPr id="80" name="Text 78"/>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1" name="Shape 79"/>
          <p:cNvSpPr/>
          <p:nvPr/>
        </p:nvSpPr>
        <p:spPr>
          <a:xfrm>
            <a:off x="6236208" y="3776472"/>
            <a:ext cx="6016752" cy="868680"/>
          </a:xfrm>
          <a:prstGeom prst="rect">
            <a:avLst/>
          </a:prstGeom>
          <a:solidFill>
            <a:srgbClr val="FFFFFF"/>
          </a:solidFill>
          <a:ln w="3175">
            <a:solidFill>
              <a:srgbClr val="E5E7EB"/>
            </a:solidFill>
            <a:prstDash val="solid"/>
          </a:ln>
        </p:spPr>
      </p:sp>
      <p:sp>
        <p:nvSpPr>
          <p:cNvPr id="82" name="Text 80"/>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3" name="Text 81"/>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84" name="Shape 82"/>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85" name="Text 83"/>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6" name="Shape 84"/>
          <p:cNvSpPr/>
          <p:nvPr/>
        </p:nvSpPr>
        <p:spPr>
          <a:xfrm>
            <a:off x="6236208" y="4645152"/>
            <a:ext cx="6016752" cy="0"/>
          </a:xfrm>
          <a:prstGeom prst="line">
            <a:avLst/>
          </a:prstGeom>
          <a:noFill/>
          <a:ln w="6350">
            <a:solidFill>
              <a:srgbClr val="E5E7EB"/>
            </a:solidFill>
            <a:prstDash val="solid"/>
          </a:ln>
        </p:spPr>
      </p:sp>
      <p:sp>
        <p:nvSpPr>
          <p:cNvPr id="87" name="Text 85"/>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88" name="Text 86"/>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89" name="Shape 87"/>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0" name="Text 88"/>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1" name="Shape 89"/>
          <p:cNvSpPr/>
          <p:nvPr/>
        </p:nvSpPr>
        <p:spPr>
          <a:xfrm>
            <a:off x="6236208" y="5513832"/>
            <a:ext cx="6016752" cy="868680"/>
          </a:xfrm>
          <a:prstGeom prst="rect">
            <a:avLst/>
          </a:prstGeom>
          <a:solidFill>
            <a:srgbClr val="FFFFFF"/>
          </a:solidFill>
          <a:ln w="3175">
            <a:solidFill>
              <a:srgbClr val="E5E7EB"/>
            </a:solidFill>
            <a:prstDash val="solid"/>
          </a:ln>
        </p:spPr>
      </p:sp>
      <p:sp>
        <p:nvSpPr>
          <p:cNvPr id="92" name="Shape 90"/>
          <p:cNvSpPr/>
          <p:nvPr/>
        </p:nvSpPr>
        <p:spPr>
          <a:xfrm>
            <a:off x="6236208" y="5513832"/>
            <a:ext cx="6016752" cy="0"/>
          </a:xfrm>
          <a:prstGeom prst="line">
            <a:avLst/>
          </a:prstGeom>
          <a:noFill/>
          <a:ln w="6350">
            <a:solidFill>
              <a:srgbClr val="E5E7EB"/>
            </a:solidFill>
            <a:prstDash val="solid"/>
          </a:ln>
        </p:spPr>
      </p:sp>
      <p:sp>
        <p:nvSpPr>
          <p:cNvPr id="93" name="Text 91"/>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94" name="Text 92"/>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Prototyped the video experience: exploratory test of the BitMovin player APIs — a proof-of-concept, not the final player.</a:t>
            </a:r>
            <a:endParaRPr lang="en-US" sz="650" dirty="0"/>
          </a:p>
        </p:txBody>
      </p:sp>
      <p:sp>
        <p:nvSpPr>
          <p:cNvPr id="95" name="Shape 93"/>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6382512"/>
            <a:ext cx="6016752" cy="0"/>
          </a:xfrm>
          <a:prstGeom prst="line">
            <a:avLst/>
          </a:prstGeom>
          <a:noFill/>
          <a:ln w="6350">
            <a:solidFill>
              <a:srgbClr val="E5E7EB"/>
            </a:solidFill>
            <a:prstDash val="solid"/>
          </a:ln>
        </p:spPr>
      </p:sp>
      <p:sp>
        <p:nvSpPr>
          <p:cNvPr id="98" name="Text 96"/>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99" name="Text 97"/>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Testing E2E experience: Merchandising, sign-in flow, MVPD, Cleeng, replays.</a:t>
            </a:r>
            <a:endParaRPr lang="en-US" sz="650" dirty="0"/>
          </a:p>
        </p:txBody>
      </p:sp>
      <p:sp>
        <p:nvSpPr>
          <p:cNvPr id="100" name="Shape 98"/>
          <p:cNvSpPr/>
          <p:nvPr/>
        </p:nvSpPr>
        <p:spPr>
          <a:xfrm>
            <a:off x="11375136" y="6729984"/>
            <a:ext cx="822960" cy="173736"/>
          </a:xfrm>
          <a:prstGeom prst="roundRect">
            <a:avLst>
              <a:gd name="adj" fmla="val 15789"/>
            </a:avLst>
          </a:prstGeom>
          <a:solidFill>
            <a:srgbClr val="F3F4F6"/>
          </a:solidFill>
          <a:ln w="9525">
            <a:solidFill>
              <a:srgbClr val="D1D5DB"/>
            </a:solidFill>
            <a:prstDash val="solid"/>
          </a:ln>
        </p:spPr>
      </p:sp>
      <p:sp>
        <p:nvSpPr>
          <p:cNvPr id="101" name="Text 99"/>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14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170432"/>
          </a:xfrm>
          <a:prstGeom prst="rect">
            <a:avLst/>
          </a:prstGeom>
          <a:solidFill>
            <a:srgbClr val="FAFBFC"/>
          </a:solidFill>
          <a:ln w="6350">
            <a:solidFill>
              <a:srgbClr val="E5E7EB"/>
            </a:solidFill>
            <a:prstDash val="solid"/>
          </a:ln>
        </p:spPr>
      </p:sp>
      <p:sp>
        <p:nvSpPr>
          <p:cNvPr id="21" name="Shape 19"/>
          <p:cNvSpPr/>
          <p:nvPr/>
        </p:nvSpPr>
        <p:spPr>
          <a:xfrm>
            <a:off x="182880" y="877824"/>
            <a:ext cx="859536" cy="1024128"/>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Platforms</a:t>
            </a:r>
            <a:endParaRPr lang="en-US" sz="95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F3F4F6"/>
          </a:solidFill>
          <a:ln w="9525">
            <a:solidFill>
              <a:srgbClr val="D1D5DB"/>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F3F4F6"/>
          </a:solidFill>
          <a:ln w="9525">
            <a:solidFill>
              <a:srgbClr val="D1D5DB"/>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2029968"/>
            <a:ext cx="9116568" cy="1170432"/>
          </a:xfrm>
          <a:prstGeom prst="rect">
            <a:avLst/>
          </a:prstGeom>
          <a:solidFill>
            <a:srgbClr val="FFFFFF"/>
          </a:solidFill>
          <a:ln w="6350">
            <a:solidFill>
              <a:srgbClr val="E5E7EB"/>
            </a:solidFill>
            <a:prstDash val="solid"/>
          </a:ln>
        </p:spPr>
      </p:sp>
      <p:sp>
        <p:nvSpPr>
          <p:cNvPr id="53" name="Shape 51"/>
          <p:cNvSpPr/>
          <p:nvPr/>
        </p:nvSpPr>
        <p:spPr>
          <a:xfrm>
            <a:off x="182880" y="2103120"/>
            <a:ext cx="859536" cy="1024128"/>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2103120"/>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Video</a:t>
            </a:r>
            <a:endParaRPr lang="en-US" sz="950" dirty="0"/>
          </a:p>
          <a:p>
            <a:pPr algn="ctr" indent="0" marL="0">
              <a:buNone/>
            </a:pPr>
            <a:r>
              <a:rPr lang="en-US" sz="950" b="1" dirty="0">
                <a:solidFill>
                  <a:srgbClr val="FFFFFF"/>
                </a:solidFill>
              </a:rPr>
              <a:t>Delivery</a:t>
            </a:r>
            <a:endParaRPr lang="en-US" sz="950" dirty="0"/>
          </a:p>
        </p:txBody>
      </p:sp>
      <p:sp>
        <p:nvSpPr>
          <p:cNvPr id="55" name="Text 53"/>
          <p:cNvSpPr/>
          <p:nvPr/>
        </p:nvSpPr>
        <p:spPr>
          <a:xfrm>
            <a:off x="1170432" y="2075688"/>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295144"/>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505456"/>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295144"/>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505456"/>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295144"/>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505456"/>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295144"/>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505456"/>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295144"/>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505456"/>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295144"/>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505456"/>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3255264"/>
            <a:ext cx="9116568" cy="1170432"/>
          </a:xfrm>
          <a:prstGeom prst="rect">
            <a:avLst/>
          </a:prstGeom>
          <a:solidFill>
            <a:srgbClr val="FAFBFC"/>
          </a:solidFill>
          <a:ln w="6350">
            <a:solidFill>
              <a:srgbClr val="E5E7EB"/>
            </a:solidFill>
            <a:prstDash val="solid"/>
          </a:ln>
        </p:spPr>
      </p:sp>
      <p:sp>
        <p:nvSpPr>
          <p:cNvPr id="81" name="Shape 79"/>
          <p:cNvSpPr/>
          <p:nvPr/>
        </p:nvSpPr>
        <p:spPr>
          <a:xfrm>
            <a:off x="182880" y="3328416"/>
            <a:ext cx="859536" cy="1024128"/>
          </a:xfrm>
          <a:prstGeom prst="roundRect">
            <a:avLst>
              <a:gd name="adj" fmla="val 5319"/>
            </a:avLst>
          </a:prstGeom>
          <a:solidFill>
            <a:srgbClr val="9CA3AF"/>
          </a:solidFill>
          <a:ln w="12700">
            <a:solidFill>
              <a:srgbClr val="9CA3AF"/>
            </a:solidFill>
            <a:prstDash val="solid"/>
          </a:ln>
        </p:spPr>
      </p:sp>
      <p:sp>
        <p:nvSpPr>
          <p:cNvPr id="82" name="Text 80"/>
          <p:cNvSpPr/>
          <p:nvPr/>
        </p:nvSpPr>
        <p:spPr>
          <a:xfrm>
            <a:off x="182880" y="3328416"/>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Player</a:t>
            </a:r>
            <a:endParaRPr lang="en-US" sz="950" dirty="0"/>
          </a:p>
        </p:txBody>
      </p:sp>
      <p:sp>
        <p:nvSpPr>
          <p:cNvPr id="83" name="Text 81"/>
          <p:cNvSpPr/>
          <p:nvPr/>
        </p:nvSpPr>
        <p:spPr>
          <a:xfrm>
            <a:off x="1170432" y="3300984"/>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5 In Progress</a:t>
            </a:r>
            <a:endParaRPr lang="en-US" sz="750" dirty="0"/>
          </a:p>
        </p:txBody>
      </p:sp>
      <p:sp>
        <p:nvSpPr>
          <p:cNvPr id="84" name="Shape 82"/>
          <p:cNvSpPr/>
          <p:nvPr/>
        </p:nvSpPr>
        <p:spPr>
          <a:xfrm>
            <a:off x="1170432" y="3520440"/>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730752"/>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520440"/>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730752"/>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520440"/>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730752"/>
            <a:ext cx="932688" cy="155448"/>
          </a:xfrm>
          <a:prstGeom prst="roundRect">
            <a:avLst>
              <a:gd name="adj" fmla="val 17647"/>
            </a:avLst>
          </a:prstGeom>
          <a:solidFill>
            <a:srgbClr val="F3F4F6"/>
          </a:solidFill>
          <a:ln w="9525">
            <a:solidFill>
              <a:srgbClr val="D1D5DB"/>
            </a:solidFill>
            <a:prstDash val="solid"/>
          </a:ln>
        </p:spPr>
      </p:sp>
      <p:sp>
        <p:nvSpPr>
          <p:cNvPr id="95" name="Text 93"/>
          <p:cNvSpPr/>
          <p:nvPr/>
        </p:nvSpPr>
        <p:spPr>
          <a:xfrm>
            <a:off x="3200400"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6" name="Shape 94"/>
          <p:cNvSpPr/>
          <p:nvPr/>
        </p:nvSpPr>
        <p:spPr>
          <a:xfrm>
            <a:off x="4215384" y="3520440"/>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730752"/>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520440"/>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730752"/>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5230368"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164592" y="4480560"/>
            <a:ext cx="9116568" cy="1170432"/>
          </a:xfrm>
          <a:prstGeom prst="rect">
            <a:avLst/>
          </a:prstGeom>
          <a:solidFill>
            <a:srgbClr val="FFFFFF"/>
          </a:solidFill>
          <a:ln w="6350">
            <a:solidFill>
              <a:srgbClr val="E5E7EB"/>
            </a:solidFill>
            <a:prstDash val="solid"/>
          </a:ln>
        </p:spPr>
      </p:sp>
      <p:sp>
        <p:nvSpPr>
          <p:cNvPr id="105" name="Shape 103"/>
          <p:cNvSpPr/>
          <p:nvPr/>
        </p:nvSpPr>
        <p:spPr>
          <a:xfrm>
            <a:off x="182880" y="4553712"/>
            <a:ext cx="859536" cy="1024128"/>
          </a:xfrm>
          <a:prstGeom prst="roundRect">
            <a:avLst>
              <a:gd name="adj" fmla="val 5319"/>
            </a:avLst>
          </a:prstGeom>
          <a:solidFill>
            <a:srgbClr val="9CA3AF"/>
          </a:solidFill>
          <a:ln w="12700">
            <a:solidFill>
              <a:srgbClr val="9CA3AF"/>
            </a:solidFill>
            <a:prstDash val="solid"/>
          </a:ln>
        </p:spPr>
      </p:sp>
      <p:sp>
        <p:nvSpPr>
          <p:cNvPr id="106" name="Text 104"/>
          <p:cNvSpPr/>
          <p:nvPr/>
        </p:nvSpPr>
        <p:spPr>
          <a:xfrm>
            <a:off x="182880" y="4553712"/>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Merchandising</a:t>
            </a:r>
            <a:endParaRPr lang="en-US" sz="950" dirty="0"/>
          </a:p>
        </p:txBody>
      </p:sp>
      <p:sp>
        <p:nvSpPr>
          <p:cNvPr id="107" name="Text 105"/>
          <p:cNvSpPr/>
          <p:nvPr/>
        </p:nvSpPr>
        <p:spPr>
          <a:xfrm>
            <a:off x="1170432" y="4526280"/>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108" name="Shape 106"/>
          <p:cNvSpPr/>
          <p:nvPr/>
        </p:nvSpPr>
        <p:spPr>
          <a:xfrm>
            <a:off x="1170432" y="4745736"/>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956048"/>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745736"/>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956048"/>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745736"/>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956048"/>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745736"/>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956048"/>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745736"/>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956048"/>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745736"/>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956048"/>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745736"/>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956048"/>
            <a:ext cx="932688" cy="155448"/>
          </a:xfrm>
          <a:prstGeom prst="roundRect">
            <a:avLst>
              <a:gd name="adj" fmla="val 17647"/>
            </a:avLst>
          </a:prstGeom>
          <a:solidFill>
            <a:srgbClr val="F3F4F6"/>
          </a:solidFill>
          <a:ln w="9525">
            <a:solidFill>
              <a:srgbClr val="D1D5DB"/>
            </a:solidFill>
            <a:prstDash val="solid"/>
          </a:ln>
        </p:spPr>
      </p:sp>
      <p:sp>
        <p:nvSpPr>
          <p:cNvPr id="135" name="Text 133"/>
          <p:cNvSpPr/>
          <p:nvPr/>
        </p:nvSpPr>
        <p:spPr>
          <a:xfrm>
            <a:off x="7260336"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6" name="Shape 134"/>
          <p:cNvSpPr/>
          <p:nvPr/>
        </p:nvSpPr>
        <p:spPr>
          <a:xfrm>
            <a:off x="8275320" y="4745736"/>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956048"/>
            <a:ext cx="932688" cy="155448"/>
          </a:xfrm>
          <a:prstGeom prst="roundRect">
            <a:avLst>
              <a:gd name="adj" fmla="val 17647"/>
            </a:avLst>
          </a:prstGeom>
          <a:solidFill>
            <a:srgbClr val="F3F4F6"/>
          </a:solidFill>
          <a:ln w="9525">
            <a:solidFill>
              <a:srgbClr val="D1D5DB"/>
            </a:solidFill>
            <a:prstDash val="solid"/>
          </a:ln>
        </p:spPr>
      </p:sp>
      <p:sp>
        <p:nvSpPr>
          <p:cNvPr id="139" name="Text 137"/>
          <p:cNvSpPr/>
          <p:nvPr/>
        </p:nvSpPr>
        <p:spPr>
          <a:xfrm>
            <a:off x="8275320"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0" name="Shape 138"/>
          <p:cNvSpPr/>
          <p:nvPr/>
        </p:nvSpPr>
        <p:spPr>
          <a:xfrm>
            <a:off x="1170432" y="5202936"/>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52029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5413248"/>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54132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5705856"/>
            <a:ext cx="9116568" cy="1170432"/>
          </a:xfrm>
          <a:prstGeom prst="rect">
            <a:avLst/>
          </a:prstGeom>
          <a:solidFill>
            <a:srgbClr val="FAFBFC"/>
          </a:solidFill>
          <a:ln w="6350">
            <a:solidFill>
              <a:srgbClr val="E5E7EB"/>
            </a:solidFill>
            <a:prstDash val="solid"/>
          </a:ln>
        </p:spPr>
      </p:sp>
      <p:sp>
        <p:nvSpPr>
          <p:cNvPr id="145" name="Shape 143"/>
          <p:cNvSpPr/>
          <p:nvPr/>
        </p:nvSpPr>
        <p:spPr>
          <a:xfrm>
            <a:off x="182880" y="5779008"/>
            <a:ext cx="859536" cy="1024128"/>
          </a:xfrm>
          <a:prstGeom prst="roundRect">
            <a:avLst>
              <a:gd name="adj" fmla="val 5319"/>
            </a:avLst>
          </a:prstGeom>
          <a:solidFill>
            <a:srgbClr val="9CA3AF"/>
          </a:solidFill>
          <a:ln w="12700">
            <a:solidFill>
              <a:srgbClr val="9CA3AF"/>
            </a:solidFill>
            <a:prstDash val="solid"/>
          </a:ln>
        </p:spPr>
      </p:sp>
      <p:sp>
        <p:nvSpPr>
          <p:cNvPr id="146" name="Text 144"/>
          <p:cNvSpPr/>
          <p:nvPr/>
        </p:nvSpPr>
        <p:spPr>
          <a:xfrm>
            <a:off x="182880" y="5779008"/>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Onboarding</a:t>
            </a:r>
            <a:endParaRPr lang="en-US" sz="950" dirty="0"/>
          </a:p>
        </p:txBody>
      </p:sp>
      <p:sp>
        <p:nvSpPr>
          <p:cNvPr id="147" name="Text 145"/>
          <p:cNvSpPr/>
          <p:nvPr/>
        </p:nvSpPr>
        <p:spPr>
          <a:xfrm>
            <a:off x="1170432" y="5751576"/>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5 In Progress</a:t>
            </a:r>
            <a:endParaRPr lang="en-US" sz="750" dirty="0"/>
          </a:p>
        </p:txBody>
      </p:sp>
      <p:sp>
        <p:nvSpPr>
          <p:cNvPr id="148" name="Shape 146"/>
          <p:cNvSpPr/>
          <p:nvPr/>
        </p:nvSpPr>
        <p:spPr>
          <a:xfrm>
            <a:off x="1170432" y="5971032"/>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6181344"/>
            <a:ext cx="932688" cy="155448"/>
          </a:xfrm>
          <a:prstGeom prst="roundRect">
            <a:avLst>
              <a:gd name="adj" fmla="val 17647"/>
            </a:avLst>
          </a:prstGeom>
          <a:solidFill>
            <a:srgbClr val="F3F4F6"/>
          </a:solidFill>
          <a:ln w="9525">
            <a:solidFill>
              <a:srgbClr val="D1D5DB"/>
            </a:solidFill>
            <a:prstDash val="solid"/>
          </a:ln>
        </p:spPr>
      </p:sp>
      <p:sp>
        <p:nvSpPr>
          <p:cNvPr id="151" name="Text 149"/>
          <p:cNvSpPr/>
          <p:nvPr/>
        </p:nvSpPr>
        <p:spPr>
          <a:xfrm>
            <a:off x="117043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2" name="Shape 150"/>
          <p:cNvSpPr/>
          <p:nvPr/>
        </p:nvSpPr>
        <p:spPr>
          <a:xfrm>
            <a:off x="2185416" y="5971032"/>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6181344"/>
            <a:ext cx="932688" cy="155448"/>
          </a:xfrm>
          <a:prstGeom prst="roundRect">
            <a:avLst>
              <a:gd name="adj" fmla="val 17647"/>
            </a:avLst>
          </a:prstGeom>
          <a:solidFill>
            <a:srgbClr val="F3F4F6"/>
          </a:solidFill>
          <a:ln w="9525">
            <a:solidFill>
              <a:srgbClr val="D1D5DB"/>
            </a:solidFill>
            <a:prstDash val="solid"/>
          </a:ln>
        </p:spPr>
      </p:sp>
      <p:sp>
        <p:nvSpPr>
          <p:cNvPr id="155" name="Text 153"/>
          <p:cNvSpPr/>
          <p:nvPr/>
        </p:nvSpPr>
        <p:spPr>
          <a:xfrm>
            <a:off x="2185416"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6" name="Shape 154"/>
          <p:cNvSpPr/>
          <p:nvPr/>
        </p:nvSpPr>
        <p:spPr>
          <a:xfrm>
            <a:off x="3200400" y="5971032"/>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6181344"/>
            <a:ext cx="932688" cy="155448"/>
          </a:xfrm>
          <a:prstGeom prst="roundRect">
            <a:avLst>
              <a:gd name="adj" fmla="val 17647"/>
            </a:avLst>
          </a:prstGeom>
          <a:solidFill>
            <a:srgbClr val="F3F4F6"/>
          </a:solidFill>
          <a:ln w="9525">
            <a:solidFill>
              <a:srgbClr val="D1D5DB"/>
            </a:solidFill>
            <a:prstDash val="solid"/>
          </a:ln>
        </p:spPr>
      </p:sp>
      <p:sp>
        <p:nvSpPr>
          <p:cNvPr id="159" name="Text 157"/>
          <p:cNvSpPr/>
          <p:nvPr/>
        </p:nvSpPr>
        <p:spPr>
          <a:xfrm>
            <a:off x="3200400"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0" name="Shape 158"/>
          <p:cNvSpPr/>
          <p:nvPr/>
        </p:nvSpPr>
        <p:spPr>
          <a:xfrm>
            <a:off x="4215384" y="5971032"/>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6181344"/>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971032"/>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66" name="Shape 164"/>
          <p:cNvSpPr/>
          <p:nvPr/>
        </p:nvSpPr>
        <p:spPr>
          <a:xfrm>
            <a:off x="5230368" y="6181344"/>
            <a:ext cx="932688" cy="155448"/>
          </a:xfrm>
          <a:prstGeom prst="roundRect">
            <a:avLst>
              <a:gd name="adj" fmla="val 17647"/>
            </a:avLst>
          </a:prstGeom>
          <a:solidFill>
            <a:srgbClr val="F3F4F6"/>
          </a:solidFill>
          <a:ln w="9525">
            <a:solidFill>
              <a:srgbClr val="D1D5DB"/>
            </a:solidFill>
            <a:prstDash val="solid"/>
          </a:ln>
        </p:spPr>
      </p:sp>
      <p:sp>
        <p:nvSpPr>
          <p:cNvPr id="167" name="Text 165"/>
          <p:cNvSpPr/>
          <p:nvPr/>
        </p:nvSpPr>
        <p:spPr>
          <a:xfrm>
            <a:off x="5230368"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8" name="Shape 166"/>
          <p:cNvSpPr/>
          <p:nvPr/>
        </p:nvSpPr>
        <p:spPr>
          <a:xfrm>
            <a:off x="9372600" y="804672"/>
            <a:ext cx="2834640" cy="6071616"/>
          </a:xfrm>
          <a:prstGeom prst="rect">
            <a:avLst/>
          </a:prstGeom>
          <a:solidFill>
            <a:srgbClr val="F8FAFB"/>
          </a:solidFill>
          <a:ln w="12700">
            <a:solidFill>
              <a:srgbClr val="DDE1E6"/>
            </a:solidFill>
            <a:prstDash val="solid"/>
          </a:ln>
        </p:spPr>
      </p:sp>
      <p:sp>
        <p:nvSpPr>
          <p:cNvPr id="169" name="Text 167"/>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70" name="Shape 168"/>
          <p:cNvSpPr/>
          <p:nvPr/>
        </p:nvSpPr>
        <p:spPr>
          <a:xfrm>
            <a:off x="9464040" y="1225296"/>
            <a:ext cx="2670048" cy="420624"/>
          </a:xfrm>
          <a:prstGeom prst="rect">
            <a:avLst/>
          </a:prstGeom>
          <a:solidFill>
            <a:srgbClr val="FFFFFF"/>
          </a:solidFill>
          <a:ln w="6350">
            <a:solidFill>
              <a:srgbClr val="E5E7EB"/>
            </a:solidFill>
            <a:prstDash val="solid"/>
          </a:ln>
        </p:spPr>
      </p:sp>
      <p:sp>
        <p:nvSpPr>
          <p:cNvPr id="171" name="Shape 169"/>
          <p:cNvSpPr/>
          <p:nvPr/>
        </p:nvSpPr>
        <p:spPr>
          <a:xfrm>
            <a:off x="9537192" y="1316736"/>
            <a:ext cx="109728" cy="109728"/>
          </a:xfrm>
          <a:prstGeom prst="ellipse">
            <a:avLst/>
          </a:prstGeom>
          <a:solidFill>
            <a:srgbClr val="16A34A"/>
          </a:solidFill>
          <a:ln w="12700">
            <a:solidFill>
              <a:srgbClr val="16A34A"/>
            </a:solidFill>
            <a:prstDash val="solid"/>
          </a:ln>
        </p:spPr>
      </p:sp>
      <p:sp>
        <p:nvSpPr>
          <p:cNvPr id="172" name="Text 170"/>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73" name="Text 171"/>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74" name="Shape 172"/>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75" name="Text 173"/>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76" name="Shape 174"/>
          <p:cNvSpPr/>
          <p:nvPr/>
        </p:nvSpPr>
        <p:spPr>
          <a:xfrm>
            <a:off x="9464040" y="1700784"/>
            <a:ext cx="2670048" cy="420624"/>
          </a:xfrm>
          <a:prstGeom prst="rect">
            <a:avLst/>
          </a:prstGeom>
          <a:solidFill>
            <a:srgbClr val="FFFFFF"/>
          </a:solidFill>
          <a:ln w="6350">
            <a:solidFill>
              <a:srgbClr val="E5E7EB"/>
            </a:solidFill>
            <a:prstDash val="solid"/>
          </a:ln>
        </p:spPr>
      </p:sp>
      <p:sp>
        <p:nvSpPr>
          <p:cNvPr id="177" name="Shape 175"/>
          <p:cNvSpPr/>
          <p:nvPr/>
        </p:nvSpPr>
        <p:spPr>
          <a:xfrm>
            <a:off x="9537192" y="1792224"/>
            <a:ext cx="109728" cy="109728"/>
          </a:xfrm>
          <a:prstGeom prst="ellipse">
            <a:avLst/>
          </a:prstGeom>
          <a:solidFill>
            <a:srgbClr val="1558A8"/>
          </a:solidFill>
          <a:ln w="12700">
            <a:solidFill>
              <a:srgbClr val="1558A8"/>
            </a:solidFill>
            <a:prstDash val="solid"/>
          </a:ln>
        </p:spPr>
      </p:sp>
      <p:sp>
        <p:nvSpPr>
          <p:cNvPr id="178" name="Text 176"/>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Integration</a:t>
            </a:r>
            <a:endParaRPr lang="en-US" sz="800" dirty="0"/>
          </a:p>
        </p:txBody>
      </p:sp>
      <p:sp>
        <p:nvSpPr>
          <p:cNvPr id="179" name="Text 177"/>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80" name="Shape 178"/>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81" name="Text 179"/>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82" name="Shape 180"/>
          <p:cNvSpPr/>
          <p:nvPr/>
        </p:nvSpPr>
        <p:spPr>
          <a:xfrm>
            <a:off x="9464040" y="2176272"/>
            <a:ext cx="2670048" cy="420624"/>
          </a:xfrm>
          <a:prstGeom prst="rect">
            <a:avLst/>
          </a:prstGeom>
          <a:solidFill>
            <a:srgbClr val="FFFFFF"/>
          </a:solidFill>
          <a:ln w="6350">
            <a:solidFill>
              <a:srgbClr val="E5E7EB"/>
            </a:solidFill>
            <a:prstDash val="solid"/>
          </a:ln>
        </p:spPr>
      </p:sp>
      <p:sp>
        <p:nvSpPr>
          <p:cNvPr id="183" name="Shape 181"/>
          <p:cNvSpPr/>
          <p:nvPr/>
        </p:nvSpPr>
        <p:spPr>
          <a:xfrm>
            <a:off x="9537192" y="2267712"/>
            <a:ext cx="109728" cy="109728"/>
          </a:xfrm>
          <a:prstGeom prst="ellipse">
            <a:avLst/>
          </a:prstGeom>
          <a:solidFill>
            <a:srgbClr val="9CA3AF"/>
          </a:solidFill>
          <a:ln w="12700">
            <a:solidFill>
              <a:srgbClr val="9CA3AF"/>
            </a:solidFill>
            <a:prstDash val="solid"/>
          </a:ln>
        </p:spPr>
      </p:sp>
      <p:sp>
        <p:nvSpPr>
          <p:cNvPr id="184" name="Text 182"/>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Testing</a:t>
            </a:r>
            <a:endParaRPr lang="en-US" sz="800" dirty="0"/>
          </a:p>
        </p:txBody>
      </p:sp>
      <p:sp>
        <p:nvSpPr>
          <p:cNvPr id="185" name="Text 183"/>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86" name="Shape 184"/>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87" name="Text 185"/>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88" name="Shape 186"/>
          <p:cNvSpPr/>
          <p:nvPr/>
        </p:nvSpPr>
        <p:spPr>
          <a:xfrm>
            <a:off x="9464040" y="2651760"/>
            <a:ext cx="2670048" cy="420624"/>
          </a:xfrm>
          <a:prstGeom prst="rect">
            <a:avLst/>
          </a:prstGeom>
          <a:solidFill>
            <a:srgbClr val="FFFFFF"/>
          </a:solidFill>
          <a:ln w="6350">
            <a:solidFill>
              <a:srgbClr val="E5E7EB"/>
            </a:solidFill>
            <a:prstDash val="solid"/>
          </a:ln>
        </p:spPr>
      </p:sp>
      <p:sp>
        <p:nvSpPr>
          <p:cNvPr id="189" name="Shape 187"/>
          <p:cNvSpPr/>
          <p:nvPr/>
        </p:nvSpPr>
        <p:spPr>
          <a:xfrm>
            <a:off x="9537192" y="2743200"/>
            <a:ext cx="109728" cy="109728"/>
          </a:xfrm>
          <a:prstGeom prst="ellipse">
            <a:avLst/>
          </a:prstGeom>
          <a:solidFill>
            <a:srgbClr val="9CA3AF"/>
          </a:solidFill>
          <a:ln w="12700">
            <a:solidFill>
              <a:srgbClr val="9CA3AF"/>
            </a:solidFill>
            <a:prstDash val="solid"/>
          </a:ln>
        </p:spPr>
      </p:sp>
      <p:sp>
        <p:nvSpPr>
          <p:cNvPr id="190" name="Text 188"/>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91" name="Text 189"/>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92" name="Shape 190"/>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93" name="Text 191"/>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94" name="Shape 192"/>
          <p:cNvSpPr/>
          <p:nvPr/>
        </p:nvSpPr>
        <p:spPr>
          <a:xfrm>
            <a:off x="9482328" y="3200400"/>
            <a:ext cx="2633472" cy="0"/>
          </a:xfrm>
          <a:prstGeom prst="line">
            <a:avLst/>
          </a:prstGeom>
          <a:noFill/>
          <a:ln w="9525">
            <a:solidFill>
              <a:srgbClr val="DDE1E6"/>
            </a:solidFill>
            <a:prstDash val="solid"/>
          </a:ln>
        </p:spPr>
      </p:sp>
      <p:sp>
        <p:nvSpPr>
          <p:cNvPr id="195" name="Text 193"/>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96" name="Shape 194"/>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197" name="Text 195"/>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98" name="Text 196"/>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199" name="Shape 197"/>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00" name="Text 198"/>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01" name="Text 199"/>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02" name="Shape 200"/>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03" name="Text 201"/>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04" name="Text 202"/>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05" name="Shape 203"/>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06" name="Text 204"/>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07" name="Text 205"/>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08" name="Shape 206"/>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09" name="Text 207"/>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10" name="Text 208"/>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